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WHAT ARE DOCUMENT LOADERS?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9E0B"/>
                </a:solidFill>
              </a:rPr>
              <a:t>PART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</a:rPr>
              <a:t>LangChain utilities that bring data from different sources and convert it into a standardized format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34747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417320"/>
            <a:ext cx="3474720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173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Data Sources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0116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📄  PDF Files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5146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📝  Text Documents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0175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🌐  Web Pages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52044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🗄️  Databases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40233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☁️  Cloud Storage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931920" y="2834640"/>
            <a:ext cx="1280160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31920" y="265176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</a:rPr>
              <a:t>→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840480" y="32461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Document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Loaders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303520" y="1417320"/>
            <a:ext cx="3474720" cy="3474720"/>
          </a:xfrm>
          <a:prstGeom prst="rect">
            <a:avLst/>
          </a:prstGeom>
          <a:solidFill>
            <a:srgbClr val="0F172A"/>
          </a:solidFill>
          <a:ln w="2540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303520" y="1417320"/>
            <a:ext cx="3474720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94960" y="14173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Output: Document Object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0" y="2011680"/>
            <a:ext cx="3017520" cy="109728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77840" y="202996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page_content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577840" y="23317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Actual text/data extracted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from the source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0" y="3246120"/>
            <a:ext cx="3017520" cy="1371600"/>
          </a:xfrm>
          <a:prstGeom prst="rect">
            <a:avLst/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77840" y="326440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metadata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577840" y="356616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Source path, dates, author,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page numbers, row index,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file type, and more...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TODAY'S FOCUS: FOUR ESSENTIAL LOADERS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89611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EACCC"/>
                </a:solidFill>
              </a:rPr>
              <a:t>LangChain offers 100+ loaders — we'll master the most commonly used ones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4114800" cy="1600200"/>
          </a:xfrm>
          <a:prstGeom prst="rect">
            <a:avLst/>
          </a:prstGeom>
          <a:solidFill>
            <a:srgbClr val="1A2744"/>
          </a:solidFill>
          <a:ln w="254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91640"/>
            <a:ext cx="594360" cy="594360"/>
          </a:xfrm>
          <a:prstGeom prst="ellipse">
            <a:avLst/>
          </a:prstGeom>
          <a:solidFill>
            <a:srgbClr val="2563EB">
              <a:alpha val="9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7335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📝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1536192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Text Loader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280160" y="1920240"/>
            <a:ext cx="1828800" cy="256032"/>
          </a:xfrm>
          <a:prstGeom prst="rect">
            <a:avLst/>
          </a:prstGeom>
          <a:solidFill>
            <a:srgbClr val="2563EB">
              <a:alpha val="7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80160" y="19202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TextLoader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280160" y="228600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EACCC"/>
                </a:solidFill>
              </a:rPr>
              <a:t>Log files, code snippets, transcripts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46320" y="1371600"/>
            <a:ext cx="4114800" cy="1600200"/>
          </a:xfrm>
          <a:prstGeom prst="rect">
            <a:avLst/>
          </a:prstGeom>
          <a:solidFill>
            <a:srgbClr val="1A2744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0" y="1691640"/>
            <a:ext cx="594360" cy="594360"/>
          </a:xfrm>
          <a:prstGeom prst="ellipse">
            <a:avLst/>
          </a:prstGeom>
          <a:solidFill>
            <a:srgbClr val="0D9488">
              <a:alpha val="9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167335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📄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760720" y="1536192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PDF Loader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760720" y="1920240"/>
            <a:ext cx="1828800" cy="256032"/>
          </a:xfrm>
          <a:prstGeom prst="rect">
            <a:avLst/>
          </a:prstGeom>
          <a:solidFill>
            <a:srgbClr val="0D9488">
              <a:alpha val="7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0" y="19202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PyPDFLoader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760720" y="228600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EACCC"/>
                </a:solidFill>
              </a:rPr>
              <a:t>Academic papers, reports, documentation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3200400"/>
            <a:ext cx="4114800" cy="1600200"/>
          </a:xfrm>
          <a:prstGeom prst="rect">
            <a:avLst/>
          </a:prstGeom>
          <a:solidFill>
            <a:srgbClr val="1A2744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3520440"/>
            <a:ext cx="594360" cy="594360"/>
          </a:xfrm>
          <a:prstGeom prst="ellipse">
            <a:avLst/>
          </a:prstGeom>
          <a:solidFill>
            <a:srgbClr val="F59E0B">
              <a:alpha val="9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50215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80160" y="3364992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Web Loader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1280160" y="3749040"/>
            <a:ext cx="1828800" cy="256032"/>
          </a:xfrm>
          <a:prstGeom prst="rect">
            <a:avLst/>
          </a:prstGeom>
          <a:solidFill>
            <a:srgbClr val="F59E0B">
              <a:alpha val="7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80160" y="37490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WebBaseLoader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280160" y="411480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EACCC"/>
                </a:solidFill>
              </a:rPr>
              <a:t>Articles, blog posts, public websites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46320" y="3200400"/>
            <a:ext cx="4114800" cy="1600200"/>
          </a:xfrm>
          <a:prstGeom prst="rect">
            <a:avLst/>
          </a:prstGeom>
          <a:solidFill>
            <a:srgbClr val="1A2744"/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029200" y="3520440"/>
            <a:ext cx="594360" cy="594360"/>
          </a:xfrm>
          <a:prstGeom prst="ellipse">
            <a:avLst/>
          </a:prstGeom>
          <a:solidFill>
            <a:srgbClr val="7C3AED">
              <a:alpha val="9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0" y="350215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760720" y="3364992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CSV Loader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5760720" y="3749040"/>
            <a:ext cx="1828800" cy="256032"/>
          </a:xfrm>
          <a:prstGeom prst="rect">
            <a:avLst/>
          </a:prstGeom>
          <a:solidFill>
            <a:srgbClr val="7C3AED">
              <a:alpha val="7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60720" y="37490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CSVLoader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760720" y="411480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EACCC"/>
                </a:solidFill>
              </a:rPr>
              <a:t>Spreadsheets, tabular data, datasets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65760" y="4818888"/>
            <a:ext cx="8412480" cy="228600"/>
          </a:xfrm>
          <a:prstGeom prst="rect">
            <a:avLst/>
          </a:prstGeom>
          <a:solidFill>
            <a:srgbClr val="1A2744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818888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All loaders share the same foundation — learn one, use them all!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1.  TEXT LOADER — The Simplest Loader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3657600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1440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Purpose:  Loads plain text (.txt) files and converts them into Document objects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365760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508760"/>
            <a:ext cx="3657600" cy="43891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508760"/>
            <a:ext cx="3291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Best Use Cases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286000"/>
            <a:ext cx="274320" cy="2743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2677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60120" y="226771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Processing log files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834640"/>
            <a:ext cx="274320" cy="2743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8163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60120" y="28163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Loading code snippets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383280"/>
            <a:ext cx="274320" cy="2743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3649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60120" y="33649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Reading transcripts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3931920"/>
            <a:ext cx="274320" cy="2743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9136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60120" y="39136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Any plain text data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4297680"/>
            <a:ext cx="3200400" cy="411480"/>
          </a:xfrm>
          <a:prstGeom prst="rect">
            <a:avLst/>
          </a:prstGeom>
          <a:solidFill>
            <a:srgbClr val="FEF9C3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2976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⚠️  Works only with .txt files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206240" y="914400"/>
            <a:ext cx="4572000" cy="39319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206240" y="914400"/>
            <a:ext cx="4572000" cy="34747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06240" y="914400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1_text_loader.py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343400" y="1316736"/>
            <a:ext cx="4343400" cy="3456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langchain_community.document_loaders </a:t>
            </a:r>
            <a:pPr indent="0" marL="0">
              <a:buNone/>
            </a:pPr>
            <a:r>
              <a:rPr lang="en-US" sz="11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TextLoader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loader</a:t>
            </a:r>
            <a:pPr indent="0" marL="0">
              <a:buNone/>
            </a:pPr>
            <a:r>
              <a:rPr lang="en-US" sz="11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TextLoader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file_path</a:t>
            </a:r>
            <a:pPr indent="0" marL="0">
              <a:buNone/>
            </a:pPr>
            <a:r>
              <a:rPr lang="en-US" sz="11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"doc1.txt"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encoding</a:t>
            </a:r>
            <a:pPr indent="0" marL="0">
              <a:buNone/>
            </a:pPr>
            <a:r>
              <a:rPr lang="en-US" sz="11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"utf-8"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)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loader.</a:t>
            </a:r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(doc))      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&lt;class 'list'&gt;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(doc[0].page_content)  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text content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(doc[0].metadata)      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{'source': ...}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DOCUMENT OBJECT STRUCTURE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89611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Every loader returns a Python list of Document objects with the same two fields: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2286000" cy="3474720"/>
          </a:xfrm>
          <a:prstGeom prst="rect">
            <a:avLst/>
          </a:prstGeom>
          <a:solidFill>
            <a:srgbClr val="0F172A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258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Python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List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192024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92024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doc[0]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423160"/>
            <a:ext cx="192024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42316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doc[1]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926080"/>
            <a:ext cx="192024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92608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doc[2]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429000"/>
            <a:ext cx="192024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42900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doc[3]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931920"/>
            <a:ext cx="192024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93192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697480" y="2606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</a:rPr>
              <a:t>→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3383280" y="1325880"/>
            <a:ext cx="53035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383280" y="1325880"/>
            <a:ext cx="5303520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32588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Document Object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566160" y="1920240"/>
            <a:ext cx="4937760" cy="128016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03320" y="19659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page_content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577840" y="19659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CA3AF"/>
                </a:solidFill>
              </a:rPr>
              <a:t>str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703320" y="228600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actual text from the file.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Example: "Cricket is a bat-and-ball sport\nplayed between two teams..."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566160" y="3337560"/>
            <a:ext cx="4937760" cy="1280160"/>
          </a:xfrm>
          <a:prstGeom prst="rect">
            <a:avLst/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03320" y="33832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577840" y="33832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CA3AF"/>
                </a:solidFill>
              </a:rPr>
              <a:t>dict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703320" y="370332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{'source': '/path/to/doc1.txt'}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Contains: source path, page numbers, row index, dates...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TEXT LOADER + OPENAI — Full Chain Example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508760" cy="685800"/>
          </a:xfrm>
          <a:prstGeom prst="rect">
            <a:avLst/>
          </a:prstGeom>
          <a:solidFill>
            <a:srgbClr val="0D9488">
              <a:alpha val="80000"/>
            </a:srgbClr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32688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TextLoader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128016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EACCC"/>
                </a:solidFill>
              </a:rPr>
              <a:t>Load .txt file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783080" y="960120"/>
            <a:ext cx="201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→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993392" y="914400"/>
            <a:ext cx="1508760" cy="685800"/>
          </a:xfrm>
          <a:prstGeom prst="rect">
            <a:avLst/>
          </a:prstGeom>
          <a:solidFill>
            <a:srgbClr val="2563EB">
              <a:alpha val="80000"/>
            </a:srgbClr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93392" y="932688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Document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993392" y="128016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EACCC"/>
                </a:solidFill>
              </a:rPr>
              <a:t>page_content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502152" y="960120"/>
            <a:ext cx="201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712464" y="914400"/>
            <a:ext cx="1508760" cy="685800"/>
          </a:xfrm>
          <a:prstGeom prst="rect">
            <a:avLst/>
          </a:prstGeom>
          <a:solidFill>
            <a:srgbClr val="7C3AED">
              <a:alpha val="80000"/>
            </a:srgbClr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12464" y="932688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PromptTemplate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712464" y="128016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EACCC"/>
                </a:solidFill>
              </a:rPr>
              <a:t>Format query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221224" y="960120"/>
            <a:ext cx="201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31536" y="914400"/>
            <a:ext cx="1508760" cy="685800"/>
          </a:xfrm>
          <a:prstGeom prst="rect">
            <a:avLst/>
          </a:prstGeom>
          <a:solidFill>
            <a:srgbClr val="F59E0B">
              <a:alpha val="80000"/>
            </a:srgbClr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31536" y="932688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ChatOpenAI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31536" y="128016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EACCC"/>
                </a:solidFill>
              </a:rPr>
              <a:t>LLM model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940296" y="960120"/>
            <a:ext cx="201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150608" y="914400"/>
            <a:ext cx="1508760" cy="685800"/>
          </a:xfrm>
          <a:prstGeom prst="rect">
            <a:avLst/>
          </a:prstGeom>
          <a:solidFill>
            <a:srgbClr val="10B981">
              <a:alpha val="80000"/>
            </a:srgbClr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50608" y="932688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StrOutputParser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150608" y="128016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EACCC"/>
                </a:solidFill>
              </a:rPr>
              <a:t>Clean output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5760" y="1783080"/>
            <a:ext cx="8412480" cy="31546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1783080"/>
            <a:ext cx="8412480" cy="34747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17830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2_text_loader_with_openai.py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2194560"/>
            <a:ext cx="804672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langchain_openai </a:t>
            </a:r>
            <a:pPr indent="0" marL="0">
              <a:buNone/>
            </a:pPr>
            <a:r>
              <a:rPr lang="en-US" sz="11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ChatOpenAI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langchain_core.prompts </a:t>
            </a:r>
            <a:pPr indent="0" marL="0">
              <a:buNone/>
            </a:pPr>
            <a:r>
              <a:rPr lang="en-US" sz="11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PromptTemplate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langchain_community.document_loaders </a:t>
            </a:r>
            <a:pPr indent="0" marL="0">
              <a:buNone/>
            </a:pPr>
            <a:r>
              <a:rPr lang="en-US" sz="11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TextLoader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langchain_core.output_parsers </a:t>
            </a:r>
            <a:pPr indent="0" marL="0">
              <a:buNone/>
            </a:pPr>
            <a:r>
              <a:rPr lang="en-US" sz="11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StrOutputParser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loader</a:t>
            </a:r>
            <a:pPr indent="0" marL="0">
              <a:buNone/>
            </a:pPr>
            <a:r>
              <a:rPr lang="en-US" sz="11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TextLoader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("query.txt", encoding=</a:t>
            </a:r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"utf-8"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loader.</a:t>
            </a:r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</a:t>
            </a:r>
            <a:pPr indent="0" marL="0">
              <a:buNone/>
            </a:pPr>
            <a:r>
              <a:rPr lang="en-US" sz="11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PromptTemplate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(template=</a:t>
            </a:r>
            <a:pPr indent="0" marL="0">
              <a:buNone/>
            </a:pPr>
            <a:r>
              <a:rPr lang="en-US" sz="11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"answer this query: {query}"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input_variables=["query"])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chain</a:t>
            </a:r>
            <a:pPr indent="0" marL="0">
              <a:buNone/>
            </a:pPr>
            <a:r>
              <a:rPr lang="en-US" sz="11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</a:t>
            </a:r>
            <a:pPr indent="0" marL="0">
              <a:buNone/>
            </a:pPr>
            <a:r>
              <a:rPr lang="en-US" sz="11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| </a:t>
            </a:r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ChatOpenAI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| </a:t>
            </a:r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StrOutputParser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chain.</a:t>
            </a:r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invoke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({"query": doc[0].page_content})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LangChain Document Loaders - Part 2</dc:title>
  <dc:subject>PptxGenJS Presentation</dc:subject>
  <dc:creator>PptxGenJS</dc:creator>
  <cp:lastModifiedBy>PptxGenJS</cp:lastModifiedBy>
  <cp:revision>1</cp:revision>
  <dcterms:created xsi:type="dcterms:W3CDTF">2026-03-27T15:32:44Z</dcterms:created>
  <dcterms:modified xsi:type="dcterms:W3CDTF">2026-03-27T15:32:44Z</dcterms:modified>
</cp:coreProperties>
</file>