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3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1.png" ContentType="image/png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IN" sz="4400" spc="-1" strike="noStrike">
                <a:latin typeface="Arial"/>
              </a:rPr>
              <a:t>Click to move the slide</a:t>
            </a:r>
            <a:endParaRPr b="0" lang="en-IN" sz="4400" spc="-1" strike="noStrike"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IN" sz="2000" spc="-1" strike="noStrike">
                <a:latin typeface="Arial"/>
              </a:rPr>
              <a:t>Click to edit the notes format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IN" sz="1400" spc="-1" strike="noStrike">
                <a:latin typeface="Times New Roman"/>
              </a:rPr>
              <a:t>&lt;header&gt;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IN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IN" sz="1400" spc="-1" strike="noStrike">
                <a:latin typeface="Times New Roman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IN" sz="1400" spc="-1" strike="noStrike">
                <a:latin typeface="Times New Roman"/>
              </a:defRPr>
            </a:lvl1pPr>
          </a:lstStyle>
          <a:p>
            <a:r>
              <a:rPr b="0" lang="en-IN" sz="1400" spc="-1" strike="noStrike">
                <a:latin typeface="Times New Roman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IN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767F0CDF-DAB9-439F-968E-1F56526D5DCD}" type="slidenum">
              <a:rPr b="0" lang="en-IN" sz="1400" spc="-1" strike="noStrike">
                <a:latin typeface="Times New Roman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95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DA568C54-EB7D-4B8A-9E50-E0FA10C49EAC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59FCAB34-3B65-4DFF-979B-DE06EFF75E4C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101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788BBFAD-3B51-412C-8949-701BCAB7F5CF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0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104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EA4C0674-EDE2-423E-940B-55D485B44256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0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107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F8F65ACA-8E8A-4184-B628-04C426BC4C68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1F1FB3B9-828B-412E-9168-17166E9B7D78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IN" sz="4400" spc="-1" strike="noStrike">
                <a:latin typeface="Arial"/>
              </a:rPr>
              <a:t>Click to edit the title text format</a:t>
            </a:r>
            <a:endParaRPr b="0" lang="en-IN" sz="44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latin typeface="Arial"/>
              </a:rPr>
              <a:t>Click to edit the outline text format</a:t>
            </a:r>
            <a:endParaRPr b="0" lang="en-IN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pc="-1" strike="noStrike">
                <a:latin typeface="Arial"/>
              </a:rPr>
              <a:t>Second Outline Level</a:t>
            </a:r>
            <a:endParaRPr b="0" lang="en-IN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latin typeface="Arial"/>
              </a:rPr>
              <a:t>Third Outline Level</a:t>
            </a:r>
            <a:endParaRPr b="0" lang="en-IN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pc="-1" strike="noStrike">
                <a:latin typeface="Arial"/>
              </a:rPr>
              <a:t>Fourth Outline Level</a:t>
            </a:r>
            <a:endParaRPr b="0" lang="en-IN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Fifth Outline Level</a:t>
            </a:r>
            <a:endParaRPr b="0" lang="en-IN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Sixth Outline Level</a:t>
            </a:r>
            <a:endParaRPr b="0" lang="en-IN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Seventh Outline Level</a:t>
            </a:r>
            <a:endParaRPr b="0" lang="en-IN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 0"/>
          <p:cNvSpPr/>
          <p:nvPr/>
        </p:nvSpPr>
        <p:spPr>
          <a:xfrm>
            <a:off x="457200" y="1645920"/>
            <a:ext cx="822888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800" spc="-1" strike="noStrike">
                <a:solidFill>
                  <a:srgbClr val="ffffff"/>
                </a:solidFill>
                <a:latin typeface="Calibri"/>
                <a:ea typeface="DejaVu Sans"/>
              </a:rPr>
              <a:t>Understanding Output Parsers</a:t>
            </a:r>
            <a:endParaRPr b="0" lang="en-IN" sz="4800" spc="-1" strike="noStrike">
              <a:latin typeface="Arial"/>
            </a:endParaRPr>
          </a:p>
        </p:txBody>
      </p:sp>
      <p:sp>
        <p:nvSpPr>
          <p:cNvPr id="45" name="Text 1"/>
          <p:cNvSpPr/>
          <p:nvPr/>
        </p:nvSpPr>
        <p:spPr>
          <a:xfrm>
            <a:off x="457200" y="2377440"/>
            <a:ext cx="82288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44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97bc62"/>
                </a:solidFill>
                <a:latin typeface="Calibri"/>
                <a:ea typeface="DejaVu Sans"/>
              </a:rPr>
              <a:t>in LangChain</a:t>
            </a:r>
            <a:endParaRPr b="0" lang="en-IN" sz="4400" spc="-1" strike="noStrike">
              <a:latin typeface="Arial"/>
            </a:endParaRPr>
          </a:p>
        </p:txBody>
      </p:sp>
      <p:sp>
        <p:nvSpPr>
          <p:cNvPr id="46" name="Text 2"/>
          <p:cNvSpPr/>
          <p:nvPr/>
        </p:nvSpPr>
        <p:spPr>
          <a:xfrm>
            <a:off x="457200" y="3474720"/>
            <a:ext cx="8228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800" spc="-1" strike="noStrike">
                <a:solidFill>
                  <a:srgbClr val="ffffff"/>
                </a:solidFill>
                <a:latin typeface="Calibri"/>
                <a:ea typeface="DejaVu Sans"/>
              </a:rPr>
              <a:t>A Complete Guide to Structured Output</a:t>
            </a:r>
            <a:endParaRPr b="0" lang="en-IN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 0"/>
          <p:cNvSpPr/>
          <p:nvPr/>
        </p:nvSpPr>
        <p:spPr>
          <a:xfrm>
            <a:off x="457200" y="274320"/>
            <a:ext cx="82288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2c5f2d"/>
                </a:solidFill>
                <a:latin typeface="Calibri"/>
                <a:ea typeface="DejaVu Sans"/>
              </a:rPr>
              <a:t>The Challenge with LLM Responses</a:t>
            </a:r>
            <a:endParaRPr b="0" lang="en-IN" sz="3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3800" spc="-1" strike="noStrike">
              <a:latin typeface="Arial"/>
            </a:endParaRPr>
          </a:p>
        </p:txBody>
      </p:sp>
      <p:sp>
        <p:nvSpPr>
          <p:cNvPr id="48" name="Shape 1"/>
          <p:cNvSpPr/>
          <p:nvPr/>
        </p:nvSpPr>
        <p:spPr>
          <a:xfrm>
            <a:off x="457200" y="1005840"/>
            <a:ext cx="3931200" cy="3474000"/>
          </a:xfrm>
          <a:prstGeom prst="rect">
            <a:avLst/>
          </a:prstGeom>
          <a:solidFill>
            <a:srgbClr val="ffffff"/>
          </a:solidFill>
          <a:ln w="25400">
            <a:solidFill>
              <a:srgbClr val="97bc6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9" name="Text 2"/>
          <p:cNvSpPr/>
          <p:nvPr/>
        </p:nvSpPr>
        <p:spPr>
          <a:xfrm>
            <a:off x="640080" y="1188720"/>
            <a:ext cx="35654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2c5f2d"/>
                </a:solidFill>
                <a:latin typeface="Calibri"/>
                <a:ea typeface="DejaVu Sans"/>
              </a:rPr>
              <a:t>What You Receive: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50" name="Text 3"/>
          <p:cNvSpPr/>
          <p:nvPr/>
        </p:nvSpPr>
        <p:spPr>
          <a:xfrm>
            <a:off x="640080" y="1737360"/>
            <a:ext cx="3565440" cy="255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>
              <a:lnSpc>
                <a:spcPct val="100000"/>
              </a:lnSpc>
              <a:buClr>
                <a:srgbClr val="2d2d2d"/>
              </a:buClr>
              <a:buFont typeface="Symbol"/>
              <a:buChar char=""/>
            </a:pPr>
            <a:r>
              <a:rPr b="0" lang="en-US" sz="1600" spc="-1" strike="noStrike">
                <a:solidFill>
                  <a:srgbClr val="2d2d2d"/>
                </a:solidFill>
                <a:latin typeface="Calibri"/>
                <a:ea typeface="DejaVu Sans"/>
              </a:rPr>
              <a:t>Textual content</a:t>
            </a:r>
            <a:endParaRPr b="0" lang="en-IN" sz="16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2d2d2d"/>
              </a:buClr>
              <a:buFont typeface="Symbol"/>
              <a:buChar char=""/>
            </a:pPr>
            <a:r>
              <a:rPr b="0" lang="en-US" sz="1600" spc="-1" strike="noStrike">
                <a:solidFill>
                  <a:srgbClr val="2d2d2d"/>
                </a:solidFill>
                <a:latin typeface="Calibri"/>
                <a:ea typeface="DejaVu Sans"/>
              </a:rPr>
              <a:t>Token usage statistics</a:t>
            </a:r>
            <a:endParaRPr b="0" lang="en-IN" sz="16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2d2d2d"/>
              </a:buClr>
              <a:buFont typeface="Symbol"/>
              <a:buChar char=""/>
            </a:pPr>
            <a:r>
              <a:rPr b="0" lang="en-US" sz="1600" spc="-1" strike="noStrike">
                <a:solidFill>
                  <a:srgbClr val="2d2d2d"/>
                </a:solidFill>
                <a:latin typeface="Calibri"/>
                <a:ea typeface="DejaVu Sans"/>
              </a:rPr>
              <a:t>Completion tokens count</a:t>
            </a:r>
            <a:endParaRPr b="0" lang="en-IN" sz="16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2d2d2d"/>
              </a:buClr>
              <a:buFont typeface="Symbol"/>
              <a:buChar char=""/>
            </a:pPr>
            <a:r>
              <a:rPr b="0" lang="en-US" sz="1600" spc="-1" strike="noStrike">
                <a:solidFill>
                  <a:srgbClr val="2d2d2d"/>
                </a:solidFill>
                <a:latin typeface="Calibri"/>
                <a:ea typeface="DejaVu Sans"/>
              </a:rPr>
              <a:t>Audio tokens data</a:t>
            </a:r>
            <a:endParaRPr b="0" lang="en-IN" sz="16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2d2d2d"/>
              </a:buClr>
              <a:buFont typeface="Symbol"/>
              <a:buChar char=""/>
            </a:pPr>
            <a:r>
              <a:rPr b="0" lang="en-US" sz="1600" spc="-1" strike="noStrike">
                <a:solidFill>
                  <a:srgbClr val="2d2d2d"/>
                </a:solidFill>
                <a:latin typeface="Calibri"/>
                <a:ea typeface="DejaVu Sans"/>
              </a:rPr>
              <a:t>Various metadata fields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51" name="Shape 4"/>
          <p:cNvSpPr/>
          <p:nvPr/>
        </p:nvSpPr>
        <p:spPr>
          <a:xfrm>
            <a:off x="4754880" y="1005840"/>
            <a:ext cx="3931200" cy="3474000"/>
          </a:xfrm>
          <a:prstGeom prst="rect">
            <a:avLst/>
          </a:prstGeom>
          <a:solidFill>
            <a:srgbClr val="ffffff"/>
          </a:solidFill>
          <a:ln w="25400">
            <a:solidFill>
              <a:srgbClr val="1e3a1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2" name="Text 5"/>
          <p:cNvSpPr/>
          <p:nvPr/>
        </p:nvSpPr>
        <p:spPr>
          <a:xfrm>
            <a:off x="4937760" y="1188720"/>
            <a:ext cx="35654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1e3a1f"/>
                </a:solidFill>
                <a:latin typeface="Calibri"/>
                <a:ea typeface="DejaVu Sans"/>
              </a:rPr>
              <a:t>The Problem: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53" name="Text 6"/>
          <p:cNvSpPr/>
          <p:nvPr/>
        </p:nvSpPr>
        <p:spPr>
          <a:xfrm>
            <a:off x="4937760" y="1737360"/>
            <a:ext cx="3565440" cy="255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>
              <a:lnSpc>
                <a:spcPct val="100000"/>
              </a:lnSpc>
              <a:buClr>
                <a:srgbClr val="2d2d2d"/>
              </a:buClr>
              <a:buFont typeface="Symbol"/>
              <a:buChar char=""/>
            </a:pPr>
            <a:r>
              <a:rPr b="0" lang="en-US" sz="1600" spc="-1" strike="noStrike">
                <a:solidFill>
                  <a:srgbClr val="2d2d2d"/>
                </a:solidFill>
                <a:latin typeface="Calibri"/>
                <a:ea typeface="DejaVu Sans"/>
              </a:rPr>
              <a:t>Unstructured format</a:t>
            </a:r>
            <a:endParaRPr b="0" lang="en-IN" sz="16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2d2d2d"/>
              </a:buClr>
              <a:buFont typeface="Symbol"/>
              <a:buChar char=""/>
            </a:pPr>
            <a:r>
              <a:rPr b="0" lang="en-US" sz="1600" spc="-1" strike="noStrike">
                <a:solidFill>
                  <a:srgbClr val="2d2d2d"/>
                </a:solidFill>
                <a:latin typeface="Calibri"/>
                <a:ea typeface="DejaVu Sans"/>
              </a:rPr>
              <a:t>Cannot send to databases</a:t>
            </a:r>
            <a:endParaRPr b="0" lang="en-IN" sz="16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2d2d2d"/>
              </a:buClr>
              <a:buFont typeface="Symbol"/>
              <a:buChar char=""/>
            </a:pPr>
            <a:r>
              <a:rPr b="0" lang="en-US" sz="1600" spc="-1" strike="noStrike">
                <a:solidFill>
                  <a:srgbClr val="2d2d2d"/>
                </a:solidFill>
                <a:latin typeface="Calibri"/>
                <a:ea typeface="DejaVu Sans"/>
              </a:rPr>
              <a:t>Not API-compatible</a:t>
            </a:r>
            <a:endParaRPr b="0" lang="en-IN" sz="16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2d2d2d"/>
              </a:buClr>
              <a:buFont typeface="Symbol"/>
              <a:buChar char=""/>
            </a:pPr>
            <a:r>
              <a:rPr b="0" lang="en-US" sz="1600" spc="-1" strike="noStrike">
                <a:solidFill>
                  <a:srgbClr val="2d2d2d"/>
                </a:solidFill>
                <a:latin typeface="Calibri"/>
                <a:ea typeface="DejaVu Sans"/>
              </a:rPr>
              <a:t>Requires manual parsing</a:t>
            </a:r>
            <a:endParaRPr b="0" lang="en-IN" sz="16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2d2d2d"/>
              </a:buClr>
              <a:buFont typeface="Symbol"/>
              <a:buChar char=""/>
            </a:pPr>
            <a:r>
              <a:rPr b="0" lang="en-US" sz="1600" spc="-1" strike="noStrike">
                <a:solidFill>
                  <a:srgbClr val="2d2d2d"/>
                </a:solidFill>
                <a:latin typeface="Calibri"/>
                <a:ea typeface="DejaVu Sans"/>
              </a:rPr>
              <a:t>Need: result.content</a:t>
            </a:r>
            <a:endParaRPr b="0" lang="en-IN" sz="1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ext 0"/>
          <p:cNvSpPr/>
          <p:nvPr/>
        </p:nvSpPr>
        <p:spPr>
          <a:xfrm>
            <a:off x="457200" y="274320"/>
            <a:ext cx="82288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800" spc="-1" strike="noStrike">
                <a:solidFill>
                  <a:srgbClr val="2c5f2d"/>
                </a:solidFill>
                <a:latin typeface="Calibri"/>
                <a:ea typeface="DejaVu Sans"/>
              </a:rPr>
              <a:t>What is Structured Output?</a:t>
            </a:r>
            <a:endParaRPr b="0" lang="en-IN" sz="3800" spc="-1" strike="noStrike">
              <a:latin typeface="Arial"/>
            </a:endParaRPr>
          </a:p>
        </p:txBody>
      </p:sp>
      <p:pic>
        <p:nvPicPr>
          <p:cNvPr id="55" name="Image 0" descr="preencoded.png"/>
          <p:cNvPicPr/>
          <p:nvPr/>
        </p:nvPicPr>
        <p:blipFill>
          <a:blip r:embed="rId1"/>
          <a:stretch/>
        </p:blipFill>
        <p:spPr>
          <a:xfrm>
            <a:off x="640080" y="1097280"/>
            <a:ext cx="456480" cy="456480"/>
          </a:xfrm>
          <a:prstGeom prst="rect">
            <a:avLst/>
          </a:prstGeom>
          <a:ln w="0">
            <a:noFill/>
          </a:ln>
        </p:spPr>
      </p:pic>
      <p:sp>
        <p:nvSpPr>
          <p:cNvPr id="56" name="Text 1"/>
          <p:cNvSpPr/>
          <p:nvPr/>
        </p:nvSpPr>
        <p:spPr>
          <a:xfrm>
            <a:off x="1280160" y="1143000"/>
            <a:ext cx="68572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2c5f2d"/>
                </a:solidFill>
                <a:latin typeface="Calibri"/>
                <a:ea typeface="DejaVu Sans"/>
              </a:rPr>
              <a:t>Key Concept: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57" name="Text 2"/>
          <p:cNvSpPr/>
          <p:nvPr/>
        </p:nvSpPr>
        <p:spPr>
          <a:xfrm>
            <a:off x="640080" y="1645920"/>
            <a:ext cx="786312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2d2d2d"/>
                </a:solidFill>
                <a:latin typeface="Calibri"/>
                <a:ea typeface="DejaVu Sans"/>
              </a:rPr>
              <a:t>Structured output forces the LLM to provide responses in a predefined format or schema, making the data easily consumable by other systems.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58" name="Shape 3"/>
          <p:cNvSpPr/>
          <p:nvPr/>
        </p:nvSpPr>
        <p:spPr>
          <a:xfrm>
            <a:off x="457200" y="2560320"/>
            <a:ext cx="3931200" cy="2010960"/>
          </a:xfrm>
          <a:prstGeom prst="rect">
            <a:avLst/>
          </a:prstGeom>
          <a:solidFill>
            <a:srgbClr val="ffe6e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9" name="Text 4"/>
          <p:cNvSpPr/>
          <p:nvPr/>
        </p:nvSpPr>
        <p:spPr>
          <a:xfrm>
            <a:off x="640080" y="2743200"/>
            <a:ext cx="35654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1e3a1f"/>
                </a:solidFill>
                <a:latin typeface="Calibri"/>
                <a:ea typeface="DejaVu Sans"/>
              </a:rPr>
              <a:t>Before (Unstructured):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0" name="Text 5"/>
          <p:cNvSpPr/>
          <p:nvPr/>
        </p:nvSpPr>
        <p:spPr>
          <a:xfrm>
            <a:off x="640080" y="3108960"/>
            <a:ext cx="3565440" cy="12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2d2d2d"/>
                </a:solidFill>
                <a:latin typeface="Consolas"/>
                <a:ea typeface="Consolas"/>
              </a:rPr>
              <a:t>Plain text response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2d2d2d"/>
                </a:solidFill>
                <a:latin typeface="Consolas"/>
                <a:ea typeface="Consolas"/>
              </a:rPr>
              <a:t>Mixed with metadata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2d2d2d"/>
                </a:solidFill>
                <a:latin typeface="Consolas"/>
                <a:ea typeface="Consolas"/>
              </a:rPr>
              <a:t>Hard to process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61" name="Shape 6"/>
          <p:cNvSpPr/>
          <p:nvPr/>
        </p:nvSpPr>
        <p:spPr>
          <a:xfrm>
            <a:off x="4754880" y="2560320"/>
            <a:ext cx="3931200" cy="2010960"/>
          </a:xfrm>
          <a:prstGeom prst="rect">
            <a:avLst/>
          </a:prstGeom>
          <a:solidFill>
            <a:srgbClr val="e6f7e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2" name="Text 7"/>
          <p:cNvSpPr/>
          <p:nvPr/>
        </p:nvSpPr>
        <p:spPr>
          <a:xfrm>
            <a:off x="4937760" y="2743200"/>
            <a:ext cx="35654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2c5f2d"/>
                </a:solidFill>
                <a:latin typeface="Calibri"/>
                <a:ea typeface="DejaVu Sans"/>
              </a:rPr>
              <a:t>After (Structured):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3" name="Text 8"/>
          <p:cNvSpPr/>
          <p:nvPr/>
        </p:nvSpPr>
        <p:spPr>
          <a:xfrm>
            <a:off x="4937760" y="3108960"/>
            <a:ext cx="3565440" cy="12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2d2d2d"/>
                </a:solidFill>
                <a:latin typeface="Consolas"/>
                <a:ea typeface="Consolas"/>
              </a:rPr>
              <a:t>{ "name": "value",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2d2d2d"/>
                </a:solidFill>
                <a:latin typeface="Consolas"/>
                <a:ea typeface="Consolas"/>
              </a:rPr>
              <a:t>  </a:t>
            </a:r>
            <a:r>
              <a:rPr b="0" lang="en-US" sz="1400" spc="-1" strike="noStrike">
                <a:solidFill>
                  <a:srgbClr val="2d2d2d"/>
                </a:solidFill>
                <a:latin typeface="Consolas"/>
                <a:ea typeface="Consolas"/>
              </a:rPr>
              <a:t>"age": 30,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2d2d2d"/>
                </a:solidFill>
                <a:latin typeface="Consolas"/>
                <a:ea typeface="Consolas"/>
              </a:rPr>
              <a:t>  </a:t>
            </a:r>
            <a:r>
              <a:rPr b="0" lang="en-US" sz="1400" spc="-1" strike="noStrike">
                <a:solidFill>
                  <a:srgbClr val="2d2d2d"/>
                </a:solidFill>
                <a:latin typeface="Consolas"/>
                <a:ea typeface="Consolas"/>
              </a:rPr>
              <a:t>"city": "Mumbai" }</a:t>
            </a:r>
            <a:endParaRPr b="0" lang="en-IN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ext 0"/>
          <p:cNvSpPr/>
          <p:nvPr/>
        </p:nvSpPr>
        <p:spPr>
          <a:xfrm>
            <a:off x="457200" y="274320"/>
            <a:ext cx="82288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800" spc="-1" strike="noStrike">
                <a:solidFill>
                  <a:srgbClr val="2c5f2d"/>
                </a:solidFill>
                <a:latin typeface="Calibri"/>
                <a:ea typeface="DejaVu Sans"/>
              </a:rPr>
              <a:t>Two Categories of Language Models</a:t>
            </a:r>
            <a:endParaRPr b="0" lang="en-IN" sz="3800" spc="-1" strike="noStrike">
              <a:latin typeface="Arial"/>
            </a:endParaRPr>
          </a:p>
        </p:txBody>
      </p:sp>
      <p:sp>
        <p:nvSpPr>
          <p:cNvPr id="65" name="Shape 1"/>
          <p:cNvSpPr/>
          <p:nvPr/>
        </p:nvSpPr>
        <p:spPr>
          <a:xfrm>
            <a:off x="457200" y="1097280"/>
            <a:ext cx="3931200" cy="3291120"/>
          </a:xfrm>
          <a:prstGeom prst="rect">
            <a:avLst/>
          </a:prstGeom>
          <a:solidFill>
            <a:srgbClr val="ffffff"/>
          </a:solidFill>
          <a:ln w="38100">
            <a:solidFill>
              <a:srgbClr val="97bc6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6" name="Shape 2"/>
          <p:cNvSpPr/>
          <p:nvPr/>
        </p:nvSpPr>
        <p:spPr>
          <a:xfrm>
            <a:off x="457200" y="1097280"/>
            <a:ext cx="109080" cy="3291120"/>
          </a:xfrm>
          <a:prstGeom prst="rect">
            <a:avLst/>
          </a:prstGeom>
          <a:solidFill>
            <a:srgbClr val="97bc6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7" name="Text 3"/>
          <p:cNvSpPr/>
          <p:nvPr/>
        </p:nvSpPr>
        <p:spPr>
          <a:xfrm>
            <a:off x="731520" y="1280160"/>
            <a:ext cx="34740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2c5f2d"/>
                </a:solidFill>
                <a:latin typeface="Calibri"/>
                <a:ea typeface="DejaVu Sans"/>
              </a:rPr>
              <a:t>Models with Native Support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68" name="Text 4"/>
          <p:cNvSpPr/>
          <p:nvPr/>
        </p:nvSpPr>
        <p:spPr>
          <a:xfrm>
            <a:off x="731520" y="1828800"/>
            <a:ext cx="3474000" cy="228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>
              <a:lnSpc>
                <a:spcPct val="100000"/>
              </a:lnSpc>
              <a:buClr>
                <a:srgbClr val="2d2d2d"/>
              </a:buClr>
              <a:buFont typeface="Symbol"/>
              <a:buChar char=""/>
            </a:pPr>
            <a:r>
              <a:rPr b="0" lang="en-US" sz="1500" spc="-1" strike="noStrike">
                <a:solidFill>
                  <a:srgbClr val="2d2d2d"/>
                </a:solidFill>
                <a:latin typeface="Calibri"/>
                <a:ea typeface="DejaVu Sans"/>
              </a:rPr>
              <a:t>Fine-tuned for structured output</a:t>
            </a:r>
            <a:endParaRPr b="0" lang="en-IN" sz="15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2d2d2d"/>
              </a:buClr>
              <a:buFont typeface="Symbol"/>
              <a:buChar char=""/>
            </a:pPr>
            <a:r>
              <a:rPr b="0" lang="en-US" sz="1500" spc="-1" strike="noStrike">
                <a:solidFill>
                  <a:srgbClr val="2d2d2d"/>
                </a:solidFill>
                <a:latin typeface="Calibri"/>
                <a:ea typeface="DejaVu Sans"/>
              </a:rPr>
              <a:t>Built-in schema support</a:t>
            </a:r>
            <a:endParaRPr b="0" lang="en-IN" sz="15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2d2d2d"/>
              </a:buClr>
              <a:buFont typeface="Symbol"/>
              <a:buChar char=""/>
            </a:pPr>
            <a:r>
              <a:rPr b="0" lang="en-US" sz="1500" spc="-1" strike="noStrike">
                <a:solidFill>
                  <a:srgbClr val="2d2d2d"/>
                </a:solidFill>
                <a:latin typeface="Calibri"/>
                <a:ea typeface="DejaVu Sans"/>
              </a:rPr>
              <a:t>Examples: GPT-4, Claude</a:t>
            </a:r>
            <a:endParaRPr b="0" lang="en-IN" sz="15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2d2d2d"/>
              </a:buClr>
              <a:buFont typeface="Symbol"/>
              <a:buChar char=""/>
            </a:pPr>
            <a:r>
              <a:rPr b="0" lang="en-US" sz="1500" spc="-1" strike="noStrike">
                <a:solidFill>
                  <a:srgbClr val="2d2d2d"/>
                </a:solidFill>
                <a:latin typeface="Calibri"/>
                <a:ea typeface="DejaVu Sans"/>
              </a:rPr>
              <a:t>Can use with_structured_output()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69" name="Shape 5"/>
          <p:cNvSpPr/>
          <p:nvPr/>
        </p:nvSpPr>
        <p:spPr>
          <a:xfrm>
            <a:off x="4754880" y="1097280"/>
            <a:ext cx="3931200" cy="3291120"/>
          </a:xfrm>
          <a:prstGeom prst="rect">
            <a:avLst/>
          </a:prstGeom>
          <a:solidFill>
            <a:srgbClr val="ffffff"/>
          </a:solidFill>
          <a:ln w="38100">
            <a:solidFill>
              <a:srgbClr val="1e3a1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0" name="Shape 6"/>
          <p:cNvSpPr/>
          <p:nvPr/>
        </p:nvSpPr>
        <p:spPr>
          <a:xfrm>
            <a:off x="4754880" y="1097280"/>
            <a:ext cx="109080" cy="3291120"/>
          </a:xfrm>
          <a:prstGeom prst="rect">
            <a:avLst/>
          </a:prstGeom>
          <a:solidFill>
            <a:srgbClr val="1e3a1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1" name="Text 7"/>
          <p:cNvSpPr/>
          <p:nvPr/>
        </p:nvSpPr>
        <p:spPr>
          <a:xfrm>
            <a:off x="5029200" y="1280160"/>
            <a:ext cx="34740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1e3a1f"/>
                </a:solidFill>
                <a:latin typeface="Calibri"/>
                <a:ea typeface="DejaVu Sans"/>
              </a:rPr>
              <a:t>Models Requiring Parsers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72" name="Text 8"/>
          <p:cNvSpPr/>
          <p:nvPr/>
        </p:nvSpPr>
        <p:spPr>
          <a:xfrm>
            <a:off x="5029200" y="1828800"/>
            <a:ext cx="3474000" cy="228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>
              <a:lnSpc>
                <a:spcPct val="100000"/>
              </a:lnSpc>
              <a:buClr>
                <a:srgbClr val="2d2d2d"/>
              </a:buClr>
              <a:buFont typeface="Symbol"/>
              <a:buChar char=""/>
            </a:pPr>
            <a:r>
              <a:rPr b="0" lang="en-US" sz="1500" spc="-1" strike="noStrike">
                <a:solidFill>
                  <a:srgbClr val="2d2d2d"/>
                </a:solidFill>
                <a:latin typeface="Calibri"/>
                <a:ea typeface="DejaVu Sans"/>
              </a:rPr>
              <a:t>Standard open-source models</a:t>
            </a:r>
            <a:endParaRPr b="0" lang="en-IN" sz="15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2d2d2d"/>
              </a:buClr>
              <a:buFont typeface="Symbol"/>
              <a:buChar char=""/>
            </a:pPr>
            <a:r>
              <a:rPr b="0" lang="en-US" sz="1500" spc="-1" strike="noStrike">
                <a:solidFill>
                  <a:srgbClr val="2d2d2d"/>
                </a:solidFill>
                <a:latin typeface="Calibri"/>
                <a:ea typeface="DejaVu Sans"/>
              </a:rPr>
              <a:t>Not fine-tuned by default</a:t>
            </a:r>
            <a:endParaRPr b="0" lang="en-IN" sz="15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2d2d2d"/>
              </a:buClr>
              <a:buFont typeface="Symbol"/>
              <a:buChar char=""/>
            </a:pPr>
            <a:r>
              <a:rPr b="0" lang="en-US" sz="1500" spc="-1" strike="noStrike">
                <a:solidFill>
                  <a:srgbClr val="2d2d2d"/>
                </a:solidFill>
                <a:latin typeface="Calibri"/>
                <a:ea typeface="DejaVu Sans"/>
              </a:rPr>
              <a:t>Need Output Parsers</a:t>
            </a:r>
            <a:endParaRPr b="0" lang="en-IN" sz="15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2d2d2d"/>
              </a:buClr>
              <a:buFont typeface="Symbol"/>
              <a:buChar char=""/>
            </a:pPr>
            <a:r>
              <a:rPr b="0" lang="en-US" sz="1500" spc="-1" strike="noStrike">
                <a:solidFill>
                  <a:srgbClr val="2d2d2d"/>
                </a:solidFill>
                <a:latin typeface="Calibri"/>
                <a:ea typeface="DejaVu Sans"/>
              </a:rPr>
              <a:t>LangChain provides tools</a:t>
            </a:r>
            <a:endParaRPr b="0" lang="en-IN" sz="15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Text 0"/>
          <p:cNvSpPr/>
          <p:nvPr/>
        </p:nvSpPr>
        <p:spPr>
          <a:xfrm>
            <a:off x="457200" y="1371600"/>
            <a:ext cx="82288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200" spc="-1" strike="noStrike">
                <a:solidFill>
                  <a:srgbClr val="ffffff"/>
                </a:solidFill>
                <a:latin typeface="Calibri"/>
                <a:ea typeface="DejaVu Sans"/>
              </a:rPr>
              <a:t>What are Output Parsers?</a:t>
            </a:r>
            <a:endParaRPr b="0" lang="en-IN" sz="4200" spc="-1" strike="noStrike">
              <a:latin typeface="Arial"/>
            </a:endParaRPr>
          </a:p>
        </p:txBody>
      </p:sp>
      <p:sp>
        <p:nvSpPr>
          <p:cNvPr id="74" name="Shape 1"/>
          <p:cNvSpPr/>
          <p:nvPr/>
        </p:nvSpPr>
        <p:spPr>
          <a:xfrm>
            <a:off x="1371600" y="2286000"/>
            <a:ext cx="6400080" cy="1828080"/>
          </a:xfrm>
          <a:prstGeom prst="rect">
            <a:avLst/>
          </a:prstGeom>
          <a:solidFill>
            <a:srgbClr val="ffffff"/>
          </a:solidFill>
          <a:ln w="25400">
            <a:solidFill>
              <a:srgbClr val="97bc6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5" name="Text 2"/>
          <p:cNvSpPr/>
          <p:nvPr/>
        </p:nvSpPr>
        <p:spPr>
          <a:xfrm>
            <a:off x="1645920" y="2560320"/>
            <a:ext cx="5851440" cy="12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800" spc="-1" strike="noStrike">
                <a:solidFill>
                  <a:srgbClr val="2d2d2d"/>
                </a:solidFill>
                <a:latin typeface="Calibri"/>
                <a:ea typeface="DejaVu Sans"/>
              </a:rPr>
              <a:t>"Output parsers in LangChain convert raw LLM responses into structured formats like JSON, CSV, Pydantic models, and more."</a:t>
            </a:r>
            <a:endParaRPr b="0" lang="en-IN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Text 0"/>
          <p:cNvSpPr/>
          <p:nvPr/>
        </p:nvSpPr>
        <p:spPr>
          <a:xfrm>
            <a:off x="457200" y="274320"/>
            <a:ext cx="82288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800" spc="-1" strike="noStrike">
                <a:solidFill>
                  <a:srgbClr val="2c5f2d"/>
                </a:solidFill>
                <a:latin typeface="Calibri"/>
                <a:ea typeface="DejaVu Sans"/>
              </a:rPr>
              <a:t>Four Essential Output Parsers</a:t>
            </a:r>
            <a:endParaRPr b="0" lang="en-IN" sz="3800" spc="-1" strike="noStrike">
              <a:latin typeface="Arial"/>
            </a:endParaRPr>
          </a:p>
        </p:txBody>
      </p:sp>
      <p:sp>
        <p:nvSpPr>
          <p:cNvPr id="77" name="Shape 1"/>
          <p:cNvSpPr/>
          <p:nvPr/>
        </p:nvSpPr>
        <p:spPr>
          <a:xfrm>
            <a:off x="640080" y="1188720"/>
            <a:ext cx="547920" cy="547920"/>
          </a:xfrm>
          <a:prstGeom prst="ellipse">
            <a:avLst/>
          </a:prstGeom>
          <a:solidFill>
            <a:srgbClr val="2c5f2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8" name="Text 2"/>
          <p:cNvSpPr/>
          <p:nvPr/>
        </p:nvSpPr>
        <p:spPr>
          <a:xfrm>
            <a:off x="640080" y="1188720"/>
            <a:ext cx="54792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DejaVu Sans"/>
              </a:rPr>
              <a:t>1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79" name="Text 3"/>
          <p:cNvSpPr/>
          <p:nvPr/>
        </p:nvSpPr>
        <p:spPr>
          <a:xfrm>
            <a:off x="1371600" y="1234440"/>
            <a:ext cx="3656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2c5f2d"/>
                </a:solidFill>
                <a:latin typeface="Calibri"/>
                <a:ea typeface="DejaVu Sans"/>
              </a:rPr>
              <a:t>String Output Parser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80" name="Text 4"/>
          <p:cNvSpPr/>
          <p:nvPr/>
        </p:nvSpPr>
        <p:spPr>
          <a:xfrm>
            <a:off x="1371600" y="1508760"/>
            <a:ext cx="71316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666666"/>
                </a:solidFill>
                <a:latin typeface="Calibri"/>
                <a:ea typeface="DejaVu Sans"/>
              </a:rPr>
              <a:t>Simplest - extracts text content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81" name="Shape 5"/>
          <p:cNvSpPr/>
          <p:nvPr/>
        </p:nvSpPr>
        <p:spPr>
          <a:xfrm>
            <a:off x="640080" y="1971720"/>
            <a:ext cx="547920" cy="547920"/>
          </a:xfrm>
          <a:prstGeom prst="ellipse">
            <a:avLst/>
          </a:prstGeom>
          <a:solidFill>
            <a:srgbClr val="2c5f2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2" name="Text 6"/>
          <p:cNvSpPr/>
          <p:nvPr/>
        </p:nvSpPr>
        <p:spPr>
          <a:xfrm>
            <a:off x="640080" y="1971720"/>
            <a:ext cx="54792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DejaVu Sans"/>
              </a:rPr>
              <a:t>2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83" name="Text 7"/>
          <p:cNvSpPr/>
          <p:nvPr/>
        </p:nvSpPr>
        <p:spPr>
          <a:xfrm>
            <a:off x="1371600" y="1980000"/>
            <a:ext cx="3656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2c5f2d"/>
                </a:solidFill>
                <a:latin typeface="Calibri"/>
                <a:ea typeface="DejaVu Sans"/>
              </a:rPr>
              <a:t>JSON Output Parser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84" name="Text 8"/>
          <p:cNvSpPr/>
          <p:nvPr/>
        </p:nvSpPr>
        <p:spPr>
          <a:xfrm>
            <a:off x="1371600" y="2291760"/>
            <a:ext cx="71316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666666"/>
                </a:solidFill>
                <a:latin typeface="Calibri"/>
                <a:ea typeface="DejaVu Sans"/>
              </a:rPr>
              <a:t>Forces JSON format output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85" name="Shape 9"/>
          <p:cNvSpPr/>
          <p:nvPr/>
        </p:nvSpPr>
        <p:spPr>
          <a:xfrm>
            <a:off x="640080" y="2871720"/>
            <a:ext cx="547920" cy="547920"/>
          </a:xfrm>
          <a:prstGeom prst="ellipse">
            <a:avLst/>
          </a:prstGeom>
          <a:solidFill>
            <a:srgbClr val="2c5f2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6" name="Text 10"/>
          <p:cNvSpPr/>
          <p:nvPr/>
        </p:nvSpPr>
        <p:spPr>
          <a:xfrm>
            <a:off x="640080" y="2880000"/>
            <a:ext cx="54792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DejaVu Sans"/>
              </a:rPr>
              <a:t>3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87" name="Text 11"/>
          <p:cNvSpPr/>
          <p:nvPr/>
        </p:nvSpPr>
        <p:spPr>
          <a:xfrm>
            <a:off x="1371600" y="3063240"/>
            <a:ext cx="3656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2c5f2d"/>
                </a:solidFill>
                <a:latin typeface="Calibri"/>
                <a:ea typeface="DejaVu Sans"/>
              </a:rPr>
              <a:t>Structured Output Parser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2000" spc="-1" strike="noStrike">
              <a:latin typeface="Arial"/>
            </a:endParaRPr>
          </a:p>
        </p:txBody>
      </p:sp>
      <p:sp>
        <p:nvSpPr>
          <p:cNvPr id="88" name="Text 12"/>
          <p:cNvSpPr/>
          <p:nvPr/>
        </p:nvSpPr>
        <p:spPr>
          <a:xfrm>
            <a:off x="1371600" y="3337560"/>
            <a:ext cx="71316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666666"/>
                </a:solidFill>
                <a:latin typeface="Calibri"/>
                <a:ea typeface="DejaVu Sans"/>
              </a:rPr>
              <a:t>Enforces schema structure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89" name="Shape 13"/>
          <p:cNvSpPr/>
          <p:nvPr/>
        </p:nvSpPr>
        <p:spPr>
          <a:xfrm>
            <a:off x="640080" y="3931920"/>
            <a:ext cx="547920" cy="547920"/>
          </a:xfrm>
          <a:prstGeom prst="ellipse">
            <a:avLst/>
          </a:prstGeom>
          <a:solidFill>
            <a:srgbClr val="2c5f2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0" name="Text 14"/>
          <p:cNvSpPr/>
          <p:nvPr/>
        </p:nvSpPr>
        <p:spPr>
          <a:xfrm>
            <a:off x="640080" y="3931920"/>
            <a:ext cx="54792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DejaVu Sans"/>
              </a:rPr>
              <a:t>4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91" name="Text 15"/>
          <p:cNvSpPr/>
          <p:nvPr/>
        </p:nvSpPr>
        <p:spPr>
          <a:xfrm>
            <a:off x="1371600" y="3977640"/>
            <a:ext cx="3656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2c5f2d"/>
                </a:solidFill>
                <a:latin typeface="Calibri"/>
                <a:ea typeface="DejaVu Sans"/>
              </a:rPr>
              <a:t>Pydantic Output Parser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92" name="Text 16"/>
          <p:cNvSpPr/>
          <p:nvPr/>
        </p:nvSpPr>
        <p:spPr>
          <a:xfrm>
            <a:off x="1371600" y="4251960"/>
            <a:ext cx="71316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666666"/>
                </a:solidFill>
                <a:latin typeface="Calibri"/>
                <a:ea typeface="DejaVu Sans"/>
              </a:rPr>
              <a:t>Schema + data validation</a:t>
            </a:r>
            <a:endParaRPr b="0" lang="en-IN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</TotalTime>
  <Application>LibreOffice/7.3.7.2$Linux_X86_64 LibreOffice_project/30$Build-2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2026-02-10T11:12:47Z</dcterms:created>
  <dc:creator>LangChain Tutorial</dc:creator>
  <dc:description/>
  <dc:language>en-IN</dc:language>
  <cp:lastModifiedBy/>
  <dcterms:modified xsi:type="dcterms:W3CDTF">2026-03-12T20:10:56Z</dcterms:modified>
  <cp:revision>5</cp:revision>
  <dc:subject>PptxGenJS Presentation</dc:subject>
  <dc:title>Understanding Output Parsers in LangChain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6</vt:i4>
  </property>
  <property fmtid="{D5CDD505-2E9C-101B-9397-08002B2CF9AE}" pid="3" name="PresentationFormat">
    <vt:lpwstr>On-screen Show (16:9)</vt:lpwstr>
  </property>
  <property fmtid="{D5CDD505-2E9C-101B-9397-08002B2CF9AE}" pid="4" name="Slides">
    <vt:i4>6</vt:i4>
  </property>
</Properties>
</file>