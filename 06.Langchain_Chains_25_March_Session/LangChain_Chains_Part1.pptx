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6E446F1-811D-4FA8-AC65-4068B82A7832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C64A54-D42E-4E58-AFC8-43E1CDF438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9894B9-DC2D-4FA9-B8E5-C024734F80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D33B5FD-E16D-4858-9311-2907115938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9A7E03-04C3-46BC-B321-921973D52F3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FEDE8B-76B7-48A9-B2AE-5B51A44BE89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32174E1-B971-4C82-9489-6F8C3E60A2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1C77B4-ED8C-4FF2-92D1-C4D8516E88F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6D6CAE-D93D-4D52-96EE-A1E3FADB65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953778-736B-4F73-A9AC-64104AC11AA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08D168-D02B-4C19-A34A-A1526896C52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C14352-34B1-4CCB-85AC-14012E102B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4B09F1-3C8A-481B-AA43-3E49BCB7EF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482F17-3D83-4539-8955-4405F05DEC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6858000" y="-457200"/>
            <a:ext cx="3200040" cy="3200040"/>
          </a:xfrm>
          <a:prstGeom prst="ellipse">
            <a:avLst/>
          </a:prstGeom>
          <a:solidFill>
            <a:srgbClr val="1a56db">
              <a:alpha val="30000"/>
            </a:srgbClr>
          </a:solidFill>
          <a:ln w="12700">
            <a:solidFill>
              <a:srgbClr val="1a56d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772400" y="2286000"/>
            <a:ext cx="2011320" cy="201132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365760" y="365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398" strike="noStrike">
                <a:solidFill>
                  <a:srgbClr val="00b4d8"/>
                </a:solidFill>
                <a:latin typeface="Calibri"/>
              </a:rPr>
              <a:t>PART 1 OF 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365760" y="822960"/>
            <a:ext cx="7772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LangChain Chains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65760" y="18745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800" spc="-1" strike="noStrike">
                <a:solidFill>
                  <a:srgbClr val="00b4d8"/>
                </a:solidFill>
                <a:latin typeface="Calibri"/>
                <a:ea typeface="Calibri"/>
              </a:rPr>
              <a:t>Complete Guide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65760" y="28803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b0c4de"/>
                </a:solidFill>
                <a:latin typeface="Calibri"/>
              </a:rPr>
              <a:t>Building Intelligent Pipelines for LLM Applications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65760" y="3429000"/>
            <a:ext cx="2285640" cy="36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65760" y="37490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b97c9"/>
                </a:solidFill>
                <a:latin typeface="Calibri"/>
              </a:rPr>
              <a:t>Sequential  •  Parallel  •  Conditional Chains  •  LCEL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Table of Contents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365760" y="100584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Shape 3"/>
          <p:cNvSpPr/>
          <p:nvPr/>
        </p:nvSpPr>
        <p:spPr>
          <a:xfrm>
            <a:off x="365760" y="1005840"/>
            <a:ext cx="72720" cy="959760"/>
          </a:xfrm>
          <a:prstGeom prst="rect">
            <a:avLst/>
          </a:prstGeom>
          <a:solidFill>
            <a:srgbClr val="1a5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4"/>
          <p:cNvSpPr/>
          <p:nvPr/>
        </p:nvSpPr>
        <p:spPr>
          <a:xfrm>
            <a:off x="502920" y="107892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a56db"/>
                </a:solidFill>
                <a:latin typeface="Calibri"/>
              </a:rPr>
              <a:t>01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530280" y="141732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The Problem with Manual Approach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365760" y="219456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Shape 7"/>
          <p:cNvSpPr/>
          <p:nvPr/>
        </p:nvSpPr>
        <p:spPr>
          <a:xfrm>
            <a:off x="365760" y="2194560"/>
            <a:ext cx="72720" cy="959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8"/>
          <p:cNvSpPr/>
          <p:nvPr/>
        </p:nvSpPr>
        <p:spPr>
          <a:xfrm>
            <a:off x="502920" y="226764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96c7"/>
                </a:solidFill>
                <a:latin typeface="Calibri"/>
              </a:rPr>
              <a:t>02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530280" y="260604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What Are Chains?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365760" y="338328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Shape 11"/>
          <p:cNvSpPr/>
          <p:nvPr/>
        </p:nvSpPr>
        <p:spPr>
          <a:xfrm>
            <a:off x="365760" y="3383280"/>
            <a:ext cx="72720" cy="95976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2"/>
          <p:cNvSpPr/>
          <p:nvPr/>
        </p:nvSpPr>
        <p:spPr>
          <a:xfrm>
            <a:off x="502920" y="345636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b5cf6"/>
                </a:solidFill>
                <a:latin typeface="Calibri"/>
              </a:rPr>
              <a:t>03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530280" y="379476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Three Types of Chains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4846320" y="100584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5"/>
          <p:cNvSpPr/>
          <p:nvPr/>
        </p:nvSpPr>
        <p:spPr>
          <a:xfrm>
            <a:off x="4846320" y="1005840"/>
            <a:ext cx="72720" cy="9597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6"/>
          <p:cNvSpPr/>
          <p:nvPr/>
        </p:nvSpPr>
        <p:spPr>
          <a:xfrm>
            <a:off x="4983480" y="107892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2c55e"/>
                </a:solidFill>
                <a:latin typeface="Calibri"/>
              </a:rPr>
              <a:t>04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5010840" y="141732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Simple Sequential Chain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4846320" y="219456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19"/>
          <p:cNvSpPr/>
          <p:nvPr/>
        </p:nvSpPr>
        <p:spPr>
          <a:xfrm>
            <a:off x="4846320" y="2194560"/>
            <a:ext cx="72720" cy="9597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0"/>
          <p:cNvSpPr/>
          <p:nvPr/>
        </p:nvSpPr>
        <p:spPr>
          <a:xfrm>
            <a:off x="4983480" y="226764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59e0b"/>
                </a:solidFill>
                <a:latin typeface="Calibri"/>
              </a:rPr>
              <a:t>05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5010840" y="260604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Multi-Step Sequential Chain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5" name="Shape 22"/>
          <p:cNvSpPr/>
          <p:nvPr/>
        </p:nvSpPr>
        <p:spPr>
          <a:xfrm>
            <a:off x="4846320" y="338328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23"/>
          <p:cNvSpPr/>
          <p:nvPr/>
        </p:nvSpPr>
        <p:spPr>
          <a:xfrm>
            <a:off x="4846320" y="3383280"/>
            <a:ext cx="72720" cy="9597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4"/>
          <p:cNvSpPr/>
          <p:nvPr/>
        </p:nvSpPr>
        <p:spPr>
          <a:xfrm>
            <a:off x="4983480" y="345636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ef4444"/>
                </a:solidFill>
                <a:latin typeface="Calibri"/>
              </a:rPr>
              <a:t>06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5010840" y="379476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Parallel Chains with RunnableParallel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The Problem with Manual Approach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274320" y="914400"/>
            <a:ext cx="3931560" cy="3840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Shape 3"/>
          <p:cNvSpPr/>
          <p:nvPr/>
        </p:nvSpPr>
        <p:spPr>
          <a:xfrm>
            <a:off x="274320" y="914400"/>
            <a:ext cx="3931560" cy="4111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4"/>
          <p:cNvSpPr/>
          <p:nvPr/>
        </p:nvSpPr>
        <p:spPr>
          <a:xfrm>
            <a:off x="320040" y="9327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⚠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The Challenge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411480" y="14446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f4444"/>
                </a:solidFill>
                <a:latin typeface="Calibri"/>
              </a:rPr>
              <a:t>✕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Complex apps have many connected steps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411480" y="206640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f4444"/>
                </a:solidFill>
                <a:latin typeface="Calibri"/>
              </a:rPr>
              <a:t>✕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Must manually design prompt templates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411480" y="26884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f4444"/>
                </a:solidFill>
                <a:latin typeface="Calibri"/>
              </a:rPr>
              <a:t>✕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Must manually call LLM's invoke function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411480" y="331020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f4444"/>
                </a:solidFill>
                <a:latin typeface="Calibri"/>
              </a:rPr>
              <a:t>✕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Must manually extract content from output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411480" y="39319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f4444"/>
                </a:solidFill>
                <a:latin typeface="Calibri"/>
              </a:rPr>
              <a:t>✕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Extremely tedious for large applications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4937760" y="914400"/>
            <a:ext cx="3931560" cy="3840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" name="Shape 11"/>
          <p:cNvSpPr/>
          <p:nvPr/>
        </p:nvSpPr>
        <p:spPr>
          <a:xfrm>
            <a:off x="4937760" y="914400"/>
            <a:ext cx="3931560" cy="411120"/>
          </a:xfrm>
          <a:prstGeom prst="rect">
            <a:avLst/>
          </a:prstGeom>
          <a:solidFill>
            <a:srgbClr val="1a5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2"/>
          <p:cNvSpPr/>
          <p:nvPr/>
        </p:nvSpPr>
        <p:spPr>
          <a:xfrm>
            <a:off x="4983480" y="9327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The Solution: Chains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5029200" y="14446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56db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Automated end-to-end pipelines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5029200" y="206640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56db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Output of step 1 → input of step 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5029200" y="26884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56db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Output of step 2 → input of step 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5029200" y="331020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56db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Only provide input to the first step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5029200" y="39319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56db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Pipeline executes automatically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What Are Chains?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365760" y="9144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e293b"/>
                </a:solidFill>
                <a:latin typeface="Calibri"/>
              </a:rPr>
              <a:t>Chains are automated pipelines that connect multiple LLM steps together, enabling complex applications to be built from simple building blocks.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457200" y="1600200"/>
            <a:ext cx="1371240" cy="776880"/>
          </a:xfrm>
          <a:prstGeom prst="rect">
            <a:avLst/>
          </a:prstGeom>
          <a:solidFill>
            <a:srgbClr val="0096c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Text 4"/>
          <p:cNvSpPr/>
          <p:nvPr/>
        </p:nvSpPr>
        <p:spPr>
          <a:xfrm>
            <a:off x="457200" y="160020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User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Input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1828800" y="1920240"/>
            <a:ext cx="347040" cy="109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6"/>
          <p:cNvSpPr/>
          <p:nvPr/>
        </p:nvSpPr>
        <p:spPr>
          <a:xfrm>
            <a:off x="2176200" y="1600200"/>
            <a:ext cx="1371240" cy="776880"/>
          </a:xfrm>
          <a:prstGeom prst="rect">
            <a:avLst/>
          </a:prstGeom>
          <a:solidFill>
            <a:srgbClr val="1a56d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Text 7"/>
          <p:cNvSpPr/>
          <p:nvPr/>
        </p:nvSpPr>
        <p:spPr>
          <a:xfrm>
            <a:off x="2176200" y="160020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Prompt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Template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3547800" y="1920240"/>
            <a:ext cx="347040" cy="109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Shape 9"/>
          <p:cNvSpPr/>
          <p:nvPr/>
        </p:nvSpPr>
        <p:spPr>
          <a:xfrm>
            <a:off x="3895200" y="1600200"/>
            <a:ext cx="1371240" cy="77688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Text 10"/>
          <p:cNvSpPr/>
          <p:nvPr/>
        </p:nvSpPr>
        <p:spPr>
          <a:xfrm>
            <a:off x="3895200" y="160020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LLM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5266800" y="1920240"/>
            <a:ext cx="347040" cy="109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Shape 12"/>
          <p:cNvSpPr/>
          <p:nvPr/>
        </p:nvSpPr>
        <p:spPr>
          <a:xfrm>
            <a:off x="5614560" y="1600200"/>
            <a:ext cx="1371240" cy="776880"/>
          </a:xfrm>
          <a:prstGeom prst="rect">
            <a:avLst/>
          </a:prstGeom>
          <a:solidFill>
            <a:srgbClr val="22c55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Text 13"/>
          <p:cNvSpPr/>
          <p:nvPr/>
        </p:nvSpPr>
        <p:spPr>
          <a:xfrm>
            <a:off x="5614560" y="160020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Output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Parser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14"/>
          <p:cNvSpPr/>
          <p:nvPr/>
        </p:nvSpPr>
        <p:spPr>
          <a:xfrm>
            <a:off x="6986160" y="1920240"/>
            <a:ext cx="347040" cy="109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hape 15"/>
          <p:cNvSpPr/>
          <p:nvPr/>
        </p:nvSpPr>
        <p:spPr>
          <a:xfrm>
            <a:off x="7333560" y="1600200"/>
            <a:ext cx="1371240" cy="77688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Text 16"/>
          <p:cNvSpPr/>
          <p:nvPr/>
        </p:nvSpPr>
        <p:spPr>
          <a:xfrm>
            <a:off x="7333560" y="160020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Final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365760" y="25146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56db"/>
                </a:solidFill>
                <a:latin typeface="Calibri"/>
              </a:rPr>
              <a:t>LCEL pipe operator ( | ) connects all components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1371600" y="2926080"/>
            <a:ext cx="6400440" cy="63972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Text 19"/>
          <p:cNvSpPr/>
          <p:nvPr/>
        </p:nvSpPr>
        <p:spPr>
          <a:xfrm>
            <a:off x="1371600" y="292608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b4d8"/>
                </a:solidFill>
                <a:latin typeface="Courier New"/>
                <a:ea typeface="Courier New"/>
              </a:rPr>
              <a:t>chain = prompt_tmpl | llm_model | output_parser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7" name="Shape 20"/>
          <p:cNvSpPr/>
          <p:nvPr/>
        </p:nvSpPr>
        <p:spPr>
          <a:xfrm>
            <a:off x="365760" y="3749040"/>
            <a:ext cx="265140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Text 21"/>
          <p:cNvSpPr/>
          <p:nvPr/>
        </p:nvSpPr>
        <p:spPr>
          <a:xfrm>
            <a:off x="457200" y="37947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2044"/>
                </a:solidFill>
                <a:latin typeface="Calibri"/>
              </a:rPr>
              <a:t>⚡  </a:t>
            </a:r>
            <a:r>
              <a:rPr b="1" lang="en-US" sz="1300" spc="-1" strike="noStrike">
                <a:solidFill>
                  <a:srgbClr val="0f2044"/>
                </a:solidFill>
                <a:latin typeface="Calibri"/>
              </a:rPr>
              <a:t>Automation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9" name="Text 22"/>
          <p:cNvSpPr/>
          <p:nvPr/>
        </p:nvSpPr>
        <p:spPr>
          <a:xfrm>
            <a:off x="457200" y="418788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Build once, run many times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Shape 23"/>
          <p:cNvSpPr/>
          <p:nvPr/>
        </p:nvSpPr>
        <p:spPr>
          <a:xfrm>
            <a:off x="3291840" y="3749040"/>
            <a:ext cx="265140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Text 24"/>
          <p:cNvSpPr/>
          <p:nvPr/>
        </p:nvSpPr>
        <p:spPr>
          <a:xfrm>
            <a:off x="3383280" y="37947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2044"/>
                </a:solidFill>
                <a:latin typeface="Calibri"/>
              </a:rPr>
              <a:t>🔗  </a:t>
            </a:r>
            <a:r>
              <a:rPr b="1" lang="en-US" sz="1300" spc="-1" strike="noStrike">
                <a:solidFill>
                  <a:srgbClr val="0f2044"/>
                </a:solidFill>
                <a:latin typeface="Calibri"/>
              </a:rPr>
              <a:t>Composability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Text 25"/>
          <p:cNvSpPr/>
          <p:nvPr/>
        </p:nvSpPr>
        <p:spPr>
          <a:xfrm>
            <a:off x="3383280" y="418788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Combine chains into bigger chains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Shape 26"/>
          <p:cNvSpPr/>
          <p:nvPr/>
        </p:nvSpPr>
        <p:spPr>
          <a:xfrm>
            <a:off x="6217920" y="3749040"/>
            <a:ext cx="265140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Text 27"/>
          <p:cNvSpPr/>
          <p:nvPr/>
        </p:nvSpPr>
        <p:spPr>
          <a:xfrm>
            <a:off x="6309360" y="37947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2044"/>
                </a:solidFill>
                <a:latin typeface="Calibri"/>
              </a:rPr>
              <a:t>🔀  </a:t>
            </a:r>
            <a:r>
              <a:rPr b="1" lang="en-US" sz="1300" spc="-1" strike="noStrike">
                <a:solidFill>
                  <a:srgbClr val="0f2044"/>
                </a:solidFill>
                <a:latin typeface="Calibri"/>
              </a:rPr>
              <a:t>Flexibility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5" name="Text 28"/>
          <p:cNvSpPr/>
          <p:nvPr/>
        </p:nvSpPr>
        <p:spPr>
          <a:xfrm>
            <a:off x="6309360" y="418788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Sequential, parallel, or conditional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Three Types of Chains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228600" y="896040"/>
            <a:ext cx="274284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9" name="Shape 3"/>
          <p:cNvSpPr/>
          <p:nvPr/>
        </p:nvSpPr>
        <p:spPr>
          <a:xfrm>
            <a:off x="228600" y="896040"/>
            <a:ext cx="2742840" cy="822600"/>
          </a:xfrm>
          <a:prstGeom prst="rect">
            <a:avLst/>
          </a:prstGeom>
          <a:solidFill>
            <a:srgbClr val="1a5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4"/>
          <p:cNvSpPr/>
          <p:nvPr/>
        </p:nvSpPr>
        <p:spPr>
          <a:xfrm>
            <a:off x="320040" y="9144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>
                    <a:alpha val="60000"/>
                  </a:srgbClr>
                </a:solidFill>
                <a:latin typeface="Calibri"/>
              </a:rPr>
              <a:t>01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320040" y="12985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Sequential Chain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338400" y="1810440"/>
            <a:ext cx="2514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Connect steps in series. Each step's output becomes the next step's input.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338400" y="249624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56db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Linear flow from start to end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338400" y="290772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56db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Simple pipe operator (|)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338400" y="331920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56db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Easiest to understand and build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6" name="Shape 10"/>
          <p:cNvSpPr/>
          <p:nvPr/>
        </p:nvSpPr>
        <p:spPr>
          <a:xfrm>
            <a:off x="320040" y="4114800"/>
            <a:ext cx="2514240" cy="502560"/>
          </a:xfrm>
          <a:prstGeom prst="rect">
            <a:avLst/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11"/>
          <p:cNvSpPr/>
          <p:nvPr/>
        </p:nvSpPr>
        <p:spPr>
          <a:xfrm>
            <a:off x="320040" y="41148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0b4d8"/>
                </a:solidFill>
                <a:latin typeface="Courier New"/>
                <a:ea typeface="Courier New"/>
              </a:rPr>
              <a:t>prompt | model | parser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38" name="Shape 12"/>
          <p:cNvSpPr/>
          <p:nvPr/>
        </p:nvSpPr>
        <p:spPr>
          <a:xfrm>
            <a:off x="3154680" y="896040"/>
            <a:ext cx="274284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Shape 13"/>
          <p:cNvSpPr/>
          <p:nvPr/>
        </p:nvSpPr>
        <p:spPr>
          <a:xfrm>
            <a:off x="3154680" y="896040"/>
            <a:ext cx="2742840" cy="8226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14"/>
          <p:cNvSpPr/>
          <p:nvPr/>
        </p:nvSpPr>
        <p:spPr>
          <a:xfrm>
            <a:off x="3246120" y="9144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>
                    <a:alpha val="60000"/>
                  </a:srgbClr>
                </a:solidFill>
                <a:latin typeface="Calibri"/>
              </a:rPr>
              <a:t>02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3246120" y="12985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Parallel Chain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3264480" y="1810440"/>
            <a:ext cx="2514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Execute multiple chains simultaneously and combine results afterward.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3264480" y="249624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8b5cf6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Process different tasks at once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Text 18"/>
          <p:cNvSpPr/>
          <p:nvPr/>
        </p:nvSpPr>
        <p:spPr>
          <a:xfrm>
            <a:off x="3264480" y="290772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8b5cf6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Uses RunnableParallel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5" name="Text 19"/>
          <p:cNvSpPr/>
          <p:nvPr/>
        </p:nvSpPr>
        <p:spPr>
          <a:xfrm>
            <a:off x="3264480" y="331920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8b5cf6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Faster than sequential for independent tasks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Shape 20"/>
          <p:cNvSpPr/>
          <p:nvPr/>
        </p:nvSpPr>
        <p:spPr>
          <a:xfrm>
            <a:off x="3246120" y="4114800"/>
            <a:ext cx="2514240" cy="502560"/>
          </a:xfrm>
          <a:prstGeom prst="rect">
            <a:avLst/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21"/>
          <p:cNvSpPr/>
          <p:nvPr/>
        </p:nvSpPr>
        <p:spPr>
          <a:xfrm>
            <a:off x="3246120" y="41148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0b4d8"/>
                </a:solidFill>
                <a:latin typeface="Courier New"/>
                <a:ea typeface="Courier New"/>
              </a:rPr>
              <a:t>RunnableParallel({a: chain1, b: chain2})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48" name="Shape 22"/>
          <p:cNvSpPr/>
          <p:nvPr/>
        </p:nvSpPr>
        <p:spPr>
          <a:xfrm>
            <a:off x="6080760" y="896040"/>
            <a:ext cx="274284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23"/>
          <p:cNvSpPr/>
          <p:nvPr/>
        </p:nvSpPr>
        <p:spPr>
          <a:xfrm>
            <a:off x="6080760" y="896040"/>
            <a:ext cx="2742840" cy="8226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4"/>
          <p:cNvSpPr/>
          <p:nvPr/>
        </p:nvSpPr>
        <p:spPr>
          <a:xfrm>
            <a:off x="6172200" y="9144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>
                    <a:alpha val="60000"/>
                  </a:srgbClr>
                </a:solidFill>
                <a:latin typeface="Calibri"/>
              </a:rPr>
              <a:t>03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1" name="Text 25"/>
          <p:cNvSpPr/>
          <p:nvPr/>
        </p:nvSpPr>
        <p:spPr>
          <a:xfrm>
            <a:off x="6172200" y="12985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Conditional Chain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Text 26"/>
          <p:cNvSpPr/>
          <p:nvPr/>
        </p:nvSpPr>
        <p:spPr>
          <a:xfrm>
            <a:off x="6190560" y="1810440"/>
            <a:ext cx="2514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Execute different chains based on conditions — if/else logic for LLMs.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3" name="Text 27"/>
          <p:cNvSpPr/>
          <p:nvPr/>
        </p:nvSpPr>
        <p:spPr>
          <a:xfrm>
            <a:off x="6190560" y="249624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Different paths for different inputs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4" name="Text 28"/>
          <p:cNvSpPr/>
          <p:nvPr/>
        </p:nvSpPr>
        <p:spPr>
          <a:xfrm>
            <a:off x="6190560" y="290772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Uses RunnableBranch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5" name="Text 29"/>
          <p:cNvSpPr/>
          <p:nvPr/>
        </p:nvSpPr>
        <p:spPr>
          <a:xfrm>
            <a:off x="6190560" y="331920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Great for routing and decision logic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>
            <a:off x="6172200" y="4114800"/>
            <a:ext cx="2514240" cy="502560"/>
          </a:xfrm>
          <a:prstGeom prst="rect">
            <a:avLst/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31"/>
          <p:cNvSpPr/>
          <p:nvPr/>
        </p:nvSpPr>
        <p:spPr>
          <a:xfrm>
            <a:off x="6172200" y="41148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0b4d8"/>
                </a:solidFill>
                <a:latin typeface="Courier New"/>
                <a:ea typeface="Courier New"/>
              </a:rPr>
              <a:t>RunnableBranch((cond, chain), default)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Building a Simple Sequential Chain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365760" y="9144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2044"/>
                </a:solidFill>
                <a:latin typeface="Calibri"/>
              </a:rPr>
              <a:t>Three-Step Pipeline Flow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457200" y="1371600"/>
            <a:ext cx="2559960" cy="1371240"/>
          </a:xfrm>
          <a:prstGeom prst="rect">
            <a:avLst/>
          </a:prstGeom>
          <a:solidFill>
            <a:srgbClr val="1a56d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Text 4"/>
          <p:cNvSpPr/>
          <p:nvPr/>
        </p:nvSpPr>
        <p:spPr>
          <a:xfrm>
            <a:off x="457200" y="14173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299" strike="noStrike">
                <a:solidFill>
                  <a:srgbClr val="ffffff"/>
                </a:solidFill>
                <a:latin typeface="Calibri"/>
              </a:rPr>
              <a:t>STEP 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457200" y="173736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Receive Input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548640" y="21488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Get topic from user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3017520" y="1993320"/>
            <a:ext cx="31968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8"/>
          <p:cNvSpPr/>
          <p:nvPr/>
        </p:nvSpPr>
        <p:spPr>
          <a:xfrm>
            <a:off x="3337560" y="1371600"/>
            <a:ext cx="2559960" cy="137124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7" name="Text 9"/>
          <p:cNvSpPr/>
          <p:nvPr/>
        </p:nvSpPr>
        <p:spPr>
          <a:xfrm>
            <a:off x="3337560" y="14173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299" strike="noStrike">
                <a:solidFill>
                  <a:srgbClr val="ffffff"/>
                </a:solidFill>
                <a:latin typeface="Calibri"/>
              </a:rPr>
              <a:t>STEP 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3337560" y="173736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Query the LLM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3429000" y="21488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Send formatted prompt to model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5897880" y="1993320"/>
            <a:ext cx="31968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13"/>
          <p:cNvSpPr/>
          <p:nvPr/>
        </p:nvSpPr>
        <p:spPr>
          <a:xfrm>
            <a:off x="6217920" y="1371600"/>
            <a:ext cx="2559960" cy="1371240"/>
          </a:xfrm>
          <a:prstGeom prst="rect">
            <a:avLst/>
          </a:prstGeom>
          <a:solidFill>
            <a:srgbClr val="22c55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14"/>
          <p:cNvSpPr/>
          <p:nvPr/>
        </p:nvSpPr>
        <p:spPr>
          <a:xfrm>
            <a:off x="6217920" y="14173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299" strike="noStrike">
                <a:solidFill>
                  <a:srgbClr val="ffffff"/>
                </a:solidFill>
                <a:latin typeface="Calibri"/>
              </a:rPr>
              <a:t>STEP 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6217920" y="173736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Display Response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6309360" y="21488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Parse and return clean output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274320" y="2926080"/>
            <a:ext cx="8595000" cy="123408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Text 18"/>
          <p:cNvSpPr/>
          <p:nvPr/>
        </p:nvSpPr>
        <p:spPr>
          <a:xfrm>
            <a:off x="457200" y="297180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Key Concept: LCEL (LangChain Expression Language)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7" name="Text 19"/>
          <p:cNvSpPr/>
          <p:nvPr/>
        </p:nvSpPr>
        <p:spPr>
          <a:xfrm>
            <a:off x="457200" y="32918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0aec0"/>
                </a:solidFill>
                <a:latin typeface="Calibri"/>
              </a:rPr>
              <a:t>Use the pipe operator ( | ) to connect components into a chain: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457200" y="358452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urier New"/>
                <a:ea typeface="Courier New"/>
              </a:rPr>
              <a:t>pipeline = prompt_tmpl  |  llm_model  |  str_parser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365760" y="42976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4748b"/>
                </a:solidFill>
                <a:latin typeface="Calibri"/>
              </a:rPr>
              <a:t>→  </a:t>
            </a:r>
            <a:r>
              <a:rPr b="0" i="1" lang="en-US" sz="1200" spc="-1" strike="noStrike">
                <a:solidFill>
                  <a:srgbClr val="64748b"/>
                </a:solidFill>
                <a:latin typeface="Calibri"/>
              </a:rPr>
              <a:t>Call pipeline.invoke({'topic': 'your topic'}) to execute the full chain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Simple Sequential Chain — Complete Code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2" name="Shape 2"/>
          <p:cNvSpPr/>
          <p:nvPr/>
        </p:nvSpPr>
        <p:spPr>
          <a:xfrm>
            <a:off x="274320" y="896040"/>
            <a:ext cx="5303160" cy="397728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3" name="Shape 3"/>
          <p:cNvSpPr/>
          <p:nvPr/>
        </p:nvSpPr>
        <p:spPr>
          <a:xfrm>
            <a:off x="274320" y="896040"/>
            <a:ext cx="5303160" cy="347040"/>
          </a:xfrm>
          <a:prstGeom prst="rect">
            <a:avLst/>
          </a:prstGeom>
          <a:solidFill>
            <a:srgbClr val="2a2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4"/>
          <p:cNvSpPr/>
          <p:nvPr/>
        </p:nvSpPr>
        <p:spPr>
          <a:xfrm>
            <a:off x="411480" y="9144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● ● ●  </a:t>
            </a: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simple_chain.py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411480" y="1325880"/>
            <a:ext cx="507456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langchain_openai </a:t>
            </a:r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ChatOpenAI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dotenv </a:t>
            </a:r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load_dotenv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langchain_core.prompts </a:t>
            </a:r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PromptTemplate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langchain_core.output_parsers </a:t>
            </a:r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StrOutputParser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dcdcaa"/>
                </a:solidFill>
                <a:latin typeface="Courier New"/>
                <a:ea typeface="Courier New"/>
              </a:rPr>
              <a:t>load_dotenv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6a9955"/>
                </a:solidFill>
                <a:latin typeface="Courier New"/>
                <a:ea typeface="Courier New"/>
              </a:rPr>
              <a:t># Define the prompt template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fact_prompt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1000" spc="-1" strike="noStrike">
                <a:solidFill>
                  <a:srgbClr val="4ec9b0"/>
                </a:solidFill>
                <a:latin typeface="Courier New"/>
                <a:ea typeface="Courier New"/>
              </a:rPr>
              <a:t>PromptTemplate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template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=</a:t>
            </a:r>
            <a:r>
              <a:rPr b="0" lang="en-US" sz="1000" spc="-1" strike="noStrike">
                <a:solidFill>
                  <a:srgbClr val="ce9178"/>
                </a:solidFill>
                <a:latin typeface="Courier New"/>
                <a:ea typeface="Courier New"/>
              </a:rPr>
              <a:t>'Give 5 interesting facts about {subject}'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input_variables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=[</a:t>
            </a:r>
            <a:r>
              <a:rPr b="0" lang="en-US" sz="1000" spc="-1" strike="noStrike">
                <a:solidFill>
                  <a:srgbClr val="ce9178"/>
                </a:solidFill>
                <a:latin typeface="Courier New"/>
                <a:ea typeface="Courier New"/>
              </a:rPr>
              <a:t>'subject'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]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6a9955"/>
                </a:solidFill>
                <a:latin typeface="Courier New"/>
                <a:ea typeface="Courier New"/>
              </a:rPr>
              <a:t># Initialize model and parser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ai_model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1000" spc="-1" strike="noStrike">
                <a:solidFill>
                  <a:srgbClr val="4ec9b0"/>
                </a:solidFill>
                <a:latin typeface="Courier New"/>
                <a:ea typeface="Courier New"/>
              </a:rPr>
              <a:t>ChatOpenAI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str_parser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1000" spc="-1" strike="noStrike">
                <a:solidFill>
                  <a:srgbClr val="4ec9b0"/>
                </a:solidFill>
                <a:latin typeface="Courier New"/>
                <a:ea typeface="Courier New"/>
              </a:rPr>
              <a:t>StrOutputParser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6a9955"/>
                </a:solidFill>
                <a:latin typeface="Courier New"/>
                <a:ea typeface="Courier New"/>
              </a:rPr>
              <a:t># Build the chain using LCEL pipe operator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facts_chain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= fact_prompt | ai_model | str_parser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6a9955"/>
                </a:solidFill>
                <a:latin typeface="Courier New"/>
                <a:ea typeface="Courier New"/>
              </a:rPr>
              <a:t># Execute the chain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output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1000" spc="-1" strike="noStrike">
                <a:solidFill>
                  <a:srgbClr val="dcdcaa"/>
                </a:solidFill>
                <a:latin typeface="Courier New"/>
                <a:ea typeface="Courier New"/>
              </a:rPr>
              <a:t>facts_chain.invoke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({</a:t>
            </a:r>
            <a:r>
              <a:rPr b="0" lang="en-US" sz="1000" spc="-1" strike="noStrike">
                <a:solidFill>
                  <a:srgbClr val="ce9178"/>
                </a:solidFill>
                <a:latin typeface="Courier New"/>
                <a:ea typeface="Courier New"/>
              </a:rPr>
              <a:t>'subject'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: </a:t>
            </a:r>
            <a:r>
              <a:rPr b="0" lang="en-US" sz="1000" spc="-1" strike="noStrike">
                <a:solidFill>
                  <a:srgbClr val="ce9178"/>
                </a:solidFill>
                <a:latin typeface="Courier New"/>
                <a:ea typeface="Courier New"/>
              </a:rPr>
              <a:t>'space exploration'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})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cdcaa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(output)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6" name="Shape 6"/>
          <p:cNvSpPr/>
          <p:nvPr/>
        </p:nvSpPr>
        <p:spPr>
          <a:xfrm>
            <a:off x="5760720" y="896040"/>
            <a:ext cx="310860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Shape 7"/>
          <p:cNvSpPr/>
          <p:nvPr/>
        </p:nvSpPr>
        <p:spPr>
          <a:xfrm>
            <a:off x="5760720" y="896040"/>
            <a:ext cx="3108600" cy="3837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8"/>
          <p:cNvSpPr/>
          <p:nvPr/>
        </p:nvSpPr>
        <p:spPr>
          <a:xfrm>
            <a:off x="5852160" y="9144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▶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Sample 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5897880" y="138996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1. The first satellite, Sputnik,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was launched in 1957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0" name="Text 10"/>
          <p:cNvSpPr/>
          <p:nvPr/>
        </p:nvSpPr>
        <p:spPr>
          <a:xfrm>
            <a:off x="5897880" y="206640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2. Neil Armstrong walked on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the Moon in July 1969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1" name="Text 11"/>
          <p:cNvSpPr/>
          <p:nvPr/>
        </p:nvSpPr>
        <p:spPr>
          <a:xfrm>
            <a:off x="5897880" y="274320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3. Mars has the tallest volcano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in the solar system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Text 12"/>
          <p:cNvSpPr/>
          <p:nvPr/>
        </p:nvSpPr>
        <p:spPr>
          <a:xfrm>
            <a:off x="5897880" y="342000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4. The ISS orbits Earth every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~90 minutes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3" name="Text 13"/>
          <p:cNvSpPr/>
          <p:nvPr/>
        </p:nvSpPr>
        <p:spPr>
          <a:xfrm>
            <a:off x="5897880" y="409644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5. Voyager 1 is the most distant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human-made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4" name="Shape 14"/>
          <p:cNvSpPr/>
          <p:nvPr/>
        </p:nvSpPr>
        <p:spPr>
          <a:xfrm>
            <a:off x="5760720" y="4114800"/>
            <a:ext cx="3108600" cy="475200"/>
          </a:xfrm>
          <a:prstGeom prst="rect">
            <a:avLst/>
          </a:prstGeom>
          <a:solidFill>
            <a:srgbClr val="e8f0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15"/>
          <p:cNvSpPr/>
          <p:nvPr/>
        </p:nvSpPr>
        <p:spPr>
          <a:xfrm>
            <a:off x="5806440" y="41331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a56db"/>
                </a:solidFill>
                <a:latin typeface="Courier New"/>
                <a:ea typeface="Courier New"/>
              </a:rPr>
              <a:t>subject → prompt → ai_model → parser → output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How Chain Invocation Works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274320" y="914400"/>
            <a:ext cx="8595000" cy="68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9" name="Shape 3"/>
          <p:cNvSpPr/>
          <p:nvPr/>
        </p:nvSpPr>
        <p:spPr>
          <a:xfrm>
            <a:off x="274320" y="914400"/>
            <a:ext cx="456840" cy="685440"/>
          </a:xfrm>
          <a:prstGeom prst="rect">
            <a:avLst/>
          </a:prstGeom>
          <a:solidFill>
            <a:srgbClr val="1a5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4"/>
          <p:cNvSpPr/>
          <p:nvPr/>
        </p:nvSpPr>
        <p:spPr>
          <a:xfrm>
            <a:off x="274320" y="91440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1" name="Text 5"/>
          <p:cNvSpPr/>
          <p:nvPr/>
        </p:nvSpPr>
        <p:spPr>
          <a:xfrm>
            <a:off x="868680" y="96012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facts_chain.invoke({'subject': 'black holes'})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2" name="Text 6"/>
          <p:cNvSpPr/>
          <p:nvPr/>
        </p:nvSpPr>
        <p:spPr>
          <a:xfrm>
            <a:off x="868680" y="126180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Provide only the input for the first step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3" name="Shape 7"/>
          <p:cNvSpPr/>
          <p:nvPr/>
        </p:nvSpPr>
        <p:spPr>
          <a:xfrm>
            <a:off x="274320" y="1719000"/>
            <a:ext cx="8595000" cy="68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4" name="Shape 8"/>
          <p:cNvSpPr/>
          <p:nvPr/>
        </p:nvSpPr>
        <p:spPr>
          <a:xfrm>
            <a:off x="274320" y="1719000"/>
            <a:ext cx="456840" cy="6854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9"/>
          <p:cNvSpPr/>
          <p:nvPr/>
        </p:nvSpPr>
        <p:spPr>
          <a:xfrm>
            <a:off x="274320" y="171900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6" name="Text 10"/>
          <p:cNvSpPr/>
          <p:nvPr/>
        </p:nvSpPr>
        <p:spPr>
          <a:xfrm>
            <a:off x="868680" y="176472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Prompt Template formats input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868680" y="206640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fact_prompt.invoke() formats 'Give 5 facts about black holes'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8" name="Shape 12"/>
          <p:cNvSpPr/>
          <p:nvPr/>
        </p:nvSpPr>
        <p:spPr>
          <a:xfrm>
            <a:off x="274320" y="2523600"/>
            <a:ext cx="8595000" cy="68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Shape 13"/>
          <p:cNvSpPr/>
          <p:nvPr/>
        </p:nvSpPr>
        <p:spPr>
          <a:xfrm>
            <a:off x="274320" y="2523600"/>
            <a:ext cx="456840" cy="6854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4"/>
          <p:cNvSpPr/>
          <p:nvPr/>
        </p:nvSpPr>
        <p:spPr>
          <a:xfrm>
            <a:off x="274320" y="252360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1" name="Text 15"/>
          <p:cNvSpPr/>
          <p:nvPr/>
        </p:nvSpPr>
        <p:spPr>
          <a:xfrm>
            <a:off x="868680" y="256932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LLM Model generates response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2" name="Text 16"/>
          <p:cNvSpPr/>
          <p:nvPr/>
        </p:nvSpPr>
        <p:spPr>
          <a:xfrm>
            <a:off x="868680" y="287136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ai_model.invoke() sends prompt and returns AIMessage with metadata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3" name="Shape 17"/>
          <p:cNvSpPr/>
          <p:nvPr/>
        </p:nvSpPr>
        <p:spPr>
          <a:xfrm>
            <a:off x="274320" y="3328560"/>
            <a:ext cx="8595000" cy="68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4" name="Shape 18"/>
          <p:cNvSpPr/>
          <p:nvPr/>
        </p:nvSpPr>
        <p:spPr>
          <a:xfrm>
            <a:off x="274320" y="3328560"/>
            <a:ext cx="456840" cy="68544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9"/>
          <p:cNvSpPr/>
          <p:nvPr/>
        </p:nvSpPr>
        <p:spPr>
          <a:xfrm>
            <a:off x="274320" y="332856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6" name="Text 20"/>
          <p:cNvSpPr/>
          <p:nvPr/>
        </p:nvSpPr>
        <p:spPr>
          <a:xfrm>
            <a:off x="868680" y="337428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Parser extracts clean text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7" name="Text 21"/>
          <p:cNvSpPr/>
          <p:nvPr/>
        </p:nvSpPr>
        <p:spPr>
          <a:xfrm>
            <a:off x="868680" y="367596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str_parser.invoke() strips metadata and returns plain string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8" name="Shape 22"/>
          <p:cNvSpPr/>
          <p:nvPr/>
        </p:nvSpPr>
        <p:spPr>
          <a:xfrm>
            <a:off x="274320" y="4133160"/>
            <a:ext cx="8595000" cy="68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Shape 23"/>
          <p:cNvSpPr/>
          <p:nvPr/>
        </p:nvSpPr>
        <p:spPr>
          <a:xfrm>
            <a:off x="274320" y="4133160"/>
            <a:ext cx="456840" cy="6854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24"/>
          <p:cNvSpPr/>
          <p:nvPr/>
        </p:nvSpPr>
        <p:spPr>
          <a:xfrm>
            <a:off x="274320" y="413316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1" name="Text 25"/>
          <p:cNvSpPr/>
          <p:nvPr/>
        </p:nvSpPr>
        <p:spPr>
          <a:xfrm>
            <a:off x="868680" y="417888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Final output returned to caller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2" name="Text 26"/>
          <p:cNvSpPr/>
          <p:nvPr/>
        </p:nvSpPr>
        <p:spPr>
          <a:xfrm>
            <a:off x="868680" y="448056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A clean, readable string ready to display to the user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Multi-Step Sequential Chain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365760" y="9144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2044"/>
                </a:solidFill>
                <a:latin typeface="Calibri"/>
              </a:rPr>
              <a:t>Use Case: Research Report → Summary Pipeline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548640" y="1417320"/>
            <a:ext cx="1691280" cy="914040"/>
          </a:xfrm>
          <a:prstGeom prst="rect">
            <a:avLst/>
          </a:prstGeom>
          <a:solidFill>
            <a:srgbClr val="0096c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7" name="Text 4"/>
          <p:cNvSpPr/>
          <p:nvPr/>
        </p:nvSpPr>
        <p:spPr>
          <a:xfrm>
            <a:off x="548640" y="141732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User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Topic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2240280" y="1810440"/>
            <a:ext cx="36540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Shape 6"/>
          <p:cNvSpPr/>
          <p:nvPr/>
        </p:nvSpPr>
        <p:spPr>
          <a:xfrm>
            <a:off x="2606040" y="1417320"/>
            <a:ext cx="1691280" cy="914040"/>
          </a:xfrm>
          <a:prstGeom prst="rect">
            <a:avLst/>
          </a:prstGeom>
          <a:solidFill>
            <a:srgbClr val="1a56d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Text 7"/>
          <p:cNvSpPr/>
          <p:nvPr/>
        </p:nvSpPr>
        <p:spPr>
          <a:xfrm>
            <a:off x="2606040" y="141732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Detailed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Report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1" name="Shape 8"/>
          <p:cNvSpPr/>
          <p:nvPr/>
        </p:nvSpPr>
        <p:spPr>
          <a:xfrm>
            <a:off x="4297680" y="1810440"/>
            <a:ext cx="36540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Shape 9"/>
          <p:cNvSpPr/>
          <p:nvPr/>
        </p:nvSpPr>
        <p:spPr>
          <a:xfrm>
            <a:off x="4663440" y="1417320"/>
            <a:ext cx="1691280" cy="91404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3" name="Text 10"/>
          <p:cNvSpPr/>
          <p:nvPr/>
        </p:nvSpPr>
        <p:spPr>
          <a:xfrm>
            <a:off x="4663440" y="141732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Same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LLM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6355080" y="1810440"/>
            <a:ext cx="36540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Shape 12"/>
          <p:cNvSpPr/>
          <p:nvPr/>
        </p:nvSpPr>
        <p:spPr>
          <a:xfrm>
            <a:off x="6720840" y="1417320"/>
            <a:ext cx="1691280" cy="914040"/>
          </a:xfrm>
          <a:prstGeom prst="rect">
            <a:avLst/>
          </a:prstGeom>
          <a:solidFill>
            <a:srgbClr val="22c55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Text 13"/>
          <p:cNvSpPr/>
          <p:nvPr/>
        </p:nvSpPr>
        <p:spPr>
          <a:xfrm>
            <a:off x="6720840" y="141732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5-Point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Summary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274320" y="2514600"/>
            <a:ext cx="8595000" cy="63972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Text 15"/>
          <p:cNvSpPr/>
          <p:nvPr/>
        </p:nvSpPr>
        <p:spPr>
          <a:xfrm>
            <a:off x="457200" y="25419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</a:rPr>
              <a:t>Chain Structure: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457200" y="2788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full_pipeline = report_prompt | ai_model | str_parser | summary_prompt | ai_model | str_parser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Shape 17"/>
          <p:cNvSpPr/>
          <p:nvPr/>
        </p:nvSpPr>
        <p:spPr>
          <a:xfrm>
            <a:off x="274320" y="3291840"/>
            <a:ext cx="8595000" cy="15541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1" name="Shape 18"/>
          <p:cNvSpPr/>
          <p:nvPr/>
        </p:nvSpPr>
        <p:spPr>
          <a:xfrm>
            <a:off x="274320" y="3291840"/>
            <a:ext cx="72720" cy="1554120"/>
          </a:xfrm>
          <a:prstGeom prst="rect">
            <a:avLst/>
          </a:prstGeom>
          <a:solidFill>
            <a:srgbClr val="1a5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9"/>
          <p:cNvSpPr/>
          <p:nvPr/>
        </p:nvSpPr>
        <p:spPr>
          <a:xfrm>
            <a:off x="457200" y="33375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56db"/>
                </a:solidFill>
                <a:latin typeface="Calibri"/>
              </a:rPr>
              <a:t>💡  </a:t>
            </a:r>
            <a:r>
              <a:rPr b="1" lang="en-US" sz="1300" spc="-1" strike="noStrike">
                <a:solidFill>
                  <a:srgbClr val="1a56db"/>
                </a:solidFill>
                <a:latin typeface="Calibri"/>
              </a:rPr>
              <a:t>Key Insight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3" name="Text 20"/>
          <p:cNvSpPr/>
          <p:nvPr/>
        </p:nvSpPr>
        <p:spPr>
          <a:xfrm>
            <a:off x="457200" y="3703320"/>
            <a:ext cx="8229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a56db"/>
                </a:solidFill>
                <a:latin typeface="Calibri"/>
              </a:rPr>
              <a:t>•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The same LLM model object can be reused multiple times in a chain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457200" y="3977640"/>
            <a:ext cx="8229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a56db"/>
                </a:solidFill>
                <a:latin typeface="Calibri"/>
              </a:rPr>
              <a:t>•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The parser output (a plain string) becomes the direct input to the second prompt template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457200" y="4251960"/>
            <a:ext cx="8229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a56db"/>
                </a:solidFill>
                <a:latin typeface="Calibri"/>
              </a:rPr>
              <a:t>•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The second prompt template's input_variables must match the output variable name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457200" y="4526280"/>
            <a:ext cx="8229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a56db"/>
                </a:solidFill>
                <a:latin typeface="Calibri"/>
              </a:rPr>
              <a:t>•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template2 uses input variable 'report_text' which receives the output from str_parser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Multi-Step Sequential Chain — Complete Code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274320" y="896040"/>
            <a:ext cx="5305680" cy="522396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Shape 3"/>
          <p:cNvSpPr/>
          <p:nvPr/>
        </p:nvSpPr>
        <p:spPr>
          <a:xfrm>
            <a:off x="274320" y="896040"/>
            <a:ext cx="5303160" cy="347040"/>
          </a:xfrm>
          <a:prstGeom prst="rect">
            <a:avLst/>
          </a:prstGeom>
          <a:solidFill>
            <a:srgbClr val="2a2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4"/>
          <p:cNvSpPr/>
          <p:nvPr/>
        </p:nvSpPr>
        <p:spPr>
          <a:xfrm>
            <a:off x="411480" y="89604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● ● ●  </a:t>
            </a: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multistep_chain.py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411480" y="1325880"/>
            <a:ext cx="507456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langchain_openai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ChatOpenAI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langchain_core.prompts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PromptTemplate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langchain_core.output_parsers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StrOutputParser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dotenv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load_dotenv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dcdcaa"/>
                </a:solidFill>
                <a:latin typeface="Courier New"/>
                <a:ea typeface="Courier New"/>
              </a:rPr>
              <a:t>load_dotenv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Step 1: Generate a detailed report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report_prompt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PromptTemplate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'Write a detailed report on {subject}'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input_variables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=[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'subject'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]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Step 2: Summarise the report into 5 points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summary_prompt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PromptTemplate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'Summarise into 5 key points:\n{report_text}'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input_variables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=[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'report_text'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]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ai_model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ChatOpenAI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str_parser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StrOutputParser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Chain both prompts in sequence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full_pipeline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report_prompt | ai_model | str_parser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| summary_prompt | ai_model | str_parser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result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dcdcaa"/>
                </a:solidFill>
                <a:latin typeface="Courier New"/>
                <a:ea typeface="Courier New"/>
              </a:rPr>
              <a:t>full_pipeline.invoke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({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'subject'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: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'renewable energy'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dcdcaa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(result)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3" name="Shape 6"/>
          <p:cNvSpPr/>
          <p:nvPr/>
        </p:nvSpPr>
        <p:spPr>
          <a:xfrm>
            <a:off x="5760720" y="896040"/>
            <a:ext cx="310860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Shape 7"/>
          <p:cNvSpPr/>
          <p:nvPr/>
        </p:nvSpPr>
        <p:spPr>
          <a:xfrm>
            <a:off x="5760720" y="896040"/>
            <a:ext cx="3108600" cy="3837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8"/>
          <p:cNvSpPr/>
          <p:nvPr/>
        </p:nvSpPr>
        <p:spPr>
          <a:xfrm>
            <a:off x="5852160" y="9144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▶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Summary 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5897880" y="138996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1. Solar &amp; wind power are the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fastest-growing energy sources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5897880" y="206640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2. Renewable capacity surpassed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fossil fuels in 2023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5897880" y="274320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3. Costs have dropped 90% 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the last decade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5897880" y="342000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4. 29% of global electricity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now comes from renewables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5897880" y="409644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5. 100% renewable grids are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achievable by 2050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1" name="Shape 14"/>
          <p:cNvSpPr/>
          <p:nvPr/>
        </p:nvSpPr>
        <p:spPr>
          <a:xfrm>
            <a:off x="5760720" y="4114800"/>
            <a:ext cx="3108600" cy="475200"/>
          </a:xfrm>
          <a:prstGeom prst="rect">
            <a:avLst/>
          </a:prstGeom>
          <a:solidFill>
            <a:srgbClr val="e8f0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5"/>
          <p:cNvSpPr/>
          <p:nvPr/>
        </p:nvSpPr>
        <p:spPr>
          <a:xfrm>
            <a:off x="5806440" y="41331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56db"/>
                </a:solidFill>
                <a:latin typeface="Calibri"/>
              </a:rPr>
              <a:t>Input flows through 2 prompts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56db"/>
                </a:solidFill>
                <a:latin typeface="Calibri"/>
              </a:rPr>
              <a:t>and 2 model calls automatically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Parallel Chain with RunnableParallel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365760" y="9144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2044"/>
                </a:solidFill>
                <a:latin typeface="Calibri"/>
              </a:rPr>
              <a:t>Use Case: Document Processing — Generate Notes &amp; Quiz Simultaneously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3474720" y="1371600"/>
            <a:ext cx="2194200" cy="594000"/>
          </a:xfrm>
          <a:prstGeom prst="rect">
            <a:avLst/>
          </a:prstGeom>
          <a:solidFill>
            <a:srgbClr val="0096c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7" name="Text 4"/>
          <p:cNvSpPr/>
          <p:nvPr/>
        </p:nvSpPr>
        <p:spPr>
          <a:xfrm>
            <a:off x="3474720" y="137160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Document Input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4526280" y="1965960"/>
            <a:ext cx="91080" cy="319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6"/>
          <p:cNvSpPr/>
          <p:nvPr/>
        </p:nvSpPr>
        <p:spPr>
          <a:xfrm>
            <a:off x="4526280" y="2286000"/>
            <a:ext cx="9108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Shape 7"/>
          <p:cNvSpPr/>
          <p:nvPr/>
        </p:nvSpPr>
        <p:spPr>
          <a:xfrm>
            <a:off x="1371600" y="2331720"/>
            <a:ext cx="324576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Shape 8"/>
          <p:cNvSpPr/>
          <p:nvPr/>
        </p:nvSpPr>
        <p:spPr>
          <a:xfrm>
            <a:off x="1371600" y="2331720"/>
            <a:ext cx="91080" cy="3470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Shape 9"/>
          <p:cNvSpPr/>
          <p:nvPr/>
        </p:nvSpPr>
        <p:spPr>
          <a:xfrm>
            <a:off x="4572000" y="2331720"/>
            <a:ext cx="320004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10"/>
          <p:cNvSpPr/>
          <p:nvPr/>
        </p:nvSpPr>
        <p:spPr>
          <a:xfrm>
            <a:off x="7680960" y="2331720"/>
            <a:ext cx="91080" cy="3470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Shape 11"/>
          <p:cNvSpPr/>
          <p:nvPr/>
        </p:nvSpPr>
        <p:spPr>
          <a:xfrm>
            <a:off x="274320" y="2679120"/>
            <a:ext cx="2285640" cy="868320"/>
          </a:xfrm>
          <a:prstGeom prst="rect">
            <a:avLst/>
          </a:prstGeom>
          <a:solidFill>
            <a:srgbClr val="1a56d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Text 12"/>
          <p:cNvSpPr/>
          <p:nvPr/>
        </p:nvSpPr>
        <p:spPr>
          <a:xfrm>
            <a:off x="274320" y="267912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GPT Model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Generate Notes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6583680" y="2679120"/>
            <a:ext cx="2285640" cy="86832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Text 14"/>
          <p:cNvSpPr/>
          <p:nvPr/>
        </p:nvSpPr>
        <p:spPr>
          <a:xfrm>
            <a:off x="6583680" y="267912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Claude Model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Generate Quiz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8" name="Shape 15"/>
          <p:cNvSpPr/>
          <p:nvPr/>
        </p:nvSpPr>
        <p:spPr>
          <a:xfrm>
            <a:off x="1371600" y="3547800"/>
            <a:ext cx="91080" cy="3470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16"/>
          <p:cNvSpPr/>
          <p:nvPr/>
        </p:nvSpPr>
        <p:spPr>
          <a:xfrm>
            <a:off x="1371600" y="3858840"/>
            <a:ext cx="324576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17"/>
          <p:cNvSpPr/>
          <p:nvPr/>
        </p:nvSpPr>
        <p:spPr>
          <a:xfrm>
            <a:off x="7680960" y="3547800"/>
            <a:ext cx="91080" cy="3470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8"/>
          <p:cNvSpPr/>
          <p:nvPr/>
        </p:nvSpPr>
        <p:spPr>
          <a:xfrm>
            <a:off x="4572000" y="3858840"/>
            <a:ext cx="320004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19"/>
          <p:cNvSpPr/>
          <p:nvPr/>
        </p:nvSpPr>
        <p:spPr>
          <a:xfrm>
            <a:off x="4526280" y="3858840"/>
            <a:ext cx="91080" cy="319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20"/>
          <p:cNvSpPr/>
          <p:nvPr/>
        </p:nvSpPr>
        <p:spPr>
          <a:xfrm>
            <a:off x="3017520" y="4178880"/>
            <a:ext cx="3108600" cy="685440"/>
          </a:xfrm>
          <a:prstGeom prst="rect">
            <a:avLst/>
          </a:prstGeom>
          <a:solidFill>
            <a:srgbClr val="22c55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Text 21"/>
          <p:cNvSpPr/>
          <p:nvPr/>
        </p:nvSpPr>
        <p:spPr>
          <a:xfrm>
            <a:off x="3017520" y="417888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Merge into Single Document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5" name="Shape 22"/>
          <p:cNvSpPr/>
          <p:nvPr/>
        </p:nvSpPr>
        <p:spPr>
          <a:xfrm>
            <a:off x="3017520" y="2679120"/>
            <a:ext cx="3108600" cy="868320"/>
          </a:xfrm>
          <a:prstGeom prst="rect">
            <a:avLst/>
          </a:prstGeom>
          <a:solidFill>
            <a:srgbClr val="fff3c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6" name="Text 23"/>
          <p:cNvSpPr/>
          <p:nvPr/>
        </p:nvSpPr>
        <p:spPr>
          <a:xfrm>
            <a:off x="3017520" y="2679120"/>
            <a:ext cx="3108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</a:rPr>
              <a:t>RunnableParallel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</a:rPr>
              <a:t>executes both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</a:rPr>
              <a:t>chains simultaneously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Parallel Chain — Complete Code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89" name="Shape 2"/>
          <p:cNvSpPr/>
          <p:nvPr/>
        </p:nvSpPr>
        <p:spPr>
          <a:xfrm>
            <a:off x="274320" y="896040"/>
            <a:ext cx="8595000" cy="468396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Shape 3"/>
          <p:cNvSpPr/>
          <p:nvPr/>
        </p:nvSpPr>
        <p:spPr>
          <a:xfrm>
            <a:off x="274320" y="896040"/>
            <a:ext cx="8595000" cy="347040"/>
          </a:xfrm>
          <a:prstGeom prst="rect">
            <a:avLst/>
          </a:prstGeom>
          <a:solidFill>
            <a:srgbClr val="2a2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4"/>
          <p:cNvSpPr/>
          <p:nvPr/>
        </p:nvSpPr>
        <p:spPr>
          <a:xfrm>
            <a:off x="411480" y="91440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● ● ●  </a:t>
            </a: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parallel_chain.py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411480" y="1325880"/>
            <a:ext cx="411444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langchain_openai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ChatOpenAI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langchain_anthropic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ChatAnthropic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langchain_core.prompts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PromptTemplate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langchain_core.output_parsers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StrOutputParser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langchain.schema.runnable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RunnableParallel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Initialise models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gpt_model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ChatOpenAI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claude_model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ChatAnthropic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(model=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'claude-3-5-sonnet-20250514'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str_parser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StrOutputParser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Prompt 1 — for study notes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notes_prompt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PromptTemplate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'Create concise study notes from:\n{document}'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input_variables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=[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'document'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]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Prompt 2 — for quiz questions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quiz_prompt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PromptTemplate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'Generate 5 quiz questions from:\n{document}'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input_variables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=[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'document'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]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4663440" y="1325880"/>
            <a:ext cx="411444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Prompt 3 — merge both outputs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merge_prompt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PromptTemplate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        'Combine into one study doc:\n'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        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'Notes: {notes}\nQuiz: {quiz}'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input_variables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=[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'notes'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,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'quiz'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]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Parallel branch: both run simultaneously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parallel_branch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RunnableParallel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({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'notes'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: notes_prompt | gpt_model    | str_parser,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'quiz'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: quiz_prompt  | claude_model | str_parser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})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Final merge chain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merge_chain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merge_prompt | gpt_model | str_parser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Complete pipeline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full_pipeline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parallel_branch | merge_chain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result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dcdcaa"/>
                </a:solidFill>
                <a:latin typeface="Courier New"/>
                <a:ea typeface="Courier New"/>
              </a:rPr>
              <a:t>full_pipeline.invoke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({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'document'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: doc_text})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dcdcaa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(result)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94" name="Shape 7"/>
          <p:cNvSpPr/>
          <p:nvPr/>
        </p:nvSpPr>
        <p:spPr>
          <a:xfrm>
            <a:off x="4553640" y="1325880"/>
            <a:ext cx="36360" cy="3428640"/>
          </a:xfrm>
          <a:prstGeom prst="rect">
            <a:avLst/>
          </a:prstGeom>
          <a:solidFill>
            <a:srgbClr val="4444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5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Part 1 Summary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97" name="Shape 2"/>
          <p:cNvSpPr/>
          <p:nvPr/>
        </p:nvSpPr>
        <p:spPr>
          <a:xfrm>
            <a:off x="457200" y="960120"/>
            <a:ext cx="8229240" cy="621360"/>
          </a:xfrm>
          <a:prstGeom prst="rect">
            <a:avLst/>
          </a:prstGeom>
          <a:solidFill>
            <a:srgbClr val="1a306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8" name="Text 3"/>
          <p:cNvSpPr/>
          <p:nvPr/>
        </p:nvSpPr>
        <p:spPr>
          <a:xfrm>
            <a:off x="640080" y="1005840"/>
            <a:ext cx="7954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🔗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Chains automate multi-step LLM pipelines using the pipe ( | ) operator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457200" y="1710000"/>
            <a:ext cx="8229240" cy="621360"/>
          </a:xfrm>
          <a:prstGeom prst="rect">
            <a:avLst/>
          </a:prstGeom>
          <a:solidFill>
            <a:srgbClr val="1a306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Text 5"/>
          <p:cNvSpPr/>
          <p:nvPr/>
        </p:nvSpPr>
        <p:spPr>
          <a:xfrm>
            <a:off x="640080" y="1755720"/>
            <a:ext cx="7954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📝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LCEL (LangChain Expression Language) connects: prompt | model | parser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1" name="Shape 6"/>
          <p:cNvSpPr/>
          <p:nvPr/>
        </p:nvSpPr>
        <p:spPr>
          <a:xfrm>
            <a:off x="457200" y="2459880"/>
            <a:ext cx="8229240" cy="621360"/>
          </a:xfrm>
          <a:prstGeom prst="rect">
            <a:avLst/>
          </a:prstGeom>
          <a:solidFill>
            <a:srgbClr val="1a306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2" name="Text 7"/>
          <p:cNvSpPr/>
          <p:nvPr/>
        </p:nvSpPr>
        <p:spPr>
          <a:xfrm>
            <a:off x="640080" y="2505600"/>
            <a:ext cx="7954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▶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Simple chain: single prompt → single model → single parser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3" name="Shape 8"/>
          <p:cNvSpPr/>
          <p:nvPr/>
        </p:nvSpPr>
        <p:spPr>
          <a:xfrm>
            <a:off x="457200" y="3209400"/>
            <a:ext cx="8229240" cy="621360"/>
          </a:xfrm>
          <a:prstGeom prst="rect">
            <a:avLst/>
          </a:prstGeom>
          <a:solidFill>
            <a:srgbClr val="1a306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Text 9"/>
          <p:cNvSpPr/>
          <p:nvPr/>
        </p:nvSpPr>
        <p:spPr>
          <a:xfrm>
            <a:off x="640080" y="3255120"/>
            <a:ext cx="7954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🔁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Multi-step chain: chain outputs connect as inputs to subsequent prompts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5" name="Shape 10"/>
          <p:cNvSpPr/>
          <p:nvPr/>
        </p:nvSpPr>
        <p:spPr>
          <a:xfrm>
            <a:off x="457200" y="3959280"/>
            <a:ext cx="8229240" cy="621360"/>
          </a:xfrm>
          <a:prstGeom prst="rect">
            <a:avLst/>
          </a:prstGeom>
          <a:solidFill>
            <a:srgbClr val="1a306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6" name="Text 11"/>
          <p:cNvSpPr/>
          <p:nvPr/>
        </p:nvSpPr>
        <p:spPr>
          <a:xfrm>
            <a:off x="640080" y="4005000"/>
            <a:ext cx="7954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⚡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Parallel chain: RunnableParallel runs multiple chains simultaneously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457200" y="4663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b4d8"/>
                </a:solidFill>
                <a:latin typeface="Calibri"/>
              </a:rPr>
              <a:t>▶  </a:t>
            </a:r>
            <a:r>
              <a:rPr b="0" i="1" lang="en-US" sz="1200" spc="-1" strike="noStrike">
                <a:solidFill>
                  <a:srgbClr val="00b4d8"/>
                </a:solidFill>
                <a:latin typeface="Calibri"/>
              </a:rPr>
              <a:t>Continue to Part 2: Conditional Chains, RunnableBranch &amp; Advanced Patterns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2026-03-25T14:57:16Z</dcterms:created>
  <dc:creator>PptxGenJS</dc:creator>
  <dc:description/>
  <dc:language>en-IN</dc:language>
  <cp:lastModifiedBy/>
  <dcterms:modified xsi:type="dcterms:W3CDTF">2026-03-25T22:31:08Z</dcterms:modified>
  <cp:revision>2</cp:revision>
  <dc:subject>PptxGenJS Presentation</dc:subject>
  <dc:title>LangChain Chains Guide - Part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