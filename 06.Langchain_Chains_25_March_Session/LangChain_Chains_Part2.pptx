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BCF0746-4391-4A16-A08C-D5797AEA4BC9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27D66C5-E2AB-4540-8971-A2EBAF960C9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EFCA6E1-BF37-4321-80B1-8388BE1AA4D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057447D-37AF-470A-BA47-25004EE326B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8A1BDFA-F447-49BF-848E-B4687212560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FE24AE9-1E98-41AD-8D7A-1C3B693DCF1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2487B4E-D5D9-4F0E-9FF7-4E27BB0BB38F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02782C1-E83A-436D-8EE2-93BC9AA170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D44706-6CBC-4EED-8934-C84F29D6ECA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32A9500-7CCC-4E92-B699-1A5DDD7F7D8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CEFEE97-174A-448F-B59C-EECF2CEC93B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6858000" y="-457200"/>
            <a:ext cx="3200040" cy="3200040"/>
          </a:xfrm>
          <a:prstGeom prst="ellipse">
            <a:avLst/>
          </a:prstGeom>
          <a:solidFill>
            <a:srgbClr val="8b5cf6">
              <a:alpha val="30000"/>
            </a:srgbClr>
          </a:solidFill>
          <a:ln w="12700">
            <a:solidFill>
              <a:srgbClr val="8b5cf6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Shape 2"/>
          <p:cNvSpPr/>
          <p:nvPr/>
        </p:nvSpPr>
        <p:spPr>
          <a:xfrm>
            <a:off x="7772400" y="2286000"/>
            <a:ext cx="2011320" cy="201132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Text 3"/>
          <p:cNvSpPr/>
          <p:nvPr/>
        </p:nvSpPr>
        <p:spPr>
          <a:xfrm>
            <a:off x="365760" y="365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398" strike="noStrike">
                <a:solidFill>
                  <a:srgbClr val="8b5cf6"/>
                </a:solidFill>
                <a:latin typeface="Calibri"/>
              </a:rPr>
              <a:t>PART 2 OF 2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365760" y="822960"/>
            <a:ext cx="7772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fffff"/>
                </a:solidFill>
                <a:latin typeface="Calibri"/>
                <a:ea typeface="Calibri"/>
              </a:rPr>
              <a:t>LangChain Chains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365760" y="187452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800" spc="-1" strike="noStrike">
                <a:solidFill>
                  <a:srgbClr val="8b5cf6"/>
                </a:solidFill>
                <a:latin typeface="Calibri"/>
                <a:ea typeface="Calibri"/>
              </a:rPr>
              <a:t>Conditional &amp; Advanced</a:t>
            </a:r>
            <a:endParaRPr b="0" lang="en-IN" sz="3800" spc="-1" strike="noStrike">
              <a:latin typeface="Arial"/>
            </a:endParaRPr>
          </a:p>
        </p:txBody>
      </p:sp>
      <p:sp>
        <p:nvSpPr>
          <p:cNvPr id="50" name="Text 6"/>
          <p:cNvSpPr/>
          <p:nvPr/>
        </p:nvSpPr>
        <p:spPr>
          <a:xfrm>
            <a:off x="365760" y="288036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b0c4de"/>
                </a:solidFill>
                <a:latin typeface="Calibri"/>
              </a:rPr>
              <a:t>Conditional Chains, Pydantic, RunnableBranch &amp; Debugging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1" name="Shape 7"/>
          <p:cNvSpPr/>
          <p:nvPr/>
        </p:nvSpPr>
        <p:spPr>
          <a:xfrm>
            <a:off x="365760" y="3429000"/>
            <a:ext cx="2285640" cy="363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8"/>
          <p:cNvSpPr/>
          <p:nvPr/>
        </p:nvSpPr>
        <p:spPr>
          <a:xfrm>
            <a:off x="365760" y="374904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7b97c9"/>
                </a:solidFill>
                <a:latin typeface="Calibri"/>
              </a:rPr>
              <a:t>RunnableBranch  •  Pydantic  •  Structured Output  •  Debugging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Part 2 — What We'll Cover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100584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56" name="Shape 3"/>
          <p:cNvSpPr/>
          <p:nvPr/>
        </p:nvSpPr>
        <p:spPr>
          <a:xfrm>
            <a:off x="365760" y="1005840"/>
            <a:ext cx="72720" cy="9597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Text 4"/>
          <p:cNvSpPr/>
          <p:nvPr/>
        </p:nvSpPr>
        <p:spPr>
          <a:xfrm>
            <a:off x="502920" y="107892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8b5cf6"/>
                </a:solidFill>
                <a:latin typeface="Calibri"/>
              </a:rPr>
              <a:t>07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530280" y="14173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Conditional Chain Concept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65760" y="219456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0" name="Shape 7"/>
          <p:cNvSpPr/>
          <p:nvPr/>
        </p:nvSpPr>
        <p:spPr>
          <a:xfrm>
            <a:off x="365760" y="2194560"/>
            <a:ext cx="72720" cy="959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Text 8"/>
          <p:cNvSpPr/>
          <p:nvPr/>
        </p:nvSpPr>
        <p:spPr>
          <a:xfrm>
            <a:off x="502920" y="22676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96c7"/>
                </a:solidFill>
                <a:latin typeface="Calibri"/>
              </a:rPr>
              <a:t>08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30280" y="26060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Ensuring Consistent Output with Pydantic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365760" y="338328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4" name="Shape 11"/>
          <p:cNvSpPr/>
          <p:nvPr/>
        </p:nvSpPr>
        <p:spPr>
          <a:xfrm>
            <a:off x="365760" y="3383280"/>
            <a:ext cx="72720" cy="95976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5" name="Text 12"/>
          <p:cNvSpPr/>
          <p:nvPr/>
        </p:nvSpPr>
        <p:spPr>
          <a:xfrm>
            <a:off x="502920" y="34563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a56db"/>
                </a:solidFill>
                <a:latin typeface="Calibri"/>
              </a:rPr>
              <a:t>09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6" name="Text 13"/>
          <p:cNvSpPr/>
          <p:nvPr/>
        </p:nvSpPr>
        <p:spPr>
          <a:xfrm>
            <a:off x="530280" y="37947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Conditional Chain: Setup Code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4846320" y="100584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68" name="Shape 15"/>
          <p:cNvSpPr/>
          <p:nvPr/>
        </p:nvSpPr>
        <p:spPr>
          <a:xfrm>
            <a:off x="4846320" y="1005840"/>
            <a:ext cx="72720" cy="9597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6"/>
          <p:cNvSpPr/>
          <p:nvPr/>
        </p:nvSpPr>
        <p:spPr>
          <a:xfrm>
            <a:off x="4983480" y="107892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2c55e"/>
                </a:solidFill>
                <a:latin typeface="Calibri"/>
              </a:rPr>
              <a:t>10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0" name="Text 17"/>
          <p:cNvSpPr/>
          <p:nvPr/>
        </p:nvSpPr>
        <p:spPr>
          <a:xfrm>
            <a:off x="5010840" y="141732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Conditional Chain: Branches &amp; Execution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1" name="Shape 18"/>
          <p:cNvSpPr/>
          <p:nvPr/>
        </p:nvSpPr>
        <p:spPr>
          <a:xfrm>
            <a:off x="4846320" y="219456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2" name="Shape 19"/>
          <p:cNvSpPr/>
          <p:nvPr/>
        </p:nvSpPr>
        <p:spPr>
          <a:xfrm>
            <a:off x="4846320" y="2194560"/>
            <a:ext cx="72720" cy="959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20"/>
          <p:cNvSpPr/>
          <p:nvPr/>
        </p:nvSpPr>
        <p:spPr>
          <a:xfrm>
            <a:off x="4983480" y="226764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59e0b"/>
                </a:solidFill>
                <a:latin typeface="Calibri"/>
              </a:rPr>
              <a:t>11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5010840" y="260604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Advanced: RunnableLambda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75" name="Shape 22"/>
          <p:cNvSpPr/>
          <p:nvPr/>
        </p:nvSpPr>
        <p:spPr>
          <a:xfrm>
            <a:off x="4846320" y="3383280"/>
            <a:ext cx="4114440" cy="9597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6" name="Shape 23"/>
          <p:cNvSpPr/>
          <p:nvPr/>
        </p:nvSpPr>
        <p:spPr>
          <a:xfrm>
            <a:off x="4846320" y="3383280"/>
            <a:ext cx="72720" cy="959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7" name="Text 24"/>
          <p:cNvSpPr/>
          <p:nvPr/>
        </p:nvSpPr>
        <p:spPr>
          <a:xfrm>
            <a:off x="4983480" y="3456360"/>
            <a:ext cx="5025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Calibri"/>
              </a:rPr>
              <a:t>12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8" name="Text 25"/>
          <p:cNvSpPr/>
          <p:nvPr/>
        </p:nvSpPr>
        <p:spPr>
          <a:xfrm>
            <a:off x="5010840" y="3794760"/>
            <a:ext cx="3748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Visualising &amp; Debugging Chains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Conditional Chain Application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365760" y="9144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2044"/>
                </a:solidFill>
                <a:latin typeface="Calibri"/>
              </a:rPr>
              <a:t>Use Case: Intelligent Product Feedback System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2" name="Shape 3"/>
          <p:cNvSpPr/>
          <p:nvPr/>
        </p:nvSpPr>
        <p:spPr>
          <a:xfrm>
            <a:off x="3200400" y="1371600"/>
            <a:ext cx="2742840" cy="594000"/>
          </a:xfrm>
          <a:prstGeom prst="rect">
            <a:avLst/>
          </a:prstGeom>
          <a:solidFill>
            <a:srgbClr val="0096c7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3" name="Text 4"/>
          <p:cNvSpPr/>
          <p:nvPr/>
        </p:nvSpPr>
        <p:spPr>
          <a:xfrm>
            <a:off x="3200400" y="137160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Customer Feedback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4" name="Shape 5"/>
          <p:cNvSpPr/>
          <p:nvPr/>
        </p:nvSpPr>
        <p:spPr>
          <a:xfrm>
            <a:off x="4526280" y="1965960"/>
            <a:ext cx="91080" cy="2739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5" name="Shape 6"/>
          <p:cNvSpPr/>
          <p:nvPr/>
        </p:nvSpPr>
        <p:spPr>
          <a:xfrm>
            <a:off x="3200400" y="2240280"/>
            <a:ext cx="2742840" cy="594000"/>
          </a:xfrm>
          <a:prstGeom prst="rect">
            <a:avLst/>
          </a:prstGeom>
          <a:solidFill>
            <a:srgbClr val="1a56d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6" name="Text 7"/>
          <p:cNvSpPr/>
          <p:nvPr/>
        </p:nvSpPr>
        <p:spPr>
          <a:xfrm>
            <a:off x="3200400" y="2240280"/>
            <a:ext cx="27428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Sentiment Classifier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(Pydantic + LLM)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4526280" y="2834640"/>
            <a:ext cx="91080" cy="27396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Shape 9"/>
          <p:cNvSpPr/>
          <p:nvPr/>
        </p:nvSpPr>
        <p:spPr>
          <a:xfrm>
            <a:off x="1371600" y="3063240"/>
            <a:ext cx="324576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Shape 10"/>
          <p:cNvSpPr/>
          <p:nvPr/>
        </p:nvSpPr>
        <p:spPr>
          <a:xfrm>
            <a:off x="4572000" y="3063240"/>
            <a:ext cx="3200040" cy="910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Shape 11"/>
          <p:cNvSpPr/>
          <p:nvPr/>
        </p:nvSpPr>
        <p:spPr>
          <a:xfrm>
            <a:off x="1371600" y="3063240"/>
            <a:ext cx="91080" cy="319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Shape 12"/>
          <p:cNvSpPr/>
          <p:nvPr/>
        </p:nvSpPr>
        <p:spPr>
          <a:xfrm>
            <a:off x="7680960" y="3063240"/>
            <a:ext cx="91080" cy="31968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Shape 13"/>
          <p:cNvSpPr/>
          <p:nvPr/>
        </p:nvSpPr>
        <p:spPr>
          <a:xfrm>
            <a:off x="274320" y="3383280"/>
            <a:ext cx="2377080" cy="822600"/>
          </a:xfrm>
          <a:prstGeom prst="rect">
            <a:avLst/>
          </a:prstGeom>
          <a:solidFill>
            <a:srgbClr val="22c55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3" name="Text 14"/>
          <p:cNvSpPr/>
          <p:nvPr/>
        </p:nvSpPr>
        <p:spPr>
          <a:xfrm>
            <a:off x="274320" y="338328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Positive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Thank You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4" name="Shape 15"/>
          <p:cNvSpPr/>
          <p:nvPr/>
        </p:nvSpPr>
        <p:spPr>
          <a:xfrm>
            <a:off x="6492240" y="3383280"/>
            <a:ext cx="2377080" cy="822600"/>
          </a:xfrm>
          <a:prstGeom prst="rect">
            <a:avLst/>
          </a:prstGeom>
          <a:solidFill>
            <a:srgbClr val="ef4444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5" name="Text 16"/>
          <p:cNvSpPr/>
          <p:nvPr/>
        </p:nvSpPr>
        <p:spPr>
          <a:xfrm>
            <a:off x="6492240" y="3383280"/>
            <a:ext cx="23770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Negative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Apology Response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6" name="Shape 17"/>
          <p:cNvSpPr/>
          <p:nvPr/>
        </p:nvSpPr>
        <p:spPr>
          <a:xfrm>
            <a:off x="3017520" y="3383280"/>
            <a:ext cx="3108600" cy="822600"/>
          </a:xfrm>
          <a:prstGeom prst="rect">
            <a:avLst/>
          </a:prstGeom>
          <a:solidFill>
            <a:srgbClr val="fff3cd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7" name="Text 18"/>
          <p:cNvSpPr/>
          <p:nvPr/>
        </p:nvSpPr>
        <p:spPr>
          <a:xfrm>
            <a:off x="3017520" y="3383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RunnableBranch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if-else logic</a:t>
            </a:r>
            <a:endParaRPr b="0" lang="en-IN" sz="11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59e0b"/>
                </a:solidFill>
                <a:latin typeface="Calibri"/>
              </a:rPr>
              <a:t>for LLM chains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Ensuring Consistent Output with Pydantic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0" name="Shape 2"/>
          <p:cNvSpPr/>
          <p:nvPr/>
        </p:nvSpPr>
        <p:spPr>
          <a:xfrm>
            <a:off x="274320" y="914400"/>
            <a:ext cx="3931560" cy="2194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1" name="Shape 3"/>
          <p:cNvSpPr/>
          <p:nvPr/>
        </p:nvSpPr>
        <p:spPr>
          <a:xfrm>
            <a:off x="274320" y="914400"/>
            <a:ext cx="3931560" cy="4111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4"/>
          <p:cNvSpPr/>
          <p:nvPr/>
        </p:nvSpPr>
        <p:spPr>
          <a:xfrm>
            <a:off x="365760" y="9327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⚠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Problem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11480" y="14173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LLM might return: 'positive'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411480" y="18288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Or it might return: 'Positive'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411480" y="224028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Or: 'This feedback is positive'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411480" y="265176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Inconsistent — breaks conditionals!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4937760" y="914400"/>
            <a:ext cx="3931560" cy="21942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8" name="Shape 10"/>
          <p:cNvSpPr/>
          <p:nvPr/>
        </p:nvSpPr>
        <p:spPr>
          <a:xfrm>
            <a:off x="4937760" y="914400"/>
            <a:ext cx="3931560" cy="41112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 11"/>
          <p:cNvSpPr/>
          <p:nvPr/>
        </p:nvSpPr>
        <p:spPr>
          <a:xfrm>
            <a:off x="5029200" y="93276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Solution: Pydantic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5029200" y="141732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22c55e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Define a structured schema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5029200" y="182880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22c55e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Force exactly 'positive' or 'negative'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2" name="Text 14"/>
          <p:cNvSpPr/>
          <p:nvPr/>
        </p:nvSpPr>
        <p:spPr>
          <a:xfrm>
            <a:off x="5029200" y="224028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22c55e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PydanticOutputParser enforces schema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5029200" y="2651760"/>
            <a:ext cx="3657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22c55e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1e293b"/>
                </a:solidFill>
                <a:latin typeface="Calibri"/>
              </a:rPr>
              <a:t>Reliable for all conditional logic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4" name="Shape 16"/>
          <p:cNvSpPr/>
          <p:nvPr/>
        </p:nvSpPr>
        <p:spPr>
          <a:xfrm>
            <a:off x="274320" y="3246120"/>
            <a:ext cx="8595000" cy="159984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5" name="Shape 17"/>
          <p:cNvSpPr/>
          <p:nvPr/>
        </p:nvSpPr>
        <p:spPr>
          <a:xfrm>
            <a:off x="274320" y="3246120"/>
            <a:ext cx="859500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8"/>
          <p:cNvSpPr/>
          <p:nvPr/>
        </p:nvSpPr>
        <p:spPr>
          <a:xfrm>
            <a:off x="411480" y="326448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feedback_schema.py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457200" y="365760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 pydantic </a:t>
            </a:r>
            <a:r>
              <a:rPr b="0" lang="en-US" sz="12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 BaseModel, Field</a:t>
            </a:r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 typing </a:t>
            </a:r>
            <a:r>
              <a:rPr b="0" lang="en-US" sz="120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 Literal</a:t>
            </a:r>
            <a:endParaRPr b="0" lang="en-IN" sz="1200" spc="-1" strike="noStrike">
              <a:latin typeface="Arial"/>
            </a:endParaRPr>
          </a:p>
          <a:p>
            <a:endParaRPr b="0" lang="en-IN" sz="1200" spc="-1" strike="noStrike">
              <a:latin typeface="Arial"/>
            </a:endParaRPr>
          </a:p>
          <a:p>
            <a:r>
              <a:rPr b="0" lang="en-US" sz="1200" spc="-1" strike="noStrike">
                <a:solidFill>
                  <a:srgbClr val="569cd6"/>
                </a:solidFill>
                <a:latin typeface="Courier New"/>
                <a:ea typeface="Courier New"/>
              </a:rPr>
              <a:t>class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 </a:t>
            </a:r>
            <a:r>
              <a:rPr b="0" lang="en-US" sz="1200" spc="-1" strike="noStrike">
                <a:solidFill>
                  <a:srgbClr val="4ec9b0"/>
                </a:solidFill>
                <a:latin typeface="Courier New"/>
                <a:ea typeface="Courier New"/>
              </a:rPr>
              <a:t>FeedbackSentiment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r>
              <a:rPr b="0" lang="en-US" sz="1200" spc="-1" strike="noStrike">
                <a:solidFill>
                  <a:srgbClr val="4ec9b0"/>
                </a:solidFill>
                <a:latin typeface="Courier New"/>
                <a:ea typeface="Courier New"/>
              </a:rPr>
              <a:t>BaseModel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):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1200" spc="-1" strike="noStrike">
                <a:solidFill>
                  <a:srgbClr val="9cdcfe"/>
                </a:solidFill>
                <a:latin typeface="Courier New"/>
                <a:ea typeface="Courier New"/>
              </a:rPr>
              <a:t>sentiment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: </a:t>
            </a:r>
            <a:r>
              <a:rPr b="0" lang="en-US" sz="1200" spc="-1" strike="noStrike">
                <a:solidFill>
                  <a:srgbClr val="4ec9b0"/>
                </a:solidFill>
                <a:latin typeface="Courier New"/>
                <a:ea typeface="Courier New"/>
              </a:rPr>
              <a:t>Literal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[</a:t>
            </a:r>
            <a:r>
              <a:rPr b="0" lang="en-US" sz="1200" spc="-1" strike="noStrike">
                <a:solidFill>
                  <a:srgbClr val="ce9178"/>
                </a:solidFill>
                <a:latin typeface="Courier New"/>
                <a:ea typeface="Courier New"/>
              </a:rPr>
              <a:t>'positive'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, </a:t>
            </a:r>
            <a:r>
              <a:rPr b="0" lang="en-US" sz="1200" spc="-1" strike="noStrike">
                <a:solidFill>
                  <a:srgbClr val="ce9178"/>
                </a:solidFill>
                <a:latin typeface="Courier New"/>
                <a:ea typeface="Courier New"/>
              </a:rPr>
              <a:t>'negative'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] = </a:t>
            </a:r>
            <a:r>
              <a:rPr b="0" lang="en-US" sz="1200" spc="-1" strike="noStrike">
                <a:solidFill>
                  <a:srgbClr val="4ec9b0"/>
                </a:solidFill>
                <a:latin typeface="Courier New"/>
                <a:ea typeface="Courier New"/>
              </a:rPr>
              <a:t>Field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(description=</a:t>
            </a:r>
            <a:r>
              <a:rPr b="0" lang="en-US" sz="1200" spc="-1" strike="noStrike">
                <a:solidFill>
                  <a:srgbClr val="ce9178"/>
                </a:solidFill>
                <a:latin typeface="Courier New"/>
                <a:ea typeface="Courier New"/>
              </a:rPr>
              <a:t>'Sentiment of the customer feedback'</a:t>
            </a:r>
            <a:r>
              <a:rPr b="0" lang="en-US" sz="120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Conditional Chain — Setup &amp; Classifier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0" name="Shape 2"/>
          <p:cNvSpPr/>
          <p:nvPr/>
        </p:nvSpPr>
        <p:spPr>
          <a:xfrm>
            <a:off x="274320" y="896040"/>
            <a:ext cx="5485680" cy="504396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1" name="Shape 3"/>
          <p:cNvSpPr/>
          <p:nvPr/>
        </p:nvSpPr>
        <p:spPr>
          <a:xfrm>
            <a:off x="274320" y="896040"/>
            <a:ext cx="530316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4"/>
          <p:cNvSpPr/>
          <p:nvPr/>
        </p:nvSpPr>
        <p:spPr>
          <a:xfrm>
            <a:off x="411480" y="9144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conditional_chain.py  (Part A)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11480" y="1325880"/>
            <a:ext cx="50745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langchain_openai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ChatOpenAI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langchain_core.prompts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PromptTemplate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langchain_core.output_parsers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PydanticOutputParser, StrOutputParser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from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langchain.schema.runnable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import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RunnableBranch, RunnableLambda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ai_model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ChatOpenAI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str_parser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StrOutputParser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pyd_parser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PydanticOutputParser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pydantic_object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=FeedbackSentiment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Sentiment classifier prompt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classifier_prompt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'Classify feedback as positive/negative.\n'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'{format_instructions}\n{user_feedback}'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'user_feedback'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partial_variables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={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       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'format_instructions'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    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pyd_parser.get_format_instructions()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}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Classification chain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classifier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classifier_prompt | ai_model | pyd_parser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5760720" y="896040"/>
            <a:ext cx="310860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5" name="Shape 7"/>
          <p:cNvSpPr/>
          <p:nvPr/>
        </p:nvSpPr>
        <p:spPr>
          <a:xfrm>
            <a:off x="5760720" y="896040"/>
            <a:ext cx="3108600" cy="38376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Text 8"/>
          <p:cNvSpPr/>
          <p:nvPr/>
        </p:nvSpPr>
        <p:spPr>
          <a:xfrm>
            <a:off x="5852160" y="9144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💡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How It Works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7" name="Text 9"/>
          <p:cNvSpPr/>
          <p:nvPr/>
        </p:nvSpPr>
        <p:spPr>
          <a:xfrm>
            <a:off x="5852160" y="138996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b5cf6"/>
                </a:solidFill>
                <a:latin typeface="Calibri"/>
              </a:rPr>
              <a:t>PydanticOutputParser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8" name="Text 10"/>
          <p:cNvSpPr/>
          <p:nvPr/>
        </p:nvSpPr>
        <p:spPr>
          <a:xfrm>
            <a:off x="5852160" y="166428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Converts LLM text output into a typed Python object — reliably 'positive' or 'negative'.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29" name="Text 11"/>
          <p:cNvSpPr/>
          <p:nvPr/>
        </p:nvSpPr>
        <p:spPr>
          <a:xfrm>
            <a:off x="5852160" y="22860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b5cf6"/>
                </a:solidFill>
                <a:latin typeface="Calibri"/>
              </a:rPr>
              <a:t>partial_variables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0" name="Text 12"/>
          <p:cNvSpPr/>
          <p:nvPr/>
        </p:nvSpPr>
        <p:spPr>
          <a:xfrm>
            <a:off x="5852160" y="256032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Pre-fills format_instructions so the prompt tells the LLM exactly what JSON schema to return.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1" name="Text 13"/>
          <p:cNvSpPr/>
          <p:nvPr/>
        </p:nvSpPr>
        <p:spPr>
          <a:xfrm>
            <a:off x="5852160" y="318204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b5cf6"/>
                </a:solidFill>
                <a:latin typeface="Calibri"/>
              </a:rPr>
              <a:t>get_format_instructions()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2" name="Text 14"/>
          <p:cNvSpPr/>
          <p:nvPr/>
        </p:nvSpPr>
        <p:spPr>
          <a:xfrm>
            <a:off x="5852160" y="345636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Auto-generates the schema instructions that force structured output from the LLM.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33" name="Text 15"/>
          <p:cNvSpPr/>
          <p:nvPr/>
        </p:nvSpPr>
        <p:spPr>
          <a:xfrm>
            <a:off x="5852160" y="407808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8b5cf6"/>
                </a:solidFill>
                <a:latin typeface="Calibri"/>
              </a:rPr>
              <a:t>classifier chain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34" name="Text 16"/>
          <p:cNvSpPr/>
          <p:nvPr/>
        </p:nvSpPr>
        <p:spPr>
          <a:xfrm>
            <a:off x="5852160" y="4352400"/>
            <a:ext cx="2834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prompt → ai_model → pyd_parser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Returns a FeedbackSentiment object, not raw text.</a:t>
            </a: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Conditional Chain — Branches &amp; Execution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7" name="Shape 2"/>
          <p:cNvSpPr/>
          <p:nvPr/>
        </p:nvSpPr>
        <p:spPr>
          <a:xfrm>
            <a:off x="274320" y="896040"/>
            <a:ext cx="5305680" cy="504396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8" name="Shape 3"/>
          <p:cNvSpPr/>
          <p:nvPr/>
        </p:nvSpPr>
        <p:spPr>
          <a:xfrm>
            <a:off x="274320" y="896040"/>
            <a:ext cx="530316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4"/>
          <p:cNvSpPr/>
          <p:nvPr/>
        </p:nvSpPr>
        <p:spPr>
          <a:xfrm>
            <a:off x="411480" y="91440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conditional_chain.py  (Part B)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411480" y="1325880"/>
            <a:ext cx="50745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Response prompts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thanks_prompt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'Write a thank-you reply for: {user_feedback}'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'user_feedback'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apology_prompt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PromptTemplate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template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'Write an apology response for: {user_feedback}'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input_variables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=[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'user_feedback'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]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Branch based on classified sentiment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response_branch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RunnableBranch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lambda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x: x.sentiment ==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'positive'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thanks_prompt | ai_model | str_parser),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lambda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x: x.sentiment ==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'negative'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apology_prompt | ai_model | str_parser),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RunnableLambda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r>
              <a:rPr b="0" lang="en-US" sz="950" spc="-1" strike="noStrike">
                <a:solidFill>
                  <a:srgbClr val="569cd6"/>
                </a:solidFill>
                <a:latin typeface="Courier New"/>
                <a:ea typeface="Courier New"/>
              </a:rPr>
              <a:t>lambda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x: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'Could not determine sentiment'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Full pipeline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feedback_pipeline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classifier | response_branch</a:t>
            </a:r>
            <a:endParaRPr b="0" lang="en-IN" sz="950" spc="-1" strike="noStrike">
              <a:latin typeface="Arial"/>
            </a:endParaRPr>
          </a:p>
          <a:p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Run with positive feedback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res1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feedback_pipeline.invoke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'user_feedback'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'Great product!'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})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6a9955"/>
                </a:solidFill>
                <a:latin typeface="Courier New"/>
                <a:ea typeface="Courier New"/>
              </a:rPr>
              <a:t># Run with negative feedback</a:t>
            </a:r>
            <a:endParaRPr b="0" lang="en-IN" sz="950" spc="-1" strike="noStrike">
              <a:latin typeface="Arial"/>
            </a:endParaRPr>
          </a:p>
          <a:p>
            <a:r>
              <a:rPr b="0" lang="en-US" sz="950" spc="-1" strike="noStrike">
                <a:solidFill>
                  <a:srgbClr val="9cdcfe"/>
                </a:solidFill>
                <a:latin typeface="Courier New"/>
                <a:ea typeface="Courier New"/>
              </a:rPr>
              <a:t>res2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950" spc="-1" strike="noStrike">
                <a:solidFill>
                  <a:srgbClr val="dcdcaa"/>
                </a:solidFill>
                <a:latin typeface="Courier New"/>
                <a:ea typeface="Courier New"/>
              </a:rPr>
              <a:t>feedback_pipeline.invoke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({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'user_feedback'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: </a:t>
            </a:r>
            <a:r>
              <a:rPr b="0" lang="en-US" sz="950" spc="-1" strike="noStrike">
                <a:solidFill>
                  <a:srgbClr val="ce9178"/>
                </a:solidFill>
                <a:latin typeface="Courier New"/>
                <a:ea typeface="Courier New"/>
              </a:rPr>
              <a:t>'Terrible experience!'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})</a:t>
            </a:r>
            <a:endParaRPr b="0" lang="en-IN" sz="95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950" spc="-1" strike="noStrike"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5760720" y="896040"/>
            <a:ext cx="3108600" cy="3977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2" name="Shape 7"/>
          <p:cNvSpPr/>
          <p:nvPr/>
        </p:nvSpPr>
        <p:spPr>
          <a:xfrm>
            <a:off x="5760720" y="896040"/>
            <a:ext cx="3108600" cy="38376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3" name="Text 8"/>
          <p:cNvSpPr/>
          <p:nvPr/>
        </p:nvSpPr>
        <p:spPr>
          <a:xfrm>
            <a:off x="5852160" y="91440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▶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Positive Feedback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4" name="Text 9"/>
          <p:cNvSpPr/>
          <p:nvPr/>
        </p:nvSpPr>
        <p:spPr>
          <a:xfrm>
            <a:off x="5852160" y="1353240"/>
            <a:ext cx="2880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Thank you for your wonderful feedback! We're thrilled to hear you're enjoying the product. Your satisfaction means everything to us.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5" name="Shape 10"/>
          <p:cNvSpPr/>
          <p:nvPr/>
        </p:nvSpPr>
        <p:spPr>
          <a:xfrm>
            <a:off x="5760720" y="2578680"/>
            <a:ext cx="3108600" cy="453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11"/>
          <p:cNvSpPr/>
          <p:nvPr/>
        </p:nvSpPr>
        <p:spPr>
          <a:xfrm>
            <a:off x="5760720" y="2651760"/>
            <a:ext cx="3108600" cy="38376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12"/>
          <p:cNvSpPr/>
          <p:nvPr/>
        </p:nvSpPr>
        <p:spPr>
          <a:xfrm>
            <a:off x="5852160" y="26701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▶  </a:t>
            </a:r>
            <a:r>
              <a:rPr b="1" lang="en-US" sz="1000" spc="-1" strike="noStrike">
                <a:solidFill>
                  <a:srgbClr val="ffffff"/>
                </a:solidFill>
                <a:latin typeface="Calibri"/>
              </a:rPr>
              <a:t>Negative Feedback Output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5852160" y="3108960"/>
            <a:ext cx="2880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pc="-1" strike="noStrike">
                <a:solidFill>
                  <a:srgbClr val="1e293b"/>
                </a:solidFill>
                <a:latin typeface="Calibri"/>
              </a:rPr>
              <a:t>We sincerely apologise for your negative experience. We take all feedback seriously and would like to make this right. Please contact our support team.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5760720" y="4297680"/>
            <a:ext cx="3108600" cy="347040"/>
          </a:xfrm>
          <a:prstGeom prst="rect">
            <a:avLst/>
          </a:prstGeom>
          <a:solidFill>
            <a:srgbClr val="e8f0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 15"/>
          <p:cNvSpPr/>
          <p:nvPr/>
        </p:nvSpPr>
        <p:spPr>
          <a:xfrm>
            <a:off x="5806440" y="431604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50" spc="-1" strike="noStrike">
                <a:solidFill>
                  <a:srgbClr val="1a56db"/>
                </a:solidFill>
                <a:latin typeface="Calibri"/>
              </a:rPr>
              <a:t>Only ONE branch executes per run</a:t>
            </a:r>
            <a:endParaRPr b="0" lang="en-IN" sz="9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Understanding RunnableLambda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274320" y="914400"/>
            <a:ext cx="40230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4" name="Shape 3"/>
          <p:cNvSpPr/>
          <p:nvPr/>
        </p:nvSpPr>
        <p:spPr>
          <a:xfrm>
            <a:off x="274320" y="914400"/>
            <a:ext cx="4023000" cy="41112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4"/>
          <p:cNvSpPr/>
          <p:nvPr/>
        </p:nvSpPr>
        <p:spPr>
          <a:xfrm>
            <a:off x="365760" y="9327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Why RunnableLambda?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411480" y="141732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→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RunnableBranch expects a Runnable, not a plain Python function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7" name="Text 6"/>
          <p:cNvSpPr/>
          <p:nvPr/>
        </p:nvSpPr>
        <p:spPr>
          <a:xfrm>
            <a:off x="411480" y="176472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→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RunnableLambda converts any lambda into a Runnable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411480" y="211212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→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Used as the default / fallback branch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411480" y="2459880"/>
            <a:ext cx="3748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f59e0b"/>
                </a:solidFill>
                <a:latin typeface="Calibri"/>
              </a:rPr>
              <a:t>→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Receives the full input and returns a simple string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4846320" y="914400"/>
            <a:ext cx="4023000" cy="19198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1" name="Shape 10"/>
          <p:cNvSpPr/>
          <p:nvPr/>
        </p:nvSpPr>
        <p:spPr>
          <a:xfrm>
            <a:off x="4846320" y="914400"/>
            <a:ext cx="4023000" cy="41112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2" name="Text 11"/>
          <p:cNvSpPr/>
          <p:nvPr/>
        </p:nvSpPr>
        <p:spPr>
          <a:xfrm>
            <a:off x="4937760" y="9327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General Pattern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3" name="Text 12"/>
          <p:cNvSpPr/>
          <p:nvPr/>
        </p:nvSpPr>
        <p:spPr>
          <a:xfrm>
            <a:off x="4983480" y="141732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dd6f4"/>
                </a:solidFill>
                <a:latin typeface="Courier New"/>
                <a:ea typeface="Courier New"/>
              </a:rPr>
              <a:t>RunnableBranch(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4" name="Text 13"/>
          <p:cNvSpPr/>
          <p:nvPr/>
        </p:nvSpPr>
        <p:spPr>
          <a:xfrm>
            <a:off x="4983480" y="16732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(condition_1, chain_1)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5" name="Text 14"/>
          <p:cNvSpPr/>
          <p:nvPr/>
        </p:nvSpPr>
        <p:spPr>
          <a:xfrm>
            <a:off x="4983480" y="192924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cdd6f4"/>
                </a:solidFill>
                <a:latin typeface="Courier New"/>
                <a:ea typeface="Courier New"/>
              </a:rPr>
              <a:t>(condition_2, chain_2)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6" name="Text 15"/>
          <p:cNvSpPr/>
          <p:nvPr/>
        </p:nvSpPr>
        <p:spPr>
          <a:xfrm>
            <a:off x="4983480" y="21855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    </a:t>
            </a:r>
            <a:r>
              <a:rPr b="0" lang="en-US" sz="950" spc="-1" strike="noStrike">
                <a:solidFill>
                  <a:srgbClr val="f59e0b"/>
                </a:solidFill>
                <a:latin typeface="Courier New"/>
                <a:ea typeface="Courier New"/>
              </a:rPr>
              <a:t>RunnableLambda(lambda x: 'fallback')  ← default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4983480" y="24598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8" name="Shape 17"/>
          <p:cNvSpPr/>
          <p:nvPr/>
        </p:nvSpPr>
        <p:spPr>
          <a:xfrm>
            <a:off x="274320" y="2971800"/>
            <a:ext cx="8595000" cy="182844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69" name="Shape 18"/>
          <p:cNvSpPr/>
          <p:nvPr/>
        </p:nvSpPr>
        <p:spPr>
          <a:xfrm>
            <a:off x="274320" y="2971800"/>
            <a:ext cx="859500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9"/>
          <p:cNvSpPr/>
          <p:nvPr/>
        </p:nvSpPr>
        <p:spPr>
          <a:xfrm>
            <a:off x="411480" y="299016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runnablelambda_example.py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1" name="Text 20"/>
          <p:cNvSpPr/>
          <p:nvPr/>
        </p:nvSpPr>
        <p:spPr>
          <a:xfrm>
            <a:off x="457200" y="3383280"/>
            <a:ext cx="8229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Without RunnableLambda — BROKEN: RunnableBranch can't use a plain function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bad_branch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RunnableBranch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(cond_1, chain_1), (cond_2, chain_2),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lambda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x: 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'unknown'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 # ❌ plain lambda fails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With RunnableLambda — CORRECT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9cdcfe"/>
                </a:solidFill>
                <a:latin typeface="Courier New"/>
                <a:ea typeface="Courier New"/>
              </a:rPr>
              <a:t>good_branch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=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RunnableBranch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(cond_1, chain_1), (cond_2, chain_2),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   </a:t>
            </a:r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RunnableLambda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</a:t>
            </a:r>
            <a:r>
              <a:rPr b="0" lang="en-US" sz="1000" spc="-1" strike="noStrike">
                <a:solidFill>
                  <a:srgbClr val="569cd6"/>
                </a:solidFill>
                <a:latin typeface="Courier New"/>
                <a:ea typeface="Courier New"/>
              </a:rPr>
              <a:t>lambda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 x: </a:t>
            </a:r>
            <a:r>
              <a:rPr b="0" lang="en-US" sz="1000" spc="-1" strike="noStrike">
                <a:solidFill>
                  <a:srgbClr val="ce9178"/>
                </a:solidFill>
                <a:latin typeface="Courier New"/>
                <a:ea typeface="Courier New"/>
              </a:rPr>
              <a:t>'unknown'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)  # ✅ wrapped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)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Calibri"/>
              </a:rPr>
              <a:t>Visualising &amp; Debugging Your Chains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4" name="Shape 2"/>
          <p:cNvSpPr/>
          <p:nvPr/>
        </p:nvSpPr>
        <p:spPr>
          <a:xfrm>
            <a:off x="274320" y="914400"/>
            <a:ext cx="5303160" cy="1554120"/>
          </a:xfrm>
          <a:prstGeom prst="rect">
            <a:avLst/>
          </a:prstGeom>
          <a:solidFill>
            <a:srgbClr val="1e1e2e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5" name="Shape 3"/>
          <p:cNvSpPr/>
          <p:nvPr/>
        </p:nvSpPr>
        <p:spPr>
          <a:xfrm>
            <a:off x="274320" y="914400"/>
            <a:ext cx="5303160" cy="347040"/>
          </a:xfrm>
          <a:prstGeom prst="rect">
            <a:avLst/>
          </a:prstGeom>
          <a:solidFill>
            <a:srgbClr val="2a2a3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Text 4"/>
          <p:cNvSpPr/>
          <p:nvPr/>
        </p:nvSpPr>
        <p:spPr>
          <a:xfrm>
            <a:off x="411480" y="93276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● ● ●  </a:t>
            </a:r>
            <a:r>
              <a:rPr b="0" lang="en-US" sz="950" spc="-1" strike="noStrike">
                <a:solidFill>
                  <a:srgbClr val="888aaa"/>
                </a:solidFill>
                <a:latin typeface="Calibri"/>
              </a:rPr>
              <a:t>debug_chains.py</a:t>
            </a:r>
            <a:endParaRPr b="0" lang="en-IN" sz="950" spc="-1" strike="noStrike"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411480" y="1325880"/>
            <a:ext cx="507456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Print pipeline as ASCII art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dcdcaa"/>
                </a:solidFill>
                <a:latin typeface="Courier New"/>
                <a:ea typeface="Courier New"/>
              </a:rPr>
              <a:t>facts_chain.get_graph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().</a:t>
            </a:r>
            <a:r>
              <a:rPr b="0" lang="en-US" sz="1000" spc="-1" strike="noStrike">
                <a:solidFill>
                  <a:srgbClr val="dcdcaa"/>
                </a:solidFill>
                <a:latin typeface="Courier New"/>
                <a:ea typeface="Courier New"/>
              </a:rPr>
              <a:t>print_ascii</a:t>
            </a:r>
            <a:r>
              <a:rPr b="0" lang="en-US" sz="1000" spc="-1" strike="noStrike">
                <a:solidFill>
                  <a:srgbClr val="cdd6f4"/>
                </a:solidFill>
                <a:latin typeface="Courier New"/>
                <a:ea typeface="Courier New"/>
              </a:rPr>
              <a:t>()</a:t>
            </a:r>
            <a:endParaRPr b="0" lang="en-IN" sz="1000" spc="-1" strike="noStrike">
              <a:latin typeface="Arial"/>
            </a:endParaRPr>
          </a:p>
          <a:p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6a9955"/>
                </a:solidFill>
                <a:latin typeface="Courier New"/>
                <a:ea typeface="Courier New"/>
              </a:rPr>
              <a:t># Output: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+----------------+   +----------+   +----------------+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| PromptTemplate | &gt; | ChatOpenAI| &gt; | StrOutputParser|</a:t>
            </a:r>
            <a:endParaRPr b="0" lang="en-IN" sz="1000" spc="-1" strike="noStrike">
              <a:latin typeface="Arial"/>
            </a:endParaRPr>
          </a:p>
          <a:p>
            <a:r>
              <a:rPr b="0" lang="en-US" sz="1000" spc="-1" strike="noStrike">
                <a:solidFill>
                  <a:srgbClr val="4ec9b0"/>
                </a:solidFill>
                <a:latin typeface="Courier New"/>
                <a:ea typeface="Courier New"/>
              </a:rPr>
              <a:t>+----------------+   +----------+   +----------------+</a:t>
            </a:r>
            <a:endParaRPr b="0" lang="en-IN" sz="1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000" spc="-1" strike="noStrike"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5760720" y="914400"/>
            <a:ext cx="3108600" cy="155412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79" name="Shape 7"/>
          <p:cNvSpPr/>
          <p:nvPr/>
        </p:nvSpPr>
        <p:spPr>
          <a:xfrm>
            <a:off x="5760720" y="914400"/>
            <a:ext cx="3108600" cy="38376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Text 8"/>
          <p:cNvSpPr/>
          <p:nvPr/>
        </p:nvSpPr>
        <p:spPr>
          <a:xfrm>
            <a:off x="5852160" y="93276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🔍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</a:rPr>
              <a:t>Visualisation Benefits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81" name="Text 9"/>
          <p:cNvSpPr/>
          <p:nvPr/>
        </p:nvSpPr>
        <p:spPr>
          <a:xfrm>
            <a:off x="5852160" y="138996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See complete pipeline flow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5852160" y="166428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Verify component connections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5852160" y="193860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Debug complex chain structures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4" name="Text 12"/>
          <p:cNvSpPr/>
          <p:nvPr/>
        </p:nvSpPr>
        <p:spPr>
          <a:xfrm>
            <a:off x="5852160" y="2212920"/>
            <a:ext cx="28342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050" spc="-1" strike="noStrike">
                <a:solidFill>
                  <a:srgbClr val="0096c7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Confirm correct chain order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365760" y="260604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0f2044"/>
                </a:solidFill>
                <a:latin typeface="Calibri"/>
              </a:rPr>
              <a:t>Advanced Chain Capabilities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6" name="Shape 14"/>
          <p:cNvSpPr/>
          <p:nvPr/>
        </p:nvSpPr>
        <p:spPr>
          <a:xfrm>
            <a:off x="274320" y="3017520"/>
            <a:ext cx="2742840" cy="181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15"/>
          <p:cNvSpPr/>
          <p:nvPr/>
        </p:nvSpPr>
        <p:spPr>
          <a:xfrm>
            <a:off x="274320" y="3017520"/>
            <a:ext cx="2742840" cy="41112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6"/>
          <p:cNvSpPr/>
          <p:nvPr/>
        </p:nvSpPr>
        <p:spPr>
          <a:xfrm>
            <a:off x="365760" y="303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🔗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Composability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365760" y="352044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Chains can be combined to build bigger chains — complex apps from simple blocks.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3227760" y="3017520"/>
            <a:ext cx="2742840" cy="181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1" name="Shape 19"/>
          <p:cNvSpPr/>
          <p:nvPr/>
        </p:nvSpPr>
        <p:spPr>
          <a:xfrm>
            <a:off x="3227760" y="3017520"/>
            <a:ext cx="2742840" cy="41112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Text 20"/>
          <p:cNvSpPr/>
          <p:nvPr/>
        </p:nvSpPr>
        <p:spPr>
          <a:xfrm>
            <a:off x="3319200" y="303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⚡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Automation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3" name="Text 21"/>
          <p:cNvSpPr/>
          <p:nvPr/>
        </p:nvSpPr>
        <p:spPr>
          <a:xfrm>
            <a:off x="3319200" y="352044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Build once, trigger with input, get final output — the pipeline does all the work.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4" name="Shape 22"/>
          <p:cNvSpPr/>
          <p:nvPr/>
        </p:nvSpPr>
        <p:spPr>
          <a:xfrm>
            <a:off x="6181200" y="3017520"/>
            <a:ext cx="2742840" cy="18100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5" name="Shape 23"/>
          <p:cNvSpPr/>
          <p:nvPr/>
        </p:nvSpPr>
        <p:spPr>
          <a:xfrm>
            <a:off x="6181200" y="3017520"/>
            <a:ext cx="2742840" cy="41112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24"/>
          <p:cNvSpPr/>
          <p:nvPr/>
        </p:nvSpPr>
        <p:spPr>
          <a:xfrm>
            <a:off x="6272640" y="30358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🔀  </a:t>
            </a: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Flexibility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7" name="Text 25"/>
          <p:cNvSpPr/>
          <p:nvPr/>
        </p:nvSpPr>
        <p:spPr>
          <a:xfrm>
            <a:off x="6272640" y="3520440"/>
            <a:ext cx="25599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1e293b"/>
                </a:solidFill>
                <a:latin typeface="Calibri"/>
              </a:rPr>
              <a:t>Mix sequential, parallel, and conditional chains in the same application.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0" y="0"/>
            <a:ext cx="9143640" cy="776880"/>
          </a:xfrm>
          <a:prstGeom prst="rect">
            <a:avLst/>
          </a:prstGeom>
          <a:solidFill>
            <a:srgbClr val="0f20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1"/>
          <p:cNvSpPr/>
          <p:nvPr/>
        </p:nvSpPr>
        <p:spPr>
          <a:xfrm>
            <a:off x="365760" y="1098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Complete Summary — All Chain Types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200" name="Shape 2"/>
          <p:cNvSpPr/>
          <p:nvPr/>
        </p:nvSpPr>
        <p:spPr>
          <a:xfrm>
            <a:off x="274320" y="96012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1" name="Shape 3"/>
          <p:cNvSpPr/>
          <p:nvPr/>
        </p:nvSpPr>
        <p:spPr>
          <a:xfrm>
            <a:off x="274320" y="960120"/>
            <a:ext cx="72720" cy="1115280"/>
          </a:xfrm>
          <a:prstGeom prst="rect">
            <a:avLst/>
          </a:prstGeom>
          <a:solidFill>
            <a:srgbClr val="1a5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4"/>
          <p:cNvSpPr/>
          <p:nvPr/>
        </p:nvSpPr>
        <p:spPr>
          <a:xfrm>
            <a:off x="411480" y="105156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6db"/>
                </a:solidFill>
                <a:latin typeface="Calibri"/>
              </a:rPr>
              <a:t>🔗  </a:t>
            </a:r>
            <a:r>
              <a:rPr b="1" lang="en-US" sz="1300" spc="-1" strike="noStrike">
                <a:solidFill>
                  <a:srgbClr val="1a56db"/>
                </a:solidFill>
                <a:latin typeface="Calibri"/>
              </a:rPr>
              <a:t>LCEL Pipe Operator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5"/>
          <p:cNvSpPr/>
          <p:nvPr/>
        </p:nvSpPr>
        <p:spPr>
          <a:xfrm>
            <a:off x="411480" y="146304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Connect components: prompt | model | parser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4846320" y="96012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5" name="Shape 7"/>
          <p:cNvSpPr/>
          <p:nvPr/>
        </p:nvSpPr>
        <p:spPr>
          <a:xfrm>
            <a:off x="4846320" y="960120"/>
            <a:ext cx="72720" cy="1115280"/>
          </a:xfrm>
          <a:prstGeom prst="rect">
            <a:avLst/>
          </a:prstGeom>
          <a:solidFill>
            <a:srgbClr val="0096c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6" name="Text 8"/>
          <p:cNvSpPr/>
          <p:nvPr/>
        </p:nvSpPr>
        <p:spPr>
          <a:xfrm>
            <a:off x="4983480" y="105156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0096c7"/>
                </a:solidFill>
                <a:latin typeface="Calibri"/>
              </a:rPr>
              <a:t>1️⃣  Simple Sequential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7" name="Text 9"/>
          <p:cNvSpPr/>
          <p:nvPr/>
        </p:nvSpPr>
        <p:spPr>
          <a:xfrm>
            <a:off x="4983480" y="146304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Single prompt → model → parser. Input one, get one output.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274320" y="225864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9" name="Shape 11"/>
          <p:cNvSpPr/>
          <p:nvPr/>
        </p:nvSpPr>
        <p:spPr>
          <a:xfrm>
            <a:off x="274320" y="2258640"/>
            <a:ext cx="72720" cy="1115280"/>
          </a:xfrm>
          <a:prstGeom prst="rect">
            <a:avLst/>
          </a:prstGeom>
          <a:solidFill>
            <a:srgbClr val="22c5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0" name="Text 12"/>
          <p:cNvSpPr/>
          <p:nvPr/>
        </p:nvSpPr>
        <p:spPr>
          <a:xfrm>
            <a:off x="411480" y="235008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22c55e"/>
                </a:solidFill>
                <a:latin typeface="Calibri"/>
              </a:rPr>
              <a:t>2️⃣  Multi-Step Sequential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1" name="Text 13"/>
          <p:cNvSpPr/>
          <p:nvPr/>
        </p:nvSpPr>
        <p:spPr>
          <a:xfrm>
            <a:off x="411480" y="276156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Chain multiple prompts: output feeds into next prompt.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>
            <a:off x="4846320" y="225864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3" name="Shape 15"/>
          <p:cNvSpPr/>
          <p:nvPr/>
        </p:nvSpPr>
        <p:spPr>
          <a:xfrm>
            <a:off x="4846320" y="2258640"/>
            <a:ext cx="72720" cy="111528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16"/>
          <p:cNvSpPr/>
          <p:nvPr/>
        </p:nvSpPr>
        <p:spPr>
          <a:xfrm>
            <a:off x="4983480" y="235008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5cf6"/>
                </a:solidFill>
                <a:latin typeface="Calibri"/>
              </a:rPr>
              <a:t>⚡  </a:t>
            </a:r>
            <a:r>
              <a:rPr b="1" lang="en-US" sz="1300" spc="-1" strike="noStrike">
                <a:solidFill>
                  <a:srgbClr val="8b5cf6"/>
                </a:solidFill>
                <a:latin typeface="Calibri"/>
              </a:rPr>
              <a:t>Parallel (RunnableParallel)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5" name="Text 17"/>
          <p:cNvSpPr/>
          <p:nvPr/>
        </p:nvSpPr>
        <p:spPr>
          <a:xfrm>
            <a:off x="4983480" y="276156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Multiple chains run simultaneously; combine results.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6" name="Shape 18"/>
          <p:cNvSpPr/>
          <p:nvPr/>
        </p:nvSpPr>
        <p:spPr>
          <a:xfrm>
            <a:off x="274320" y="355716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7" name="Shape 19"/>
          <p:cNvSpPr/>
          <p:nvPr/>
        </p:nvSpPr>
        <p:spPr>
          <a:xfrm>
            <a:off x="274320" y="3557160"/>
            <a:ext cx="72720" cy="111528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20"/>
          <p:cNvSpPr/>
          <p:nvPr/>
        </p:nvSpPr>
        <p:spPr>
          <a:xfrm>
            <a:off x="411480" y="364860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59e0b"/>
                </a:solidFill>
                <a:latin typeface="Calibri"/>
              </a:rPr>
              <a:t>🔀  </a:t>
            </a:r>
            <a:r>
              <a:rPr b="1" lang="en-US" sz="1300" spc="-1" strike="noStrike">
                <a:solidFill>
                  <a:srgbClr val="f59e0b"/>
                </a:solidFill>
                <a:latin typeface="Calibri"/>
              </a:rPr>
              <a:t>Conditional (RunnableBranch)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9" name="Text 21"/>
          <p:cNvSpPr/>
          <p:nvPr/>
        </p:nvSpPr>
        <p:spPr>
          <a:xfrm>
            <a:off x="411480" y="406008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If-else routing; executes only the matching branch.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0" name="Shape 22"/>
          <p:cNvSpPr/>
          <p:nvPr/>
        </p:nvSpPr>
        <p:spPr>
          <a:xfrm>
            <a:off x="4846320" y="3557160"/>
            <a:ext cx="4205880" cy="111528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1" name="Shape 23"/>
          <p:cNvSpPr/>
          <p:nvPr/>
        </p:nvSpPr>
        <p:spPr>
          <a:xfrm>
            <a:off x="4846320" y="3557160"/>
            <a:ext cx="72720" cy="111528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24"/>
          <p:cNvSpPr/>
          <p:nvPr/>
        </p:nvSpPr>
        <p:spPr>
          <a:xfrm>
            <a:off x="4983480" y="3648600"/>
            <a:ext cx="3977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ef4444"/>
                </a:solidFill>
                <a:latin typeface="Calibri"/>
              </a:rPr>
              <a:t>📐  </a:t>
            </a:r>
            <a:r>
              <a:rPr b="1" lang="en-US" sz="1300" spc="-1" strike="noStrike">
                <a:solidFill>
                  <a:srgbClr val="ef4444"/>
                </a:solidFill>
                <a:latin typeface="Calibri"/>
              </a:rPr>
              <a:t>Pydantic Structured Output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3" name="Text 25"/>
          <p:cNvSpPr/>
          <p:nvPr/>
        </p:nvSpPr>
        <p:spPr>
          <a:xfrm>
            <a:off x="4983480" y="4060080"/>
            <a:ext cx="3977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1e293b"/>
                </a:solidFill>
                <a:latin typeface="Calibri"/>
              </a:rPr>
              <a:t>Force exact output format; reliable for conditionals.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4" name="Text 26"/>
          <p:cNvSpPr/>
          <p:nvPr/>
        </p:nvSpPr>
        <p:spPr>
          <a:xfrm>
            <a:off x="365760" y="475488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4748b"/>
                </a:solidFill>
                <a:latin typeface="Calibri"/>
              </a:rPr>
              <a:t>These patterns are the foundation for building production-grade AI agents!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Shape 0"/>
          <p:cNvSpPr/>
          <p:nvPr/>
        </p:nvSpPr>
        <p:spPr>
          <a:xfrm>
            <a:off x="0" y="0"/>
            <a:ext cx="109440" cy="51433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"/>
          <p:cNvSpPr/>
          <p:nvPr/>
        </p:nvSpPr>
        <p:spPr>
          <a:xfrm>
            <a:off x="6858000" y="-457200"/>
            <a:ext cx="3200040" cy="3200040"/>
          </a:xfrm>
          <a:prstGeom prst="ellipse">
            <a:avLst/>
          </a:prstGeom>
          <a:solidFill>
            <a:srgbClr val="1a56db">
              <a:alpha val="30000"/>
            </a:srgbClr>
          </a:solidFill>
          <a:ln w="12700">
            <a:solidFill>
              <a:srgbClr val="1a56db">
                <a:alpha val="3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2"/>
          <p:cNvSpPr/>
          <p:nvPr/>
        </p:nvSpPr>
        <p:spPr>
          <a:xfrm>
            <a:off x="365760" y="457200"/>
            <a:ext cx="7314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  <a:ea typeface="Calibri"/>
              </a:rPr>
              <a:t>Next Steps</a:t>
            </a:r>
            <a:endParaRPr b="0" lang="en-IN" sz="4200" spc="-1" strike="noStrike">
              <a:latin typeface="Arial"/>
            </a:endParaRPr>
          </a:p>
        </p:txBody>
      </p:sp>
      <p:sp>
        <p:nvSpPr>
          <p:cNvPr id="228" name="Text 3"/>
          <p:cNvSpPr/>
          <p:nvPr/>
        </p:nvSpPr>
        <p:spPr>
          <a:xfrm>
            <a:off x="365760" y="1234440"/>
            <a:ext cx="6400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00b4d8"/>
                </a:solidFill>
                <a:latin typeface="Calibri"/>
              </a:rPr>
              <a:t>Where to go from here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29" name="Shape 4"/>
          <p:cNvSpPr/>
          <p:nvPr/>
        </p:nvSpPr>
        <p:spPr>
          <a:xfrm>
            <a:off x="457200" y="1828800"/>
            <a:ext cx="8229240" cy="74952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0" name="Shape 5"/>
          <p:cNvSpPr/>
          <p:nvPr/>
        </p:nvSpPr>
        <p:spPr>
          <a:xfrm>
            <a:off x="457200" y="1828800"/>
            <a:ext cx="548280" cy="749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1" name="Text 6"/>
          <p:cNvSpPr/>
          <p:nvPr/>
        </p:nvSpPr>
        <p:spPr>
          <a:xfrm>
            <a:off x="457200" y="1828800"/>
            <a:ext cx="54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2" name="Text 7"/>
          <p:cNvSpPr/>
          <p:nvPr/>
        </p:nvSpPr>
        <p:spPr>
          <a:xfrm>
            <a:off x="1143000" y="188352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Understanding Runnables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Text 8"/>
          <p:cNvSpPr/>
          <p:nvPr/>
        </p:nvSpPr>
        <p:spPr>
          <a:xfrm>
            <a:off x="1143000" y="2231280"/>
            <a:ext cx="7223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Learn how chains work behind the scenes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4" name="Shape 9"/>
          <p:cNvSpPr/>
          <p:nvPr/>
        </p:nvSpPr>
        <p:spPr>
          <a:xfrm>
            <a:off x="457200" y="2743200"/>
            <a:ext cx="8229240" cy="74952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5" name="Shape 10"/>
          <p:cNvSpPr/>
          <p:nvPr/>
        </p:nvSpPr>
        <p:spPr>
          <a:xfrm>
            <a:off x="457200" y="2743200"/>
            <a:ext cx="548280" cy="749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1"/>
          <p:cNvSpPr/>
          <p:nvPr/>
        </p:nvSpPr>
        <p:spPr>
          <a:xfrm>
            <a:off x="457200" y="2743200"/>
            <a:ext cx="54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37" name="Text 12"/>
          <p:cNvSpPr/>
          <p:nvPr/>
        </p:nvSpPr>
        <p:spPr>
          <a:xfrm>
            <a:off x="1143000" y="279792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Deep Dive into LCEL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8" name="Text 13"/>
          <p:cNvSpPr/>
          <p:nvPr/>
        </p:nvSpPr>
        <p:spPr>
          <a:xfrm>
            <a:off x="1143000" y="3145680"/>
            <a:ext cx="7223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Master the LangChain Expression Language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39" name="Shape 14"/>
          <p:cNvSpPr/>
          <p:nvPr/>
        </p:nvSpPr>
        <p:spPr>
          <a:xfrm>
            <a:off x="457200" y="3657600"/>
            <a:ext cx="8229240" cy="749520"/>
          </a:xfrm>
          <a:prstGeom prst="rect">
            <a:avLst/>
          </a:prstGeom>
          <a:solidFill>
            <a:srgbClr val="1a306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15"/>
          <p:cNvSpPr/>
          <p:nvPr/>
        </p:nvSpPr>
        <p:spPr>
          <a:xfrm>
            <a:off x="457200" y="3657600"/>
            <a:ext cx="548280" cy="749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Text 16"/>
          <p:cNvSpPr/>
          <p:nvPr/>
        </p:nvSpPr>
        <p:spPr>
          <a:xfrm>
            <a:off x="457200" y="3657600"/>
            <a:ext cx="5482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42" name="Text 17"/>
          <p:cNvSpPr/>
          <p:nvPr/>
        </p:nvSpPr>
        <p:spPr>
          <a:xfrm>
            <a:off x="1143000" y="3712320"/>
            <a:ext cx="7223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Production-Ready Agents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3" name="Text 18"/>
          <p:cNvSpPr/>
          <p:nvPr/>
        </p:nvSpPr>
        <p:spPr>
          <a:xfrm>
            <a:off x="1143000" y="4060080"/>
            <a:ext cx="72234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0c4de"/>
                </a:solidFill>
                <a:latin typeface="Calibri"/>
              </a:rPr>
              <a:t>Build robust, scalable LLM applications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365760" y="466344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00b4d8"/>
                </a:solidFill>
                <a:latin typeface="Calibri"/>
              </a:rPr>
              <a:t>Thank you for learning LangChain Chains!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2026-03-25T14:59:48Z</dcterms:created>
  <dc:creator>PptxGenJS</dc:creator>
  <dc:description/>
  <dc:language>en-IN</dc:language>
  <cp:lastModifiedBy/>
  <dcterms:modified xsi:type="dcterms:W3CDTF">2026-03-25T22:30:42Z</dcterms:modified>
  <cp:revision>2</cp:revision>
  <dc:subject>PptxGenJS Presentation</dc:subject>
  <dc:title>LangChain Chains Guide - Part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