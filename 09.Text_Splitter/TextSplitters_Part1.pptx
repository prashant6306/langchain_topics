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1159964-FF0D-444D-8659-92A36CB5E44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954C3A-9B71-4F4E-B39E-3868A72C2C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40984E-9EEE-4648-8CF7-6EBF0D3FDE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0BACB6-1C06-427E-B055-A385E65EFD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EFCA74-123B-4C14-BB6E-62E2114FFA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A96C43-F017-4E14-BA7C-D486A2B92A4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388A81-3D12-44D6-A3E6-0E176893FC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61C5E1-23F3-4632-87C3-25E3F37719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0CC277-B7B4-4EB0-AB39-5C55F9B6A8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9A84A6-DCEA-4256-8957-C2714C51447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39B438-2EB2-4D41-A049-FB5E5A753A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2BE655-483F-4ACD-B5A8-B36F2A79A1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7039BF-2D26-45A5-AFCE-5D1B4E8346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C82886-C405-4345-B75B-B13A88CD5C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20CB05-9950-41A8-B85D-0672E69C98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7531D3-7279-4239-BAE4-4949256EC9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841386-F419-49D9-B347-60DDB8EC9B6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53AB0F-BE24-42F6-A957-738943D5805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8C7A16-880E-4BD9-8DF8-A07204E8F2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40AF8A-6E7D-4B3D-BAF6-B43291CD01D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61711C-C5F7-43F7-86B4-5B3BABF0B8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09F61A-5A86-4CEE-AF95-51D241E73E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334A7A-7548-4CB9-918C-D55628C03F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B15CD2-FB0B-40DF-AEFA-1A1A0D2CA98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E3AEA2-F1F1-4939-920E-B01FB2B3BA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51DCA1-55C2-4FEC-B6ED-1A1A4D8B87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D659FF-26F9-4182-B49D-934DDBA1D2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8411EB-B4EA-46FE-9A52-29F3092C58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Mastering Text Segmentation</a:t>
            </a:r>
            <a:endParaRPr b="0" lang="en-IN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in LangChain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474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</a:rPr>
              <a:t>A Complete Guide to Chunking Strategies for RAG Systems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Learning Objectives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914400" y="164592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Understand the fundamentals of text chunking</a:t>
            </a:r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Explore four distinct segmentation approaches</a:t>
            </a:r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Learn when to apply each technique</a:t>
            </a:r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Implement practical code solutions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Optimize chunk size and overlap parameters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457200" y="4754880"/>
            <a:ext cx="1828440" cy="73116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3"/>
          <p:cNvSpPr/>
          <p:nvPr/>
        </p:nvSpPr>
        <p:spPr>
          <a:xfrm>
            <a:off x="457200" y="48463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Duration: 60+ slides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What is Text Chunking/</a:t>
            </a: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Aptos"/>
              </a:rPr>
              <a:t>splitting</a:t>
            </a: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?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a1a1a"/>
                </a:solidFill>
                <a:latin typeface="Calibri"/>
              </a:rPr>
              <a:t>Text chunking is the process of dividing large documents (articles, PDFs, books, web pages) into smaller, manageable segments that language models can process effectively.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914400" y="2743200"/>
            <a:ext cx="3200040" cy="228564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3"/>
          <p:cNvSpPr/>
          <p:nvPr/>
        </p:nvSpPr>
        <p:spPr>
          <a:xfrm>
            <a:off x="914400" y="3017520"/>
            <a:ext cx="3200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Large Document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(1000s of pages)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4297680" y="3657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2c5f2d"/>
                </a:solidFill>
                <a:latin typeface="Calibri"/>
              </a:rPr>
              <a:t>➔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5029200" y="2560320"/>
            <a:ext cx="1645560" cy="7311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6"/>
          <p:cNvSpPr/>
          <p:nvPr/>
        </p:nvSpPr>
        <p:spPr>
          <a:xfrm>
            <a:off x="5029200" y="25603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Chunk 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5029200" y="3474720"/>
            <a:ext cx="1645560" cy="7311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8"/>
          <p:cNvSpPr/>
          <p:nvPr/>
        </p:nvSpPr>
        <p:spPr>
          <a:xfrm>
            <a:off x="5029200" y="34747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Chunk 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5029200" y="4389120"/>
            <a:ext cx="1645560" cy="7311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0"/>
          <p:cNvSpPr/>
          <p:nvPr/>
        </p:nvSpPr>
        <p:spPr>
          <a:xfrm>
            <a:off x="5029200" y="438912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Chunk 3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Critical Principle for LLM Applications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914400" y="1645920"/>
            <a:ext cx="7314840" cy="2925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2"/>
          <p:cNvSpPr/>
          <p:nvPr/>
        </p:nvSpPr>
        <p:spPr>
          <a:xfrm>
            <a:off x="1371600" y="201168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libri"/>
              </a:rPr>
              <a:t>⚠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2560320" y="2103120"/>
            <a:ext cx="5211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Never feed very large text blocks to LLMs all at once!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Output quality degrades significantly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Processing efficiency drops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Chunking dramatically improves results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Why Text Chunking is Essential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1280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7bc62"/>
                </a:solidFill>
                <a:latin typeface="Calibri"/>
              </a:rPr>
              <a:t>Reason #1: Overcoming Context Length Limits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914400" y="201168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Every LLM has a maximum input size (context window)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Example Scenario: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Model limit: 50,000 tokens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Your document: 100,000 tokens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Problem: Cannot process document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Solution: Split into chunks under 50,000 tokens each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Reason #2: Enhanced Task Performance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731520" y="1371600"/>
            <a:ext cx="2468520" cy="109692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"/>
          <p:cNvSpPr/>
          <p:nvPr/>
        </p:nvSpPr>
        <p:spPr>
          <a:xfrm>
            <a:off x="731520" y="146304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Embedding Quality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Better vectors from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smaller chunks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3383280" y="1371600"/>
            <a:ext cx="2468520" cy="109692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4"/>
          <p:cNvSpPr/>
          <p:nvPr/>
        </p:nvSpPr>
        <p:spPr>
          <a:xfrm>
            <a:off x="3383280" y="146304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Semantic Search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Precise retrieval of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relevant information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6035040" y="1371600"/>
            <a:ext cx="2468520" cy="109692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6"/>
          <p:cNvSpPr/>
          <p:nvPr/>
        </p:nvSpPr>
        <p:spPr>
          <a:xfrm>
            <a:off x="6035040" y="146304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Summarization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Prevents drift and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hallucinations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731520" y="274320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97bc62"/>
                </a:solidFill>
                <a:latin typeface="Calibri"/>
              </a:rPr>
              <a:t>Key Benefits: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914400" y="3291840"/>
            <a:ext cx="73148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Smaller chunks capture semantic meaning more accurately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Search results point to focused, relevant information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Reduces topic drift and factual errors in summaries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●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Empirically proven to improve downstream task quality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Reason #3: Computational Efficiency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914400" y="164592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Processing smaller text segments offers: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Reduced memory footprint</a:t>
            </a:r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Faster processing times</a:t>
            </a:r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Better parallelization opportunities</a:t>
            </a:r>
            <a:endParaRPr b="0" lang="en-IN" sz="1600" spc="-1" strike="noStrike">
              <a:latin typeface="Arial"/>
            </a:endParaRPr>
          </a:p>
          <a:p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97bc62"/>
                </a:solidFill>
                <a:latin typeface="Calibri"/>
              </a:rPr>
              <a:t>Lower computational costs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a1a1a"/>
                </a:solidFill>
                <a:latin typeface="Calibri"/>
              </a:rPr>
              <a:t>Result: More efficient RAG pipelines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57200" y="18288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Four Chunking Strategies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32004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5f5f5"/>
                </a:solidFill>
                <a:latin typeface="Calibri"/>
              </a:rPr>
              <a:t>Length-Based • Structure-Based • Document-Based • Semantic-Based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Method 1: Length-Based Chunking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97bc62"/>
                </a:solidFill>
                <a:latin typeface="Calibri"/>
              </a:rPr>
              <a:t>Concept: Split text based on fixed character or token count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914400" y="1828800"/>
            <a:ext cx="3657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How it works: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1. Define chunk size (e.g., 100 characters)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2. Traverse text from beginning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3. Create chunk every N characters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4. Continue until text is exhausted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Advantages: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Simplest to implement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Fastest execution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Predictable chunk sizes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5029200" y="1828800"/>
            <a:ext cx="3657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cc0000"/>
                </a:solidFill>
                <a:latin typeface="Calibri"/>
              </a:rPr>
              <a:t>Disadvantages: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Ignores grammar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Ignores sentence structure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Ignores semantic meaning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Can split mid-word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Can split mid-sentence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Can split mid-paragraph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Length-Based Chunking: Visual Process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731520" y="1371600"/>
            <a:ext cx="7680600" cy="914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"/>
          <p:cNvSpPr/>
          <p:nvPr/>
        </p:nvSpPr>
        <p:spPr>
          <a:xfrm>
            <a:off x="822960" y="1463040"/>
            <a:ext cx="7497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</a:rPr>
              <a:t>Space exploration has led to incredible scientific discoveries...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3657600" y="2468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7bc62"/>
                </a:solidFill>
                <a:latin typeface="Calibri"/>
              </a:rPr>
              <a:t>↓ </a:t>
            </a:r>
            <a:r>
              <a:rPr b="0" i="1" lang="en-US" sz="1000" spc="-1" strike="noStrike">
                <a:solidFill>
                  <a:srgbClr val="97bc62"/>
                </a:solidFill>
                <a:latin typeface="Calibri"/>
              </a:rPr>
              <a:t>Split at 100 characters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731520" y="2926080"/>
            <a:ext cx="2285640" cy="639720"/>
          </a:xfrm>
          <a:prstGeom prst="rect">
            <a:avLst/>
          </a:prstGeom>
          <a:solidFill>
            <a:srgbClr val="ffe5b4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5"/>
          <p:cNvSpPr/>
          <p:nvPr/>
        </p:nvSpPr>
        <p:spPr>
          <a:xfrm>
            <a:off x="731520" y="29718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Chunk 1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(100 chars)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3200400" y="2926080"/>
            <a:ext cx="2285640" cy="639720"/>
          </a:xfrm>
          <a:prstGeom prst="rect">
            <a:avLst/>
          </a:prstGeom>
          <a:solidFill>
            <a:srgbClr val="ffd4a3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7"/>
          <p:cNvSpPr/>
          <p:nvPr/>
        </p:nvSpPr>
        <p:spPr>
          <a:xfrm>
            <a:off x="3200400" y="29718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Chunk 2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(100 chars)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5669280" y="2926080"/>
            <a:ext cx="2285640" cy="639720"/>
          </a:xfrm>
          <a:prstGeom prst="rect">
            <a:avLst/>
          </a:prstGeom>
          <a:solidFill>
            <a:srgbClr val="ffc392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9"/>
          <p:cNvSpPr/>
          <p:nvPr/>
        </p:nvSpPr>
        <p:spPr>
          <a:xfrm>
            <a:off x="5669280" y="29718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Chunk 3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</a:rPr>
              <a:t>(100 chars)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914400" y="41148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c0000"/>
                </a:solidFill>
                <a:latin typeface="Calibri"/>
              </a:rPr>
              <a:t>Note: May split 'exploring' as 'explor|ing' if 100 chars reached mid-word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Code: Character-Based Splitter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457200" y="914400"/>
            <a:ext cx="8229240" cy="393156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"/>
          <p:cNvSpPr/>
          <p:nvPr/>
        </p:nvSpPr>
        <p:spPr>
          <a:xfrm>
            <a:off x="548640" y="1005840"/>
            <a:ext cx="804636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CharacterTextSplitter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# Define your text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my_text = """Your large document content here..."""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# Create splitter with 200 character chunks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text_splitter = CharacterTextSplitter(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chunk_size=200,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separator=""  # Split immediately at 200 chars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# Generate chunks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segments = text_splitter.split_text(my_text)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print(f"Created {len(segments)} chunks")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onsolas"/>
                <a:ea typeface="Consolas"/>
              </a:rPr>
              <a:t>print(segments[0])  # View first chunk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Output: Character Splitter Results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457200" y="914400"/>
            <a:ext cx="8229240" cy="411444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"/>
          <p:cNvSpPr/>
          <p:nvPr/>
        </p:nvSpPr>
        <p:spPr>
          <a:xfrm>
            <a:off x="640080" y="1097280"/>
            <a:ext cx="786348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Created 5 chunks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Chunk 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Space exploration has led to incredible scientific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discoveries. From landing on the Moon to exploring Mars,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humanity continues to push the boundaries of what's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possible beyond our pl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Chunk 1: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anet. These missions have not only expanded our knowledge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of the universe but have also contributed to advancements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Consolas"/>
              </a:rPr>
              <a:t>in technology here on Earth. Satelli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914400" y="5120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</a:rPr>
              <a:t>⚠ </a:t>
            </a:r>
            <a:r>
              <a:rPr b="1" lang="en-US" sz="1200" spc="-1" strike="noStrike">
                <a:solidFill>
                  <a:srgbClr val="ff6b6b"/>
                </a:solidFill>
                <a:latin typeface="Calibri"/>
              </a:rPr>
              <a:t>Notice: Word 'planet' split as 'pl|anet'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Understanding Chunk Overlap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</a:rPr>
              <a:t>Definition: Number of characters shared between consecutive chunks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914400" y="1828800"/>
            <a:ext cx="2742840" cy="731160"/>
          </a:xfrm>
          <a:prstGeom prst="rect">
            <a:avLst/>
          </a:prstGeom>
          <a:solidFill>
            <a:srgbClr val="ffe5b4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"/>
          <p:cNvSpPr/>
          <p:nvPr/>
        </p:nvSpPr>
        <p:spPr>
          <a:xfrm>
            <a:off x="914400" y="192024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1a"/>
                </a:solidFill>
                <a:latin typeface="Calibri"/>
              </a:rPr>
              <a:t>Chunk 1: [chars 1-100]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2286000" y="2743200"/>
            <a:ext cx="2742840" cy="731160"/>
          </a:xfrm>
          <a:prstGeom prst="rect">
            <a:avLst/>
          </a:prstGeom>
          <a:solidFill>
            <a:srgbClr val="ffd4a3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5"/>
          <p:cNvSpPr/>
          <p:nvPr/>
        </p:nvSpPr>
        <p:spPr>
          <a:xfrm>
            <a:off x="2286000" y="283464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1a"/>
                </a:solidFill>
                <a:latin typeface="Calibri"/>
              </a:rPr>
              <a:t>Chunk 2: [chars 96-195]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2560320" y="2286000"/>
            <a:ext cx="1828440" cy="45684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7"/>
          <p:cNvSpPr/>
          <p:nvPr/>
        </p:nvSpPr>
        <p:spPr>
          <a:xfrm>
            <a:off x="2560320" y="2286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Overlap: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5 chars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5486400" y="1828800"/>
            <a:ext cx="3200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97bc62"/>
                </a:solidFill>
                <a:latin typeface="Calibri"/>
              </a:rPr>
              <a:t>Why use overlap?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Preserves context across chunks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Prevents loss of information at boundaries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Improves embedding quality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Recommended: 10-20% of chunk size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Example: Chunk size 200 → Overlap 20-40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Integrating with Document Loaders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457200" y="914400"/>
            <a:ext cx="8229240" cy="411444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2"/>
          <p:cNvSpPr/>
          <p:nvPr/>
        </p:nvSpPr>
        <p:spPr>
          <a:xfrm>
            <a:off x="548640" y="1005840"/>
            <a:ext cx="80463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langchain_community.document_loaders import PyPDFLoader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CharacterTextSplitter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# Step 1: Load PDF documents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pdf_loader = PyPDFLoader("research_paper.pdf")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documents = pdf_loader.load()  # One doc per page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# Step 2: Create text splitter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text_splitter = CharacterTextSplitter(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chunk_size=500,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chunk_overlap=50,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separator=""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# Step 3: Split document objects (not raw text)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chunks = text_splitter.split_documents(documents)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print(f"Pages: {len(documents)}, Chunks: {len(chunks)}")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print(chunks[0].page_content)  # Access chunk content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7bc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Method 2: Structure-Based Chunking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457200" y="2743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</a:rPr>
              <a:t>(Recursive Character Text Splitter)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Most widely used chunking technique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Text Structure Hierarchy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</a:rPr>
              <a:t>Text naturally follows a structured organization: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1828800" y="2011680"/>
            <a:ext cx="5486040" cy="63972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3"/>
          <p:cNvSpPr/>
          <p:nvPr/>
        </p:nvSpPr>
        <p:spPr>
          <a:xfrm>
            <a:off x="1828800" y="21031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1. Paragraphs (\n\n)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4297680" y="27432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c5f2d"/>
                </a:solidFill>
                <a:latin typeface="Calibri"/>
              </a:rPr>
              <a:t>↓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2286000" y="3108960"/>
            <a:ext cx="45716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6"/>
          <p:cNvSpPr/>
          <p:nvPr/>
        </p:nvSpPr>
        <p:spPr>
          <a:xfrm>
            <a:off x="2286000" y="3200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2. Sentences (\n)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4297680" y="38404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c5f2d"/>
                </a:solidFill>
                <a:latin typeface="Calibri"/>
              </a:rPr>
              <a:t>↓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2743200" y="4206240"/>
            <a:ext cx="36572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9"/>
          <p:cNvSpPr/>
          <p:nvPr/>
        </p:nvSpPr>
        <p:spPr>
          <a:xfrm>
            <a:off x="2743200" y="42976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3. Words (space)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4297680" y="4937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c5f2d"/>
                </a:solidFill>
                <a:latin typeface="Calibri"/>
              </a:rPr>
              <a:t>↓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3200400" y="5303520"/>
            <a:ext cx="2742840" cy="639720"/>
          </a:xfrm>
          <a:prstGeom prst="rect">
            <a:avLst/>
          </a:prstGeom>
          <a:solidFill>
            <a:srgbClr val="cadcfc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2"/>
          <p:cNvSpPr/>
          <p:nvPr/>
        </p:nvSpPr>
        <p:spPr>
          <a:xfrm>
            <a:off x="3200400" y="5394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</a:rPr>
              <a:t>4. Characters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Recursive Chunking Algorithm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97bc62"/>
                </a:solidFill>
                <a:latin typeface="Calibri"/>
              </a:rPr>
              <a:t>Separator Priority (tries in order):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731520" y="1737360"/>
            <a:ext cx="76806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1. Try splitting by paragraphs (\n\n)</a:t>
            </a:r>
            <a:endParaRPr b="0" lang="en-IN" sz="16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   → </a:t>
            </a:r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If chunks fit size limit: Done!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cc0000"/>
                </a:solidFill>
                <a:latin typeface="Calibri"/>
              </a:rPr>
              <a:t>   → </a:t>
            </a:r>
            <a:r>
              <a:rPr b="0" lang="en-US" sz="1400" spc="-1" strike="noStrike">
                <a:solidFill>
                  <a:srgbClr val="cc0000"/>
                </a:solidFill>
                <a:latin typeface="Calibri"/>
              </a:rPr>
              <a:t>If too large: Move to next level</a:t>
            </a:r>
            <a:endParaRPr b="0" lang="en-IN" sz="1400" spc="-1" strike="noStrike">
              <a:latin typeface="Arial"/>
            </a:endParaRPr>
          </a:p>
          <a:p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2. Try splitting by sentences (\n)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   → </a:t>
            </a:r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If chunks fit: Done!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0000"/>
                </a:solidFill>
                <a:latin typeface="Calibri"/>
              </a:rPr>
              <a:t>   → </a:t>
            </a:r>
            <a:r>
              <a:rPr b="0" lang="en-US" sz="1400" spc="-1" strike="noStrike">
                <a:solidFill>
                  <a:srgbClr val="cc0000"/>
                </a:solidFill>
                <a:latin typeface="Calibri"/>
              </a:rPr>
              <a:t>If too large: Move to next level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3. Try splitting by words (space)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   → </a:t>
            </a:r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If chunks fit: Done!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0000"/>
                </a:solidFill>
                <a:latin typeface="Calibri"/>
              </a:rPr>
              <a:t>   → </a:t>
            </a:r>
            <a:r>
              <a:rPr b="0" lang="en-US" sz="1400" spc="-1" strike="noStrike">
                <a:solidFill>
                  <a:srgbClr val="cc0000"/>
                </a:solidFill>
                <a:latin typeface="Calibri"/>
              </a:rPr>
              <a:t>If too large: Move to next level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4. Split by characters (last resort)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Recursive Chunking: Step-by-Step Example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457200" y="1188720"/>
            <a:ext cx="8229240" cy="914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2"/>
          <p:cNvSpPr/>
          <p:nvPr/>
        </p:nvSpPr>
        <p:spPr>
          <a:xfrm>
            <a:off x="548640" y="12801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Input Text: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My name is Alice (17 chars)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I am 28 years old (17 chars)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I live in Boston (16 chars)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How are you (11 chars)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457200" y="2286000"/>
            <a:ext cx="2285640" cy="54828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4"/>
          <p:cNvSpPr/>
          <p:nvPr/>
        </p:nvSpPr>
        <p:spPr>
          <a:xfrm>
            <a:off x="457200" y="2377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Chunk Size Limit: 10 characters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457200" y="3017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7bc62"/>
                </a:solidFill>
                <a:latin typeface="Calibri"/>
              </a:rPr>
              <a:t>Goal: Split into chunks ≤ 10 characters each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Step 1: Try Paragraph Split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914400" y="1371600"/>
            <a:ext cx="3200040" cy="914040"/>
          </a:xfrm>
          <a:prstGeom prst="rect">
            <a:avLst/>
          </a:prstGeom>
          <a:solidFill>
            <a:srgbClr val="ffe5b4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2"/>
          <p:cNvSpPr/>
          <p:nvPr/>
        </p:nvSpPr>
        <p:spPr>
          <a:xfrm>
            <a:off x="914400" y="146304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Para 1: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34 chars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4572000" y="1371600"/>
            <a:ext cx="3200040" cy="914040"/>
          </a:xfrm>
          <a:prstGeom prst="rect">
            <a:avLst/>
          </a:prstGeom>
          <a:solidFill>
            <a:srgbClr val="ffd4a3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4"/>
          <p:cNvSpPr/>
          <p:nvPr/>
        </p:nvSpPr>
        <p:spPr>
          <a:xfrm>
            <a:off x="4572000" y="146304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Para 2: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27 chars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914400" y="2560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600" spc="-1" strike="noStrike">
                <a:solidFill>
                  <a:srgbClr val="cc0000"/>
                </a:solidFill>
                <a:latin typeface="Calibri"/>
              </a:rPr>
              <a:t>Both &gt; 10 chars → Must split further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Step 2: Try Sentence Split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731520" y="1188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7bc62"/>
                </a:solidFill>
                <a:latin typeface="Calibri"/>
              </a:rPr>
              <a:t>Para 1 → 2 sentences: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914400" y="1645920"/>
            <a:ext cx="1828440" cy="548280"/>
          </a:xfrm>
          <a:prstGeom prst="rect">
            <a:avLst/>
          </a:prstGeom>
          <a:solidFill>
            <a:srgbClr val="ffe5b4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3"/>
          <p:cNvSpPr/>
          <p:nvPr/>
        </p:nvSpPr>
        <p:spPr>
          <a:xfrm>
            <a:off x="914400" y="17373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17 chars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2926080" y="1645920"/>
            <a:ext cx="1828440" cy="548280"/>
          </a:xfrm>
          <a:prstGeom prst="rect">
            <a:avLst/>
          </a:prstGeom>
          <a:solidFill>
            <a:srgbClr val="ffd4a3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5"/>
          <p:cNvSpPr/>
          <p:nvPr/>
        </p:nvSpPr>
        <p:spPr>
          <a:xfrm>
            <a:off x="2926080" y="17373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</a:rPr>
              <a:t>17 chars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914400" y="2377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1" lang="en-US" sz="1200" spc="-1" strike="noStrike">
                <a:solidFill>
                  <a:srgbClr val="cc0000"/>
                </a:solidFill>
                <a:latin typeface="Calibri"/>
              </a:rPr>
              <a:t>Still &gt; 10 → Split by words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Step 3: Word-Level Split &amp; Merge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731520" y="118872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97bc62"/>
                </a:solidFill>
                <a:latin typeface="Calibri"/>
              </a:rPr>
              <a:t>'My name is Alice' (17 chars) → Split by words: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914400" y="164592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Words: 'My' (2), 'name' (4), 'is' (2), 'Alice' (5)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Optimization (merge to maximize chunk size):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'My' + 'name' + 'is' = 'My name is' (10 chars) ✓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'Alice' (5 chars) - standalone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914400" y="3200400"/>
            <a:ext cx="3200040" cy="6397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4"/>
          <p:cNvSpPr/>
          <p:nvPr/>
        </p:nvSpPr>
        <p:spPr>
          <a:xfrm>
            <a:off x="914400" y="3291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Result: 2 optimized chunks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Final Chunking Result (Limit: 10 chars)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457200" y="1188720"/>
            <a:ext cx="8229240" cy="411444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"/>
          <p:cNvSpPr/>
          <p:nvPr/>
        </p:nvSpPr>
        <p:spPr>
          <a:xfrm>
            <a:off x="914400" y="1371600"/>
            <a:ext cx="7314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8 Chunks Created: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1. 'My name is' (10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2. 'Alice' (5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3. 'I am 28' (7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4. 'years old' (9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5. 'I live in' (9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6. 'Boston' (6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7. 'How are' (7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8. 'you' (3 chars)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No mid-word splits!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Chunks optimized to be as large as possible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Consolas"/>
              </a:rPr>
              <a:t>Respects word boundaries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Code: Recursive Character Splitter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457200" y="914400"/>
            <a:ext cx="8229240" cy="411444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"/>
          <p:cNvSpPr/>
          <p:nvPr/>
        </p:nvSpPr>
        <p:spPr>
          <a:xfrm>
            <a:off x="548640" y="1005840"/>
            <a:ext cx="80463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sample_text = """Your multi-paragraph text here..."""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# Create recursive splitter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text_splitter = RecursiveCharacterTextSplitter(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chunk_size=300,      # Target chunk size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chunk_overlap=30,    # 10% overlap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# Default separators: ['\n\n', '\n', ' ', '']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# Split the text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segments = text_splitter.split_text(sample_text)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print(f"Total chunks: {len(segments)}")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for i, chunk in enumerate(segments):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ts val="14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0e0e0"/>
                </a:solidFill>
                <a:latin typeface="Consolas"/>
                <a:ea typeface="Consolas"/>
              </a:rPr>
              <a:t>print(f"\nChunk {i+1} ({len(chunk)} chars):\n{chunk[:50]}...")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Output: Structure-Aware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457200" y="914400"/>
            <a:ext cx="8229240" cy="429732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"/>
          <p:cNvSpPr/>
          <p:nvPr/>
        </p:nvSpPr>
        <p:spPr>
          <a:xfrm>
            <a:off x="640080" y="1097280"/>
            <a:ext cx="78634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Total chunks: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 (286 chars):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Space exploration has led to incredible scientific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discoveries. From landing on the Moon to exploring Mars,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humanity continues to push the boundaries of what's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possible beyond our planet.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 (241 chars):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These missions have not only expanded our knowledge of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the universe but have also contributed to advancements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in technology here on Earth. Satellite communications,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GPS, and medical imaging all trace roots to space.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Clean paragraph breaks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No mid-sentence splits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Context preserved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</a:rPr>
              <a:t>Character vs Recursive Splitter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731520" y="1371600"/>
            <a:ext cx="3657240" cy="54828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"/>
          <p:cNvSpPr/>
          <p:nvPr/>
        </p:nvSpPr>
        <p:spPr>
          <a:xfrm>
            <a:off x="731520" y="1463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Character Splitter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914400" y="2103120"/>
            <a:ext cx="3291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Fastest execution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Simplest code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200" spc="-1" strike="noStrike">
                <a:solidFill>
                  <a:srgbClr val="cc0000"/>
                </a:solidFill>
                <a:latin typeface="Calibri"/>
              </a:rPr>
              <a:t>Breaks mid-word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200" spc="-1" strike="noStrike">
                <a:solidFill>
                  <a:srgbClr val="cc0000"/>
                </a:solidFill>
                <a:latin typeface="Calibri"/>
              </a:rPr>
              <a:t>Breaks mid-sentence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c0000"/>
                </a:solidFill>
                <a:latin typeface="Calibri"/>
              </a:rPr>
              <a:t>✗ </a:t>
            </a:r>
            <a:r>
              <a:rPr b="0" lang="en-US" sz="1200" spc="-1" strike="noStrike">
                <a:solidFill>
                  <a:srgbClr val="cc0000"/>
                </a:solidFill>
                <a:latin typeface="Calibri"/>
              </a:rPr>
              <a:t>Poor context preservation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4754880" y="1371600"/>
            <a:ext cx="3657240" cy="54828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5"/>
          <p:cNvSpPr/>
          <p:nvPr/>
        </p:nvSpPr>
        <p:spPr>
          <a:xfrm>
            <a:off x="4754880" y="1463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Recursive Splitter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4937760" y="2103120"/>
            <a:ext cx="3291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Respects structure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Clean boundaries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Better embeddings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</a:rPr>
              <a:t>Industry standard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9800"/>
                </a:solidFill>
                <a:latin typeface="Calibri"/>
              </a:rPr>
              <a:t>~ Slightly slower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2743200" y="4389120"/>
            <a:ext cx="3657240" cy="7311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8"/>
          <p:cNvSpPr/>
          <p:nvPr/>
        </p:nvSpPr>
        <p:spPr>
          <a:xfrm>
            <a:off x="2743200" y="448056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Recommendation: Use Recursive for production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Method 3: Document-Specific Chunking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57200" y="2926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5f5f5"/>
                </a:solidFill>
                <a:latin typeface="Calibri"/>
              </a:rPr>
              <a:t>For Code, Markdown, HTML, and Specialized Formats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</a:rPr>
              <a:t>When Plain Text Rules Don't Apply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</a:rPr>
              <a:t>Some documents aren't organized as paragraphs and sentences: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731520" y="1828800"/>
            <a:ext cx="2377080" cy="914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3"/>
          <p:cNvSpPr/>
          <p:nvPr/>
        </p:nvSpPr>
        <p:spPr>
          <a:xfrm>
            <a:off x="731520" y="192024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Source Code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class, def, if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3291840" y="1828800"/>
            <a:ext cx="2377080" cy="914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5"/>
          <p:cNvSpPr/>
          <p:nvPr/>
        </p:nvSpPr>
        <p:spPr>
          <a:xfrm>
            <a:off x="3291840" y="192024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Markdown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# headers, lists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5852160" y="1828800"/>
            <a:ext cx="2377080" cy="914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7"/>
          <p:cNvSpPr/>
          <p:nvPr/>
        </p:nvSpPr>
        <p:spPr>
          <a:xfrm>
            <a:off x="5852160" y="192024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HTML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</a:rPr>
              <a:t>tags, elements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914400" y="3108960"/>
            <a:ext cx="7314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600" spc="-1" strike="noStrike">
                <a:solidFill>
                  <a:srgbClr val="2c5f2d"/>
                </a:solidFill>
                <a:latin typeface="Calibri"/>
              </a:rPr>
              <a:t>Solution: Use specialized separators</a:t>
            </a:r>
            <a:endParaRPr b="0" lang="en-IN" sz="1600" spc="-1" strike="noStrike">
              <a:latin typeface="Arial"/>
            </a:endParaRPr>
          </a:p>
          <a:p>
            <a:endParaRPr b="0" lang="en-IN" sz="16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1a1a1a"/>
                </a:solidFill>
                <a:latin typeface="Calibri"/>
              </a:rPr>
              <a:t>Python code:</a:t>
            </a:r>
            <a:endParaRPr b="0" lang="en-IN" sz="14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  </a:t>
            </a: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Separators: 'class', 'def', then \n\n, \n, ' '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Consolas"/>
              </a:rPr>
              <a:t>Markdown: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  </a:t>
            </a: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Separators: '\n#{1,6} ', '\n\*\*\*', then defaults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2026-02-10T12:12:48Z</dcterms:created>
  <dc:creator>LangChain Text Splitters Guide</dc:creator>
  <dc:description/>
  <dc:language>en-IN</dc:language>
  <cp:lastModifiedBy/>
  <dcterms:modified xsi:type="dcterms:W3CDTF">2026-02-25T22:19:15Z</dcterms:modified>
  <cp:revision>2</cp:revision>
  <dc:subject>RAG Applications and Text Processing</dc:subject>
  <dc:title>Comprehensive Guide to Text Splitting in LangChain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