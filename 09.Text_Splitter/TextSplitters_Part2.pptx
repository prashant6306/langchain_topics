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186406A-9294-45D5-81BA-4B50D73C9FC8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DC8E75-B86F-4D9D-8C12-B7B953CF3CF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84DCB3-1E57-40E1-97B5-C08A4D40E90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46A619-E084-4373-8ED8-F8B848E965E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56223C-0E76-47A3-9133-D8CABFB4FE8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64A7B8-BAC4-40BA-9AF1-423DE47686E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429481-0248-4A7A-BCA5-80FB0A8C713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32E8CD-6839-4F3F-AEFC-377CCFDE817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72CF2CE-1C54-497B-894D-3CFA4CE2984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07CA4A1-3A32-4F4D-B57F-440963C354F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54D2D5-6D47-4601-BA83-2AB3697F74C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3C8FAC-0AB9-4A2B-85B1-DF36A4E24B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21B51B-AD76-4D5B-8E8C-39044B07CBE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6317FE-F67C-4B34-A637-0E70EB81F60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A0001C-FD98-4654-9676-856CF5C0944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5A0995-28CB-48C1-B622-31175FCC619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399A57-A7B0-45F8-8F54-7AE95750702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3978A4-41AF-492C-8042-D2B14CA6E12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4E68ED-FC15-4AB9-9748-A8ED2CEE367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135C2D-DEB4-4D06-9B07-6D6CE14CF8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D0E517-3F8B-4534-86A6-8DA53ADF45F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FE29DB-DF30-4D43-BD15-0AB965F399F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316D42-8BBF-453E-B30B-155962D99DB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5E9FD04-B84D-47FA-A14D-69985F354CB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70C0DF-4216-4D99-A9A0-7B92ACE56B5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B79097-F0AC-4DC9-BED6-27E8B95B849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Python Code: Custom Separators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457200" y="914400"/>
            <a:ext cx="8229240" cy="429732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548640" y="1005840"/>
            <a:ext cx="80463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RecursiveCharacterTextSplitter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Language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python_code = '''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class DataProcessor: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def __init__(self, source_file):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self.source = source_file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self.records = []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def load_data(self):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return pd.read_csv(self.source)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def validate_records(self):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return len(self.records) &gt; 0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'''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# Create Python-specific splitter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code_splitter = RecursiveCharacterTextSplitter.from_language(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language=Language.PYTHON,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chunk_size=400,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chunk_overlap=40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)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code_chunks = code_splitter.split_text(python_code)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Output: Python Code Chunking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457200" y="914400"/>
            <a:ext cx="8229240" cy="429732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640080" y="1097280"/>
            <a:ext cx="786348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1 (Clean class definition):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class DataProcessor: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def __init__(self, source_file):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self.source = source_file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self.records = []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2 (Methods grouped together):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def load_data(self):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return pd.read_csv(self.source)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def validate_records(self):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return len(self.records) &gt; 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Class definition preserved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Methods grouped logically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No mid-function splits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Markdown: Structure-Based Chunking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457200" y="914400"/>
            <a:ext cx="8229240" cy="429732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2"/>
          <p:cNvSpPr/>
          <p:nvPr/>
        </p:nvSpPr>
        <p:spPr>
          <a:xfrm>
            <a:off x="548640" y="1005840"/>
            <a:ext cx="80463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RecursiveCharacterTextSplitter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Language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markdown_doc = '''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# Data Analysis Project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A comprehensive analytics platform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## Features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- Real-time dashboards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- Predictive modeling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- Export capabilities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## Tech Stack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- Python 3.10+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- PostgreSQL database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'''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md_splitter = RecursiveCharacterTextSplitter.from_language(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language=Language.MARKDOWN,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chunk_size=250,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chunk_overlap=25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)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md_chunks = md_splitter.split_text(markdown_doc)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print(f"Sections: {len(md_chunks)}")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Output: Markdown Section Chunks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457200" y="914400"/>
            <a:ext cx="8229240" cy="429732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640080" y="1097280"/>
            <a:ext cx="786348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Sections: 3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1: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# Data Analysis Project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A comprehensive analytics platform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2: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## Features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- Real-time dashboards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- Predictive modeling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- Export capabilities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3: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## Tech Stack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- Python 3.10+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- PostgreSQL database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Each section becomes a chunk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Headers preserved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Clean section boundaries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Supported Document Types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457200" y="1188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97bc62"/>
                </a:solidFill>
                <a:latin typeface="Calibri"/>
              </a:rPr>
              <a:t>LangChain supports specialized chunking for: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914400" y="1737360"/>
            <a:ext cx="73148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Programming Languages: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Python, JavaScript, TypeScript, Java, C++, C#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Go, Ruby, PHP, Kotlin, Swift, Rust</a:t>
            </a:r>
            <a:endParaRPr b="0" lang="en-IN" sz="1400" spc="-1" strike="noStrike">
              <a:latin typeface="Arial"/>
            </a:endParaRPr>
          </a:p>
          <a:p>
            <a:endParaRPr b="0" lang="en-IN" sz="14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Markup Languages: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HTML, Markdown, LaTeX, XML</a:t>
            </a:r>
            <a:endParaRPr b="0" lang="en-IN" sz="1400" spc="-1" strike="noStrike">
              <a:latin typeface="Arial"/>
            </a:endParaRPr>
          </a:p>
          <a:p>
            <a:endParaRPr b="0" lang="en-IN" sz="14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Configuration: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JSON, YAML, TOML</a:t>
            </a:r>
            <a:endParaRPr b="0" lang="en-IN" sz="1400" spc="-1" strike="noStrike">
              <a:latin typeface="Arial"/>
            </a:endParaRPr>
          </a:p>
          <a:p>
            <a:endParaRPr b="0" lang="en-IN" sz="14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Other: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SQL, Solidity, Protocol Buffers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7bc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457200" y="18288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Method 4: Semantic Chunking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457200" y="2743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5f5f5"/>
                </a:solidFill>
                <a:latin typeface="Calibri"/>
              </a:rPr>
              <a:t>(Experimental - Meaning-Based Splitting)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The Limitation of Structure-Based Chunking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731520" y="1188720"/>
            <a:ext cx="7680600" cy="1371240"/>
          </a:xfrm>
          <a:prstGeom prst="rect">
            <a:avLst/>
          </a:prstGeom>
          <a:solidFill>
            <a:srgbClr val="f5f5f5"/>
          </a:solidFill>
          <a:ln w="381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2"/>
          <p:cNvSpPr/>
          <p:nvPr/>
        </p:nvSpPr>
        <p:spPr>
          <a:xfrm>
            <a:off x="914400" y="1371600"/>
            <a:ext cx="7314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Farmers cultivated crops for the season. The weather was ideal.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The cricket championship attracted millions of viewers globally.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914400" y="2743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c0000"/>
                </a:solidFill>
                <a:latin typeface="Calibri"/>
              </a:rPr>
              <a:t>Problem: One paragraph, TWO different topics!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914400" y="3291840"/>
            <a:ext cx="7314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Structural splitter would create:</a:t>
            </a:r>
            <a:endParaRPr b="0" lang="en-IN" sz="14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1 chunk (entire paragraph)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97bc62"/>
                </a:solidFill>
                <a:latin typeface="Calibri"/>
              </a:rPr>
              <a:t>Ideal chunking should create:</a:t>
            </a:r>
            <a:endParaRPr b="0" lang="en-IN" sz="14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Chunk 1: Agriculture topic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Chunk 2: Sports topic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Semantic Chunking: The Concept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57200" y="1097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800" spc="-1" strike="noStrike">
                <a:solidFill>
                  <a:srgbClr val="97bc62"/>
                </a:solidFill>
                <a:latin typeface="Calibri"/>
              </a:rPr>
              <a:t>Split based on meaning, not structure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731520" y="1645920"/>
            <a:ext cx="76806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Core Idea: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Detect when topic changes by analyzing semantic similarity</a:t>
            </a:r>
            <a:endParaRPr b="0" lang="en-IN" sz="1400" spc="-1" strike="noStrike">
              <a:latin typeface="Arial"/>
            </a:endParaRPr>
          </a:p>
          <a:p>
            <a:endParaRPr b="0" lang="en-IN" sz="14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How it works: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1. Split text into individual sentences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2. Generate embedding vector for each sentence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3. Compare consecutive sentence embeddings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4. Calculate cosine similarity between pairs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5. When similarity drops sharply → topic changed → split!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</a:rPr>
              <a:t>Result: Chunks grouped by semantic meaning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Semantic Chunking Algorithm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914400" y="1280160"/>
            <a:ext cx="1645560" cy="54828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2"/>
          <p:cNvSpPr/>
          <p:nvPr/>
        </p:nvSpPr>
        <p:spPr>
          <a:xfrm>
            <a:off x="914400" y="1371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2743200" y="1280160"/>
            <a:ext cx="1645560" cy="54828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4"/>
          <p:cNvSpPr/>
          <p:nvPr/>
        </p:nvSpPr>
        <p:spPr>
          <a:xfrm>
            <a:off x="2743200" y="1371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4572000" y="1280160"/>
            <a:ext cx="1645560" cy="54828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6"/>
          <p:cNvSpPr/>
          <p:nvPr/>
        </p:nvSpPr>
        <p:spPr>
          <a:xfrm>
            <a:off x="4572000" y="1371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6400800" y="1280160"/>
            <a:ext cx="1645560" cy="54828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8"/>
          <p:cNvSpPr/>
          <p:nvPr/>
        </p:nvSpPr>
        <p:spPr>
          <a:xfrm>
            <a:off x="6400800" y="1371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4114800" y="1920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c5f2d"/>
                </a:solidFill>
                <a:latin typeface="Calibri"/>
              </a:rPr>
              <a:t>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1828800" y="2286000"/>
            <a:ext cx="548604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1"/>
          <p:cNvSpPr/>
          <p:nvPr/>
        </p:nvSpPr>
        <p:spPr>
          <a:xfrm>
            <a:off x="1828800" y="2377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Generate Embeddings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4114800" y="29260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c5f2d"/>
                </a:solidFill>
                <a:latin typeface="Calibri"/>
              </a:rPr>
              <a:t>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1371600" y="3291840"/>
            <a:ext cx="6400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Compare Similarity: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sim(S1, S2) = 0.85 (high - same topic)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sim(S2, S3) = 0.32 (LOW - topic changed!) ← Split here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sim(S3, S4) = 0.88 (high - same topic)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2286000" y="4572000"/>
            <a:ext cx="4571640" cy="639720"/>
          </a:xfrm>
          <a:prstGeom prst="rect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15"/>
          <p:cNvSpPr/>
          <p:nvPr/>
        </p:nvSpPr>
        <p:spPr>
          <a:xfrm>
            <a:off x="2286000" y="46634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Result: 2 semantic chunks (S1-S2) and (S3-S4)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Code: Semantic Chunker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6" name="Shape 1"/>
          <p:cNvSpPr/>
          <p:nvPr/>
        </p:nvSpPr>
        <p:spPr>
          <a:xfrm>
            <a:off x="457200" y="914400"/>
            <a:ext cx="8229240" cy="429732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2"/>
          <p:cNvSpPr/>
          <p:nvPr/>
        </p:nvSpPr>
        <p:spPr>
          <a:xfrm>
            <a:off x="548640" y="1005840"/>
            <a:ext cx="80463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langchain_experimental.text_splitter import SemanticChunker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langchain_openai.embeddings import OpenAIEmbeddings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mixed_topic_text = '''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Farmers cultivated crops for the season. The weather was ideal.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The cricket championship attracted millions globally.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Climate change threatens ecosystems. Scientists warn of rising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temperatures. Urgent action needed to prevent catastrophe.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'''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# Create semantic chunker (experimental)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semantic_splitter = SemanticChunker(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OpenAIEmbeddings(),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breakpoint_threshold_type="standard_deviation",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breakpoint_threshold_amount=1  # 1 std dev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semantic_chunks = semantic_splitter.create_documents([mixed_topic_text])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print(f"Semantic chunks: {len(semantic_chunks)}")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for i, chunk in enumerate(semantic_chunks):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print(f"\nChunk {i+1}:\n{chunk.page_content}")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Output: Meaning-Based Chunks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9" name="Shape 1"/>
          <p:cNvSpPr/>
          <p:nvPr/>
        </p:nvSpPr>
        <p:spPr>
          <a:xfrm>
            <a:off x="457200" y="914400"/>
            <a:ext cx="8229240" cy="429732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2"/>
          <p:cNvSpPr/>
          <p:nvPr/>
        </p:nvSpPr>
        <p:spPr>
          <a:xfrm>
            <a:off x="640080" y="1097280"/>
            <a:ext cx="786348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Semantic chunks: 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1 (Agriculture):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Farmers cultivated crops for the season. The weather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was ideal.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2 (Sports):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The cricket championship attracted millions globally.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3 (Climate):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Climate change threatens ecosystems. Scientists warn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of rising temperatures. Urgent action needed to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prevent catastrophe.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Topics properly separated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Semantic similarity detected topic shifts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⚠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Currently experimental - accuracy varies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Breakpoint Threshold Configuration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457200" y="1097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97bc62"/>
                </a:solidFill>
                <a:latin typeface="Calibri"/>
              </a:rPr>
              <a:t>How to determine when similarity is 'low enough' to split: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731520" y="1737360"/>
            <a:ext cx="3657240" cy="6397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3"/>
          <p:cNvSpPr/>
          <p:nvPr/>
        </p:nvSpPr>
        <p:spPr>
          <a:xfrm>
            <a:off x="731520" y="1828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standard_deviation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731520" y="256032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Split when similarity differs by N standard deviations from mean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" name="Shape 5"/>
          <p:cNvSpPr/>
          <p:nvPr/>
        </p:nvSpPr>
        <p:spPr>
          <a:xfrm>
            <a:off x="4754880" y="1737360"/>
            <a:ext cx="3657240" cy="6397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6"/>
          <p:cNvSpPr/>
          <p:nvPr/>
        </p:nvSpPr>
        <p:spPr>
          <a:xfrm>
            <a:off x="4754880" y="1828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percentile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4754880" y="256032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Split at bottom Nth percentile of similarity scores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731520" y="3474720"/>
            <a:ext cx="3657240" cy="6397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9"/>
          <p:cNvSpPr/>
          <p:nvPr/>
        </p:nvSpPr>
        <p:spPr>
          <a:xfrm>
            <a:off x="731520" y="356616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interquartile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731520" y="429768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Use interquartile range to identify outliers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4754880" y="3474720"/>
            <a:ext cx="3657240" cy="6397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12"/>
          <p:cNvSpPr/>
          <p:nvPr/>
        </p:nvSpPr>
        <p:spPr>
          <a:xfrm>
            <a:off x="4754880" y="356616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gradient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4754880" y="429768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Detect sudden drops in similarity gradient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Semantic Chunking: Current Status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6" name="Shape 1"/>
          <p:cNvSpPr/>
          <p:nvPr/>
        </p:nvSpPr>
        <p:spPr>
          <a:xfrm>
            <a:off x="914400" y="1371600"/>
            <a:ext cx="3474360" cy="3200040"/>
          </a:xfrm>
          <a:prstGeom prst="rect">
            <a:avLst/>
          </a:prstGeom>
          <a:solidFill>
            <a:srgbClr val="ffe5b4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2"/>
          <p:cNvSpPr/>
          <p:nvPr/>
        </p:nvSpPr>
        <p:spPr>
          <a:xfrm>
            <a:off x="914400" y="146304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Advantages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1097280" y="2103120"/>
            <a:ext cx="3108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Topic-aware splitting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Better embeddings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Handles mixed topics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</a:rPr>
              <a:t>Semantic coherence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Shape 4"/>
          <p:cNvSpPr/>
          <p:nvPr/>
        </p:nvSpPr>
        <p:spPr>
          <a:xfrm>
            <a:off x="4754880" y="1371600"/>
            <a:ext cx="3474360" cy="3200040"/>
          </a:xfrm>
          <a:prstGeom prst="rect">
            <a:avLst/>
          </a:prstGeom>
          <a:solidFill>
            <a:srgbClr val="ffcdd2"/>
          </a:solidFill>
          <a:ln w="254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5"/>
          <p:cNvSpPr/>
          <p:nvPr/>
        </p:nvSpPr>
        <p:spPr>
          <a:xfrm>
            <a:off x="4754880" y="146304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c0000"/>
                </a:solidFill>
                <a:latin typeface="Calibri"/>
              </a:rPr>
              <a:t>Limitations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937760" y="2103120"/>
            <a:ext cx="3108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Experimental status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Inconsistent results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Slower (embeddings)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Requires API calls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</a:rPr>
              <a:t>Threshold tuning needed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2286000" y="4846320"/>
            <a:ext cx="457164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8"/>
          <p:cNvSpPr/>
          <p:nvPr/>
        </p:nvSpPr>
        <p:spPr>
          <a:xfrm>
            <a:off x="2286000" y="49377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Recommendation: Use Recursive Splitter for production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Comprehensive Method Comparison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457200" y="914400"/>
            <a:ext cx="8229240" cy="456840"/>
          </a:xfrm>
          <a:prstGeom prst="rect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2"/>
          <p:cNvSpPr/>
          <p:nvPr/>
        </p:nvSpPr>
        <p:spPr>
          <a:xfrm>
            <a:off x="457200" y="10058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2560320" y="10058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Best For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4663440" y="10058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Pros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6583680" y="100584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Shape 6"/>
          <p:cNvSpPr/>
          <p:nvPr/>
        </p:nvSpPr>
        <p:spPr>
          <a:xfrm>
            <a:off x="457200" y="1463040"/>
            <a:ext cx="8229240" cy="91404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7"/>
          <p:cNvSpPr/>
          <p:nvPr/>
        </p:nvSpPr>
        <p:spPr>
          <a:xfrm>
            <a:off x="548640" y="155448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</a:rPr>
              <a:t>Character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</a:rPr>
              <a:t>Splitter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2651760" y="155448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</a:rPr>
              <a:t>Speed-critical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</a:rPr>
              <a:t>apps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4754880" y="155448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</a:rPr>
              <a:t>Fast,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</a:rPr>
              <a:t>Simple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6675120" y="1554480"/>
            <a:ext cx="1919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c0000"/>
                </a:solidFill>
                <a:latin typeface="Calibri"/>
              </a:rPr>
              <a:t>Breaks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c0000"/>
                </a:solidFill>
                <a:latin typeface="Calibri"/>
              </a:rPr>
              <a:t>context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5" name="Shape 11"/>
          <p:cNvSpPr/>
          <p:nvPr/>
        </p:nvSpPr>
        <p:spPr>
          <a:xfrm>
            <a:off x="457200" y="2468880"/>
            <a:ext cx="8229240" cy="914040"/>
          </a:xfrm>
          <a:prstGeom prst="rect">
            <a:avLst/>
          </a:prstGeom>
          <a:solidFill>
            <a:srgbClr val="e8f5e9"/>
          </a:solidFill>
          <a:ln w="127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12"/>
          <p:cNvSpPr/>
          <p:nvPr/>
        </p:nvSpPr>
        <p:spPr>
          <a:xfrm>
            <a:off x="548640" y="256032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</a:rPr>
              <a:t>Recursive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</a:rPr>
              <a:t>Splitter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2651760" y="256032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</a:rPr>
              <a:t>Production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</a:rPr>
              <a:t>RAG systems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8" name="Text 14"/>
          <p:cNvSpPr/>
          <p:nvPr/>
        </p:nvSpPr>
        <p:spPr>
          <a:xfrm>
            <a:off x="4754880" y="256032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</a:rPr>
              <a:t>Structure-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</a:rPr>
              <a:t>aware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9" name="Text 15"/>
          <p:cNvSpPr/>
          <p:nvPr/>
        </p:nvSpPr>
        <p:spPr>
          <a:xfrm>
            <a:off x="6675120" y="2560320"/>
            <a:ext cx="1919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9800"/>
                </a:solidFill>
                <a:latin typeface="Calibri"/>
              </a:rPr>
              <a:t>Slightly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9800"/>
                </a:solidFill>
                <a:latin typeface="Calibri"/>
              </a:rPr>
              <a:t>slower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0" name="Shape 16"/>
          <p:cNvSpPr/>
          <p:nvPr/>
        </p:nvSpPr>
        <p:spPr>
          <a:xfrm>
            <a:off x="457200" y="3474720"/>
            <a:ext cx="8229240" cy="91404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17"/>
          <p:cNvSpPr/>
          <p:nvPr/>
        </p:nvSpPr>
        <p:spPr>
          <a:xfrm>
            <a:off x="548640" y="356616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</a:rPr>
              <a:t>Document-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</a:rPr>
              <a:t>Specific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2" name="Text 18"/>
          <p:cNvSpPr/>
          <p:nvPr/>
        </p:nvSpPr>
        <p:spPr>
          <a:xfrm>
            <a:off x="2651760" y="356616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</a:rPr>
              <a:t>Code,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</a:rPr>
              <a:t>Markdown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3" name="Text 19"/>
          <p:cNvSpPr/>
          <p:nvPr/>
        </p:nvSpPr>
        <p:spPr>
          <a:xfrm>
            <a:off x="4754880" y="356616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</a:rPr>
              <a:t>Format-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</a:rPr>
              <a:t>aware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4" name="Text 20"/>
          <p:cNvSpPr/>
          <p:nvPr/>
        </p:nvSpPr>
        <p:spPr>
          <a:xfrm>
            <a:off x="6675120" y="3566160"/>
            <a:ext cx="1919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9800"/>
                </a:solidFill>
                <a:latin typeface="Calibri"/>
              </a:rPr>
              <a:t>Needs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9800"/>
                </a:solidFill>
                <a:latin typeface="Calibri"/>
              </a:rPr>
              <a:t>config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5" name="Shape 21"/>
          <p:cNvSpPr/>
          <p:nvPr/>
        </p:nvSpPr>
        <p:spPr>
          <a:xfrm>
            <a:off x="457200" y="4480560"/>
            <a:ext cx="8229240" cy="914040"/>
          </a:xfrm>
          <a:prstGeom prst="rect">
            <a:avLst/>
          </a:prstGeom>
          <a:solidFill>
            <a:srgbClr val="fff9c4"/>
          </a:solidFill>
          <a:ln w="254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22"/>
          <p:cNvSpPr/>
          <p:nvPr/>
        </p:nvSpPr>
        <p:spPr>
          <a:xfrm>
            <a:off x="548640" y="457200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</a:rPr>
              <a:t>Semantic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</a:rPr>
              <a:t>Chunker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7" name="Text 23"/>
          <p:cNvSpPr/>
          <p:nvPr/>
        </p:nvSpPr>
        <p:spPr>
          <a:xfrm>
            <a:off x="2651760" y="457200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</a:rPr>
              <a:t>Experimental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</a:rPr>
              <a:t>only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8" name="Text 24"/>
          <p:cNvSpPr/>
          <p:nvPr/>
        </p:nvSpPr>
        <p:spPr>
          <a:xfrm>
            <a:off x="4754880" y="457200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</a:rPr>
              <a:t>Topic-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</a:rPr>
              <a:t>aware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9" name="Text 25"/>
          <p:cNvSpPr/>
          <p:nvPr/>
        </p:nvSpPr>
        <p:spPr>
          <a:xfrm>
            <a:off x="6675120" y="4572000"/>
            <a:ext cx="1919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c0000"/>
                </a:solidFill>
                <a:latin typeface="Calibri"/>
              </a:rPr>
              <a:t>Unstable,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c0000"/>
                </a:solidFill>
                <a:latin typeface="Calibri"/>
              </a:rPr>
              <a:t>expensive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Chunking Best Practices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731520" y="1188720"/>
            <a:ext cx="76806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1. Choose the Right Method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Default: Recursive Character Splitter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For code: Document-specific splitter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Experiment with semantic for research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2. Optimize Chunk Size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Consider model's context window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Too small: loses context; Too large: poor retrieval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Typical range: 200-1000 characters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3. Set Appropriate Overlap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Recommended: 10-20% of chunk size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Preserves context at boundaries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4. Test and Iterate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Evaluate retrieval quality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Measure embedding coherence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Chunk Size Selection Guide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914400" y="1371600"/>
            <a:ext cx="2285640" cy="1096920"/>
          </a:xfrm>
          <a:prstGeom prst="rect">
            <a:avLst/>
          </a:prstGeom>
          <a:solidFill>
            <a:srgbClr val="ffcdd2"/>
          </a:solidFill>
          <a:ln w="254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2"/>
          <p:cNvSpPr/>
          <p:nvPr/>
        </p:nvSpPr>
        <p:spPr>
          <a:xfrm>
            <a:off x="914400" y="146304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Small Chunks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(100-300 chars)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1005840" y="20116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Pros: Precise retrieval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Cons: Less context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6" name="Shape 4"/>
          <p:cNvSpPr/>
          <p:nvPr/>
        </p:nvSpPr>
        <p:spPr>
          <a:xfrm>
            <a:off x="3383280" y="1371600"/>
            <a:ext cx="2285640" cy="1096920"/>
          </a:xfrm>
          <a:prstGeom prst="rect">
            <a:avLst/>
          </a:prstGeom>
          <a:solidFill>
            <a:srgbClr val="c8e6c9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5"/>
          <p:cNvSpPr/>
          <p:nvPr/>
        </p:nvSpPr>
        <p:spPr>
          <a:xfrm>
            <a:off x="3383280" y="146304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Medium Chunks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(300-800 chars)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3474720" y="20116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Balanced approach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Recommended ✓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5852160" y="1371600"/>
            <a:ext cx="2285640" cy="1096920"/>
          </a:xfrm>
          <a:prstGeom prst="rect">
            <a:avLst/>
          </a:prstGeom>
          <a:solidFill>
            <a:srgbClr val="fff9c4"/>
          </a:solidFill>
          <a:ln w="254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8"/>
          <p:cNvSpPr/>
          <p:nvPr/>
        </p:nvSpPr>
        <p:spPr>
          <a:xfrm>
            <a:off x="5852160" y="146304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Large Chunks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(800-2000 chars)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5943600" y="20116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Pros: Full context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Cons: Less precise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914400" y="2743200"/>
            <a:ext cx="73148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Considerations: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Embedding model capabilities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Nature of your data (technical vs narrative)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Retrieval precision requirements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Downstream task (Q&amp;A vs summarization)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Computational resources available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Common Chunking Mistakes to Avoid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731520" y="1280160"/>
            <a:ext cx="7680600" cy="3931560"/>
          </a:xfrm>
          <a:prstGeom prst="rect">
            <a:avLst/>
          </a:prstGeom>
          <a:solidFill>
            <a:srgbClr val="ffebee"/>
          </a:solidFill>
          <a:ln w="254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"/>
          <p:cNvSpPr/>
          <p:nvPr/>
        </p:nvSpPr>
        <p:spPr>
          <a:xfrm>
            <a:off x="914400" y="1463040"/>
            <a:ext cx="731484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Using zero overlap</a:t>
            </a:r>
            <a:endParaRPr b="0" lang="en-IN" sz="15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Lost context at chunk boundaries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Inconsistent chunk sizes across dataset</a:t>
            </a:r>
            <a:endParaRPr b="0" lang="en-IN" sz="15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Different quality embeddings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Ignoring document structure</a:t>
            </a:r>
            <a:endParaRPr b="0" lang="en-IN" sz="15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Use document-specific splitters for code/markup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Not testing retrieval quality</a:t>
            </a:r>
            <a:endParaRPr b="0" lang="en-IN" sz="15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Always validate on sample queries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Choosing chunk size based on guesswork</a:t>
            </a:r>
            <a:endParaRPr b="0" lang="en-IN" sz="15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Experiment with different sizes and measure results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</a:rPr>
              <a:t>Using experimental methods in production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Stick to Recursive Splitter for reliability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Complete RAG Pipeline Example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457200" y="914400"/>
            <a:ext cx="8229240" cy="429732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2"/>
          <p:cNvSpPr/>
          <p:nvPr/>
        </p:nvSpPr>
        <p:spPr>
          <a:xfrm>
            <a:off x="548640" y="1005840"/>
            <a:ext cx="80463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langchain_community.document_loaders import PyPDFLoader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RecursiveCharacterTextSplitter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langchain_openai.embeddings import OpenAIEmbeddings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langchain_community.vectorstores import FAISS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# Step 1: Load documents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pdf_loader = PyPDFLoader("knowledge_base.pdf")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documents = pdf_loader.load()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# Step 2: Split into chunks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text_splitter = RecursiveCharacterTextSplitter(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chunk_size=500,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chunk_overlap=50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chunks = text_splitter.split_documents(documents)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# Step 3: Create embeddings and vector store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embeddings = OpenAIEmbeddings()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vector_db = FAISS.from_documents(chunks, embeddings)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# Step 4: Query the system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results = vector_db.similarity_search("What is RAG?", k=3)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print(results[0].page_content)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Measuring Chunking Quality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731520" y="1188720"/>
            <a:ext cx="76806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Retrieval Metrics: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Precision: Relevant chunks retrieved / Total retrieved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Recall: Relevant chunks retrieved / Total relevant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MRR: Mean Reciprocal Rank of first relevant result</a:t>
            </a:r>
            <a:endParaRPr b="0" lang="en-IN" sz="1400" spc="-1" strike="noStrike">
              <a:latin typeface="Arial"/>
            </a:endParaRPr>
          </a:p>
          <a:p>
            <a:endParaRPr b="0" lang="en-IN" sz="14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Embedding Quality: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Coherence score: Intra-chunk similarity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Distinctiveness: Inter-chunk diversity</a:t>
            </a:r>
            <a:endParaRPr b="0" lang="en-IN" sz="1400" spc="-1" strike="noStrike">
              <a:latin typeface="Arial"/>
            </a:endParaRPr>
          </a:p>
          <a:p>
            <a:endParaRPr b="0" lang="en-IN" sz="14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Practical Tests: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Query 20-30 sample questions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Manually review top 5 results per query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Compare different chunk sizes/methods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Measure end-to-end response quality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Advanced Chunking Techniques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731520" y="1371600"/>
            <a:ext cx="76806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97bc62"/>
                </a:solidFill>
                <a:latin typeface="Calibri"/>
              </a:rPr>
              <a:t>Hybrid Chunking: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Combine multiple strategies (e.g., structure + semantic)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97bc62"/>
                </a:solidFill>
                <a:latin typeface="Calibri"/>
              </a:rPr>
              <a:t>Parent-Child Chunks: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Store small chunks for retrieval, large chunks for context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97bc62"/>
                </a:solidFill>
                <a:latin typeface="Calibri"/>
              </a:rPr>
              <a:t>Metadata Enrichment: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Add section headers, page numbers, timestamps to chunks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97bc62"/>
                </a:solidFill>
                <a:latin typeface="Calibri"/>
              </a:rPr>
              <a:t>Dynamic Chunking: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Adjust chunk size based on content density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97bc62"/>
                </a:solidFill>
                <a:latin typeface="Calibri"/>
              </a:rPr>
              <a:t>Multi-representation: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Generate summaries of chunks for better retrieval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Troubleshooting Common Issues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731520" y="1280160"/>
            <a:ext cx="3657240" cy="548280"/>
          </a:xfrm>
          <a:prstGeom prst="rect">
            <a:avLst/>
          </a:prstGeom>
          <a:solidFill>
            <a:srgbClr val="ffcd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2"/>
          <p:cNvSpPr/>
          <p:nvPr/>
        </p:nvSpPr>
        <p:spPr>
          <a:xfrm>
            <a:off x="731520" y="1371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Problem: Poor Retrieval Accuracy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914400" y="192024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Try smaller chunks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Increase overlap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Use better embeddings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4754880" y="1280160"/>
            <a:ext cx="3657240" cy="548280"/>
          </a:xfrm>
          <a:prstGeom prst="rect">
            <a:avLst/>
          </a:prstGeom>
          <a:solidFill>
            <a:srgbClr val="ffcd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5"/>
          <p:cNvSpPr/>
          <p:nvPr/>
        </p:nvSpPr>
        <p:spPr>
          <a:xfrm>
            <a:off x="4754880" y="1371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Problem: Lost Context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4937760" y="192024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Increase chunk size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Add more overlap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Include metadata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731520" y="3017520"/>
            <a:ext cx="3657240" cy="548280"/>
          </a:xfrm>
          <a:prstGeom prst="rect">
            <a:avLst/>
          </a:prstGeom>
          <a:solidFill>
            <a:srgbClr val="ffcd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8"/>
          <p:cNvSpPr/>
          <p:nvPr/>
        </p:nvSpPr>
        <p:spPr>
          <a:xfrm>
            <a:off x="731520" y="31089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Problem: Slow Processing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914400" y="365760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Use Character Splitter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Larger chunks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Avoid semantic chunking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4754880" y="3017520"/>
            <a:ext cx="3657240" cy="548280"/>
          </a:xfrm>
          <a:prstGeom prst="rect">
            <a:avLst/>
          </a:prstGeom>
          <a:solidFill>
            <a:srgbClr val="ffcd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1"/>
          <p:cNvSpPr/>
          <p:nvPr/>
        </p:nvSpPr>
        <p:spPr>
          <a:xfrm>
            <a:off x="4754880" y="31089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Problem: High Memory Usage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4937760" y="365760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Process in batches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Stream documents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Use disk-based storage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Real-World Applications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7" name="Shape 1"/>
          <p:cNvSpPr/>
          <p:nvPr/>
        </p:nvSpPr>
        <p:spPr>
          <a:xfrm>
            <a:off x="731520" y="1371600"/>
            <a:ext cx="3657240" cy="1371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2"/>
          <p:cNvSpPr/>
          <p:nvPr/>
        </p:nvSpPr>
        <p:spPr>
          <a:xfrm>
            <a:off x="731520" y="14630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</a:rPr>
              <a:t>Customer Support Bot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914400" y="192024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Chunk Size: 300-500 chars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Method: Recursive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Reason: Balance speed + context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4572000" y="1371600"/>
            <a:ext cx="3657240" cy="1371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5"/>
          <p:cNvSpPr/>
          <p:nvPr/>
        </p:nvSpPr>
        <p:spPr>
          <a:xfrm>
            <a:off x="4572000" y="14630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</a:rPr>
              <a:t>Legal Document Analysis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4754880" y="192024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Chunk Size: 800-1200 chars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Method: Recursive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Reason: Preserve legal context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731520" y="3017520"/>
            <a:ext cx="3657240" cy="1371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8"/>
          <p:cNvSpPr/>
          <p:nvPr/>
        </p:nvSpPr>
        <p:spPr>
          <a:xfrm>
            <a:off x="731520" y="31089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</a:rPr>
              <a:t>Code Documentation Search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914400" y="356616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Chunk Size: 400-600 chars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Method: Language-specific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Reason: Function/class boundaries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4572000" y="3017520"/>
            <a:ext cx="3657240" cy="1371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1"/>
          <p:cNvSpPr/>
          <p:nvPr/>
        </p:nvSpPr>
        <p:spPr>
          <a:xfrm>
            <a:off x="4572000" y="31089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</a:rPr>
              <a:t>Medical Research Q&amp;A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4754880" y="356616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Chunk Size: 600-1000 chars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Method: Recursive + Metadata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Reason: Complex medical concepts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Additional Resources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731520" y="1280160"/>
            <a:ext cx="76806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97bc62"/>
                </a:solidFill>
                <a:latin typeface="Calibri"/>
              </a:rPr>
              <a:t>LangChain Documentation: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docs.langchain.com/text-splitters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Consolas"/>
              </a:rPr>
              <a:t>Chunking Visualization Tool: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chunkviz.up.railway.app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Consolas"/>
              </a:rPr>
              <a:t>Research Papers: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'Optimizing Text Chunking for RAG Systems'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'Semantic Similarity in Document Segmentation'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Consolas"/>
              </a:rPr>
              <a:t>Community Forums:</a:t>
            </a:r>
            <a:endParaRPr b="0" lang="en-IN" sz="16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LangChain Discord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r/LangChain subreddit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Stack Overflow [langchain] tag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457200" y="7315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Key Takeaways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914400" y="1645920"/>
            <a:ext cx="73148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Chunking is essential for LLM quality and performance</a:t>
            </a:r>
            <a:endParaRPr b="0" lang="en-IN" sz="1600" spc="-1" strike="noStrike">
              <a:latin typeface="Arial"/>
            </a:endParaRPr>
          </a:p>
          <a:p>
            <a:endParaRPr b="0" lang="en-IN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Recursive Character Splitter is production-ready default</a:t>
            </a:r>
            <a:endParaRPr b="0" lang="en-IN" sz="1600" spc="-1" strike="noStrike">
              <a:latin typeface="Arial"/>
            </a:endParaRPr>
          </a:p>
          <a:p>
            <a:endParaRPr b="0" lang="en-IN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Use document-specific splitters for code and markup</a:t>
            </a:r>
            <a:endParaRPr b="0" lang="en-IN" sz="1600" spc="-1" strike="noStrike">
              <a:latin typeface="Arial"/>
            </a:endParaRPr>
          </a:p>
          <a:p>
            <a:endParaRPr b="0" lang="en-IN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Chunk size: 300-800 chars with 10-20% overlap</a:t>
            </a:r>
            <a:endParaRPr b="0" lang="en-IN" sz="1600" spc="-1" strike="noStrike">
              <a:latin typeface="Arial"/>
            </a:endParaRPr>
          </a:p>
          <a:p>
            <a:endParaRPr b="0" lang="en-IN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Always test and measure retrieval quality</a:t>
            </a:r>
            <a:endParaRPr b="0" lang="en-IN" sz="1600" spc="-1" strike="noStrike">
              <a:latin typeface="Arial"/>
            </a:endParaRPr>
          </a:p>
          <a:p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</a:rPr>
              <a:t>Semantic chunking is experimental - use with caution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7bc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18288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Thank You!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57200" y="32004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5f5f5"/>
                </a:solidFill>
                <a:latin typeface="Calibri"/>
              </a:rPr>
              <a:t>Questions?</a:t>
            </a:r>
            <a:endParaRPr b="0" lang="en-IN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5f5f5"/>
                </a:solidFill>
                <a:latin typeface="Calibri"/>
              </a:rPr>
              <a:t>Explore LangChain Documentation for More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2026-02-10T12:15:53Z</dcterms:created>
  <dc:creator>LangChain Text Splitters Guide - Part 2</dc:creator>
  <dc:description/>
  <dc:language>en-IN</dc:language>
  <cp:lastModifiedBy/>
  <dcterms:modified xsi:type="dcterms:W3CDTF">2026-02-25T22:19:07Z</dcterms:modified>
  <cp:revision>2</cp:revision>
  <dc:subject>PptxGenJS Presentation</dc:subject>
  <dc:title>Document-Specific and Semantic Chunking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25</vt:i4>
  </property>
  <property fmtid="{D5CDD505-2E9C-101B-9397-08002B2CF9AE}" pid="3" name="PresentationFormat">
    <vt:lpwstr>On-screen Show (16:9)</vt:lpwstr>
  </property>
  <property fmtid="{D5CDD505-2E9C-101B-9397-08002B2CF9AE}" pid="4" name="Slides">
    <vt:i4>25</vt:i4>
  </property>
</Properties>
</file>