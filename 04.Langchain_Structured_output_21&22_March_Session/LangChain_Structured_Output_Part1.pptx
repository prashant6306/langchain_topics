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28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5.png" ContentType="image/png"/>
  <Override PartName="/ppt/media/image35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</a:t>
            </a:r>
            <a:r>
              <a:rPr b="0" lang="en-IN" sz="4400" spc="-1" strike="noStrike">
                <a:latin typeface="Arial"/>
              </a:rPr>
              <a:t>to </a:t>
            </a:r>
            <a:r>
              <a:rPr b="0" lang="en-IN" sz="4400" spc="-1" strike="noStrike">
                <a:latin typeface="Arial"/>
              </a:rPr>
              <a:t>mov</a:t>
            </a:r>
            <a:r>
              <a:rPr b="0" lang="en-IN" sz="4400" spc="-1" strike="noStrike">
                <a:latin typeface="Arial"/>
              </a:rPr>
              <a:t>e the </a:t>
            </a:r>
            <a:r>
              <a:rPr b="0" lang="en-IN" sz="4400" spc="-1" strike="noStrike">
                <a:latin typeface="Arial"/>
              </a:rPr>
              <a:t>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69382C5-ADF5-4C13-85A1-56AA0528B0CE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7EFD65-863A-45D1-85E0-A3FC6400605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4BCB26-35B8-440F-86E1-733EE3D194E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1BADC5-6FFB-4ABE-9E77-C93F5206246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E7D75A-965B-461B-B114-B22D47B103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3A3EF1-C1D7-4F36-A7E8-CE2A869062D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06A9B6B-1B63-4CCC-B9F3-BE92FB06D0F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2D17E02-169E-4BB0-B026-FA8F44C45C7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BF018E-27B4-465D-9203-8DA381A54EA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FF8FD9-2EC1-483B-8231-5EF53BC6E13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8F2FB45-7EEA-4674-BDA0-0D532F37D5A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5D07F9-848A-4CE5-8488-C02F0CF76E8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267BC2-2C95-4B75-9243-EC2A400E7D7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08D178-F259-4C07-BC76-55EED54AF2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</a:t>
            </a:r>
            <a:r>
              <a:rPr b="0" lang="en-IN" sz="4400" spc="-1" strike="noStrike">
                <a:latin typeface="Arial"/>
              </a:rPr>
              <a:t>the 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132320" y="-1097280"/>
            <a:ext cx="3474000" cy="3474000"/>
          </a:xfrm>
          <a:prstGeom prst="ellipse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-822960"/>
            <a:ext cx="2742480" cy="2742480"/>
          </a:xfrm>
          <a:prstGeom prst="ellipse">
            <a:avLst/>
          </a:prstGeom>
          <a:solidFill>
            <a:srgbClr val="0096c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0" y="4754880"/>
            <a:ext cx="9143280" cy="38340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164520" y="4754880"/>
            <a:ext cx="3199680" cy="3834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502920" y="100584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50" name="Text 5"/>
          <p:cNvSpPr/>
          <p:nvPr/>
        </p:nvSpPr>
        <p:spPr>
          <a:xfrm>
            <a:off x="365760" y="1737360"/>
            <a:ext cx="84117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2514600"/>
            <a:ext cx="8411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48cae4"/>
                </a:solidFill>
                <a:latin typeface="Calibri"/>
                <a:ea typeface="Calibri"/>
              </a:rPr>
              <a:t>in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65760" y="3337560"/>
            <a:ext cx="3839760" cy="3834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8"/>
          <p:cNvSpPr/>
          <p:nvPr/>
        </p:nvSpPr>
        <p:spPr>
          <a:xfrm>
            <a:off x="365760" y="3319200"/>
            <a:ext cx="3839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Part 1: Introduction and Core Concepts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365760" y="4773240"/>
            <a:ext cx="4571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LangChain  •  Generative AI  •  Structured Output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320040" y="20124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96012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What We'll Learn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320040" y="1188720"/>
            <a:ext cx="4114080" cy="749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Shape 4"/>
          <p:cNvSpPr/>
          <p:nvPr/>
        </p:nvSpPr>
        <p:spPr>
          <a:xfrm>
            <a:off x="429840" y="1344240"/>
            <a:ext cx="401760" cy="4017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5"/>
          <p:cNvSpPr/>
          <p:nvPr/>
        </p:nvSpPr>
        <p:spPr>
          <a:xfrm>
            <a:off x="429840" y="134424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914400" y="1289160"/>
            <a:ext cx="3409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Understanding Unstructured vs Structured Output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320040" y="2121480"/>
            <a:ext cx="4114080" cy="749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Shape 8"/>
          <p:cNvSpPr/>
          <p:nvPr/>
        </p:nvSpPr>
        <p:spPr>
          <a:xfrm>
            <a:off x="429840" y="2277000"/>
            <a:ext cx="401760" cy="4017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9"/>
          <p:cNvSpPr/>
          <p:nvPr/>
        </p:nvSpPr>
        <p:spPr>
          <a:xfrm>
            <a:off x="429840" y="22770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914400" y="2221920"/>
            <a:ext cx="3409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Why Structured Output Matters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320040" y="3054240"/>
            <a:ext cx="4114080" cy="749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2"/>
          <p:cNvSpPr/>
          <p:nvPr/>
        </p:nvSpPr>
        <p:spPr>
          <a:xfrm>
            <a:off x="429840" y="3209400"/>
            <a:ext cx="401760" cy="4017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3"/>
          <p:cNvSpPr/>
          <p:nvPr/>
        </p:nvSpPr>
        <p:spPr>
          <a:xfrm>
            <a:off x="429840" y="32094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914400" y="3154680"/>
            <a:ext cx="3409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Use Cases: Data Extraction, APIs &amp; Agents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320040" y="3986640"/>
            <a:ext cx="4114080" cy="749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16"/>
          <p:cNvSpPr/>
          <p:nvPr/>
        </p:nvSpPr>
        <p:spPr>
          <a:xfrm>
            <a:off x="429840" y="4142160"/>
            <a:ext cx="401760" cy="4017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7"/>
          <p:cNvSpPr/>
          <p:nvPr/>
        </p:nvSpPr>
        <p:spPr>
          <a:xfrm>
            <a:off x="429840" y="414216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914400" y="4087440"/>
            <a:ext cx="3409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TypedDict for Schema Definition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Shape 19"/>
          <p:cNvSpPr/>
          <p:nvPr/>
        </p:nvSpPr>
        <p:spPr>
          <a:xfrm>
            <a:off x="4754880" y="1188720"/>
            <a:ext cx="4114080" cy="749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Shape 20"/>
          <p:cNvSpPr/>
          <p:nvPr/>
        </p:nvSpPr>
        <p:spPr>
          <a:xfrm>
            <a:off x="4864680" y="1344240"/>
            <a:ext cx="401760" cy="4017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1"/>
          <p:cNvSpPr/>
          <p:nvPr/>
        </p:nvSpPr>
        <p:spPr>
          <a:xfrm>
            <a:off x="4864680" y="134424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8" name="Text 22"/>
          <p:cNvSpPr/>
          <p:nvPr/>
        </p:nvSpPr>
        <p:spPr>
          <a:xfrm>
            <a:off x="5349240" y="1289160"/>
            <a:ext cx="3409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 for Data Validation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9" name="Shape 23"/>
          <p:cNvSpPr/>
          <p:nvPr/>
        </p:nvSpPr>
        <p:spPr>
          <a:xfrm>
            <a:off x="4754880" y="2121480"/>
            <a:ext cx="4114080" cy="749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" name="Shape 24"/>
          <p:cNvSpPr/>
          <p:nvPr/>
        </p:nvSpPr>
        <p:spPr>
          <a:xfrm>
            <a:off x="4864680" y="2277000"/>
            <a:ext cx="401760" cy="4017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5"/>
          <p:cNvSpPr/>
          <p:nvPr/>
        </p:nvSpPr>
        <p:spPr>
          <a:xfrm>
            <a:off x="4864680" y="22770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2" name="Text 26"/>
          <p:cNvSpPr/>
          <p:nvPr/>
        </p:nvSpPr>
        <p:spPr>
          <a:xfrm>
            <a:off x="5349240" y="2221920"/>
            <a:ext cx="3409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JSON Schema for Cross-Language Support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4754880" y="3054240"/>
            <a:ext cx="4114080" cy="749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28"/>
          <p:cNvSpPr/>
          <p:nvPr/>
        </p:nvSpPr>
        <p:spPr>
          <a:xfrm>
            <a:off x="4864680" y="3209400"/>
            <a:ext cx="401760" cy="4017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9"/>
          <p:cNvSpPr/>
          <p:nvPr/>
        </p:nvSpPr>
        <p:spPr>
          <a:xfrm>
            <a:off x="4864680" y="320940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7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6" name="Text 30"/>
          <p:cNvSpPr/>
          <p:nvPr/>
        </p:nvSpPr>
        <p:spPr>
          <a:xfrm>
            <a:off x="5349240" y="3154680"/>
            <a:ext cx="3409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The with_structured_output Function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7" name="Shape 31"/>
          <p:cNvSpPr/>
          <p:nvPr/>
        </p:nvSpPr>
        <p:spPr>
          <a:xfrm>
            <a:off x="4754880" y="3986640"/>
            <a:ext cx="4114080" cy="749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8" name="Shape 32"/>
          <p:cNvSpPr/>
          <p:nvPr/>
        </p:nvSpPr>
        <p:spPr>
          <a:xfrm>
            <a:off x="4864680" y="4142160"/>
            <a:ext cx="401760" cy="4017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33"/>
          <p:cNvSpPr/>
          <p:nvPr/>
        </p:nvSpPr>
        <p:spPr>
          <a:xfrm>
            <a:off x="4864680" y="4142160"/>
            <a:ext cx="4017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DejaVu Sans"/>
              </a:rPr>
              <a:t>8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0" name="Text 34"/>
          <p:cNvSpPr/>
          <p:nvPr/>
        </p:nvSpPr>
        <p:spPr>
          <a:xfrm>
            <a:off x="5349240" y="4087440"/>
            <a:ext cx="3409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Practical Code Examples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1"/>
          <p:cNvSpPr/>
          <p:nvPr/>
        </p:nvSpPr>
        <p:spPr>
          <a:xfrm>
            <a:off x="-1371600" y="-1371600"/>
            <a:ext cx="4571280" cy="457128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Shape 2"/>
          <p:cNvSpPr/>
          <p:nvPr/>
        </p:nvSpPr>
        <p:spPr>
          <a:xfrm>
            <a:off x="5943600" y="2286000"/>
            <a:ext cx="4114080" cy="411408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Shape 3"/>
          <p:cNvSpPr/>
          <p:nvPr/>
        </p:nvSpPr>
        <p:spPr>
          <a:xfrm>
            <a:off x="3474720" y="0"/>
            <a:ext cx="36000" cy="5142960"/>
          </a:xfrm>
          <a:prstGeom prst="rect">
            <a:avLst/>
          </a:prstGeom>
          <a:solidFill>
            <a:srgbClr val="00b4d8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4"/>
          <p:cNvSpPr/>
          <p:nvPr/>
        </p:nvSpPr>
        <p:spPr>
          <a:xfrm>
            <a:off x="4023360" y="2103120"/>
            <a:ext cx="109656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"/>
          <p:cNvSpPr/>
          <p:nvPr/>
        </p:nvSpPr>
        <p:spPr>
          <a:xfrm>
            <a:off x="4023360" y="155448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6" strike="noStrike">
                <a:solidFill>
                  <a:srgbClr val="48cae4"/>
                </a:solidFill>
                <a:latin typeface="Calibri"/>
                <a:ea typeface="Calibri"/>
              </a:rPr>
              <a:t>PART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4023360" y="2194560"/>
            <a:ext cx="47541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The Challenge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4023360" y="3246120"/>
            <a:ext cx="4754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b0c4de"/>
                </a:solidFill>
                <a:latin typeface="Calibri"/>
                <a:ea typeface="Calibri"/>
              </a:rPr>
              <a:t>Understanding why LLMs need to communicate with machines, not just humans.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99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320" cy="146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2"/>
          <p:cNvSpPr/>
          <p:nvPr/>
        </p:nvSpPr>
        <p:spPr>
          <a:xfrm>
            <a:off x="411480" y="18288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Current State of LLMs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320040" y="1188720"/>
            <a:ext cx="3839760" cy="356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4"/>
          <p:cNvSpPr/>
          <p:nvPr/>
        </p:nvSpPr>
        <p:spPr>
          <a:xfrm>
            <a:off x="320040" y="1188720"/>
            <a:ext cx="3839760" cy="47484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" name="Image 0" descr="preencoded.png"/>
          <p:cNvPicPr/>
          <p:nvPr/>
        </p:nvPicPr>
        <p:blipFill>
          <a:blip r:embed="rId1"/>
          <a:stretch/>
        </p:blipFill>
        <p:spPr>
          <a:xfrm>
            <a:off x="502920" y="126180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106" name="Text 5"/>
          <p:cNvSpPr/>
          <p:nvPr/>
        </p:nvSpPr>
        <p:spPr>
          <a:xfrm>
            <a:off x="868680" y="1234440"/>
            <a:ext cx="3181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TODAY: LLMs Can Talk to Humans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07" name="Image 1" descr="preencoded.png"/>
          <p:cNvPicPr/>
          <p:nvPr/>
        </p:nvPicPr>
        <p:blipFill>
          <a:blip r:embed="rId2"/>
          <a:stretch/>
        </p:blipFill>
        <p:spPr>
          <a:xfrm>
            <a:off x="457200" y="182880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08" name="Text 6"/>
          <p:cNvSpPr/>
          <p:nvPr/>
        </p:nvSpPr>
        <p:spPr>
          <a:xfrm>
            <a:off x="822960" y="1792080"/>
            <a:ext cx="3199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Conversation-based interaction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09" name="Image 2" descr="preencoded.png"/>
          <p:cNvPicPr/>
          <p:nvPr/>
        </p:nvPicPr>
        <p:blipFill>
          <a:blip r:embed="rId3"/>
          <a:stretch/>
        </p:blipFill>
        <p:spPr>
          <a:xfrm>
            <a:off x="457200" y="24688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10" name="Text 7"/>
          <p:cNvSpPr/>
          <p:nvPr/>
        </p:nvSpPr>
        <p:spPr>
          <a:xfrm>
            <a:off x="822960" y="2432160"/>
            <a:ext cx="3199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Natural language responses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11" name="Image 3" descr="preencoded.png"/>
          <p:cNvPicPr/>
          <p:nvPr/>
        </p:nvPicPr>
        <p:blipFill>
          <a:blip r:embed="rId4"/>
          <a:stretch/>
        </p:blipFill>
        <p:spPr>
          <a:xfrm>
            <a:off x="457200" y="310896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12" name="Text 8"/>
          <p:cNvSpPr/>
          <p:nvPr/>
        </p:nvSpPr>
        <p:spPr>
          <a:xfrm>
            <a:off x="822960" y="3072240"/>
            <a:ext cx="3199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Great for Q&amp;A and chat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13" name="Image 4" descr="preencoded.png"/>
          <p:cNvPicPr/>
          <p:nvPr/>
        </p:nvPicPr>
        <p:blipFill>
          <a:blip r:embed="rId5"/>
          <a:stretch/>
        </p:blipFill>
        <p:spPr>
          <a:xfrm>
            <a:off x="4251960" y="228600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114" name="Shape 9"/>
          <p:cNvSpPr/>
          <p:nvPr/>
        </p:nvSpPr>
        <p:spPr>
          <a:xfrm>
            <a:off x="4800600" y="1188720"/>
            <a:ext cx="3976920" cy="356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0"/>
          <p:cNvSpPr/>
          <p:nvPr/>
        </p:nvSpPr>
        <p:spPr>
          <a:xfrm>
            <a:off x="4800600" y="1188720"/>
            <a:ext cx="3976920" cy="474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6" name="Image 5" descr="preencoded.png"/>
          <p:cNvPicPr/>
          <p:nvPr/>
        </p:nvPicPr>
        <p:blipFill>
          <a:blip r:embed="rId6"/>
          <a:stretch/>
        </p:blipFill>
        <p:spPr>
          <a:xfrm>
            <a:off x="4956120" y="126180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117" name="Text 11"/>
          <p:cNvSpPr/>
          <p:nvPr/>
        </p:nvSpPr>
        <p:spPr>
          <a:xfrm>
            <a:off x="5321880" y="1234440"/>
            <a:ext cx="33458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THE GOAL: Enable LLMs to Talk to Machines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18" name="Image 6" descr="preencoded.png"/>
          <p:cNvPicPr/>
          <p:nvPr/>
        </p:nvPicPr>
        <p:blipFill>
          <a:blip r:embed="rId7"/>
          <a:stretch/>
        </p:blipFill>
        <p:spPr>
          <a:xfrm>
            <a:off x="4937760" y="182880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19" name="Text 12"/>
          <p:cNvSpPr/>
          <p:nvPr/>
        </p:nvSpPr>
        <p:spPr>
          <a:xfrm>
            <a:off x="5303520" y="1792080"/>
            <a:ext cx="3382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Connect with databases directly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20" name="Image 7" descr="preencoded.png"/>
          <p:cNvPicPr/>
          <p:nvPr/>
        </p:nvPicPr>
        <p:blipFill>
          <a:blip r:embed="rId8"/>
          <a:stretch/>
        </p:blipFill>
        <p:spPr>
          <a:xfrm>
            <a:off x="4937760" y="24688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21" name="Text 13"/>
          <p:cNvSpPr/>
          <p:nvPr/>
        </p:nvSpPr>
        <p:spPr>
          <a:xfrm>
            <a:off x="5303520" y="2432160"/>
            <a:ext cx="3382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Integrate with APIs seamlessly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22" name="Image 8" descr="preencoded.png"/>
          <p:cNvPicPr/>
          <p:nvPr/>
        </p:nvPicPr>
        <p:blipFill>
          <a:blip r:embed="rId9"/>
          <a:stretch/>
        </p:blipFill>
        <p:spPr>
          <a:xfrm>
            <a:off x="4937760" y="310896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23" name="Text 14"/>
          <p:cNvSpPr/>
          <p:nvPr/>
        </p:nvSpPr>
        <p:spPr>
          <a:xfrm>
            <a:off x="5303520" y="3072240"/>
            <a:ext cx="3382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Power intelligent agents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24" name="Image 9" descr="preencoded.png"/>
          <p:cNvPicPr/>
          <p:nvPr/>
        </p:nvPicPr>
        <p:blipFill>
          <a:blip r:embed="rId10"/>
          <a:stretch/>
        </p:blipFill>
        <p:spPr>
          <a:xfrm>
            <a:off x="4937760" y="374904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25" name="Text 15"/>
          <p:cNvSpPr/>
          <p:nvPr/>
        </p:nvSpPr>
        <p:spPr>
          <a:xfrm>
            <a:off x="5303520" y="3712320"/>
            <a:ext cx="3382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Enable system-to-system communication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2"/>
          <p:cNvSpPr/>
          <p:nvPr/>
        </p:nvSpPr>
        <p:spPr>
          <a:xfrm>
            <a:off x="411480" y="18288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Understanding Unstructured Output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320040" y="1188720"/>
            <a:ext cx="2742480" cy="356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Shape 4"/>
          <p:cNvSpPr/>
          <p:nvPr/>
        </p:nvSpPr>
        <p:spPr>
          <a:xfrm>
            <a:off x="320040" y="1188720"/>
            <a:ext cx="2742480" cy="5022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1" name="Image 0" descr="preencoded.png"/>
          <p:cNvPicPr/>
          <p:nvPr/>
        </p:nvPicPr>
        <p:blipFill>
          <a:blip r:embed="rId1"/>
          <a:stretch/>
        </p:blipFill>
        <p:spPr>
          <a:xfrm>
            <a:off x="429840" y="126180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132" name="Text 5"/>
          <p:cNvSpPr/>
          <p:nvPr/>
        </p:nvSpPr>
        <p:spPr>
          <a:xfrm>
            <a:off x="822960" y="1234440"/>
            <a:ext cx="2148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Normal LLM Interaction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502920" y="1892880"/>
            <a:ext cx="109080" cy="1090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7"/>
          <p:cNvSpPr/>
          <p:nvPr/>
        </p:nvSpPr>
        <p:spPr>
          <a:xfrm>
            <a:off x="685800" y="1828800"/>
            <a:ext cx="2285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User sends a text prompt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502920" y="2606040"/>
            <a:ext cx="109080" cy="1090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9"/>
          <p:cNvSpPr/>
          <p:nvPr/>
        </p:nvSpPr>
        <p:spPr>
          <a:xfrm>
            <a:off x="685800" y="2541960"/>
            <a:ext cx="2285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processes and generates response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502920" y="3319200"/>
            <a:ext cx="109080" cy="1090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1"/>
          <p:cNvSpPr/>
          <p:nvPr/>
        </p:nvSpPr>
        <p:spPr>
          <a:xfrm>
            <a:off x="685800" y="3255120"/>
            <a:ext cx="2285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Response is in plain text format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3264480" y="1188720"/>
            <a:ext cx="2742480" cy="356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Shape 13"/>
          <p:cNvSpPr/>
          <p:nvPr/>
        </p:nvSpPr>
        <p:spPr>
          <a:xfrm>
            <a:off x="3264480" y="1188720"/>
            <a:ext cx="2742480" cy="5022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1" name="Image 1" descr="preencoded.png"/>
          <p:cNvPicPr/>
          <p:nvPr/>
        </p:nvPicPr>
        <p:blipFill>
          <a:blip r:embed="rId2"/>
          <a:stretch/>
        </p:blipFill>
        <p:spPr>
          <a:xfrm>
            <a:off x="3374280" y="126180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142" name="Text 14"/>
          <p:cNvSpPr/>
          <p:nvPr/>
        </p:nvSpPr>
        <p:spPr>
          <a:xfrm>
            <a:off x="3767400" y="1234440"/>
            <a:ext cx="2148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Example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Shape 15"/>
          <p:cNvSpPr/>
          <p:nvPr/>
        </p:nvSpPr>
        <p:spPr>
          <a:xfrm>
            <a:off x="3447360" y="1892880"/>
            <a:ext cx="109080" cy="1090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6"/>
          <p:cNvSpPr/>
          <p:nvPr/>
        </p:nvSpPr>
        <p:spPr>
          <a:xfrm>
            <a:off x="3630240" y="1828800"/>
            <a:ext cx="2285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Question: "What is the capital of India?"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Shape 17"/>
          <p:cNvSpPr/>
          <p:nvPr/>
        </p:nvSpPr>
        <p:spPr>
          <a:xfrm>
            <a:off x="3447360" y="2606040"/>
            <a:ext cx="109080" cy="1090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8"/>
          <p:cNvSpPr/>
          <p:nvPr/>
        </p:nvSpPr>
        <p:spPr>
          <a:xfrm>
            <a:off x="3630240" y="2541960"/>
            <a:ext cx="2285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Response: "New Delhi is the capital of India."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6208920" y="1188720"/>
            <a:ext cx="2742480" cy="3565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Shape 20"/>
          <p:cNvSpPr/>
          <p:nvPr/>
        </p:nvSpPr>
        <p:spPr>
          <a:xfrm>
            <a:off x="6208920" y="1188720"/>
            <a:ext cx="2742480" cy="50220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9" name="Image 2" descr="preencoded.png"/>
          <p:cNvPicPr/>
          <p:nvPr/>
        </p:nvPicPr>
        <p:blipFill>
          <a:blip r:embed="rId3"/>
          <a:stretch/>
        </p:blipFill>
        <p:spPr>
          <a:xfrm>
            <a:off x="6318360" y="126180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150" name="Text 21"/>
          <p:cNvSpPr/>
          <p:nvPr/>
        </p:nvSpPr>
        <p:spPr>
          <a:xfrm>
            <a:off x="6711840" y="1234440"/>
            <a:ext cx="2148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Why "Unstructured"?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Shape 22"/>
          <p:cNvSpPr/>
          <p:nvPr/>
        </p:nvSpPr>
        <p:spPr>
          <a:xfrm>
            <a:off x="6391800" y="1892880"/>
            <a:ext cx="109080" cy="109080"/>
          </a:xfrm>
          <a:prstGeom prst="ellipse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23"/>
          <p:cNvSpPr/>
          <p:nvPr/>
        </p:nvSpPr>
        <p:spPr>
          <a:xfrm>
            <a:off x="6574680" y="1828800"/>
            <a:ext cx="2285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Text has no predefined structure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Shape 24"/>
          <p:cNvSpPr/>
          <p:nvPr/>
        </p:nvSpPr>
        <p:spPr>
          <a:xfrm>
            <a:off x="6391800" y="2606040"/>
            <a:ext cx="109080" cy="109080"/>
          </a:xfrm>
          <a:prstGeom prst="ellipse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25"/>
          <p:cNvSpPr/>
          <p:nvPr/>
        </p:nvSpPr>
        <p:spPr>
          <a:xfrm>
            <a:off x="6574680" y="2541960"/>
            <a:ext cx="2285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Difficult for machines to parse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5" name="Shape 26"/>
          <p:cNvSpPr/>
          <p:nvPr/>
        </p:nvSpPr>
        <p:spPr>
          <a:xfrm>
            <a:off x="6391800" y="3319200"/>
            <a:ext cx="109080" cy="109080"/>
          </a:xfrm>
          <a:prstGeom prst="ellipse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7"/>
          <p:cNvSpPr/>
          <p:nvPr/>
        </p:nvSpPr>
        <p:spPr>
          <a:xfrm>
            <a:off x="6574680" y="3255120"/>
            <a:ext cx="2285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Cannot integrate with databases/APIs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hape 1"/>
          <p:cNvSpPr/>
          <p:nvPr/>
        </p:nvSpPr>
        <p:spPr>
          <a:xfrm>
            <a:off x="-1371600" y="-1371600"/>
            <a:ext cx="4571280" cy="457128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2"/>
          <p:cNvSpPr/>
          <p:nvPr/>
        </p:nvSpPr>
        <p:spPr>
          <a:xfrm>
            <a:off x="5943600" y="2286000"/>
            <a:ext cx="4114080" cy="411408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3"/>
          <p:cNvSpPr/>
          <p:nvPr/>
        </p:nvSpPr>
        <p:spPr>
          <a:xfrm>
            <a:off x="4023360" y="2103120"/>
            <a:ext cx="109656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4"/>
          <p:cNvSpPr/>
          <p:nvPr/>
        </p:nvSpPr>
        <p:spPr>
          <a:xfrm>
            <a:off x="4023360" y="155448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6" strike="noStrike">
                <a:solidFill>
                  <a:srgbClr val="48cae4"/>
                </a:solidFill>
                <a:latin typeface="Calibri"/>
                <a:ea typeface="Calibri"/>
              </a:rPr>
              <a:t>PART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4023360" y="2194560"/>
            <a:ext cx="47541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163" name="Text 6"/>
          <p:cNvSpPr/>
          <p:nvPr/>
        </p:nvSpPr>
        <p:spPr>
          <a:xfrm>
            <a:off x="4023360" y="3246120"/>
            <a:ext cx="4754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b0c4de"/>
                </a:solidFill>
                <a:latin typeface="Calibri"/>
                <a:ea typeface="Calibri"/>
              </a:rPr>
              <a:t>Returning well-defined, machine-readable data instead of free-form text.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164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320" cy="146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2"/>
          <p:cNvSpPr/>
          <p:nvPr/>
        </p:nvSpPr>
        <p:spPr>
          <a:xfrm>
            <a:off x="411480" y="18288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What is Structured Output?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320040" y="1143000"/>
            <a:ext cx="8503200" cy="10051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4"/>
          <p:cNvSpPr/>
          <p:nvPr/>
        </p:nvSpPr>
        <p:spPr>
          <a:xfrm>
            <a:off x="320040" y="1143000"/>
            <a:ext cx="72360" cy="1005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5"/>
          <p:cNvSpPr/>
          <p:nvPr/>
        </p:nvSpPr>
        <p:spPr>
          <a:xfrm>
            <a:off x="502920" y="118872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502920" y="146304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2e42"/>
                </a:solidFill>
                <a:latin typeface="Calibri"/>
                <a:ea typeface="Calibri"/>
              </a:rPr>
              <a:t>Structured output refers to having language models return responses in a well-defined data format (like JSON) rather than free-form text.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320040" y="233172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a2e42"/>
                </a:solidFill>
                <a:latin typeface="Calibri"/>
                <a:ea typeface="Calibri"/>
              </a:rPr>
              <a:t>Key Benefits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365760" y="2743200"/>
            <a:ext cx="255240" cy="255240"/>
          </a:xfrm>
          <a:prstGeom prst="rect">
            <a:avLst/>
          </a:prstGeom>
          <a:ln w="0">
            <a:noFill/>
          </a:ln>
        </p:spPr>
      </p:pic>
      <p:sp>
        <p:nvSpPr>
          <p:cNvPr id="174" name="Text 8"/>
          <p:cNvSpPr/>
          <p:nvPr/>
        </p:nvSpPr>
        <p:spPr>
          <a:xfrm>
            <a:off x="713160" y="27158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Easier to parse programmatically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75" name="Image 1" descr="preencoded.png"/>
          <p:cNvPicPr/>
          <p:nvPr/>
        </p:nvPicPr>
        <p:blipFill>
          <a:blip r:embed="rId2"/>
          <a:stretch/>
        </p:blipFill>
        <p:spPr>
          <a:xfrm>
            <a:off x="365760" y="3200400"/>
            <a:ext cx="255240" cy="255240"/>
          </a:xfrm>
          <a:prstGeom prst="rect">
            <a:avLst/>
          </a:prstGeom>
          <a:ln w="0">
            <a:noFill/>
          </a:ln>
        </p:spPr>
      </p:pic>
      <p:sp>
        <p:nvSpPr>
          <p:cNvPr id="176" name="Text 9"/>
          <p:cNvSpPr/>
          <p:nvPr/>
        </p:nvSpPr>
        <p:spPr>
          <a:xfrm>
            <a:off x="713160" y="31730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Can integrate with databases and APIs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77" name="Image 2" descr="preencoded.png"/>
          <p:cNvPicPr/>
          <p:nvPr/>
        </p:nvPicPr>
        <p:blipFill>
          <a:blip r:embed="rId3"/>
          <a:stretch/>
        </p:blipFill>
        <p:spPr>
          <a:xfrm>
            <a:off x="365760" y="3657600"/>
            <a:ext cx="255240" cy="255240"/>
          </a:xfrm>
          <a:prstGeom prst="rect">
            <a:avLst/>
          </a:prstGeom>
          <a:ln w="0">
            <a:noFill/>
          </a:ln>
        </p:spPr>
      </p:pic>
      <p:sp>
        <p:nvSpPr>
          <p:cNvPr id="178" name="Text 10"/>
          <p:cNvSpPr/>
          <p:nvPr/>
        </p:nvSpPr>
        <p:spPr>
          <a:xfrm>
            <a:off x="713160" y="36302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Enables machine-to-machine communication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79" name="Image 3" descr="preencoded.png"/>
          <p:cNvPicPr/>
          <p:nvPr/>
        </p:nvPicPr>
        <p:blipFill>
          <a:blip r:embed="rId4"/>
          <a:stretch/>
        </p:blipFill>
        <p:spPr>
          <a:xfrm>
            <a:off x="365760" y="4114800"/>
            <a:ext cx="255240" cy="255240"/>
          </a:xfrm>
          <a:prstGeom prst="rect">
            <a:avLst/>
          </a:prstGeom>
          <a:ln w="0">
            <a:noFill/>
          </a:ln>
        </p:spPr>
      </p:pic>
      <p:sp>
        <p:nvSpPr>
          <p:cNvPr id="180" name="Text 11"/>
          <p:cNvSpPr/>
          <p:nvPr/>
        </p:nvSpPr>
        <p:spPr>
          <a:xfrm>
            <a:off x="713160" y="408744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Makes LLMs work with other systems seamlessly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1" name="Shape 12"/>
          <p:cNvSpPr/>
          <p:nvPr/>
        </p:nvSpPr>
        <p:spPr>
          <a:xfrm>
            <a:off x="4754880" y="2286000"/>
            <a:ext cx="4068360" cy="24681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Text 13"/>
          <p:cNvSpPr/>
          <p:nvPr/>
        </p:nvSpPr>
        <p:spPr>
          <a:xfrm>
            <a:off x="4892040" y="237744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Example JSON 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Text 14"/>
          <p:cNvSpPr/>
          <p:nvPr/>
        </p:nvSpPr>
        <p:spPr>
          <a:xfrm>
            <a:off x="4892040" y="2761560"/>
            <a:ext cx="383976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[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{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"time": "Morning",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"activity": "Shanivar wada"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},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{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"time": "Evening",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"activity": "Dinner at hotel"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2"/>
          <p:cNvSpPr/>
          <p:nvPr/>
        </p:nvSpPr>
        <p:spPr>
          <a:xfrm>
            <a:off x="411480" y="18288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Unstructured vs Structured Output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320040" y="1170360"/>
            <a:ext cx="8503200" cy="45648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4"/>
          <p:cNvSpPr/>
          <p:nvPr/>
        </p:nvSpPr>
        <p:spPr>
          <a:xfrm>
            <a:off x="457200" y="120708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Prompt: "Create a one-day travel plan for Pune"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320040" y="1719000"/>
            <a:ext cx="3931200" cy="3016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0" name="Shape 6"/>
          <p:cNvSpPr/>
          <p:nvPr/>
        </p:nvSpPr>
        <p:spPr>
          <a:xfrm>
            <a:off x="320040" y="1719000"/>
            <a:ext cx="3931200" cy="43812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7"/>
          <p:cNvSpPr/>
          <p:nvPr/>
        </p:nvSpPr>
        <p:spPr>
          <a:xfrm>
            <a:off x="457200" y="1764720"/>
            <a:ext cx="3656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Unstructured (Plain Text)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457200" y="2240280"/>
            <a:ext cx="3656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a5a78"/>
                </a:solidFill>
                <a:latin typeface="Calibri"/>
                <a:ea typeface="Calibri"/>
              </a:rPr>
              <a:t>"Here is a suggested plan: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a5a78"/>
                </a:solidFill>
                <a:latin typeface="Calibri"/>
                <a:ea typeface="Calibri"/>
              </a:rPr>
              <a:t>Morning - visit Shanivar wada,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a5a78"/>
                </a:solidFill>
                <a:latin typeface="Calibri"/>
                <a:ea typeface="Calibri"/>
              </a:rPr>
              <a:t>Afternoon - visit a Dagadusheth temple,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a5a78"/>
                </a:solidFill>
                <a:latin typeface="Calibri"/>
                <a:ea typeface="Calibri"/>
              </a:rPr>
              <a:t>Evening - have dinner."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193" name="Image 0" descr="preencoded.png"/>
          <p:cNvPicPr/>
          <p:nvPr/>
        </p:nvPicPr>
        <p:blipFill>
          <a:blip r:embed="rId1"/>
          <a:stretch/>
        </p:blipFill>
        <p:spPr>
          <a:xfrm>
            <a:off x="457200" y="333756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194" name="Text 9"/>
          <p:cNvSpPr/>
          <p:nvPr/>
        </p:nvSpPr>
        <p:spPr>
          <a:xfrm>
            <a:off x="777240" y="331020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Hard to parse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95" name="Image 1" descr="preencoded.png"/>
          <p:cNvPicPr/>
          <p:nvPr/>
        </p:nvPicPr>
        <p:blipFill>
          <a:blip r:embed="rId2"/>
          <a:stretch/>
        </p:blipFill>
        <p:spPr>
          <a:xfrm>
            <a:off x="457200" y="37764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196" name="Text 10"/>
          <p:cNvSpPr/>
          <p:nvPr/>
        </p:nvSpPr>
        <p:spPr>
          <a:xfrm>
            <a:off x="777240" y="374904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No consistent format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97" name="Image 2" descr="preencoded.png"/>
          <p:cNvPicPr/>
          <p:nvPr/>
        </p:nvPicPr>
        <p:blipFill>
          <a:blip r:embed="rId3"/>
          <a:stretch/>
        </p:blipFill>
        <p:spPr>
          <a:xfrm>
            <a:off x="457200" y="421524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198" name="Text 11"/>
          <p:cNvSpPr/>
          <p:nvPr/>
        </p:nvSpPr>
        <p:spPr>
          <a:xfrm>
            <a:off x="777240" y="418788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Cannot use with APIs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4343400" y="2651760"/>
            <a:ext cx="456480" cy="4564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3"/>
          <p:cNvSpPr/>
          <p:nvPr/>
        </p:nvSpPr>
        <p:spPr>
          <a:xfrm>
            <a:off x="4343400" y="26517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DejaVu Sans"/>
              </a:rPr>
              <a:t>VS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1" name="Shape 14"/>
          <p:cNvSpPr/>
          <p:nvPr/>
        </p:nvSpPr>
        <p:spPr>
          <a:xfrm>
            <a:off x="4892040" y="1719000"/>
            <a:ext cx="3931200" cy="3016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15"/>
          <p:cNvSpPr/>
          <p:nvPr/>
        </p:nvSpPr>
        <p:spPr>
          <a:xfrm>
            <a:off x="4892040" y="1719000"/>
            <a:ext cx="3931200" cy="43812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6"/>
          <p:cNvSpPr/>
          <p:nvPr/>
        </p:nvSpPr>
        <p:spPr>
          <a:xfrm>
            <a:off x="5029200" y="1764720"/>
            <a:ext cx="3656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✓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Structured (JSON)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4937760" y="2231280"/>
            <a:ext cx="3794040" cy="111492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8"/>
          <p:cNvSpPr/>
          <p:nvPr/>
        </p:nvSpPr>
        <p:spPr>
          <a:xfrm>
            <a:off x="5010840" y="2286000"/>
            <a:ext cx="36111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8cae4"/>
                </a:solidFill>
                <a:latin typeface="Consolas"/>
                <a:ea typeface="Consolas"/>
              </a:rPr>
              <a:t>[{"time":"Morning","activity":"shanivar wada"},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8cae4"/>
                </a:solidFill>
                <a:latin typeface="Consolas"/>
                <a:ea typeface="Consolas"/>
              </a:rPr>
              <a:t>{"time":"Afternoon","activity":"Dagadusheth temple"},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8cae4"/>
                </a:solidFill>
                <a:latin typeface="Consolas"/>
                <a:ea typeface="Consolas"/>
              </a:rPr>
              <a:t>{"time":"Evening","activity":"Dinner at hotel"}]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206" name="Image 3" descr="preencoded.png"/>
          <p:cNvPicPr/>
          <p:nvPr/>
        </p:nvPicPr>
        <p:blipFill>
          <a:blip r:embed="rId4"/>
          <a:stretch/>
        </p:blipFill>
        <p:spPr>
          <a:xfrm>
            <a:off x="4983480" y="333756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207" name="Text 19"/>
          <p:cNvSpPr/>
          <p:nvPr/>
        </p:nvSpPr>
        <p:spPr>
          <a:xfrm>
            <a:off x="5303520" y="331020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Easy to parse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208" name="Image 4" descr="preencoded.png"/>
          <p:cNvPicPr/>
          <p:nvPr/>
        </p:nvPicPr>
        <p:blipFill>
          <a:blip r:embed="rId5"/>
          <a:stretch/>
        </p:blipFill>
        <p:spPr>
          <a:xfrm>
            <a:off x="4983480" y="37764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209" name="Text 20"/>
          <p:cNvSpPr/>
          <p:nvPr/>
        </p:nvSpPr>
        <p:spPr>
          <a:xfrm>
            <a:off x="5303520" y="374904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Consistent structure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210" name="Image 5" descr="preencoded.png"/>
          <p:cNvPicPr/>
          <p:nvPr/>
        </p:nvPicPr>
        <p:blipFill>
          <a:blip r:embed="rId6"/>
          <a:stretch/>
        </p:blipFill>
        <p:spPr>
          <a:xfrm>
            <a:off x="4983480" y="421524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211" name="Text 21"/>
          <p:cNvSpPr/>
          <p:nvPr/>
        </p:nvSpPr>
        <p:spPr>
          <a:xfrm>
            <a:off x="5303520" y="4187880"/>
            <a:ext cx="3382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Ready for database/API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1"/>
          <p:cNvSpPr/>
          <p:nvPr/>
        </p:nvSpPr>
        <p:spPr>
          <a:xfrm>
            <a:off x="-1371600" y="-1371600"/>
            <a:ext cx="4571280" cy="457128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Shape 2"/>
          <p:cNvSpPr/>
          <p:nvPr/>
        </p:nvSpPr>
        <p:spPr>
          <a:xfrm>
            <a:off x="5943600" y="2286000"/>
            <a:ext cx="4114080" cy="411408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3"/>
          <p:cNvSpPr/>
          <p:nvPr/>
        </p:nvSpPr>
        <p:spPr>
          <a:xfrm>
            <a:off x="4023360" y="2103120"/>
            <a:ext cx="109656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4"/>
          <p:cNvSpPr/>
          <p:nvPr/>
        </p:nvSpPr>
        <p:spPr>
          <a:xfrm>
            <a:off x="4023360" y="155448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6" strike="noStrike">
                <a:solidFill>
                  <a:srgbClr val="48cae4"/>
                </a:solidFill>
                <a:latin typeface="Calibri"/>
                <a:ea typeface="Calibri"/>
              </a:rPr>
              <a:t>PART 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4023360" y="2194560"/>
            <a:ext cx="47541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Use Cases for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4023360" y="3703320"/>
            <a:ext cx="47541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b0c4de"/>
                </a:solidFill>
                <a:latin typeface="Calibri"/>
                <a:ea typeface="Calibri"/>
              </a:rPr>
              <a:t>Real-world applications across data extraction, APIs, and AI agents.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219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320" cy="146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2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223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Use Case 1: Data Extraction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320040" y="1152000"/>
            <a:ext cx="8503200" cy="419760"/>
          </a:xfrm>
          <a:prstGeom prst="rect">
            <a:avLst/>
          </a:prstGeom>
          <a:solidFill>
            <a:srgbClr val="0096c7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4"/>
          <p:cNvSpPr/>
          <p:nvPr/>
        </p:nvSpPr>
        <p:spPr>
          <a:xfrm>
            <a:off x="457200" y="118872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📌  </a:t>
            </a: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Scenario: Job Portal Resume Processing — Building a system like Naukri.com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320040" y="1737360"/>
            <a:ext cx="4388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42"/>
                </a:solidFill>
                <a:latin typeface="Calibri"/>
                <a:ea typeface="Calibri"/>
              </a:rPr>
              <a:t>Workflow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320040" y="2148840"/>
            <a:ext cx="328320" cy="3283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7"/>
          <p:cNvSpPr/>
          <p:nvPr/>
        </p:nvSpPr>
        <p:spPr>
          <a:xfrm>
            <a:off x="320040" y="21488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DejaVu San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470880" y="2477880"/>
            <a:ext cx="17640" cy="218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9"/>
          <p:cNvSpPr/>
          <p:nvPr/>
        </p:nvSpPr>
        <p:spPr>
          <a:xfrm>
            <a:off x="749880" y="214884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Candidate uploads resume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320040" y="2697480"/>
            <a:ext cx="328320" cy="3283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1"/>
          <p:cNvSpPr/>
          <p:nvPr/>
        </p:nvSpPr>
        <p:spPr>
          <a:xfrm>
            <a:off x="320040" y="269748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DejaVu San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470880" y="3026520"/>
            <a:ext cx="17640" cy="218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3"/>
          <p:cNvSpPr/>
          <p:nvPr/>
        </p:nvSpPr>
        <p:spPr>
          <a:xfrm>
            <a:off x="749880" y="269748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Extract text from resume file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320040" y="3246120"/>
            <a:ext cx="328320" cy="3283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15"/>
          <p:cNvSpPr/>
          <p:nvPr/>
        </p:nvSpPr>
        <p:spPr>
          <a:xfrm>
            <a:off x="320040" y="324612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DejaVu San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470880" y="3575160"/>
            <a:ext cx="17640" cy="218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17"/>
          <p:cNvSpPr/>
          <p:nvPr/>
        </p:nvSpPr>
        <p:spPr>
          <a:xfrm>
            <a:off x="749880" y="32461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Send to LLM with structured output schema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9" name="Shape 18"/>
          <p:cNvSpPr/>
          <p:nvPr/>
        </p:nvSpPr>
        <p:spPr>
          <a:xfrm>
            <a:off x="320040" y="3794760"/>
            <a:ext cx="328320" cy="3283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9"/>
          <p:cNvSpPr/>
          <p:nvPr/>
        </p:nvSpPr>
        <p:spPr>
          <a:xfrm>
            <a:off x="320040" y="37947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DejaVu Sans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1" name="Shape 20"/>
          <p:cNvSpPr/>
          <p:nvPr/>
        </p:nvSpPr>
        <p:spPr>
          <a:xfrm>
            <a:off x="470880" y="4123800"/>
            <a:ext cx="17640" cy="218880"/>
          </a:xfrm>
          <a:prstGeom prst="rect">
            <a:avLst/>
          </a:prstGeom>
          <a:solidFill>
            <a:srgbClr val="b0c4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21"/>
          <p:cNvSpPr/>
          <p:nvPr/>
        </p:nvSpPr>
        <p:spPr>
          <a:xfrm>
            <a:off x="749880" y="379476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LLM returns JSON with required fields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3" name="Shape 22"/>
          <p:cNvSpPr/>
          <p:nvPr/>
        </p:nvSpPr>
        <p:spPr>
          <a:xfrm>
            <a:off x="320040" y="4343400"/>
            <a:ext cx="328320" cy="32832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3"/>
          <p:cNvSpPr/>
          <p:nvPr/>
        </p:nvSpPr>
        <p:spPr>
          <a:xfrm>
            <a:off x="320040" y="434340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1b2a"/>
                </a:solidFill>
                <a:latin typeface="Calibri"/>
                <a:ea typeface="DejaVu Sans"/>
              </a:rPr>
              <a:t>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749880" y="434340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Insert data into database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6" name="Shape 25"/>
          <p:cNvSpPr/>
          <p:nvPr/>
        </p:nvSpPr>
        <p:spPr>
          <a:xfrm>
            <a:off x="4937760" y="1737360"/>
            <a:ext cx="3885480" cy="3062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7" name="Shape 26"/>
          <p:cNvSpPr/>
          <p:nvPr/>
        </p:nvSpPr>
        <p:spPr>
          <a:xfrm>
            <a:off x="4937760" y="1737360"/>
            <a:ext cx="3885480" cy="41976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27"/>
          <p:cNvSpPr/>
          <p:nvPr/>
        </p:nvSpPr>
        <p:spPr>
          <a:xfrm>
            <a:off x="5074920" y="1783080"/>
            <a:ext cx="3656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📋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Data to Extract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9" name="Shape 28"/>
          <p:cNvSpPr/>
          <p:nvPr/>
        </p:nvSpPr>
        <p:spPr>
          <a:xfrm>
            <a:off x="5029200" y="2286000"/>
            <a:ext cx="3656880" cy="4564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Shape 29"/>
          <p:cNvSpPr/>
          <p:nvPr/>
        </p:nvSpPr>
        <p:spPr>
          <a:xfrm>
            <a:off x="5029200" y="2286000"/>
            <a:ext cx="54000" cy="4564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30"/>
          <p:cNvSpPr/>
          <p:nvPr/>
        </p:nvSpPr>
        <p:spPr>
          <a:xfrm>
            <a:off x="5184720" y="23317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Candidate name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2" name="Shape 31"/>
          <p:cNvSpPr/>
          <p:nvPr/>
        </p:nvSpPr>
        <p:spPr>
          <a:xfrm>
            <a:off x="5029200" y="2880360"/>
            <a:ext cx="3656880" cy="4564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Shape 32"/>
          <p:cNvSpPr/>
          <p:nvPr/>
        </p:nvSpPr>
        <p:spPr>
          <a:xfrm>
            <a:off x="5029200" y="2880360"/>
            <a:ext cx="54000" cy="4564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33"/>
          <p:cNvSpPr/>
          <p:nvPr/>
        </p:nvSpPr>
        <p:spPr>
          <a:xfrm>
            <a:off x="5184720" y="292608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Last company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5" name="Shape 34"/>
          <p:cNvSpPr/>
          <p:nvPr/>
        </p:nvSpPr>
        <p:spPr>
          <a:xfrm>
            <a:off x="5029200" y="3474720"/>
            <a:ext cx="3656880" cy="4564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Shape 35"/>
          <p:cNvSpPr/>
          <p:nvPr/>
        </p:nvSpPr>
        <p:spPr>
          <a:xfrm>
            <a:off x="5029200" y="3474720"/>
            <a:ext cx="54000" cy="4564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36"/>
          <p:cNvSpPr/>
          <p:nvPr/>
        </p:nvSpPr>
        <p:spPr>
          <a:xfrm>
            <a:off x="5184720" y="352044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Education: 10th, 12th, College marks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8" name="Shape 37"/>
          <p:cNvSpPr/>
          <p:nvPr/>
        </p:nvSpPr>
        <p:spPr>
          <a:xfrm>
            <a:off x="5029200" y="4069080"/>
            <a:ext cx="3656880" cy="4564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Shape 38"/>
          <p:cNvSpPr/>
          <p:nvPr/>
        </p:nvSpPr>
        <p:spPr>
          <a:xfrm>
            <a:off x="5029200" y="4069080"/>
            <a:ext cx="54000" cy="4564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39"/>
          <p:cNvSpPr/>
          <p:nvPr/>
        </p:nvSpPr>
        <p:spPr>
          <a:xfrm>
            <a:off x="5184720" y="41148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Skills and certifications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2"/>
          <p:cNvSpPr/>
          <p:nvPr/>
        </p:nvSpPr>
        <p:spPr>
          <a:xfrm>
            <a:off x="411480" y="18288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Use Case 1: How It Works End-to-End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320040" y="1188720"/>
            <a:ext cx="8503200" cy="822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Shape 4"/>
          <p:cNvSpPr/>
          <p:nvPr/>
        </p:nvSpPr>
        <p:spPr>
          <a:xfrm>
            <a:off x="320040" y="1188720"/>
            <a:ext cx="54000" cy="8222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5"/>
          <p:cNvSpPr/>
          <p:nvPr/>
        </p:nvSpPr>
        <p:spPr>
          <a:xfrm>
            <a:off x="475560" y="125280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The Problem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475560" y="153612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People upload their resumes to a job portal, but extracting specific structured information manually is time-consuming and error-prone.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8" name="Shape 7"/>
          <p:cNvSpPr/>
          <p:nvPr/>
        </p:nvSpPr>
        <p:spPr>
          <a:xfrm>
            <a:off x="320040" y="2148840"/>
            <a:ext cx="8503200" cy="822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Shape 8"/>
          <p:cNvSpPr/>
          <p:nvPr/>
        </p:nvSpPr>
        <p:spPr>
          <a:xfrm>
            <a:off x="320040" y="2148840"/>
            <a:ext cx="54000" cy="8222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9"/>
          <p:cNvSpPr/>
          <p:nvPr/>
        </p:nvSpPr>
        <p:spPr>
          <a:xfrm>
            <a:off x="475560" y="221292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Information Needed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1" name="Text 10"/>
          <p:cNvSpPr/>
          <p:nvPr/>
        </p:nvSpPr>
        <p:spPr>
          <a:xfrm>
            <a:off x="475560" y="249624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Candidate's name, last company, 12th grade marks, 10th grade marks, college marks — all need to go into a database.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320040" y="3108960"/>
            <a:ext cx="8503200" cy="822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Shape 12"/>
          <p:cNvSpPr/>
          <p:nvPr/>
        </p:nvSpPr>
        <p:spPr>
          <a:xfrm>
            <a:off x="320040" y="3108960"/>
            <a:ext cx="54000" cy="8222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13"/>
          <p:cNvSpPr/>
          <p:nvPr/>
        </p:nvSpPr>
        <p:spPr>
          <a:xfrm>
            <a:off x="475560" y="317304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Solution with Structured Output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5" name="Text 14"/>
          <p:cNvSpPr/>
          <p:nvPr/>
        </p:nvSpPr>
        <p:spPr>
          <a:xfrm>
            <a:off x="475560" y="345636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The candidate uploads their resume. You extract all text from the resume file, then send this text to the LLM with a defined output schema.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6" name="Shape 15"/>
          <p:cNvSpPr/>
          <p:nvPr/>
        </p:nvSpPr>
        <p:spPr>
          <a:xfrm>
            <a:off x="320040" y="4069080"/>
            <a:ext cx="8503200" cy="822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Shape 16"/>
          <p:cNvSpPr/>
          <p:nvPr/>
        </p:nvSpPr>
        <p:spPr>
          <a:xfrm>
            <a:off x="320040" y="4069080"/>
            <a:ext cx="54000" cy="8222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7"/>
          <p:cNvSpPr/>
          <p:nvPr/>
        </p:nvSpPr>
        <p:spPr>
          <a:xfrm>
            <a:off x="475560" y="413316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Result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9" name="Text 18"/>
          <p:cNvSpPr/>
          <p:nvPr/>
        </p:nvSpPr>
        <p:spPr>
          <a:xfrm>
            <a:off x="475560" y="441648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The LLM returns all information in JSON format. You then write code to insert this data into a database. Scalable for all candidates.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2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283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Use Case 2: Building APIs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320040" y="1152000"/>
            <a:ext cx="8503200" cy="419760"/>
          </a:xfrm>
          <a:prstGeom prst="rect">
            <a:avLst/>
          </a:prstGeom>
          <a:solidFill>
            <a:srgbClr val="0096c7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4"/>
          <p:cNvSpPr/>
          <p:nvPr/>
        </p:nvSpPr>
        <p:spPr>
          <a:xfrm>
            <a:off x="457200" y="118872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📌  </a:t>
            </a:r>
            <a:r>
              <a:rPr b="1" lang="en-US" sz="1200" spc="-1" strike="noStrike">
                <a:solidFill>
                  <a:srgbClr val="0096c7"/>
                </a:solidFill>
                <a:latin typeface="Calibri"/>
                <a:ea typeface="Calibri"/>
              </a:rPr>
              <a:t>Scenario: Product Review Analysis API — Extract structured insights from lengthy reviews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320040" y="1737360"/>
            <a:ext cx="4571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42"/>
                </a:solidFill>
                <a:latin typeface="Calibri"/>
                <a:ea typeface="Calibri"/>
              </a:rPr>
              <a:t>What to Extract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87" name="Shape 6"/>
          <p:cNvSpPr/>
          <p:nvPr/>
        </p:nvSpPr>
        <p:spPr>
          <a:xfrm>
            <a:off x="320040" y="2194560"/>
            <a:ext cx="1965240" cy="1370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8" name="Shape 7"/>
          <p:cNvSpPr/>
          <p:nvPr/>
        </p:nvSpPr>
        <p:spPr>
          <a:xfrm>
            <a:off x="320040" y="2194560"/>
            <a:ext cx="1965240" cy="4017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8"/>
          <p:cNvSpPr/>
          <p:nvPr/>
        </p:nvSpPr>
        <p:spPr>
          <a:xfrm>
            <a:off x="411480" y="2231280"/>
            <a:ext cx="1782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🔍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Topics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0" name="Text 9"/>
          <p:cNvSpPr/>
          <p:nvPr/>
        </p:nvSpPr>
        <p:spPr>
          <a:xfrm>
            <a:off x="429840" y="2697480"/>
            <a:ext cx="1755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battery, display, processor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1" name="Shape 10"/>
          <p:cNvSpPr/>
          <p:nvPr/>
        </p:nvSpPr>
        <p:spPr>
          <a:xfrm>
            <a:off x="2468880" y="2194560"/>
            <a:ext cx="1965240" cy="1370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2" name="Shape 11"/>
          <p:cNvSpPr/>
          <p:nvPr/>
        </p:nvSpPr>
        <p:spPr>
          <a:xfrm>
            <a:off x="2468880" y="2194560"/>
            <a:ext cx="1965240" cy="4017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12"/>
          <p:cNvSpPr/>
          <p:nvPr/>
        </p:nvSpPr>
        <p:spPr>
          <a:xfrm>
            <a:off x="2560320" y="2231280"/>
            <a:ext cx="1782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👍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2578680" y="2697480"/>
            <a:ext cx="1755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Positive aspects mentioned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5" name="Shape 14"/>
          <p:cNvSpPr/>
          <p:nvPr/>
        </p:nvSpPr>
        <p:spPr>
          <a:xfrm>
            <a:off x="4617720" y="2194560"/>
            <a:ext cx="1965240" cy="1370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Shape 15"/>
          <p:cNvSpPr/>
          <p:nvPr/>
        </p:nvSpPr>
        <p:spPr>
          <a:xfrm>
            <a:off x="4617720" y="2194560"/>
            <a:ext cx="1965240" cy="4017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16"/>
          <p:cNvSpPr/>
          <p:nvPr/>
        </p:nvSpPr>
        <p:spPr>
          <a:xfrm>
            <a:off x="4709160" y="2231280"/>
            <a:ext cx="1782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👎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8" name="Text 17"/>
          <p:cNvSpPr/>
          <p:nvPr/>
        </p:nvSpPr>
        <p:spPr>
          <a:xfrm>
            <a:off x="4727520" y="2697480"/>
            <a:ext cx="1755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Negative aspects mentioned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9" name="Shape 18"/>
          <p:cNvSpPr/>
          <p:nvPr/>
        </p:nvSpPr>
        <p:spPr>
          <a:xfrm>
            <a:off x="6766560" y="2194560"/>
            <a:ext cx="1965240" cy="1370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Shape 19"/>
          <p:cNvSpPr/>
          <p:nvPr/>
        </p:nvSpPr>
        <p:spPr>
          <a:xfrm>
            <a:off x="6766560" y="2194560"/>
            <a:ext cx="1965240" cy="4017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20"/>
          <p:cNvSpPr/>
          <p:nvPr/>
        </p:nvSpPr>
        <p:spPr>
          <a:xfrm>
            <a:off x="6858000" y="2231280"/>
            <a:ext cx="17823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💬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Sentiment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2" name="Text 21"/>
          <p:cNvSpPr/>
          <p:nvPr/>
        </p:nvSpPr>
        <p:spPr>
          <a:xfrm>
            <a:off x="6876360" y="2697480"/>
            <a:ext cx="1755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positive / negative / neutral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3" name="Text 22"/>
          <p:cNvSpPr/>
          <p:nvPr/>
        </p:nvSpPr>
        <p:spPr>
          <a:xfrm>
            <a:off x="320040" y="3703320"/>
            <a:ext cx="4571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a2e42"/>
                </a:solidFill>
                <a:latin typeface="Calibri"/>
                <a:ea typeface="Calibri"/>
              </a:rPr>
              <a:t>Benefits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304" name="Image 1" descr="preencoded.png"/>
          <p:cNvPicPr/>
          <p:nvPr/>
        </p:nvPicPr>
        <p:blipFill>
          <a:blip r:embed="rId2"/>
          <a:stretch/>
        </p:blipFill>
        <p:spPr>
          <a:xfrm>
            <a:off x="320040" y="41148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305" name="Text 23"/>
          <p:cNvSpPr/>
          <p:nvPr/>
        </p:nvSpPr>
        <p:spPr>
          <a:xfrm>
            <a:off x="640080" y="4087440"/>
            <a:ext cx="191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Provide structured data via Flask/FastAPI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06" name="Image 2" descr="preencoded.png"/>
          <p:cNvPicPr/>
          <p:nvPr/>
        </p:nvPicPr>
        <p:blipFill>
          <a:blip r:embed="rId3"/>
          <a:stretch/>
        </p:blipFill>
        <p:spPr>
          <a:xfrm>
            <a:off x="2496240" y="41148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307" name="Text 24"/>
          <p:cNvSpPr/>
          <p:nvPr/>
        </p:nvSpPr>
        <p:spPr>
          <a:xfrm>
            <a:off x="2816280" y="4087440"/>
            <a:ext cx="191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Anyone can consume via API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08" name="Image 3" descr="preencoded.png"/>
          <p:cNvPicPr/>
          <p:nvPr/>
        </p:nvPicPr>
        <p:blipFill>
          <a:blip r:embed="rId4"/>
          <a:stretch/>
        </p:blipFill>
        <p:spPr>
          <a:xfrm>
            <a:off x="4672440" y="41148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309" name="Text 25"/>
          <p:cNvSpPr/>
          <p:nvPr/>
        </p:nvSpPr>
        <p:spPr>
          <a:xfrm>
            <a:off x="4992480" y="4087440"/>
            <a:ext cx="191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Easy integration with other systems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310" name="Image 4" descr="preencoded.png"/>
          <p:cNvPicPr/>
          <p:nvPr/>
        </p:nvPicPr>
        <p:blipFill>
          <a:blip r:embed="rId5"/>
          <a:stretch/>
        </p:blipFill>
        <p:spPr>
          <a:xfrm>
            <a:off x="6849000" y="41148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311" name="Text 26"/>
          <p:cNvSpPr/>
          <p:nvPr/>
        </p:nvSpPr>
        <p:spPr>
          <a:xfrm>
            <a:off x="7169040" y="4087440"/>
            <a:ext cx="191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Real-time review analysis at scale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9143280" cy="9594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Shape 1"/>
          <p:cNvSpPr/>
          <p:nvPr/>
        </p:nvSpPr>
        <p:spPr>
          <a:xfrm>
            <a:off x="0" y="960120"/>
            <a:ext cx="9143280" cy="54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315" name="Text 2"/>
          <p:cNvSpPr/>
          <p:nvPr/>
        </p:nvSpPr>
        <p:spPr>
          <a:xfrm>
            <a:off x="1005840" y="18288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Use Case 3: Building Agents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16" name="Shape 3"/>
          <p:cNvSpPr/>
          <p:nvPr/>
        </p:nvSpPr>
        <p:spPr>
          <a:xfrm>
            <a:off x="320040" y="1143000"/>
            <a:ext cx="393120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7" name="Shape 4"/>
          <p:cNvSpPr/>
          <p:nvPr/>
        </p:nvSpPr>
        <p:spPr>
          <a:xfrm>
            <a:off x="320040" y="1143000"/>
            <a:ext cx="3931200" cy="4564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5"/>
          <p:cNvSpPr/>
          <p:nvPr/>
        </p:nvSpPr>
        <p:spPr>
          <a:xfrm>
            <a:off x="457200" y="118872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🤖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What are Agents?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457200" y="171000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096c7"/>
                </a:solidFill>
                <a:latin typeface="Calibri"/>
                <a:ea typeface="Calibri"/>
              </a:rPr>
              <a:t>Agents = Chatbots on Steroids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0" name="Text 7"/>
          <p:cNvSpPr/>
          <p:nvPr/>
        </p:nvSpPr>
        <p:spPr>
          <a:xfrm>
            <a:off x="457200" y="203004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Chatbots can only talk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Agents can perform tasks using tools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1" name="Shape 8"/>
          <p:cNvSpPr/>
          <p:nvPr/>
        </p:nvSpPr>
        <p:spPr>
          <a:xfrm>
            <a:off x="4572000" y="1143000"/>
            <a:ext cx="425124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2" name="Shape 9"/>
          <p:cNvSpPr/>
          <p:nvPr/>
        </p:nvSpPr>
        <p:spPr>
          <a:xfrm>
            <a:off x="4572000" y="1143000"/>
            <a:ext cx="4251240" cy="45648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10"/>
          <p:cNvSpPr/>
          <p:nvPr/>
        </p:nvSpPr>
        <p:spPr>
          <a:xfrm>
            <a:off x="4681800" y="1188720"/>
            <a:ext cx="4022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📐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Example: Math Agent with Calculator Tool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4" name="Shape 11"/>
          <p:cNvSpPr/>
          <p:nvPr/>
        </p:nvSpPr>
        <p:spPr>
          <a:xfrm>
            <a:off x="4709160" y="1737360"/>
            <a:ext cx="3976920" cy="566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Shape 12"/>
          <p:cNvSpPr/>
          <p:nvPr/>
        </p:nvSpPr>
        <p:spPr>
          <a:xfrm>
            <a:off x="4709160" y="1737360"/>
            <a:ext cx="54000" cy="56628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13"/>
          <p:cNvSpPr/>
          <p:nvPr/>
        </p:nvSpPr>
        <p:spPr>
          <a:xfrm>
            <a:off x="4827960" y="17740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a5a78"/>
                </a:solidFill>
                <a:latin typeface="Calibri"/>
                <a:ea typeface="Calibri"/>
              </a:rPr>
              <a:t>User Query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7" name="Text 14"/>
          <p:cNvSpPr/>
          <p:nvPr/>
        </p:nvSpPr>
        <p:spPr>
          <a:xfrm>
            <a:off x="4827960" y="201168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"Find the square root of 2"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8" name="Shape 15"/>
          <p:cNvSpPr/>
          <p:nvPr/>
        </p:nvSpPr>
        <p:spPr>
          <a:xfrm>
            <a:off x="4709160" y="2414160"/>
            <a:ext cx="3976920" cy="566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16"/>
          <p:cNvSpPr/>
          <p:nvPr/>
        </p:nvSpPr>
        <p:spPr>
          <a:xfrm>
            <a:off x="4709160" y="2414160"/>
            <a:ext cx="54000" cy="56628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17"/>
          <p:cNvSpPr/>
          <p:nvPr/>
        </p:nvSpPr>
        <p:spPr>
          <a:xfrm>
            <a:off x="4827960" y="2450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f476f"/>
                </a:solidFill>
                <a:latin typeface="Calibri"/>
                <a:ea typeface="Calibri"/>
              </a:rPr>
              <a:t>Problem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1" name="Text 18"/>
          <p:cNvSpPr/>
          <p:nvPr/>
        </p:nvSpPr>
        <p:spPr>
          <a:xfrm>
            <a:off x="4827960" y="268848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Cannot send text directly to calculator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2" name="Shape 19"/>
          <p:cNvSpPr/>
          <p:nvPr/>
        </p:nvSpPr>
        <p:spPr>
          <a:xfrm>
            <a:off x="4709160" y="3090600"/>
            <a:ext cx="3976920" cy="566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Shape 20"/>
          <p:cNvSpPr/>
          <p:nvPr/>
        </p:nvSpPr>
        <p:spPr>
          <a:xfrm>
            <a:off x="4709160" y="3090600"/>
            <a:ext cx="54000" cy="5662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21"/>
          <p:cNvSpPr/>
          <p:nvPr/>
        </p:nvSpPr>
        <p:spPr>
          <a:xfrm>
            <a:off x="4827960" y="31273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Solution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5" name="Text 22"/>
          <p:cNvSpPr/>
          <p:nvPr/>
        </p:nvSpPr>
        <p:spPr>
          <a:xfrm>
            <a:off x="4827960" y="336492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Use structured output to extract parameters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6" name="Shape 23"/>
          <p:cNvSpPr/>
          <p:nvPr/>
        </p:nvSpPr>
        <p:spPr>
          <a:xfrm>
            <a:off x="4709160" y="3767400"/>
            <a:ext cx="3976920" cy="56628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Shape 24"/>
          <p:cNvSpPr/>
          <p:nvPr/>
        </p:nvSpPr>
        <p:spPr>
          <a:xfrm>
            <a:off x="4709160" y="3767400"/>
            <a:ext cx="54000" cy="56628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25"/>
          <p:cNvSpPr/>
          <p:nvPr/>
        </p:nvSpPr>
        <p:spPr>
          <a:xfrm>
            <a:off x="4827960" y="380376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Result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9" name="Text 26"/>
          <p:cNvSpPr/>
          <p:nvPr/>
        </p:nvSpPr>
        <p:spPr>
          <a:xfrm>
            <a:off x="4827960" y="4041720"/>
            <a:ext cx="3748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{ "operation": "sqrt", "number": 2 }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0" name="Shape 27"/>
          <p:cNvSpPr/>
          <p:nvPr/>
        </p:nvSpPr>
        <p:spPr>
          <a:xfrm>
            <a:off x="320040" y="2971800"/>
            <a:ext cx="3931200" cy="822240"/>
          </a:xfrm>
          <a:prstGeom prst="rect">
            <a:avLst/>
          </a:prstGeom>
          <a:solidFill>
            <a:srgbClr val="ffd166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Shape 28"/>
          <p:cNvSpPr/>
          <p:nvPr/>
        </p:nvSpPr>
        <p:spPr>
          <a:xfrm>
            <a:off x="320040" y="2971800"/>
            <a:ext cx="54000" cy="822240"/>
          </a:xfrm>
          <a:prstGeom prst="rect">
            <a:avLst/>
          </a:prstGeom>
          <a:solidFill>
            <a:srgbClr val="ffd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Text 29"/>
          <p:cNvSpPr/>
          <p:nvPr/>
        </p:nvSpPr>
        <p:spPr>
          <a:xfrm>
            <a:off x="475560" y="30175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⚠️  </a:t>
            </a:r>
            <a:r>
              <a:rPr b="1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Key Insight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3" name="Text 30"/>
          <p:cNvSpPr/>
          <p:nvPr/>
        </p:nvSpPr>
        <p:spPr>
          <a:xfrm>
            <a:off x="475560" y="3291840"/>
            <a:ext cx="3656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All agent tools require structured output to function!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2026-03-19T15:29:02Z</dcterms:created>
  <dc:creator>PptxGenJS</dc:creator>
  <dc:description/>
  <dc:language>en-IN</dc:language>
  <cp:lastModifiedBy/>
  <dcterms:modified xsi:type="dcterms:W3CDTF">2026-03-21T12:55:55Z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