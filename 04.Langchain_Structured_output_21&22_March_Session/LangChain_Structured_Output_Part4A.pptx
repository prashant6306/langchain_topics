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A2E4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822960"/>
            <a:ext cx="2743200" cy="2743200"/>
          </a:xfrm>
          <a:prstGeom prst="ellipse">
            <a:avLst/>
          </a:prstGeom>
          <a:solidFill>
            <a:srgbClr val="0096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4754880"/>
            <a:ext cx="3200400" cy="38404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LangChain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438912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3375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4A: JSON Schema &amp; Schema Comparison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•  Generative AI  • 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universal, language-agnostic format for defining structured output schemas.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JSON Schema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70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When your project uses multiple programming languages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32004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664208"/>
            <a:ext cx="3200400" cy="457200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719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231136"/>
            <a:ext cx="301752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" y="2231136"/>
            <a:ext cx="548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22677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Backend: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72768" y="2267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2688336"/>
            <a:ext cx="301752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2688336"/>
            <a:ext cx="548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" y="2724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72768" y="2724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3145536"/>
            <a:ext cx="301752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0" name="Shape 17"/>
          <p:cNvSpPr/>
          <p:nvPr/>
        </p:nvSpPr>
        <p:spPr>
          <a:xfrm>
            <a:off x="411480" y="3145536"/>
            <a:ext cx="548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" y="3182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72768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Kotlin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3602736"/>
            <a:ext cx="301752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4" name="Shape 21"/>
          <p:cNvSpPr/>
          <p:nvPr/>
        </p:nvSpPr>
        <p:spPr>
          <a:xfrm>
            <a:off x="411480" y="3602736"/>
            <a:ext cx="548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530352" y="3639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Need: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72768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 everywhere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703320" y="1664208"/>
            <a:ext cx="28803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703320" y="1664208"/>
            <a:ext cx="288036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9" name="Text 26"/>
          <p:cNvSpPr/>
          <p:nvPr/>
        </p:nvSpPr>
        <p:spPr>
          <a:xfrm>
            <a:off x="384048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JSON Schema?</a:t>
            </a:r>
            <a:endParaRPr lang="en-US" sz="13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31136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096512" y="2221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format (language-agnostic)</a:t>
            </a:r>
            <a:endParaRPr lang="en-US" sz="12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688336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096512" y="26791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can understand JSON</a:t>
            </a:r>
            <a:endParaRPr lang="en-US" sz="12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145536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096512" y="31363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specification</a:t>
            </a:r>
            <a:endParaRPr lang="en-US" sz="12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602736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096512" y="35935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Python-specific libraries needed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766560" y="1664208"/>
            <a:ext cx="20574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766560" y="1664208"/>
            <a:ext cx="20574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" name="Text 33"/>
          <p:cNvSpPr/>
          <p:nvPr/>
        </p:nvSpPr>
        <p:spPr>
          <a:xfrm>
            <a:off x="6903720" y="17190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231136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50608" y="22219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verbose than TypedDict / Pydantic</a:t>
            </a:r>
            <a:endParaRPr lang="en-US" sz="11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688336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150608" y="26791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plain dicts, not Python objects</a:t>
            </a:r>
            <a:endParaRPr lang="en-US" sz="11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145536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150608" y="31363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all programming languages</a:t>
            </a:r>
            <a:endParaRPr lang="en-US" sz="11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3602736"/>
            <a:ext cx="219456" cy="21945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150608" y="35935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specification</a:t>
            </a:r>
            <a:endParaRPr lang="en-US" sz="1100" dirty="0"/>
          </a:p>
        </p:txBody>
      </p:sp>
      <p:sp>
        <p:nvSpPr>
          <p:cNvPr id="49" name="Shape 38"/>
          <p:cNvSpPr/>
          <p:nvPr/>
        </p:nvSpPr>
        <p:spPr>
          <a:xfrm>
            <a:off x="320040" y="4206240"/>
            <a:ext cx="8503920" cy="292608"/>
          </a:xfrm>
          <a:prstGeom prst="rect">
            <a:avLst/>
          </a:prstGeom>
          <a:solidFill>
            <a:srgbClr val="FFD166">
              <a:alpha val="22000"/>
            </a:srgbClr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336" y="4242816"/>
            <a:ext cx="201168" cy="20116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58368" y="4242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Multi-language projects where the same schema must be shared across Python, JS, Swift, or any other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JSON Schema Example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572000" cy="3611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07008"/>
            <a:ext cx="434340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"Student",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"Schema about students",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"string"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"age":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"integer"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["name"]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0" y="1115568"/>
            <a:ext cx="3794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115568"/>
            <a:ext cx="54864" cy="6400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5148072" y="1152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48072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schema — "Student"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0" y="1847088"/>
            <a:ext cx="3794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1847088"/>
            <a:ext cx="54864" cy="6400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1"/>
          <p:cNvSpPr/>
          <p:nvPr/>
        </p:nvSpPr>
        <p:spPr>
          <a:xfrm>
            <a:off x="5148072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48072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hint sent to the LLM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0" y="2578608"/>
            <a:ext cx="3794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2578608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5148072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"object"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148072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a dict-like object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0" y="3310128"/>
            <a:ext cx="3794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3310128"/>
            <a:ext cx="54864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5148072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148072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 fields with their types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29200" y="4041648"/>
            <a:ext cx="37947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29200" y="4041648"/>
            <a:ext cx="54864" cy="6400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6" name="Text 23"/>
          <p:cNvSpPr/>
          <p:nvPr/>
        </p:nvSpPr>
        <p:spPr>
          <a:xfrm>
            <a:off x="5148072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"required": [...]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148072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not listed here are optional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'age' is not in 'required' → it's optional. Only 'name' is mandatory.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— Key Components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02336" y="1316736"/>
            <a:ext cx="329184" cy="329184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444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schema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06440" y="1188720"/>
            <a:ext cx="29260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5925312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"Student", "Review", "Product"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1901952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2336" y="2103120"/>
            <a:ext cx="329184" cy="3291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1975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22311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schema represents — helps LLM understand the context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06440" y="1975104"/>
            <a:ext cx="29260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6"/>
          <p:cNvSpPr/>
          <p:nvPr/>
        </p:nvSpPr>
        <p:spPr>
          <a:xfrm>
            <a:off x="5925312" y="2066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"Schema about students in a course"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2688336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02336" y="288950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3017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the schema — usually "object" (like a Python dictionary)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806440" y="2761488"/>
            <a:ext cx="29260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3"/>
          <p:cNvSpPr/>
          <p:nvPr/>
        </p:nvSpPr>
        <p:spPr>
          <a:xfrm>
            <a:off x="5925312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"object", "string", "array"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" y="3474720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02336" y="3675888"/>
            <a:ext cx="329184" cy="32918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6"/>
          <p:cNvSpPr/>
          <p:nvPr/>
        </p:nvSpPr>
        <p:spPr>
          <a:xfrm>
            <a:off x="402336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2296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22960" y="3803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all attributes — each property has its own type and description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806440" y="3547872"/>
            <a:ext cx="29260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0"/>
          <p:cNvSpPr/>
          <p:nvPr/>
        </p:nvSpPr>
        <p:spPr>
          <a:xfrm>
            <a:off x="5925312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"name": {"type": "string"}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0040" y="4261104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02336" y="4462272"/>
            <a:ext cx="329184" cy="329184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6" name="Text 33"/>
          <p:cNvSpPr/>
          <p:nvPr/>
        </p:nvSpPr>
        <p:spPr>
          <a:xfrm>
            <a:off x="402336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2296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"required"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22960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mandatory fields. Fields not here are optional (like Optional in Pydantic)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806440" y="4334256"/>
            <a:ext cx="292608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7"/>
          <p:cNvSpPr/>
          <p:nvPr/>
        </p:nvSpPr>
        <p:spPr>
          <a:xfrm>
            <a:off x="5925312" y="4425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["name", "age"]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JSON Schema — Full Example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846320" cy="39136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07008"/>
            <a:ext cx="4617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"Review",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"key_themes":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"array",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"items": {"type": "string"},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"Key themes in review"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"summary":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"Brief summary"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"sentiment":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"string",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"enum": ["positive", "negative"],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"Overall sentiment"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["array", "null"],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"items": {"type": "string"},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"All pros"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["array", "null"],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"items": {"type": "string"},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"description": "All cons"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"required": ["key_themes","summary","sentiment"]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03520" y="1115568"/>
            <a:ext cx="35204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115568"/>
            <a:ext cx="54864" cy="69494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5422392" y="11521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"array"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22392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strings — like list[str] in Python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03520" y="1901952"/>
            <a:ext cx="35204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1901952"/>
            <a:ext cx="54864" cy="6949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5422392" y="1938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"items": {...}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22392" y="2176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type of each array element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303520" y="2688336"/>
            <a:ext cx="35204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688336"/>
            <a:ext cx="54864" cy="69494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5422392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"enum": [...]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22392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to specific values — like Literal["pos","neg"]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303520" y="3474720"/>
            <a:ext cx="35204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474720"/>
            <a:ext cx="54864" cy="69494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2" name="Text 19"/>
          <p:cNvSpPr/>
          <p:nvPr/>
        </p:nvSpPr>
        <p:spPr>
          <a:xfrm>
            <a:off x="5422392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["array","null"]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22392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an array OR null — like Optional[list[str]]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303520" y="4261104"/>
            <a:ext cx="352044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0" y="4261104"/>
            <a:ext cx="54864" cy="6949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3"/>
          <p:cNvSpPr/>
          <p:nvPr/>
        </p:nvSpPr>
        <p:spPr>
          <a:xfrm>
            <a:off x="5422392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"required": [...]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22392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listed fields are mandatory; others are optional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JSON Schema with LangChain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5029200" cy="3246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07008"/>
            <a:ext cx="48006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review_schema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"Review",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"summary":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"string",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"Brief summary"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"sentiment":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"string",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"enum": ["positive", "negative"],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"Overall sentiment"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["summary", "sentiment"]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structured_llm = llm.with_structured_output(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review_schema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review_text = "Great product but expensive"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structured_llm.invoke(review_text)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print(type(result))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" y="4462272"/>
            <a:ext cx="5029200" cy="59436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81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{'summary': 'Great product but expensive', 'sentiment': 'positive'}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'dict'&gt;  # ← plain Python dict, not a Pydantic object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1115568"/>
            <a:ext cx="3337560" cy="3941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115568"/>
            <a:ext cx="333756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1170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vs Pydantic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59552" y="1682496"/>
            <a:ext cx="3182112" cy="56692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5" name="Shape 12"/>
          <p:cNvSpPr/>
          <p:nvPr/>
        </p:nvSpPr>
        <p:spPr>
          <a:xfrm>
            <a:off x="5559552" y="1682496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5678424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format: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78424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Plain Python dict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50608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Pyd: Python class (BaseModel)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59552" y="2340864"/>
            <a:ext cx="3182112" cy="56692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0" name="Shape 17"/>
          <p:cNvSpPr/>
          <p:nvPr/>
        </p:nvSpPr>
        <p:spPr>
          <a:xfrm>
            <a:off x="5559552" y="2340864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5678424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78424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&lt;class 'dict'&gt;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50608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Pyd: &lt;class 'YourModel'&gt;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59552" y="2999232"/>
            <a:ext cx="3182112" cy="56692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999232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5678424" y="3035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access: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78424" y="3209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result['summary']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50608" y="3209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Pyd: result.summary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59552" y="3657600"/>
            <a:ext cx="3182112" cy="56692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0" name="Shape 27"/>
          <p:cNvSpPr/>
          <p:nvPr/>
        </p:nvSpPr>
        <p:spPr>
          <a:xfrm>
            <a:off x="5559552" y="3657600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/>
          <p:nvPr/>
        </p:nvSpPr>
        <p:spPr>
          <a:xfrm>
            <a:off x="5678424" y="3694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78424" y="3867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No runtime checks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150608" y="3867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Pyd: Full validation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59552" y="4315968"/>
            <a:ext cx="3182112" cy="56692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5" name="Shape 32"/>
          <p:cNvSpPr/>
          <p:nvPr/>
        </p:nvSpPr>
        <p:spPr>
          <a:xfrm>
            <a:off x="5559552" y="4315968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3"/>
          <p:cNvSpPr/>
          <p:nvPr/>
        </p:nvSpPr>
        <p:spPr>
          <a:xfrm>
            <a:off x="5678424" y="43525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78424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✓ Yes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150608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Pyd: ✗ Python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Data Types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887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Type → JSON Schema Type Mapping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682496"/>
            <a:ext cx="8503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682496"/>
            <a:ext cx="54864" cy="42062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20240" y="1773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331720" y="1773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23360" y="1773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"name": {"type": "string"}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2157984"/>
            <a:ext cx="8503920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" y="2157984"/>
            <a:ext cx="54864" cy="4206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920240" y="2249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331720" y="22494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"integer"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023360" y="22494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 {"type": "integer"}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2633472"/>
            <a:ext cx="8503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20040" y="2633472"/>
            <a:ext cx="54864" cy="42062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33172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"number"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023360" y="2724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"rating": {"type": "number"}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20040" y="3108960"/>
            <a:ext cx="8503920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7" name="Shape 24"/>
          <p:cNvSpPr/>
          <p:nvPr/>
        </p:nvSpPr>
        <p:spPr>
          <a:xfrm>
            <a:off x="320040" y="3108960"/>
            <a:ext cx="54864" cy="42062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920240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331720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"boolean"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023360" y="3200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"active": {"type": "boolean"}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3584448"/>
            <a:ext cx="8503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3584448"/>
            <a:ext cx="54864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1"/>
          <p:cNvSpPr/>
          <p:nvPr/>
        </p:nvSpPr>
        <p:spPr>
          <a:xfrm>
            <a:off x="475488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920240" y="3675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233172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"array"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023360" y="3675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"tags": {"type": "array", "items": {"type": "string"}}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0040" y="4059936"/>
            <a:ext cx="8503920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9" name="Shape 36"/>
          <p:cNvSpPr/>
          <p:nvPr/>
        </p:nvSpPr>
        <p:spPr>
          <a:xfrm>
            <a:off x="320040" y="4059936"/>
            <a:ext cx="54864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7"/>
          <p:cNvSpPr/>
          <p:nvPr/>
        </p:nvSpPr>
        <p:spPr>
          <a:xfrm>
            <a:off x="475488" y="4151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920240" y="4151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2331720" y="41513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023360" y="4151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"meta": {"type": "object"}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20040" y="4535424"/>
            <a:ext cx="8503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320040" y="4535424"/>
            <a:ext cx="54864" cy="42062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6" name="Text 43"/>
          <p:cNvSpPr/>
          <p:nvPr/>
        </p:nvSpPr>
        <p:spPr>
          <a:xfrm>
            <a:off x="475488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/ Optional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920240" y="4626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2331720" y="4626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["type", "null"]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4023360" y="46268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"bio": {"type": ["string", "null"]}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320040" y="5010912"/>
            <a:ext cx="8503920" cy="9144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Method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TypedDict, Pydantic, or JSON Schema — how to pick the right tool for your use case.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 — All Three Methods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46120" y="1115568"/>
            <a:ext cx="1828800" cy="5120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4"/>
          <p:cNvSpPr/>
          <p:nvPr/>
        </p:nvSpPr>
        <p:spPr>
          <a:xfrm>
            <a:off x="3246120" y="11155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66360" y="1115568"/>
            <a:ext cx="1828800" cy="5120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5166360" y="11155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86600" y="1115568"/>
            <a:ext cx="1828800" cy="5120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11155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" y="1719072"/>
            <a:ext cx="28346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810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 definition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46120" y="1719072"/>
            <a:ext cx="1828800" cy="493776"/>
          </a:xfrm>
          <a:prstGeom prst="rect">
            <a:avLst/>
          </a:prstGeom>
          <a:solidFill>
            <a:srgbClr val="D4F5EE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1719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66360" y="1719072"/>
            <a:ext cx="1828800" cy="493776"/>
          </a:xfrm>
          <a:prstGeom prst="rect">
            <a:avLst/>
          </a:prstGeom>
          <a:solidFill>
            <a:srgbClr val="D4F5EE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1719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086600" y="1719072"/>
            <a:ext cx="1828800" cy="493776"/>
          </a:xfrm>
          <a:prstGeom prst="rect">
            <a:avLst/>
          </a:prstGeom>
          <a:solidFill>
            <a:srgbClr val="D4F5EE"/>
          </a:solidFill>
          <a:ln/>
        </p:spPr>
      </p:sp>
      <p:sp>
        <p:nvSpPr>
          <p:cNvPr id="19" name="Text 16"/>
          <p:cNvSpPr/>
          <p:nvPr/>
        </p:nvSpPr>
        <p:spPr>
          <a:xfrm>
            <a:off x="7086600" y="1719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20040" y="2267712"/>
            <a:ext cx="2834640" cy="493776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2359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enforcement (hints)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46120" y="2267712"/>
            <a:ext cx="1828800" cy="493776"/>
          </a:xfrm>
          <a:prstGeom prst="rect">
            <a:avLst/>
          </a:prstGeom>
          <a:solidFill>
            <a:srgbClr val="C5F0E4"/>
          </a:solidFill>
          <a:ln/>
        </p:spPr>
      </p:sp>
      <p:sp>
        <p:nvSpPr>
          <p:cNvPr id="23" name="Text 20"/>
          <p:cNvSpPr/>
          <p:nvPr/>
        </p:nvSpPr>
        <p:spPr>
          <a:xfrm>
            <a:off x="3246120" y="2267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166360" y="2267712"/>
            <a:ext cx="1828800" cy="493776"/>
          </a:xfrm>
          <a:prstGeom prst="rect">
            <a:avLst/>
          </a:prstGeom>
          <a:solidFill>
            <a:srgbClr val="C5F0E4"/>
          </a:solidFill>
          <a:ln/>
        </p:spPr>
      </p:sp>
      <p:sp>
        <p:nvSpPr>
          <p:cNvPr id="25" name="Text 22"/>
          <p:cNvSpPr/>
          <p:nvPr/>
        </p:nvSpPr>
        <p:spPr>
          <a:xfrm>
            <a:off x="5166360" y="2267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086600" y="2267712"/>
            <a:ext cx="1828800" cy="493776"/>
          </a:xfrm>
          <a:prstGeom prst="rect">
            <a:avLst/>
          </a:prstGeom>
          <a:solidFill>
            <a:srgbClr val="C5F0E4"/>
          </a:solidFill>
          <a:ln/>
        </p:spPr>
      </p:sp>
      <p:sp>
        <p:nvSpPr>
          <p:cNvPr id="27" name="Text 24"/>
          <p:cNvSpPr/>
          <p:nvPr/>
        </p:nvSpPr>
        <p:spPr>
          <a:xfrm>
            <a:off x="7086600" y="2267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320040" y="2816352"/>
            <a:ext cx="28346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 validation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246120" y="2816352"/>
            <a:ext cx="1828800" cy="49377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31" name="Text 28"/>
          <p:cNvSpPr/>
          <p:nvPr/>
        </p:nvSpPr>
        <p:spPr>
          <a:xfrm>
            <a:off x="3246120" y="28163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166360" y="2816352"/>
            <a:ext cx="1828800" cy="493776"/>
          </a:xfrm>
          <a:prstGeom prst="rect">
            <a:avLst/>
          </a:prstGeom>
          <a:solidFill>
            <a:srgbClr val="D4F5EE"/>
          </a:solidFill>
          <a:ln/>
        </p:spPr>
      </p:sp>
      <p:sp>
        <p:nvSpPr>
          <p:cNvPr id="33" name="Text 30"/>
          <p:cNvSpPr/>
          <p:nvPr/>
        </p:nvSpPr>
        <p:spPr>
          <a:xfrm>
            <a:off x="5166360" y="28163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7086600" y="2816352"/>
            <a:ext cx="1828800" cy="49377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35" name="Text 32"/>
          <p:cNvSpPr/>
          <p:nvPr/>
        </p:nvSpPr>
        <p:spPr>
          <a:xfrm>
            <a:off x="7086600" y="28163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320040" y="3364992"/>
            <a:ext cx="2834640" cy="493776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3456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246120" y="3364992"/>
            <a:ext cx="1828800" cy="493776"/>
          </a:xfrm>
          <a:prstGeom prst="rect">
            <a:avLst/>
          </a:prstGeom>
          <a:solidFill>
            <a:srgbClr val="FCE4EA"/>
          </a:solidFill>
          <a:ln/>
        </p:spPr>
      </p:sp>
      <p:sp>
        <p:nvSpPr>
          <p:cNvPr id="39" name="Text 36"/>
          <p:cNvSpPr/>
          <p:nvPr/>
        </p:nvSpPr>
        <p:spPr>
          <a:xfrm>
            <a:off x="3246120" y="33649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166360" y="3364992"/>
            <a:ext cx="1828800" cy="493776"/>
          </a:xfrm>
          <a:prstGeom prst="rect">
            <a:avLst/>
          </a:prstGeom>
          <a:solidFill>
            <a:srgbClr val="C5F0E4"/>
          </a:solidFill>
          <a:ln/>
        </p:spPr>
      </p:sp>
      <p:sp>
        <p:nvSpPr>
          <p:cNvPr id="41" name="Text 38"/>
          <p:cNvSpPr/>
          <p:nvPr/>
        </p:nvSpPr>
        <p:spPr>
          <a:xfrm>
            <a:off x="5166360" y="33649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7086600" y="3364992"/>
            <a:ext cx="1828800" cy="493776"/>
          </a:xfrm>
          <a:prstGeom prst="rect">
            <a:avLst/>
          </a:prstGeom>
          <a:solidFill>
            <a:srgbClr val="FCE4EA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33649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320040" y="3913632"/>
            <a:ext cx="28346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" y="4005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type conversion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3246120" y="3913632"/>
            <a:ext cx="1828800" cy="49377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47" name="Text 44"/>
          <p:cNvSpPr/>
          <p:nvPr/>
        </p:nvSpPr>
        <p:spPr>
          <a:xfrm>
            <a:off x="3246120" y="39136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5166360" y="3913632"/>
            <a:ext cx="1828800" cy="493776"/>
          </a:xfrm>
          <a:prstGeom prst="rect">
            <a:avLst/>
          </a:prstGeom>
          <a:solidFill>
            <a:srgbClr val="D4F5EE"/>
          </a:solidFill>
          <a:ln/>
        </p:spPr>
      </p:sp>
      <p:sp>
        <p:nvSpPr>
          <p:cNvPr id="49" name="Text 46"/>
          <p:cNvSpPr/>
          <p:nvPr/>
        </p:nvSpPr>
        <p:spPr>
          <a:xfrm>
            <a:off x="5166360" y="39136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7086600" y="3913632"/>
            <a:ext cx="1828800" cy="493776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51" name="Text 48"/>
          <p:cNvSpPr/>
          <p:nvPr/>
        </p:nvSpPr>
        <p:spPr>
          <a:xfrm>
            <a:off x="7086600" y="39136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320040" y="4462272"/>
            <a:ext cx="2834640" cy="493776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553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support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3246120" y="4462272"/>
            <a:ext cx="1828800" cy="493776"/>
          </a:xfrm>
          <a:prstGeom prst="rect">
            <a:avLst/>
          </a:prstGeom>
          <a:solidFill>
            <a:srgbClr val="FCE4EA"/>
          </a:solidFill>
          <a:ln/>
        </p:spPr>
      </p:sp>
      <p:sp>
        <p:nvSpPr>
          <p:cNvPr id="55" name="Text 52"/>
          <p:cNvSpPr/>
          <p:nvPr/>
        </p:nvSpPr>
        <p:spPr>
          <a:xfrm>
            <a:off x="3246120" y="44622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5166360" y="4462272"/>
            <a:ext cx="1828800" cy="493776"/>
          </a:xfrm>
          <a:prstGeom prst="rect">
            <a:avLst/>
          </a:prstGeom>
          <a:solidFill>
            <a:srgbClr val="FCE4EA"/>
          </a:solidFill>
          <a:ln/>
        </p:spPr>
      </p:sp>
      <p:sp>
        <p:nvSpPr>
          <p:cNvPr id="57" name="Text 54"/>
          <p:cNvSpPr/>
          <p:nvPr/>
        </p:nvSpPr>
        <p:spPr>
          <a:xfrm>
            <a:off x="5166360" y="44622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7086600" y="4462272"/>
            <a:ext cx="1828800" cy="493776"/>
          </a:xfrm>
          <a:prstGeom prst="rect">
            <a:avLst/>
          </a:prstGeom>
          <a:solidFill>
            <a:srgbClr val="C5F0E4"/>
          </a:solidFill>
          <a:ln/>
        </p:spPr>
      </p:sp>
      <p:sp>
        <p:nvSpPr>
          <p:cNvPr id="59" name="Text 56"/>
          <p:cNvSpPr/>
          <p:nvPr/>
        </p:nvSpPr>
        <p:spPr>
          <a:xfrm>
            <a:off x="7086600" y="44622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320040" y="5029200"/>
            <a:ext cx="850392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 Method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15568"/>
            <a:ext cx="2743200" cy="475488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88720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" y="1188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TypedDict When: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6916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376" y="16733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entirely in Python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16712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2376" y="214884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 type hints (no enforcement)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64261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2376" y="2624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LLM to return correct data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118104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2376" y="30998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 case without validation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3264408" y="1115568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3264408" y="1115568"/>
            <a:ext cx="2743200" cy="47548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1188720"/>
            <a:ext cx="310896" cy="31089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776472" y="1188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Pydantic When: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424" y="169164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666744" y="16733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data validation at runtime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2424" y="2167128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666744" y="214884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default values for missing fields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2424" y="264261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666744" y="2624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automatic type conversion</a:t>
            </a:r>
            <a:endParaRPr lang="en-US" sz="12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2424" y="3118104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3666744" y="30998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apply constraints (ge, le, etc.)</a:t>
            </a:r>
            <a:endParaRPr lang="en-US" sz="12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2424" y="3593592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3666744" y="357530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object-oriented access (obj.field)</a:t>
            </a:r>
            <a:endParaRPr lang="en-US" sz="1200" dirty="0"/>
          </a:p>
        </p:txBody>
      </p:sp>
      <p:sp>
        <p:nvSpPr>
          <p:cNvPr id="32" name="Shape 18"/>
          <p:cNvSpPr/>
          <p:nvPr/>
        </p:nvSpPr>
        <p:spPr>
          <a:xfrm>
            <a:off x="3337560" y="4069080"/>
            <a:ext cx="2578608" cy="347472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</p:sp>
      <p:sp>
        <p:nvSpPr>
          <p:cNvPr id="33" name="Text 19"/>
          <p:cNvSpPr/>
          <p:nvPr/>
        </p:nvSpPr>
        <p:spPr>
          <a:xfrm>
            <a:off x="3374136" y="410565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 for most Python projects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6208776" y="1115568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6208776" y="1115568"/>
            <a:ext cx="2743200" cy="47548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8504" y="1188720"/>
            <a:ext cx="310896" cy="310896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720840" y="1188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JSON Schema When:</a:t>
            </a:r>
            <a:endParaRPr lang="en-US" sz="13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2" y="1691640"/>
            <a:ext cx="201168" cy="20116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611112" y="16733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project (Python + JS + Swift)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6792" y="2167128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611112" y="214884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Python-specific dependencies</a:t>
            </a:r>
            <a:endParaRPr lang="en-US" sz="12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6792" y="2642616"/>
            <a:ext cx="201168" cy="201168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611112" y="2624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cross-platform compatibility</a:t>
            </a:r>
            <a:endParaRPr lang="en-US" sz="12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6792" y="3118104"/>
            <a:ext cx="201168" cy="201168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611112" y="30998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schema with other teams/systems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2026-03-21T03:42:05Z</dcterms:created>
  <dcterms:modified xsi:type="dcterms:W3CDTF">2026-03-21T03:42:05Z</dcterms:modified>
</cp:coreProperties>
</file>