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A2E42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822960"/>
            <a:ext cx="2743200" cy="2743200"/>
          </a:xfrm>
          <a:prstGeom prst="ellipse">
            <a:avLst/>
          </a:prstGeom>
          <a:solidFill>
            <a:srgbClr val="0096C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" y="4754880"/>
            <a:ext cx="3200400" cy="38404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7373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LangChain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365760" y="3337560"/>
            <a:ext cx="4572000" cy="40233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333756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4B: Advanced Topics, Best Practices &amp; Real-World Example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 •  Generative AI  •  Structured Output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4023360" y="2103120"/>
            <a:ext cx="10972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2194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Topics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023360" y="34564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parameter, unsupported models, and Output Parsers for edge cases.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Parameter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15568"/>
            <a:ext cx="8503920" cy="475488"/>
          </a:xfrm>
          <a:prstGeom prst="rect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20040" y="1115568"/>
            <a:ext cx="64008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" y="11887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with_structured_output() accepts an optional method parameter that controls how the LLM is instructed to return structured data.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1719072"/>
            <a:ext cx="416052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719072"/>
            <a:ext cx="4160520" cy="47548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1" name="Shape 8"/>
          <p:cNvSpPr/>
          <p:nvPr/>
        </p:nvSpPr>
        <p:spPr>
          <a:xfrm>
            <a:off x="429768" y="1792224"/>
            <a:ext cx="310896" cy="31089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29768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32104" y="1783080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 (default for most models)</a:t>
            </a:r>
            <a:endParaRPr lang="en-US" sz="12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0664" y="22677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want JSON output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0662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0664" y="26883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use case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27248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0664" y="31089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returns structured JSON text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547872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0664" y="35295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parses it automatically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429768" y="4334256"/>
            <a:ext cx="3959352" cy="256032"/>
          </a:xfrm>
          <a:prstGeom prst="rect">
            <a:avLst/>
          </a:prstGeom>
          <a:solidFill>
            <a:srgbClr val="0096C7">
              <a:alpha val="15000"/>
            </a:srgbClr>
          </a:solidFill>
          <a:ln/>
        </p:spPr>
      </p:sp>
      <p:sp>
        <p:nvSpPr>
          <p:cNvPr id="23" name="Text 16"/>
          <p:cNvSpPr/>
          <p:nvPr/>
        </p:nvSpPr>
        <p:spPr>
          <a:xfrm>
            <a:off x="457200" y="43525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Recommended for Claude, Gemini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54880" y="1719072"/>
            <a:ext cx="416052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754880" y="1719072"/>
            <a:ext cx="4160520" cy="47548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Shape 19"/>
          <p:cNvSpPr/>
          <p:nvPr/>
        </p:nvSpPr>
        <p:spPr>
          <a:xfrm>
            <a:off x="4864608" y="1792224"/>
            <a:ext cx="310896" cy="31089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4864608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266944" y="1783080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Mode</a:t>
            </a:r>
            <a:endParaRPr lang="en-US" sz="12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286000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75504" y="22677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building agents with tools</a:t>
            </a:r>
            <a:endParaRPr lang="en-US" sz="12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706624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175504" y="26883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a function with structured params</a:t>
            </a:r>
            <a:endParaRPr lang="en-US" sz="12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127248"/>
            <a:ext cx="201168" cy="20116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175504" y="31089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OpenAI GPT models</a:t>
            </a:r>
            <a:endParaRPr lang="en-US" sz="12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3547872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175504" y="35295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tool-use and agent workflows</a:t>
            </a:r>
            <a:endParaRPr lang="en-US" sz="1200" dirty="0"/>
          </a:p>
        </p:txBody>
      </p:sp>
      <p:sp>
        <p:nvSpPr>
          <p:cNvPr id="37" name="Shape 26"/>
          <p:cNvSpPr/>
          <p:nvPr/>
        </p:nvSpPr>
        <p:spPr>
          <a:xfrm>
            <a:off x="4864608" y="4334256"/>
            <a:ext cx="3959352" cy="256032"/>
          </a:xfrm>
          <a:prstGeom prst="rect">
            <a:avLst/>
          </a:prstGeom>
          <a:solidFill>
            <a:srgbClr val="F4A261">
              <a:alpha val="15000"/>
            </a:srgbClr>
          </a:solidFill>
          <a:ln/>
        </p:spPr>
      </p:sp>
      <p:sp>
        <p:nvSpPr>
          <p:cNvPr id="38" name="Text 27"/>
          <p:cNvSpPr/>
          <p:nvPr/>
        </p:nvSpPr>
        <p:spPr>
          <a:xfrm>
            <a:off x="4892040" y="43525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Default for GPT models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320040" y="5047488"/>
            <a:ext cx="8503920" cy="5486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Without Native Structured Output Support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15568"/>
            <a:ext cx="8503920" cy="457200"/>
          </a:xfrm>
          <a:prstGeom prst="rect">
            <a:avLst/>
          </a:prstGeom>
          <a:solidFill>
            <a:srgbClr val="EF476F">
              <a:alpha val="1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20040" y="1115568"/>
            <a:ext cx="64008" cy="45720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models (TinyLlama, many smaller open-source models, older versions) don't support with_structured_output()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1691640"/>
            <a:ext cx="4892040" cy="21488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1783080"/>
            <a:ext cx="466344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langchain_community.llms import HuggingFaceEndpoint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 without structured output support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HuggingFaceEndpoint(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repo_id="TinyLlama/TinyLlama-1.1B-Chat-v1.0",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task="text-generation"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This WILL fail!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structured_llm = llm.with_structured_output(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ReviewSchema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structured_llm.invoke("Great product")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Exception as error: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print("Error:", error)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3931920"/>
            <a:ext cx="489204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Shape 9"/>
          <p:cNvSpPr/>
          <p:nvPr/>
        </p:nvSpPr>
        <p:spPr>
          <a:xfrm>
            <a:off x="320040" y="3931920"/>
            <a:ext cx="4892040" cy="201168"/>
          </a:xfrm>
          <a:prstGeom prst="rect">
            <a:avLst/>
          </a:prstGeom>
          <a:solidFill>
            <a:srgbClr val="EF476F">
              <a:alpha val="7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39502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Output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12394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Tool error: Tool with name 'any' not found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49240" y="1691640"/>
            <a:ext cx="3474720" cy="2715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49240" y="1691640"/>
            <a:ext cx="3474720" cy="4572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0" y="17465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Solution: Output Parsers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249424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724144" y="22311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Output Parsers instead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670048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724144" y="265176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parse LLM output text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090672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24144" y="3072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instructions to the prompt</a:t>
            </a:r>
            <a:endParaRPr lang="en-US" sz="12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511296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724144" y="3493008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structure from response text</a:t>
            </a:r>
            <a:endParaRPr lang="en-US" sz="12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3931920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724144" y="3913632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manual, but universally compatible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5349240" y="4507992"/>
            <a:ext cx="3474720" cy="274320"/>
          </a:xfrm>
          <a:prstGeom prst="rect">
            <a:avLst/>
          </a:prstGeom>
          <a:solidFill>
            <a:srgbClr val="FFD166">
              <a:alpha val="22000"/>
            </a:srgbClr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4544568"/>
            <a:ext cx="182880" cy="1828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669280" y="45445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Parsers covered in advanced topics!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4023360" y="2103120"/>
            <a:ext cx="10972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2194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023360" y="34564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for building robust, accurate, and production-ready structured output schemas.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 Best Practices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15568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115568"/>
            <a:ext cx="54864" cy="126187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572768"/>
            <a:ext cx="310896" cy="310896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12070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Descriptive Names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15179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reviewer_name, product_rating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175564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r_name, pr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2011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Clear names help both developers and the LLM understand the schema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54880" y="1115568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115568"/>
            <a:ext cx="54864" cy="126187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6" name="Shape 13"/>
          <p:cNvSpPr/>
          <p:nvPr/>
        </p:nvSpPr>
        <p:spPr>
          <a:xfrm>
            <a:off x="4892040" y="1572768"/>
            <a:ext cx="310896" cy="3108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89204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03520" y="12070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Add Descriptions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303520" y="15179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Field(description="Rating from 1-5 stars")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03520" y="175564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rating: int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303520" y="2011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Descriptions are hints sent to the LLM — they dramatically improve extraction accuracy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0040" y="2505456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" y="2505456"/>
            <a:ext cx="54864" cy="12618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Shape 21"/>
          <p:cNvSpPr/>
          <p:nvPr/>
        </p:nvSpPr>
        <p:spPr>
          <a:xfrm>
            <a:off x="457200" y="2962656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68680" y="25968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Appropriate Types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68680" y="29077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Literal['pos','neg'], Optional[str], list[str]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68680" y="314553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str for everything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68680" y="34015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Specific types constrain the LLM output and enable better validation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754880" y="2505456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54880" y="2505456"/>
            <a:ext cx="54864" cy="12618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2" name="Shape 29"/>
          <p:cNvSpPr/>
          <p:nvPr/>
        </p:nvSpPr>
        <p:spPr>
          <a:xfrm>
            <a:off x="4892040" y="2962656"/>
            <a:ext cx="310896" cy="31089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3" name="Text 30"/>
          <p:cNvSpPr/>
          <p:nvPr/>
        </p:nvSpPr>
        <p:spPr>
          <a:xfrm>
            <a:off x="489204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303520" y="25968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Constraints When Needed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303520" y="29077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Field(ge=1, le=5) for rating, Field(ge=0, le=120) for age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303520" y="314553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No constraints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303520" y="34015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Constraints prevent the LLM from returning out-of-range values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320040" y="3895344"/>
            <a:ext cx="85039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320040" y="3895344"/>
            <a:ext cx="54864" cy="1261872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0" name="Shape 37"/>
          <p:cNvSpPr/>
          <p:nvPr/>
        </p:nvSpPr>
        <p:spPr>
          <a:xfrm>
            <a:off x="457200" y="4352544"/>
            <a:ext cx="310896" cy="310896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41" name="Text 38"/>
          <p:cNvSpPr/>
          <p:nvPr/>
        </p:nvSpPr>
        <p:spPr>
          <a:xfrm>
            <a:off x="457200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59536" y="3986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Sample Data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859536" y="42793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Test with edge cases, unusual reviews, missing fields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859536" y="45171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Test once with ideal input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4937760" y="424281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Always verify your schema works with diverse, real-world inputs before deploying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to Avoid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15568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115568"/>
            <a:ext cx="4160520" cy="530352"/>
          </a:xfrm>
          <a:prstGeom prst="rect">
            <a:avLst/>
          </a:prstGeom>
          <a:solidFill>
            <a:srgbClr val="EF476F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" y="1115568"/>
            <a:ext cx="54864" cy="530352"/>
          </a:xfrm>
          <a:prstGeom prst="rect">
            <a:avLst/>
          </a:prstGeom>
          <a:solidFill>
            <a:srgbClr val="EF476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7101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952" y="120700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TypedDict when you need validation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0040" y="1645920"/>
            <a:ext cx="4160520" cy="658368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12" name="Shape 8"/>
          <p:cNvSpPr/>
          <p:nvPr/>
        </p:nvSpPr>
        <p:spPr>
          <a:xfrm>
            <a:off x="320040" y="1645920"/>
            <a:ext cx="54864" cy="658368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1051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0664" y="1700784"/>
            <a:ext cx="3630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Pydantic instead — it validates at runtime and catches errors early.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754880" y="1115568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754880" y="1115568"/>
            <a:ext cx="4160520" cy="530352"/>
          </a:xfrm>
          <a:prstGeom prst="rect">
            <a:avLst/>
          </a:prstGeom>
          <a:solidFill>
            <a:srgbClr val="EF476F">
              <a:alpha val="8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4754880" y="1115568"/>
            <a:ext cx="54864" cy="530352"/>
          </a:xfrm>
          <a:prstGeom prst="rect">
            <a:avLst/>
          </a:prstGeom>
          <a:solidFill>
            <a:srgbClr val="EF476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71016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93792" y="120700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Optional for nullable fields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754880" y="1645920"/>
            <a:ext cx="4160520" cy="658368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21" name="Shape 15"/>
          <p:cNvSpPr/>
          <p:nvPr/>
        </p:nvSpPr>
        <p:spPr>
          <a:xfrm>
            <a:off x="4754880" y="1645920"/>
            <a:ext cx="54864" cy="658368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810512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75504" y="1700784"/>
            <a:ext cx="3630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might skip fields. Use Optional[type] = None to avoid validation errors.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320040" y="2414016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20040" y="2414016"/>
            <a:ext cx="4160520" cy="530352"/>
          </a:xfrm>
          <a:prstGeom prst="rect">
            <a:avLst/>
          </a:prstGeom>
          <a:solidFill>
            <a:srgbClr val="EF476F">
              <a:alpha val="8000"/>
            </a:srgbClr>
          </a:solidFill>
          <a:ln/>
        </p:spPr>
      </p:sp>
      <p:sp>
        <p:nvSpPr>
          <p:cNvPr id="26" name="Shape 19"/>
          <p:cNvSpPr/>
          <p:nvPr/>
        </p:nvSpPr>
        <p:spPr>
          <a:xfrm>
            <a:off x="320040" y="2414016"/>
            <a:ext cx="54864" cy="530352"/>
          </a:xfrm>
          <a:prstGeom prst="rect">
            <a:avLst/>
          </a:prstGeom>
          <a:solidFill>
            <a:srgbClr val="EF476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569464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58952" y="250545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Too-complex schemas in one call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320040" y="2944368"/>
            <a:ext cx="4160520" cy="658368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30" name="Shape 22"/>
          <p:cNvSpPr/>
          <p:nvPr/>
        </p:nvSpPr>
        <p:spPr>
          <a:xfrm>
            <a:off x="320040" y="2944368"/>
            <a:ext cx="54864" cy="658368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108960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40664" y="2999232"/>
            <a:ext cx="3630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simple. Split into multiple LLM calls if the schema has many fields.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4754880" y="2414016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4754880" y="2414016"/>
            <a:ext cx="4160520" cy="530352"/>
          </a:xfrm>
          <a:prstGeom prst="rect">
            <a:avLst/>
          </a:prstGeom>
          <a:solidFill>
            <a:srgbClr val="EF476F">
              <a:alpha val="8000"/>
            </a:srgbClr>
          </a:solidFill>
          <a:ln/>
        </p:spPr>
      </p:sp>
      <p:sp>
        <p:nvSpPr>
          <p:cNvPr id="35" name="Shape 26"/>
          <p:cNvSpPr/>
          <p:nvPr/>
        </p:nvSpPr>
        <p:spPr>
          <a:xfrm>
            <a:off x="4754880" y="2414016"/>
            <a:ext cx="54864" cy="530352"/>
          </a:xfrm>
          <a:prstGeom prst="rect">
            <a:avLst/>
          </a:prstGeom>
          <a:solidFill>
            <a:srgbClr val="EF476F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569464"/>
            <a:ext cx="219456" cy="21945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193792" y="250545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descriptions for ambiguous fields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4754880" y="2944368"/>
            <a:ext cx="4160520" cy="658368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39" name="Shape 29"/>
          <p:cNvSpPr/>
          <p:nvPr/>
        </p:nvSpPr>
        <p:spPr>
          <a:xfrm>
            <a:off x="4754880" y="2944368"/>
            <a:ext cx="54864" cy="658368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3108960"/>
            <a:ext cx="201168" cy="20116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5175504" y="2999232"/>
            <a:ext cx="3630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needs context. Always add description= to Field() or annotations.</a:t>
            </a:r>
            <a:endParaRPr lang="en-US" sz="1150" dirty="0"/>
          </a:p>
        </p:txBody>
      </p:sp>
      <p:sp>
        <p:nvSpPr>
          <p:cNvPr id="42" name="Shape 31"/>
          <p:cNvSpPr/>
          <p:nvPr/>
        </p:nvSpPr>
        <p:spPr>
          <a:xfrm>
            <a:off x="320040" y="3712464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Shape 32"/>
          <p:cNvSpPr/>
          <p:nvPr/>
        </p:nvSpPr>
        <p:spPr>
          <a:xfrm>
            <a:off x="320040" y="3712464"/>
            <a:ext cx="4160520" cy="530352"/>
          </a:xfrm>
          <a:prstGeom prst="rect">
            <a:avLst/>
          </a:prstGeom>
          <a:solidFill>
            <a:srgbClr val="EF476F">
              <a:alpha val="8000"/>
            </a:srgbClr>
          </a:solidFill>
          <a:ln/>
        </p:spPr>
      </p:sp>
      <p:sp>
        <p:nvSpPr>
          <p:cNvPr id="44" name="Shape 33"/>
          <p:cNvSpPr/>
          <p:nvPr/>
        </p:nvSpPr>
        <p:spPr>
          <a:xfrm>
            <a:off x="320040" y="3712464"/>
            <a:ext cx="54864" cy="530352"/>
          </a:xfrm>
          <a:prstGeom prst="rect">
            <a:avLst/>
          </a:prstGeom>
          <a:solidFill>
            <a:srgbClr val="EF476F"/>
          </a:solidFill>
          <a:ln/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867912"/>
            <a:ext cx="219456" cy="219456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758952" y="380390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testing with various inputs</a:t>
            </a:r>
            <a:endParaRPr lang="en-US" sz="1200" dirty="0"/>
          </a:p>
        </p:txBody>
      </p:sp>
      <p:sp>
        <p:nvSpPr>
          <p:cNvPr id="47" name="Shape 35"/>
          <p:cNvSpPr/>
          <p:nvPr/>
        </p:nvSpPr>
        <p:spPr>
          <a:xfrm>
            <a:off x="320040" y="4242816"/>
            <a:ext cx="4160520" cy="658368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48" name="Shape 36"/>
          <p:cNvSpPr/>
          <p:nvPr/>
        </p:nvSpPr>
        <p:spPr>
          <a:xfrm>
            <a:off x="320040" y="4242816"/>
            <a:ext cx="54864" cy="658368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407408"/>
            <a:ext cx="201168" cy="201168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740664" y="4297680"/>
            <a:ext cx="3630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break schemas. Test with missing fields, unusual inputs, and extremes.</a:t>
            </a:r>
            <a:endParaRPr lang="en-US" sz="1150" dirty="0"/>
          </a:p>
        </p:txBody>
      </p:sp>
      <p:sp>
        <p:nvSpPr>
          <p:cNvPr id="51" name="Shape 38"/>
          <p:cNvSpPr/>
          <p:nvPr/>
        </p:nvSpPr>
        <p:spPr>
          <a:xfrm>
            <a:off x="4754880" y="3712464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2" name="Shape 39"/>
          <p:cNvSpPr/>
          <p:nvPr/>
        </p:nvSpPr>
        <p:spPr>
          <a:xfrm>
            <a:off x="4754880" y="3712464"/>
            <a:ext cx="4160520" cy="530352"/>
          </a:xfrm>
          <a:prstGeom prst="rect">
            <a:avLst/>
          </a:prstGeom>
          <a:solidFill>
            <a:srgbClr val="EF476F">
              <a:alpha val="8000"/>
            </a:srgbClr>
          </a:solidFill>
          <a:ln/>
        </p:spPr>
      </p:sp>
      <p:sp>
        <p:nvSpPr>
          <p:cNvPr id="53" name="Shape 40"/>
          <p:cNvSpPr/>
          <p:nvPr/>
        </p:nvSpPr>
        <p:spPr>
          <a:xfrm>
            <a:off x="4754880" y="3712464"/>
            <a:ext cx="54864" cy="530352"/>
          </a:xfrm>
          <a:prstGeom prst="rect">
            <a:avLst/>
          </a:prstGeom>
          <a:solidFill>
            <a:srgbClr val="EF476F"/>
          </a:solidFill>
          <a:ln/>
        </p:spPr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3867912"/>
            <a:ext cx="219456" cy="219456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5193792" y="380390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Expecting perfect accuracy from the LLM</a:t>
            </a:r>
            <a:endParaRPr lang="en-US" sz="1200" dirty="0"/>
          </a:p>
        </p:txBody>
      </p:sp>
      <p:sp>
        <p:nvSpPr>
          <p:cNvPr id="56" name="Shape 42"/>
          <p:cNvSpPr/>
          <p:nvPr/>
        </p:nvSpPr>
        <p:spPr>
          <a:xfrm>
            <a:off x="4754880" y="4242816"/>
            <a:ext cx="4160520" cy="658368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57" name="Shape 43"/>
          <p:cNvSpPr/>
          <p:nvPr/>
        </p:nvSpPr>
        <p:spPr>
          <a:xfrm>
            <a:off x="4754880" y="4242816"/>
            <a:ext cx="54864" cy="658368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5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92040" y="4407408"/>
            <a:ext cx="201168" cy="201168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5175504" y="4297680"/>
            <a:ext cx="3630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make mistakes. Always validate critical data with Pydantic constraints.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4023360" y="2103120"/>
            <a:ext cx="10972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2194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023360" y="34564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ProductReview schema using Pydantic with all features combined.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Real-World Schema — ProductReview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15568"/>
            <a:ext cx="4892040" cy="39136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207008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BaseModel, Field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Optional, Literal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ChatOpenAI(model="gpt-4", temperature=0)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ProductReview(BaseModel):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"""Structured analysis of a product review"""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product_name: str = Field(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description="Name of the product"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rating: int = Field(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ge=1, le=5,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description="Rating out of 5"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sentiment: Literal[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"positive", "negative", "neutral"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 = Field(description="Overall sentiment")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key_features: list[str] = Field(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description="Main features mentioned"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pros: Optional[list[str]] = Field(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default=None,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description="Positive aspects mentioned"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cons: Optional[list[str]] = Field(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default=None,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description="Negative aspects mentioned"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would_recommend: bool = Field(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description="Would reviewer recommend?"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structured_llm = llm.with_structured_output(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349240" y="1115568"/>
            <a:ext cx="347472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49240" y="1115568"/>
            <a:ext cx="54864" cy="69494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7"/>
          <p:cNvSpPr/>
          <p:nvPr/>
        </p:nvSpPr>
        <p:spPr>
          <a:xfrm>
            <a:off x="5468112" y="115214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ge=1, le=5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68112" y="138988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constrained between 1 and 5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49240" y="1901952"/>
            <a:ext cx="347472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49240" y="1901952"/>
            <a:ext cx="54864" cy="69494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4" name="Text 11"/>
          <p:cNvSpPr/>
          <p:nvPr/>
        </p:nvSpPr>
        <p:spPr>
          <a:xfrm>
            <a:off x="5468112" y="19385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Literal[...]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68112" y="217627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locked to 3 valid values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349240" y="2688336"/>
            <a:ext cx="347472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49240" y="2688336"/>
            <a:ext cx="54864" cy="6949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5"/>
          <p:cNvSpPr/>
          <p:nvPr/>
        </p:nvSpPr>
        <p:spPr>
          <a:xfrm>
            <a:off x="5468112" y="27249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list[str]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68112" y="296265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features returned as a list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349240" y="3474720"/>
            <a:ext cx="347472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49240" y="3474720"/>
            <a:ext cx="54864" cy="694944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2" name="Text 19"/>
          <p:cNvSpPr/>
          <p:nvPr/>
        </p:nvSpPr>
        <p:spPr>
          <a:xfrm>
            <a:off x="5468112" y="351129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Optional[list[str]]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68112" y="374904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Pros/cons may not be mentioned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349240" y="4261104"/>
            <a:ext cx="347472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349240" y="4261104"/>
            <a:ext cx="54864" cy="69494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Text 23"/>
          <p:cNvSpPr/>
          <p:nvPr/>
        </p:nvSpPr>
        <p:spPr>
          <a:xfrm>
            <a:off x="5468112" y="42976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468112" y="453542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True or False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349240" y="5047488"/>
            <a:ext cx="3474720" cy="0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Real-World Example — Sony Headphones Review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15568"/>
            <a:ext cx="8503920" cy="141732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612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Review — Sony WH-1000XM5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389888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noise cancellation is incredible — I can't hear anything on a plane. Battery life is amazing: 30+ hours.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Sound quality is top-notch with deep bass and clear highs. However, they're expensive at $400 and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 cups get warm after extended use. Despite the price, I'd definitely recommend them for frequent travellers."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4160520" cy="120700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2743200"/>
            <a:ext cx="39319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structured_llm.invoke(review_text)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print("Product:", result.product_name)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print("Rating:", result.rating, "/ 5")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print("Sentiment:", result.sentiment)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print("Recommend?", result.would_recommend)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print("Pros:", result.pros)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print("Cons:", result.cons)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2651760"/>
            <a:ext cx="4206240" cy="248716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54880" y="2715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Output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54880" y="29900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60720" y="2990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Sony WH-1000XM5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54880" y="3337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60720" y="3337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5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754880" y="3685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Sentiment: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60720" y="36850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positive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754880" y="40325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Recommend: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760720" y="40325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754880" y="4379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Pros: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60720" y="43799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['Noise cancellation', 'Battery', 'Sound quality']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754880" y="47274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Cons: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760720" y="4727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['$400 price', 'Warm ear cups']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20040" y="3913632"/>
            <a:ext cx="8503920" cy="548640"/>
          </a:xfrm>
          <a:prstGeom prst="rect">
            <a:avLst/>
          </a:prstGeom>
          <a:solidFill>
            <a:srgbClr val="06D6A0">
              <a:alpha val="1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320040" y="3913632"/>
            <a:ext cx="54864" cy="54864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59936"/>
            <a:ext cx="219456" cy="21945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49808" y="396849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fields extracted, validated with constraints, and returned as a typed Pydantic object with dot-notation access!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Structured Output in LangChain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15568"/>
            <a:ext cx="5349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115568"/>
            <a:ext cx="54864" cy="438912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2529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1197864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enables LLM-to-machine communication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20040" y="1627632"/>
            <a:ext cx="5349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0040" y="1627632"/>
            <a:ext cx="54864" cy="438912"/>
          </a:xfrm>
          <a:prstGeom prst="rect">
            <a:avLst/>
          </a:prstGeom>
          <a:solidFill>
            <a:srgbClr val="0096C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9808" y="1709928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schema methods: TypedDict, Pydantic, JSON Schema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320040" y="2139696"/>
            <a:ext cx="5349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20040" y="2139696"/>
            <a:ext cx="54864" cy="438912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4942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9808" y="2221992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is recommended for most Python production projects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320040" y="2651760"/>
            <a:ext cx="5349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320040" y="2651760"/>
            <a:ext cx="54864" cy="43891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61488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9808" y="2734056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with_structured_output() for all natively-supported models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320040" y="3163824"/>
            <a:ext cx="5349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320040" y="3163824"/>
            <a:ext cx="54864" cy="438912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273552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49808" y="3246120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add descriptions to help the LLM extract correctly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320040" y="3675888"/>
            <a:ext cx="5349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20040" y="3675888"/>
            <a:ext cx="54864" cy="438912"/>
          </a:xfrm>
          <a:prstGeom prst="rect">
            <a:avLst/>
          </a:prstGeom>
          <a:solidFill>
            <a:srgbClr val="7B2D8B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785616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49808" y="3758184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important data — never trust LLM output blindly!</a:t>
            </a:r>
            <a:endParaRPr lang="en-US" sz="1250" dirty="0"/>
          </a:p>
        </p:txBody>
      </p:sp>
      <p:sp>
        <p:nvSpPr>
          <p:cNvPr id="30" name="Shape 21"/>
          <p:cNvSpPr/>
          <p:nvPr/>
        </p:nvSpPr>
        <p:spPr>
          <a:xfrm>
            <a:off x="320040" y="4224528"/>
            <a:ext cx="5349240" cy="713232"/>
          </a:xfrm>
          <a:prstGeom prst="rect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1" name="Shape 22"/>
          <p:cNvSpPr/>
          <p:nvPr/>
        </p:nvSpPr>
        <p:spPr>
          <a:xfrm>
            <a:off x="320040" y="4224528"/>
            <a:ext cx="54864" cy="7132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23"/>
          <p:cNvSpPr/>
          <p:nvPr/>
        </p:nvSpPr>
        <p:spPr>
          <a:xfrm>
            <a:off x="475488" y="42611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475488" y="449884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transforms LLMs from chatbots into programmable tools that integrate with any system!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5806440" y="1115568"/>
            <a:ext cx="3017520" cy="3822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5806440" y="1115568"/>
            <a:ext cx="3017520" cy="457200"/>
          </a:xfrm>
          <a:prstGeom prst="rect">
            <a:avLst/>
          </a:prstGeom>
          <a:solidFill>
            <a:srgbClr val="3A5A78"/>
          </a:solidFill>
          <a:ln/>
        </p:spPr>
      </p:sp>
      <p:sp>
        <p:nvSpPr>
          <p:cNvPr id="36" name="Text 27"/>
          <p:cNvSpPr/>
          <p:nvPr/>
        </p:nvSpPr>
        <p:spPr>
          <a:xfrm>
            <a:off x="5943600" y="1170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37" name="Shape 28"/>
          <p:cNvSpPr/>
          <p:nvPr/>
        </p:nvSpPr>
        <p:spPr>
          <a:xfrm>
            <a:off x="5879592" y="1682496"/>
            <a:ext cx="2862072" cy="548640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38" name="Shape 29"/>
          <p:cNvSpPr/>
          <p:nvPr/>
        </p:nvSpPr>
        <p:spPr>
          <a:xfrm>
            <a:off x="5879592" y="1682496"/>
            <a:ext cx="54864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9" name="Text 30"/>
          <p:cNvSpPr/>
          <p:nvPr/>
        </p:nvSpPr>
        <p:spPr>
          <a:xfrm>
            <a:off x="5998464" y="1728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🛠️</a:t>
            </a:r>
            <a:endParaRPr lang="en-US" sz="1600" dirty="0"/>
          </a:p>
        </p:txBody>
      </p:sp>
      <p:sp>
        <p:nvSpPr>
          <p:cNvPr id="40" name="Text 31"/>
          <p:cNvSpPr/>
          <p:nvPr/>
        </p:nvSpPr>
        <p:spPr>
          <a:xfrm>
            <a:off x="6382512" y="177393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with different schemas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5879592" y="2304288"/>
            <a:ext cx="2862072" cy="548640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42" name="Shape 33"/>
          <p:cNvSpPr/>
          <p:nvPr/>
        </p:nvSpPr>
        <p:spPr>
          <a:xfrm>
            <a:off x="5879592" y="2304288"/>
            <a:ext cx="54864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3" name="Text 34"/>
          <p:cNvSpPr/>
          <p:nvPr/>
        </p:nvSpPr>
        <p:spPr>
          <a:xfrm>
            <a:off x="5998464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44" name="Text 35"/>
          <p:cNvSpPr/>
          <p:nvPr/>
        </p:nvSpPr>
        <p:spPr>
          <a:xfrm>
            <a:off x="6382512" y="2395728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API endpoints using structured output</a:t>
            </a:r>
            <a:endParaRPr lang="en-US" sz="1200" dirty="0"/>
          </a:p>
        </p:txBody>
      </p:sp>
      <p:sp>
        <p:nvSpPr>
          <p:cNvPr id="45" name="Shape 36"/>
          <p:cNvSpPr/>
          <p:nvPr/>
        </p:nvSpPr>
        <p:spPr>
          <a:xfrm>
            <a:off x="5879592" y="2926080"/>
            <a:ext cx="2862072" cy="548640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46" name="Shape 37"/>
          <p:cNvSpPr/>
          <p:nvPr/>
        </p:nvSpPr>
        <p:spPr>
          <a:xfrm>
            <a:off x="5879592" y="2926080"/>
            <a:ext cx="54864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7" name="Text 38"/>
          <p:cNvSpPr/>
          <p:nvPr/>
        </p:nvSpPr>
        <p:spPr>
          <a:xfrm>
            <a:off x="5998464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48" name="Text 39"/>
          <p:cNvSpPr/>
          <p:nvPr/>
        </p:nvSpPr>
        <p:spPr>
          <a:xfrm>
            <a:off x="6382512" y="301752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agent-based applications</a:t>
            </a:r>
            <a:endParaRPr lang="en-US" sz="1200" dirty="0"/>
          </a:p>
        </p:txBody>
      </p:sp>
      <p:sp>
        <p:nvSpPr>
          <p:cNvPr id="49" name="Shape 40"/>
          <p:cNvSpPr/>
          <p:nvPr/>
        </p:nvSpPr>
        <p:spPr>
          <a:xfrm>
            <a:off x="5879592" y="3547872"/>
            <a:ext cx="2862072" cy="548640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50" name="Shape 41"/>
          <p:cNvSpPr/>
          <p:nvPr/>
        </p:nvSpPr>
        <p:spPr>
          <a:xfrm>
            <a:off x="5879592" y="3547872"/>
            <a:ext cx="54864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1" name="Text 42"/>
          <p:cNvSpPr/>
          <p:nvPr/>
        </p:nvSpPr>
        <p:spPr>
          <a:xfrm>
            <a:off x="5998464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52" name="Text 43"/>
          <p:cNvSpPr/>
          <p:nvPr/>
        </p:nvSpPr>
        <p:spPr>
          <a:xfrm>
            <a:off x="6382512" y="3639312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Output Parsers for unsupported models</a:t>
            </a:r>
            <a:endParaRPr lang="en-US" sz="1200" dirty="0"/>
          </a:p>
        </p:txBody>
      </p:sp>
      <p:sp>
        <p:nvSpPr>
          <p:cNvPr id="53" name="Shape 44"/>
          <p:cNvSpPr/>
          <p:nvPr/>
        </p:nvSpPr>
        <p:spPr>
          <a:xfrm>
            <a:off x="5879592" y="4169664"/>
            <a:ext cx="2862072" cy="548640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54" name="Shape 45"/>
          <p:cNvSpPr/>
          <p:nvPr/>
        </p:nvSpPr>
        <p:spPr>
          <a:xfrm>
            <a:off x="5879592" y="4169664"/>
            <a:ext cx="54864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5" name="Text 46"/>
          <p:cNvSpPr/>
          <p:nvPr/>
        </p:nvSpPr>
        <p:spPr>
          <a:xfrm>
            <a:off x="5998464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56" name="Text 47"/>
          <p:cNvSpPr/>
          <p:nvPr/>
        </p:nvSpPr>
        <p:spPr>
          <a:xfrm>
            <a:off x="6382512" y="4261104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LangChain chains &amp; pipelines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2286000"/>
            <a:ext cx="4572000" cy="45720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6868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12140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914400" y="290779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Learning!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286000" y="3493008"/>
            <a:ext cx="4572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5844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Building with Structured Output in LangChain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   •   Pydantic   •   JSON Schema   •   with_structured_output()   •   LangChain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2026-03-21T03:47:32Z</dcterms:created>
  <dcterms:modified xsi:type="dcterms:W3CDTF">2026-03-21T03:47:32Z</dcterms:modified>
</cp:coreProperties>
</file>