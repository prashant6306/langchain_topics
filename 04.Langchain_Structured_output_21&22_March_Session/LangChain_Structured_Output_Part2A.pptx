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4.png" ContentType="image/png"/>
  <Override PartName="/ppt/media/image1.png" ContentType="image/png"/>
  <Override PartName="/ppt/media/image31.png" ContentType="image/png"/>
  <Override PartName="/ppt/media/image25.png" ContentType="image/png"/>
  <Override PartName="/ppt/media/image2.png" ContentType="image/png"/>
  <Override PartName="/ppt/media/image32.png" ContentType="image/png"/>
  <Override PartName="/ppt/media/image26.png" ContentType="image/png"/>
  <Override PartName="/ppt/media/image3.png" ContentType="image/png"/>
  <Override PartName="/ppt/media/image33.png" ContentType="image/png"/>
  <Override PartName="/ppt/media/image27.png" ContentType="image/png"/>
  <Override PartName="/ppt/media/image4.png" ContentType="image/png"/>
  <Override PartName="/ppt/media/image34.png" ContentType="image/png"/>
  <Override PartName="/ppt/media/image28.png" ContentType="image/png"/>
  <Override PartName="/ppt/media/image5.png" ContentType="image/png"/>
  <Override PartName="/ppt/media/image35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50.png" ContentType="image/png"/>
  <Override PartName="/ppt/media/image13.png" ContentType="image/png"/>
  <Override PartName="/ppt/media/image11.png" ContentType="image/png"/>
  <Override PartName="/ppt/media/image48.png" ContentType="image/png"/>
  <Override PartName="/ppt/media/image51.png" ContentType="image/png"/>
  <Override PartName="/ppt/media/image40.png" ContentType="image/png"/>
  <Override PartName="/ppt/media/image52.png" ContentType="image/png"/>
  <Override PartName="/ppt/media/image41.png" ContentType="image/png"/>
  <Override PartName="/ppt/media/image53.png" ContentType="image/png"/>
  <Override PartName="/ppt/media/image42.png" ContentType="image/png"/>
  <Override PartName="/ppt/media/image54.png" ContentType="image/png"/>
  <Override PartName="/ppt/media/image43.png" ContentType="image/png"/>
  <Override PartName="/ppt/media/image55.png" ContentType="image/png"/>
  <Override PartName="/ppt/media/image30.png" ContentType="image/png"/>
  <Override PartName="/ppt/media/image39.png" ContentType="image/png"/>
  <Override PartName="/ppt/media/image9.png" ContentType="image/png"/>
  <Override PartName="/ppt/media/image38.png" ContentType="image/png"/>
  <Override PartName="/ppt/media/image8.png" ContentType="image/png"/>
  <Override PartName="/ppt/media/image49.png" ContentType="image/png"/>
  <Override PartName="/ppt/media/image12.png" ContentType="image/png"/>
  <Override PartName="/ppt/media/image10.png" ContentType="image/png"/>
  <Override PartName="/ppt/media/image47.png" ContentType="image/png"/>
  <Override PartName="/ppt/media/image37.png" ContentType="image/png"/>
  <Override PartName="/ppt/media/image7.png" ContentType="image/png"/>
  <Override PartName="/ppt/media/image36.png" ContentType="image/png"/>
  <Override PartName="/ppt/media/image6.png" ContentType="image/png"/>
  <Override PartName="/ppt/media/image2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B5F77C3-D378-42CB-A0CF-E57A4FBFB031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A164E4-A077-43A6-923D-25A6D5EFC13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6CF1C18-DD78-4C95-B99E-D8CF7E0B487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6A96CB8-5E8D-45E2-9B08-E0061DE1F09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B6D3788-00D5-42EE-853B-9A9D82D1557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B73AE75-5DA1-4786-B29E-DD3E9DAA68A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1269EAD-8B24-417D-B6FF-46533F49312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FF4078E-84B3-407D-B43A-34FF0263D5C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60A8C6-0DD5-41EB-B47B-CF4F1B9C9C7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F3DEEE-C8AD-4560-8A96-A59EC594C49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44BB94F-394D-4815-B96D-99350DEA376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12AFC37-A55D-4ED2-A68D-A267BA135AB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A60F91E-427B-4754-8ED7-568FEA68BEA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A524477-801F-4667-B54B-3FF3BCFF333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9DD8F2E-08D5-4978-9CD9-1DB21B6E698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09BB2FE-C2EE-481B-86CA-D2CFD95CA70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7132320" y="-1097280"/>
            <a:ext cx="3473640" cy="3473640"/>
          </a:xfrm>
          <a:prstGeom prst="ellipse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7498080" y="-822960"/>
            <a:ext cx="2742120" cy="2742120"/>
          </a:xfrm>
          <a:prstGeom prst="ellipse">
            <a:avLst/>
          </a:prstGeom>
          <a:solidFill>
            <a:srgbClr val="0096c7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0" y="4754880"/>
            <a:ext cx="9142920" cy="38304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4"/>
          <p:cNvSpPr/>
          <p:nvPr/>
        </p:nvSpPr>
        <p:spPr>
          <a:xfrm>
            <a:off x="164520" y="4754880"/>
            <a:ext cx="3199320" cy="3830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9" name="Image 0" descr="preencoded.png"/>
          <p:cNvPicPr/>
          <p:nvPr/>
        </p:nvPicPr>
        <p:blipFill>
          <a:blip r:embed="rId1"/>
          <a:stretch/>
        </p:blipFill>
        <p:spPr>
          <a:xfrm>
            <a:off x="502920" y="1005840"/>
            <a:ext cx="639000" cy="639000"/>
          </a:xfrm>
          <a:prstGeom prst="rect">
            <a:avLst/>
          </a:prstGeom>
          <a:ln w="0">
            <a:noFill/>
          </a:ln>
        </p:spPr>
      </p:pic>
      <p:sp>
        <p:nvSpPr>
          <p:cNvPr id="50" name="Text 5"/>
          <p:cNvSpPr/>
          <p:nvPr/>
        </p:nvSpPr>
        <p:spPr>
          <a:xfrm>
            <a:off x="365760" y="1737360"/>
            <a:ext cx="84114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Structured Output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365760" y="2514600"/>
            <a:ext cx="841140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48cae4"/>
                </a:solidFill>
                <a:latin typeface="Calibri"/>
                <a:ea typeface="Calibri"/>
              </a:rPr>
              <a:t>in LangChain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365760" y="3337560"/>
            <a:ext cx="3473640" cy="4014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8"/>
          <p:cNvSpPr/>
          <p:nvPr/>
        </p:nvSpPr>
        <p:spPr>
          <a:xfrm>
            <a:off x="365760" y="3337560"/>
            <a:ext cx="34736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Part 2A: Schema Definition Methods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365760" y="4773240"/>
            <a:ext cx="4570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LangChain  •  Generative AI  •  Structured Output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2920" cy="9590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1"/>
          <p:cNvSpPr/>
          <p:nvPr/>
        </p:nvSpPr>
        <p:spPr>
          <a:xfrm>
            <a:off x="0" y="960120"/>
            <a:ext cx="9142920" cy="53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7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58" name="Text 2"/>
          <p:cNvSpPr/>
          <p:nvPr/>
        </p:nvSpPr>
        <p:spPr>
          <a:xfrm>
            <a:off x="1005840" y="182880"/>
            <a:ext cx="77713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The Power of Structured Output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320040" y="1152000"/>
            <a:ext cx="8502840" cy="38304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4"/>
          <p:cNvSpPr/>
          <p:nvPr/>
        </p:nvSpPr>
        <p:spPr>
          <a:xfrm>
            <a:off x="457200" y="1188720"/>
            <a:ext cx="82285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Transforming LLM Communication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320040" y="1664280"/>
            <a:ext cx="3885120" cy="3107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" name="Shape 6"/>
          <p:cNvSpPr/>
          <p:nvPr/>
        </p:nvSpPr>
        <p:spPr>
          <a:xfrm>
            <a:off x="320040" y="1664280"/>
            <a:ext cx="3885120" cy="45612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7"/>
          <p:cNvSpPr/>
          <p:nvPr/>
        </p:nvSpPr>
        <p:spPr>
          <a:xfrm>
            <a:off x="457200" y="1710000"/>
            <a:ext cx="3656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❌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Before Structured Output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64" name="Image 1" descr="preencoded.png"/>
          <p:cNvPicPr/>
          <p:nvPr/>
        </p:nvPicPr>
        <p:blipFill>
          <a:blip r:embed="rId2"/>
          <a:stretch/>
        </p:blipFill>
        <p:spPr>
          <a:xfrm>
            <a:off x="411480" y="223128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65" name="Text 8"/>
          <p:cNvSpPr/>
          <p:nvPr/>
        </p:nvSpPr>
        <p:spPr>
          <a:xfrm>
            <a:off x="749880" y="2203560"/>
            <a:ext cx="3336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LLMs only talked to humans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66" name="Image 2" descr="preencoded.png"/>
          <p:cNvPicPr/>
          <p:nvPr/>
        </p:nvPicPr>
        <p:blipFill>
          <a:blip r:embed="rId3"/>
          <a:stretch/>
        </p:blipFill>
        <p:spPr>
          <a:xfrm>
            <a:off x="411480" y="281628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67" name="Text 9"/>
          <p:cNvSpPr/>
          <p:nvPr/>
        </p:nvSpPr>
        <p:spPr>
          <a:xfrm>
            <a:off x="749880" y="2788920"/>
            <a:ext cx="3336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Responses were textual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68" name="Image 3" descr="preencoded.png"/>
          <p:cNvPicPr/>
          <p:nvPr/>
        </p:nvPicPr>
        <p:blipFill>
          <a:blip r:embed="rId4"/>
          <a:stretch/>
        </p:blipFill>
        <p:spPr>
          <a:xfrm>
            <a:off x="411480" y="340164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69" name="Text 10"/>
          <p:cNvSpPr/>
          <p:nvPr/>
        </p:nvSpPr>
        <p:spPr>
          <a:xfrm>
            <a:off x="749880" y="3374280"/>
            <a:ext cx="3336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Difficult to integrate with systems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70" name="Image 4" descr="preencoded.png"/>
          <p:cNvPicPr/>
          <p:nvPr/>
        </p:nvPicPr>
        <p:blipFill>
          <a:blip r:embed="rId5"/>
          <a:stretch/>
        </p:blipFill>
        <p:spPr>
          <a:xfrm>
            <a:off x="411480" y="398664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71" name="Text 11"/>
          <p:cNvSpPr/>
          <p:nvPr/>
        </p:nvSpPr>
        <p:spPr>
          <a:xfrm>
            <a:off x="749880" y="3959280"/>
            <a:ext cx="3336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Limited automation potential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72" name="Image 5" descr="preencoded.png"/>
          <p:cNvPicPr/>
          <p:nvPr/>
        </p:nvPicPr>
        <p:blipFill>
          <a:blip r:embed="rId6"/>
          <a:stretch/>
        </p:blipFill>
        <p:spPr>
          <a:xfrm>
            <a:off x="4297680" y="265176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73" name="Shape 12"/>
          <p:cNvSpPr/>
          <p:nvPr/>
        </p:nvSpPr>
        <p:spPr>
          <a:xfrm>
            <a:off x="4892040" y="1664280"/>
            <a:ext cx="3930840" cy="3107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4" name="Shape 13"/>
          <p:cNvSpPr/>
          <p:nvPr/>
        </p:nvSpPr>
        <p:spPr>
          <a:xfrm>
            <a:off x="4892040" y="1664280"/>
            <a:ext cx="3930840" cy="45612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14"/>
          <p:cNvSpPr/>
          <p:nvPr/>
        </p:nvSpPr>
        <p:spPr>
          <a:xfrm>
            <a:off x="5029200" y="1710000"/>
            <a:ext cx="3656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✓  </a:t>
            </a: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After Structured Output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76" name="Image 6" descr="preencoded.png"/>
          <p:cNvPicPr/>
          <p:nvPr/>
        </p:nvPicPr>
        <p:blipFill>
          <a:blip r:embed="rId7"/>
          <a:stretch/>
        </p:blipFill>
        <p:spPr>
          <a:xfrm>
            <a:off x="4983480" y="223128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77" name="Text 15"/>
          <p:cNvSpPr/>
          <p:nvPr/>
        </p:nvSpPr>
        <p:spPr>
          <a:xfrm>
            <a:off x="5321880" y="2203560"/>
            <a:ext cx="33822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LLMs can talk to machines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78" name="Image 7" descr="preencoded.png"/>
          <p:cNvPicPr/>
          <p:nvPr/>
        </p:nvPicPr>
        <p:blipFill>
          <a:blip r:embed="rId8"/>
          <a:stretch/>
        </p:blipFill>
        <p:spPr>
          <a:xfrm>
            <a:off x="4983480" y="274320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79" name="Text 16"/>
          <p:cNvSpPr/>
          <p:nvPr/>
        </p:nvSpPr>
        <p:spPr>
          <a:xfrm>
            <a:off x="5321880" y="2715840"/>
            <a:ext cx="33822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Responses in structured formats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80" name="Image 8" descr="preencoded.png"/>
          <p:cNvPicPr/>
          <p:nvPr/>
        </p:nvPicPr>
        <p:blipFill>
          <a:blip r:embed="rId9"/>
          <a:stretch/>
        </p:blipFill>
        <p:spPr>
          <a:xfrm>
            <a:off x="4983480" y="325512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81" name="Text 17"/>
          <p:cNvSpPr/>
          <p:nvPr/>
        </p:nvSpPr>
        <p:spPr>
          <a:xfrm>
            <a:off x="5321880" y="3227760"/>
            <a:ext cx="33822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Easy database integration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82" name="Image 9" descr="preencoded.png"/>
          <p:cNvPicPr/>
          <p:nvPr/>
        </p:nvPicPr>
        <p:blipFill>
          <a:blip r:embed="rId10"/>
          <a:stretch/>
        </p:blipFill>
        <p:spPr>
          <a:xfrm>
            <a:off x="4983480" y="376740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83" name="Text 18"/>
          <p:cNvSpPr/>
          <p:nvPr/>
        </p:nvSpPr>
        <p:spPr>
          <a:xfrm>
            <a:off x="5321880" y="3740040"/>
            <a:ext cx="33822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Seamless API connectivity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84" name="Image 10" descr="preencoded.png"/>
          <p:cNvPicPr/>
          <p:nvPr/>
        </p:nvPicPr>
        <p:blipFill>
          <a:blip r:embed="rId11"/>
          <a:stretch/>
        </p:blipFill>
        <p:spPr>
          <a:xfrm>
            <a:off x="4983480" y="427932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85" name="Text 19"/>
          <p:cNvSpPr/>
          <p:nvPr/>
        </p:nvSpPr>
        <p:spPr>
          <a:xfrm>
            <a:off x="5321880" y="4251960"/>
            <a:ext cx="33822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Powers intelligent agents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Shape 1"/>
          <p:cNvSpPr/>
          <p:nvPr/>
        </p:nvSpPr>
        <p:spPr>
          <a:xfrm>
            <a:off x="-1371600" y="-1371600"/>
            <a:ext cx="4570920" cy="457092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Shape 2"/>
          <p:cNvSpPr/>
          <p:nvPr/>
        </p:nvSpPr>
        <p:spPr>
          <a:xfrm>
            <a:off x="5943600" y="2286000"/>
            <a:ext cx="4113720" cy="411372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Shape 3"/>
          <p:cNvSpPr/>
          <p:nvPr/>
        </p:nvSpPr>
        <p:spPr>
          <a:xfrm>
            <a:off x="4023360" y="2103120"/>
            <a:ext cx="1096200" cy="53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4"/>
          <p:cNvSpPr/>
          <p:nvPr/>
        </p:nvSpPr>
        <p:spPr>
          <a:xfrm>
            <a:off x="4023360" y="1554480"/>
            <a:ext cx="4570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3" strike="noStrike">
                <a:solidFill>
                  <a:srgbClr val="48cae4"/>
                </a:solidFill>
                <a:latin typeface="Calibri"/>
                <a:ea typeface="Calibri"/>
              </a:rPr>
              <a:t>SECTION 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4023360" y="2194560"/>
            <a:ext cx="47538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Implementation</a:t>
            </a:r>
            <a:endParaRPr b="0" lang="en-IN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Methods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4023360" y="3383280"/>
            <a:ext cx="4753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How LangChain handles structured output for different LLM types.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1960" cy="146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9142920" cy="9590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1"/>
          <p:cNvSpPr/>
          <p:nvPr/>
        </p:nvSpPr>
        <p:spPr>
          <a:xfrm>
            <a:off x="0" y="960120"/>
            <a:ext cx="9142920" cy="53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6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97" name="Text 2"/>
          <p:cNvSpPr/>
          <p:nvPr/>
        </p:nvSpPr>
        <p:spPr>
          <a:xfrm>
            <a:off x="1005840" y="182880"/>
            <a:ext cx="77713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Two Types of LLMs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320040" y="1188720"/>
            <a:ext cx="3930840" cy="3519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9" name="Shape 4"/>
          <p:cNvSpPr/>
          <p:nvPr/>
        </p:nvSpPr>
        <p:spPr>
          <a:xfrm>
            <a:off x="320040" y="1188720"/>
            <a:ext cx="3930840" cy="47448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5"/>
          <p:cNvSpPr/>
          <p:nvPr/>
        </p:nvSpPr>
        <p:spPr>
          <a:xfrm>
            <a:off x="457200" y="1243440"/>
            <a:ext cx="3702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Type 1: Native Structured Output Support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457200" y="1801440"/>
            <a:ext cx="959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What: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457200" y="203004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LLMs trained to generate structured output by default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3" name="Shape 8"/>
          <p:cNvSpPr/>
          <p:nvPr/>
        </p:nvSpPr>
        <p:spPr>
          <a:xfrm>
            <a:off x="457200" y="2423160"/>
            <a:ext cx="3565080" cy="1260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9"/>
          <p:cNvSpPr/>
          <p:nvPr/>
        </p:nvSpPr>
        <p:spPr>
          <a:xfrm>
            <a:off x="457200" y="2496240"/>
            <a:ext cx="959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Examples: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457200" y="272484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OpenAI GPT, Claude, Gemini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6" name="Shape 11"/>
          <p:cNvSpPr/>
          <p:nvPr/>
        </p:nvSpPr>
        <p:spPr>
          <a:xfrm>
            <a:off x="457200" y="3117960"/>
            <a:ext cx="3565080" cy="1260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12"/>
          <p:cNvSpPr/>
          <p:nvPr/>
        </p:nvSpPr>
        <p:spPr>
          <a:xfrm>
            <a:off x="457200" y="3191400"/>
            <a:ext cx="959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Method: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457200" y="342000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with_structured_output() function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9" name="Shape 14"/>
          <p:cNvSpPr/>
          <p:nvPr/>
        </p:nvSpPr>
        <p:spPr>
          <a:xfrm>
            <a:off x="457200" y="3813120"/>
            <a:ext cx="3565080" cy="1260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15"/>
          <p:cNvSpPr/>
          <p:nvPr/>
        </p:nvSpPr>
        <p:spPr>
          <a:xfrm>
            <a:off x="457200" y="3886200"/>
            <a:ext cx="959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Benefit: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Text 16"/>
          <p:cNvSpPr/>
          <p:nvPr/>
        </p:nvSpPr>
        <p:spPr>
          <a:xfrm>
            <a:off x="457200" y="411480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Easier to use, built-in support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2" name="Shape 17"/>
          <p:cNvSpPr/>
          <p:nvPr/>
        </p:nvSpPr>
        <p:spPr>
          <a:xfrm>
            <a:off x="457200" y="4434840"/>
            <a:ext cx="3565080" cy="18180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3" name="Image 1" descr="preencoded.png"/>
          <p:cNvPicPr/>
          <p:nvPr/>
        </p:nvPicPr>
        <p:blipFill>
          <a:blip r:embed="rId2"/>
          <a:stretch/>
        </p:blipFill>
        <p:spPr>
          <a:xfrm>
            <a:off x="502920" y="442584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114" name="Text 18"/>
          <p:cNvSpPr/>
          <p:nvPr/>
        </p:nvSpPr>
        <p:spPr>
          <a:xfrm>
            <a:off x="749880" y="4425840"/>
            <a:ext cx="31993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Recommended for this course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5" name="Shape 19"/>
          <p:cNvSpPr/>
          <p:nvPr/>
        </p:nvSpPr>
        <p:spPr>
          <a:xfrm>
            <a:off x="4846320" y="1188720"/>
            <a:ext cx="3930840" cy="3519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6" name="Shape 20"/>
          <p:cNvSpPr/>
          <p:nvPr/>
        </p:nvSpPr>
        <p:spPr>
          <a:xfrm>
            <a:off x="4846320" y="1188720"/>
            <a:ext cx="3930840" cy="47448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21"/>
          <p:cNvSpPr/>
          <p:nvPr/>
        </p:nvSpPr>
        <p:spPr>
          <a:xfrm>
            <a:off x="4983480" y="1243440"/>
            <a:ext cx="3702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Type 2: No Native Support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8" name="Text 22"/>
          <p:cNvSpPr/>
          <p:nvPr/>
        </p:nvSpPr>
        <p:spPr>
          <a:xfrm>
            <a:off x="4983480" y="1801440"/>
            <a:ext cx="959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What: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9" name="Text 23"/>
          <p:cNvSpPr/>
          <p:nvPr/>
        </p:nvSpPr>
        <p:spPr>
          <a:xfrm>
            <a:off x="4983480" y="203004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LLMs without built-in structured output capability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0" name="Shape 24"/>
          <p:cNvSpPr/>
          <p:nvPr/>
        </p:nvSpPr>
        <p:spPr>
          <a:xfrm>
            <a:off x="4983480" y="2423160"/>
            <a:ext cx="3565080" cy="1260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25"/>
          <p:cNvSpPr/>
          <p:nvPr/>
        </p:nvSpPr>
        <p:spPr>
          <a:xfrm>
            <a:off x="4983480" y="2496240"/>
            <a:ext cx="959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Examples: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2" name="Text 26"/>
          <p:cNvSpPr/>
          <p:nvPr/>
        </p:nvSpPr>
        <p:spPr>
          <a:xfrm>
            <a:off x="4983480" y="272484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Many open-source models, older versions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3" name="Shape 27"/>
          <p:cNvSpPr/>
          <p:nvPr/>
        </p:nvSpPr>
        <p:spPr>
          <a:xfrm>
            <a:off x="4983480" y="3117960"/>
            <a:ext cx="3565080" cy="1260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28"/>
          <p:cNvSpPr/>
          <p:nvPr/>
        </p:nvSpPr>
        <p:spPr>
          <a:xfrm>
            <a:off x="4983480" y="3191400"/>
            <a:ext cx="959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Method: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5" name="Text 29"/>
          <p:cNvSpPr/>
          <p:nvPr/>
        </p:nvSpPr>
        <p:spPr>
          <a:xfrm>
            <a:off x="4983480" y="342000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Output Parsers (covered later)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6" name="Shape 30"/>
          <p:cNvSpPr/>
          <p:nvPr/>
        </p:nvSpPr>
        <p:spPr>
          <a:xfrm>
            <a:off x="4983480" y="3813120"/>
            <a:ext cx="3565080" cy="1260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31"/>
          <p:cNvSpPr/>
          <p:nvPr/>
        </p:nvSpPr>
        <p:spPr>
          <a:xfrm>
            <a:off x="4983480" y="3886200"/>
            <a:ext cx="959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Note: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8" name="Text 32"/>
          <p:cNvSpPr/>
          <p:nvPr/>
        </p:nvSpPr>
        <p:spPr>
          <a:xfrm>
            <a:off x="4983480" y="411480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Requires additional processing steps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9" name="Shape 33"/>
          <p:cNvSpPr/>
          <p:nvPr/>
        </p:nvSpPr>
        <p:spPr>
          <a:xfrm>
            <a:off x="320040" y="4800600"/>
            <a:ext cx="8502840" cy="291600"/>
          </a:xfrm>
          <a:prstGeom prst="rect">
            <a:avLst/>
          </a:prstGeom>
          <a:solidFill>
            <a:srgbClr val="00b4d8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0" name="Image 2" descr="preencoded.png"/>
          <p:cNvPicPr/>
          <p:nvPr/>
        </p:nvPicPr>
        <p:blipFill>
          <a:blip r:embed="rId3"/>
          <a:stretch/>
        </p:blipFill>
        <p:spPr>
          <a:xfrm>
            <a:off x="384120" y="482796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131" name="Text 34"/>
          <p:cNvSpPr/>
          <p:nvPr/>
        </p:nvSpPr>
        <p:spPr>
          <a:xfrm>
            <a:off x="658440" y="4827960"/>
            <a:ext cx="80456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LangChain supports both types — we'll focus on Type 1 with with_structured_output()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9142920" cy="9590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Shape 1"/>
          <p:cNvSpPr/>
          <p:nvPr/>
        </p:nvSpPr>
        <p:spPr>
          <a:xfrm>
            <a:off x="0" y="960120"/>
            <a:ext cx="9142920" cy="53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4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135" name="Text 2"/>
          <p:cNvSpPr/>
          <p:nvPr/>
        </p:nvSpPr>
        <p:spPr>
          <a:xfrm>
            <a:off x="1005840" y="182880"/>
            <a:ext cx="77713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The with_structured_output() Function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320040" y="1115640"/>
            <a:ext cx="4113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2e42"/>
                </a:solidFill>
                <a:latin typeface="Calibri"/>
                <a:ea typeface="Calibri"/>
              </a:rPr>
              <a:t>How It Works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320040" y="1536120"/>
            <a:ext cx="309960" cy="309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5"/>
          <p:cNvSpPr/>
          <p:nvPr/>
        </p:nvSpPr>
        <p:spPr>
          <a:xfrm>
            <a:off x="320040" y="153612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DejaVu Sans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731520" y="1536120"/>
            <a:ext cx="3565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Works with LLMs that have native structured output support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320040" y="2030040"/>
            <a:ext cx="309960" cy="309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8"/>
          <p:cNvSpPr/>
          <p:nvPr/>
        </p:nvSpPr>
        <p:spPr>
          <a:xfrm>
            <a:off x="320040" y="203004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DejaVu Sans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731520" y="2030040"/>
            <a:ext cx="3565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Called before invoking your model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3" name="Shape 10"/>
          <p:cNvSpPr/>
          <p:nvPr/>
        </p:nvSpPr>
        <p:spPr>
          <a:xfrm>
            <a:off x="320040" y="2523600"/>
            <a:ext cx="309960" cy="309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11"/>
          <p:cNvSpPr/>
          <p:nvPr/>
        </p:nvSpPr>
        <p:spPr>
          <a:xfrm>
            <a:off x="320040" y="252360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DejaVu Sans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5" name="Text 12"/>
          <p:cNvSpPr/>
          <p:nvPr/>
        </p:nvSpPr>
        <p:spPr>
          <a:xfrm>
            <a:off x="731520" y="2523600"/>
            <a:ext cx="3565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You specify your desired data format / schema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6" name="Shape 13"/>
          <p:cNvSpPr/>
          <p:nvPr/>
        </p:nvSpPr>
        <p:spPr>
          <a:xfrm>
            <a:off x="320040" y="3017520"/>
            <a:ext cx="309960" cy="309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4"/>
          <p:cNvSpPr/>
          <p:nvPr/>
        </p:nvSpPr>
        <p:spPr>
          <a:xfrm>
            <a:off x="320040" y="301752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DejaVu Sans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8" name="Text 15"/>
          <p:cNvSpPr/>
          <p:nvPr/>
        </p:nvSpPr>
        <p:spPr>
          <a:xfrm>
            <a:off x="731520" y="3017520"/>
            <a:ext cx="3565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LLM generates output in that exact format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9" name="Shape 16"/>
          <p:cNvSpPr/>
          <p:nvPr/>
        </p:nvSpPr>
        <p:spPr>
          <a:xfrm>
            <a:off x="4572000" y="1097280"/>
            <a:ext cx="4250880" cy="118764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0" name="Text 17"/>
          <p:cNvSpPr/>
          <p:nvPr/>
        </p:nvSpPr>
        <p:spPr>
          <a:xfrm>
            <a:off x="4681800" y="117036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Normal Flow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1" name="Text 18"/>
          <p:cNvSpPr/>
          <p:nvPr/>
        </p:nvSpPr>
        <p:spPr>
          <a:xfrm>
            <a:off x="4681800" y="1417320"/>
            <a:ext cx="4022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Normal flow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response = llm.invoke(prompt)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2" name="Shape 19"/>
          <p:cNvSpPr/>
          <p:nvPr/>
        </p:nvSpPr>
        <p:spPr>
          <a:xfrm>
            <a:off x="4572000" y="2423160"/>
            <a:ext cx="4250880" cy="150768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Text 20"/>
          <p:cNvSpPr/>
          <p:nvPr/>
        </p:nvSpPr>
        <p:spPr>
          <a:xfrm>
            <a:off x="4681800" y="248724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With Structured 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4" name="Text 21"/>
          <p:cNvSpPr/>
          <p:nvPr/>
        </p:nvSpPr>
        <p:spPr>
          <a:xfrm>
            <a:off x="4681800" y="2724840"/>
            <a:ext cx="4022280" cy="11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With structured output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structured_llm = llm.with_structured_output(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YourSchema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response = structured_llm.invoke(prompt)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5" name="Shape 22"/>
          <p:cNvSpPr/>
          <p:nvPr/>
        </p:nvSpPr>
        <p:spPr>
          <a:xfrm>
            <a:off x="4572000" y="4041720"/>
            <a:ext cx="4250880" cy="684720"/>
          </a:xfrm>
          <a:prstGeom prst="rect">
            <a:avLst/>
          </a:prstGeom>
          <a:solidFill>
            <a:srgbClr val="06d6a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Shape 23"/>
          <p:cNvSpPr/>
          <p:nvPr/>
        </p:nvSpPr>
        <p:spPr>
          <a:xfrm>
            <a:off x="4572000" y="4041720"/>
            <a:ext cx="53640" cy="68472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7" name="Image 1" descr="preencoded.png"/>
          <p:cNvPicPr/>
          <p:nvPr/>
        </p:nvPicPr>
        <p:blipFill>
          <a:blip r:embed="rId2"/>
          <a:stretch/>
        </p:blipFill>
        <p:spPr>
          <a:xfrm>
            <a:off x="4681800" y="415152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158" name="Text 24"/>
          <p:cNvSpPr/>
          <p:nvPr/>
        </p:nvSpPr>
        <p:spPr>
          <a:xfrm>
            <a:off x="4937760" y="4114800"/>
            <a:ext cx="37936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Simple and powerful — just add .with_structured_output() before .invoke()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1"/>
          <p:cNvSpPr/>
          <p:nvPr/>
        </p:nvSpPr>
        <p:spPr>
          <a:xfrm>
            <a:off x="-1371600" y="-1371600"/>
            <a:ext cx="4570920" cy="457092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Shape 2"/>
          <p:cNvSpPr/>
          <p:nvPr/>
        </p:nvSpPr>
        <p:spPr>
          <a:xfrm>
            <a:off x="5943600" y="2286000"/>
            <a:ext cx="4113720" cy="411372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Shape 3"/>
          <p:cNvSpPr/>
          <p:nvPr/>
        </p:nvSpPr>
        <p:spPr>
          <a:xfrm>
            <a:off x="4023360" y="2103120"/>
            <a:ext cx="1096200" cy="53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4"/>
          <p:cNvSpPr/>
          <p:nvPr/>
        </p:nvSpPr>
        <p:spPr>
          <a:xfrm>
            <a:off x="4023360" y="1554480"/>
            <a:ext cx="4570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3" strike="noStrike">
                <a:solidFill>
                  <a:srgbClr val="48cae4"/>
                </a:solidFill>
                <a:latin typeface="Calibri"/>
                <a:ea typeface="Calibri"/>
              </a:rPr>
              <a:t>SECTION 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4023360" y="2194560"/>
            <a:ext cx="47538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Three Ways to</a:t>
            </a:r>
            <a:endParaRPr b="0" lang="en-IN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Define Schemas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4023360" y="3383280"/>
            <a:ext cx="4753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TypedDict, Pydantic, and JSON Schema — each with different strengths.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66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1960" cy="146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0" y="0"/>
            <a:ext cx="9142920" cy="9590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Shape 1"/>
          <p:cNvSpPr/>
          <p:nvPr/>
        </p:nvSpPr>
        <p:spPr>
          <a:xfrm>
            <a:off x="0" y="960120"/>
            <a:ext cx="9142920" cy="53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2"/>
          <p:cNvSpPr/>
          <p:nvPr/>
        </p:nvSpPr>
        <p:spPr>
          <a:xfrm>
            <a:off x="411480" y="182880"/>
            <a:ext cx="8228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Three Schema Definition Methods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70" name="Shape 3"/>
          <p:cNvSpPr/>
          <p:nvPr/>
        </p:nvSpPr>
        <p:spPr>
          <a:xfrm>
            <a:off x="320040" y="1115640"/>
            <a:ext cx="2742120" cy="3702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1" name="Shape 4"/>
          <p:cNvSpPr/>
          <p:nvPr/>
        </p:nvSpPr>
        <p:spPr>
          <a:xfrm>
            <a:off x="320040" y="1115640"/>
            <a:ext cx="2742120" cy="63900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2" name="Image 0" descr="preencoded.png"/>
          <p:cNvPicPr/>
          <p:nvPr/>
        </p:nvPicPr>
        <p:blipFill>
          <a:blip r:embed="rId1"/>
          <a:stretch/>
        </p:blipFill>
        <p:spPr>
          <a:xfrm>
            <a:off x="429840" y="1207080"/>
            <a:ext cx="383040" cy="383040"/>
          </a:xfrm>
          <a:prstGeom prst="rect">
            <a:avLst/>
          </a:prstGeom>
          <a:ln w="0">
            <a:noFill/>
          </a:ln>
        </p:spPr>
      </p:pic>
      <p:sp>
        <p:nvSpPr>
          <p:cNvPr id="173" name="Text 5"/>
          <p:cNvSpPr/>
          <p:nvPr/>
        </p:nvSpPr>
        <p:spPr>
          <a:xfrm>
            <a:off x="887040" y="1170360"/>
            <a:ext cx="21020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1️⃣  TypedDict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887040" y="1426320"/>
            <a:ext cx="21020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Python type hints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5" name="Text 7"/>
          <p:cNvSpPr/>
          <p:nvPr/>
        </p:nvSpPr>
        <p:spPr>
          <a:xfrm>
            <a:off x="457200" y="1874520"/>
            <a:ext cx="24678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4" strike="noStrike">
                <a:solidFill>
                  <a:srgbClr val="0096c7"/>
                </a:solidFill>
                <a:latin typeface="Calibri"/>
                <a:ea typeface="Calibri"/>
              </a:rPr>
              <a:t>PROS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76" name="Image 1" descr="preencoded.png"/>
          <p:cNvPicPr/>
          <p:nvPr/>
        </p:nvPicPr>
        <p:blipFill>
          <a:blip r:embed="rId2"/>
          <a:stretch/>
        </p:blipFill>
        <p:spPr>
          <a:xfrm>
            <a:off x="484560" y="217620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177" name="Text 8"/>
          <p:cNvSpPr/>
          <p:nvPr/>
        </p:nvSpPr>
        <p:spPr>
          <a:xfrm>
            <a:off x="758880" y="216720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Simple syntax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78" name="Image 2" descr="preencoded.png"/>
          <p:cNvPicPr/>
          <p:nvPr/>
        </p:nvPicPr>
        <p:blipFill>
          <a:blip r:embed="rId3"/>
          <a:stretch/>
        </p:blipFill>
        <p:spPr>
          <a:xfrm>
            <a:off x="484560" y="259704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179" name="Text 9"/>
          <p:cNvSpPr/>
          <p:nvPr/>
        </p:nvSpPr>
        <p:spPr>
          <a:xfrm>
            <a:off x="758880" y="258768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Native Python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0" name="Text 10"/>
          <p:cNvSpPr/>
          <p:nvPr/>
        </p:nvSpPr>
        <p:spPr>
          <a:xfrm>
            <a:off x="457200" y="3182040"/>
            <a:ext cx="24678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4" strike="noStrike">
                <a:solidFill>
                  <a:srgbClr val="ef476f"/>
                </a:solidFill>
                <a:latin typeface="Calibri"/>
                <a:ea typeface="Calibri"/>
              </a:rPr>
              <a:t>CONS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81" name="Image 3" descr="preencoded.png"/>
          <p:cNvPicPr/>
          <p:nvPr/>
        </p:nvPicPr>
        <p:blipFill>
          <a:blip r:embed="rId4"/>
          <a:stretch/>
        </p:blipFill>
        <p:spPr>
          <a:xfrm>
            <a:off x="484560" y="349308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182" name="Text 11"/>
          <p:cNvSpPr/>
          <p:nvPr/>
        </p:nvSpPr>
        <p:spPr>
          <a:xfrm>
            <a:off x="758880" y="348372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No validation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83" name="Image 4" descr="preencoded.png"/>
          <p:cNvPicPr/>
          <p:nvPr/>
        </p:nvPicPr>
        <p:blipFill>
          <a:blip r:embed="rId5"/>
          <a:stretch/>
        </p:blipFill>
        <p:spPr>
          <a:xfrm>
            <a:off x="484560" y="387720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184" name="Text 12"/>
          <p:cNvSpPr/>
          <p:nvPr/>
        </p:nvSpPr>
        <p:spPr>
          <a:xfrm>
            <a:off x="758880" y="386784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Type hints only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5" name="Shape 13"/>
          <p:cNvSpPr/>
          <p:nvPr/>
        </p:nvSpPr>
        <p:spPr>
          <a:xfrm>
            <a:off x="3246120" y="1115640"/>
            <a:ext cx="2742120" cy="3702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6" name="Shape 14"/>
          <p:cNvSpPr/>
          <p:nvPr/>
        </p:nvSpPr>
        <p:spPr>
          <a:xfrm>
            <a:off x="3246120" y="1115640"/>
            <a:ext cx="2742120" cy="63900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87" name="Image 5" descr="preencoded.png"/>
          <p:cNvPicPr/>
          <p:nvPr/>
        </p:nvPicPr>
        <p:blipFill>
          <a:blip r:embed="rId6"/>
          <a:stretch/>
        </p:blipFill>
        <p:spPr>
          <a:xfrm>
            <a:off x="3355920" y="1207080"/>
            <a:ext cx="383040" cy="383040"/>
          </a:xfrm>
          <a:prstGeom prst="rect">
            <a:avLst/>
          </a:prstGeom>
          <a:ln w="0">
            <a:noFill/>
          </a:ln>
        </p:spPr>
      </p:pic>
      <p:sp>
        <p:nvSpPr>
          <p:cNvPr id="188" name="Text 15"/>
          <p:cNvSpPr/>
          <p:nvPr/>
        </p:nvSpPr>
        <p:spPr>
          <a:xfrm>
            <a:off x="3813120" y="1170360"/>
            <a:ext cx="21020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2️⃣  Pydantic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9" name="Text 16"/>
          <p:cNvSpPr/>
          <p:nvPr/>
        </p:nvSpPr>
        <p:spPr>
          <a:xfrm>
            <a:off x="3813120" y="1426320"/>
            <a:ext cx="21020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Data validation library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0" name="Text 17"/>
          <p:cNvSpPr/>
          <p:nvPr/>
        </p:nvSpPr>
        <p:spPr>
          <a:xfrm>
            <a:off x="3383280" y="1874520"/>
            <a:ext cx="24678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4" strike="noStrike">
                <a:solidFill>
                  <a:srgbClr val="06d6a0"/>
                </a:solidFill>
                <a:latin typeface="Calibri"/>
                <a:ea typeface="Calibri"/>
              </a:rPr>
              <a:t>PROS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91" name="Image 6" descr="preencoded.png"/>
          <p:cNvPicPr/>
          <p:nvPr/>
        </p:nvPicPr>
        <p:blipFill>
          <a:blip r:embed="rId7"/>
          <a:stretch/>
        </p:blipFill>
        <p:spPr>
          <a:xfrm>
            <a:off x="3410640" y="217620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192" name="Text 18"/>
          <p:cNvSpPr/>
          <p:nvPr/>
        </p:nvSpPr>
        <p:spPr>
          <a:xfrm>
            <a:off x="3684960" y="216720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Full validation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93" name="Image 7" descr="preencoded.png"/>
          <p:cNvPicPr/>
          <p:nvPr/>
        </p:nvPicPr>
        <p:blipFill>
          <a:blip r:embed="rId8"/>
          <a:stretch/>
        </p:blipFill>
        <p:spPr>
          <a:xfrm>
            <a:off x="3410640" y="259704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194" name="Text 19"/>
          <p:cNvSpPr/>
          <p:nvPr/>
        </p:nvSpPr>
        <p:spPr>
          <a:xfrm>
            <a:off x="3684960" y="258768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Type coercion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95" name="Image 8" descr="preencoded.png"/>
          <p:cNvPicPr/>
          <p:nvPr/>
        </p:nvPicPr>
        <p:blipFill>
          <a:blip r:embed="rId9"/>
          <a:stretch/>
        </p:blipFill>
        <p:spPr>
          <a:xfrm>
            <a:off x="3410640" y="301752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196" name="Text 20"/>
          <p:cNvSpPr/>
          <p:nvPr/>
        </p:nvSpPr>
        <p:spPr>
          <a:xfrm>
            <a:off x="3684960" y="300852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Default values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7" name="Text 21"/>
          <p:cNvSpPr/>
          <p:nvPr/>
        </p:nvSpPr>
        <p:spPr>
          <a:xfrm>
            <a:off x="3383280" y="3602880"/>
            <a:ext cx="24678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4" strike="noStrike">
                <a:solidFill>
                  <a:srgbClr val="ef476f"/>
                </a:solidFill>
                <a:latin typeface="Calibri"/>
                <a:ea typeface="Calibri"/>
              </a:rPr>
              <a:t>CONS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98" name="Image 9" descr="preencoded.png"/>
          <p:cNvPicPr/>
          <p:nvPr/>
        </p:nvPicPr>
        <p:blipFill>
          <a:blip r:embed="rId10"/>
          <a:stretch/>
        </p:blipFill>
        <p:spPr>
          <a:xfrm>
            <a:off x="3410640" y="391356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199" name="Text 22"/>
          <p:cNvSpPr/>
          <p:nvPr/>
        </p:nvSpPr>
        <p:spPr>
          <a:xfrm>
            <a:off x="3684960" y="390456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Python only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0" name="Shape 23"/>
          <p:cNvSpPr/>
          <p:nvPr/>
        </p:nvSpPr>
        <p:spPr>
          <a:xfrm>
            <a:off x="6172200" y="1115640"/>
            <a:ext cx="2742120" cy="3702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Shape 24"/>
          <p:cNvSpPr/>
          <p:nvPr/>
        </p:nvSpPr>
        <p:spPr>
          <a:xfrm>
            <a:off x="6172200" y="1115640"/>
            <a:ext cx="2742120" cy="6390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2" name="Image 10" descr="preencoded.png"/>
          <p:cNvPicPr/>
          <p:nvPr/>
        </p:nvPicPr>
        <p:blipFill>
          <a:blip r:embed="rId11"/>
          <a:stretch/>
        </p:blipFill>
        <p:spPr>
          <a:xfrm>
            <a:off x="6282000" y="1207080"/>
            <a:ext cx="383040" cy="383040"/>
          </a:xfrm>
          <a:prstGeom prst="rect">
            <a:avLst/>
          </a:prstGeom>
          <a:ln w="0">
            <a:noFill/>
          </a:ln>
        </p:spPr>
      </p:pic>
      <p:sp>
        <p:nvSpPr>
          <p:cNvPr id="203" name="Text 25"/>
          <p:cNvSpPr/>
          <p:nvPr/>
        </p:nvSpPr>
        <p:spPr>
          <a:xfrm>
            <a:off x="6739200" y="1170360"/>
            <a:ext cx="21020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3️⃣  JSON Schema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4" name="Text 26"/>
          <p:cNvSpPr/>
          <p:nvPr/>
        </p:nvSpPr>
        <p:spPr>
          <a:xfrm>
            <a:off x="6739200" y="1426320"/>
            <a:ext cx="21020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Universal format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5" name="Text 27"/>
          <p:cNvSpPr/>
          <p:nvPr/>
        </p:nvSpPr>
        <p:spPr>
          <a:xfrm>
            <a:off x="6309360" y="1874520"/>
            <a:ext cx="24678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4" strike="noStrike">
                <a:solidFill>
                  <a:srgbClr val="f4a261"/>
                </a:solidFill>
                <a:latin typeface="Calibri"/>
                <a:ea typeface="Calibri"/>
              </a:rPr>
              <a:t>PROS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206" name="Image 11" descr="preencoded.png"/>
          <p:cNvPicPr/>
          <p:nvPr/>
        </p:nvPicPr>
        <p:blipFill>
          <a:blip r:embed="rId12"/>
          <a:stretch/>
        </p:blipFill>
        <p:spPr>
          <a:xfrm>
            <a:off x="6336720" y="217620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207" name="Text 28"/>
          <p:cNvSpPr/>
          <p:nvPr/>
        </p:nvSpPr>
        <p:spPr>
          <a:xfrm>
            <a:off x="6611040" y="216720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Cross-language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208" name="Image 12" descr="preencoded.png"/>
          <p:cNvPicPr/>
          <p:nvPr/>
        </p:nvPicPr>
        <p:blipFill>
          <a:blip r:embed="rId13"/>
          <a:stretch/>
        </p:blipFill>
        <p:spPr>
          <a:xfrm>
            <a:off x="6336720" y="259704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209" name="Text 29"/>
          <p:cNvSpPr/>
          <p:nvPr/>
        </p:nvSpPr>
        <p:spPr>
          <a:xfrm>
            <a:off x="6611040" y="258768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Standard format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0" name="Text 30"/>
          <p:cNvSpPr/>
          <p:nvPr/>
        </p:nvSpPr>
        <p:spPr>
          <a:xfrm>
            <a:off x="6309360" y="3182040"/>
            <a:ext cx="24678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4" strike="noStrike">
                <a:solidFill>
                  <a:srgbClr val="ef476f"/>
                </a:solidFill>
                <a:latin typeface="Calibri"/>
                <a:ea typeface="Calibri"/>
              </a:rPr>
              <a:t>CONS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211" name="Image 13" descr="preencoded.png"/>
          <p:cNvPicPr/>
          <p:nvPr/>
        </p:nvPicPr>
        <p:blipFill>
          <a:blip r:embed="rId14"/>
          <a:stretch/>
        </p:blipFill>
        <p:spPr>
          <a:xfrm>
            <a:off x="6336720" y="349308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212" name="Text 31"/>
          <p:cNvSpPr/>
          <p:nvPr/>
        </p:nvSpPr>
        <p:spPr>
          <a:xfrm>
            <a:off x="6611040" y="348372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More verbose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213" name="Image 14" descr="preencoded.png"/>
          <p:cNvPicPr/>
          <p:nvPr/>
        </p:nvPicPr>
        <p:blipFill>
          <a:blip r:embed="rId15"/>
          <a:stretch/>
        </p:blipFill>
        <p:spPr>
          <a:xfrm>
            <a:off x="6336720" y="387720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214" name="Text 32"/>
          <p:cNvSpPr/>
          <p:nvPr/>
        </p:nvSpPr>
        <p:spPr>
          <a:xfrm>
            <a:off x="6611040" y="386784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No Python objects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5" name="Shape 33"/>
          <p:cNvSpPr/>
          <p:nvPr/>
        </p:nvSpPr>
        <p:spPr>
          <a:xfrm>
            <a:off x="320040" y="4846320"/>
            <a:ext cx="8502840" cy="24588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34"/>
          <p:cNvSpPr/>
          <p:nvPr/>
        </p:nvSpPr>
        <p:spPr>
          <a:xfrm>
            <a:off x="457200" y="4873680"/>
            <a:ext cx="8319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We'll explore all three methods with detailed code examples!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Shape 1"/>
          <p:cNvSpPr/>
          <p:nvPr/>
        </p:nvSpPr>
        <p:spPr>
          <a:xfrm>
            <a:off x="-1371600" y="-1371600"/>
            <a:ext cx="4570920" cy="457092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Shape 2"/>
          <p:cNvSpPr/>
          <p:nvPr/>
        </p:nvSpPr>
        <p:spPr>
          <a:xfrm>
            <a:off x="5943600" y="2286000"/>
            <a:ext cx="4113720" cy="411372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Shape 3"/>
          <p:cNvSpPr/>
          <p:nvPr/>
        </p:nvSpPr>
        <p:spPr>
          <a:xfrm>
            <a:off x="4023360" y="2103120"/>
            <a:ext cx="1096200" cy="53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4"/>
          <p:cNvSpPr/>
          <p:nvPr/>
        </p:nvSpPr>
        <p:spPr>
          <a:xfrm>
            <a:off x="4023360" y="1554480"/>
            <a:ext cx="4570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3" strike="noStrike">
                <a:solidFill>
                  <a:srgbClr val="48cae4"/>
                </a:solidFill>
                <a:latin typeface="Calibri"/>
                <a:ea typeface="Calibri"/>
              </a:rPr>
              <a:t>METHOD 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4023360" y="2194560"/>
            <a:ext cx="47538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TypedDict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223" name="Text 6"/>
          <p:cNvSpPr/>
          <p:nvPr/>
        </p:nvSpPr>
        <p:spPr>
          <a:xfrm>
            <a:off x="4023360" y="3383280"/>
            <a:ext cx="4753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Define dictionary schemas with Python type hints. Simple, native, and lightweight.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224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1960" cy="146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0"/>
          <p:cNvSpPr/>
          <p:nvPr/>
        </p:nvSpPr>
        <p:spPr>
          <a:xfrm>
            <a:off x="0" y="0"/>
            <a:ext cx="9142920" cy="9590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Shape 1"/>
          <p:cNvSpPr/>
          <p:nvPr/>
        </p:nvSpPr>
        <p:spPr>
          <a:xfrm>
            <a:off x="0" y="960120"/>
            <a:ext cx="9142920" cy="53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27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228" name="Text 2"/>
          <p:cNvSpPr/>
          <p:nvPr/>
        </p:nvSpPr>
        <p:spPr>
          <a:xfrm>
            <a:off x="1005840" y="182880"/>
            <a:ext cx="77713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Understanding TypedDict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29" name="Shape 3"/>
          <p:cNvSpPr/>
          <p:nvPr/>
        </p:nvSpPr>
        <p:spPr>
          <a:xfrm>
            <a:off x="320040" y="1143000"/>
            <a:ext cx="8502840" cy="91332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Shape 4"/>
          <p:cNvSpPr/>
          <p:nvPr/>
        </p:nvSpPr>
        <p:spPr>
          <a:xfrm>
            <a:off x="320040" y="1143000"/>
            <a:ext cx="63000" cy="913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5"/>
          <p:cNvSpPr/>
          <p:nvPr/>
        </p:nvSpPr>
        <p:spPr>
          <a:xfrm>
            <a:off x="475560" y="118872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What is TypedDict?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2" name="Text 6"/>
          <p:cNvSpPr/>
          <p:nvPr/>
        </p:nvSpPr>
        <p:spPr>
          <a:xfrm>
            <a:off x="475560" y="1435680"/>
            <a:ext cx="82285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A way to define dictionaries with specified keys and value types — tells Python what keys are required and the data types for each.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3" name="Shape 7"/>
          <p:cNvSpPr/>
          <p:nvPr/>
        </p:nvSpPr>
        <p:spPr>
          <a:xfrm>
            <a:off x="320040" y="2212920"/>
            <a:ext cx="3930840" cy="251352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4" name="Shape 8"/>
          <p:cNvSpPr/>
          <p:nvPr/>
        </p:nvSpPr>
        <p:spPr>
          <a:xfrm>
            <a:off x="320040" y="2212920"/>
            <a:ext cx="3930840" cy="364680"/>
          </a:xfrm>
          <a:prstGeom prst="rect">
            <a:avLst/>
          </a:prstGeom>
          <a:solidFill>
            <a:srgbClr val="ef476f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9"/>
          <p:cNvSpPr/>
          <p:nvPr/>
        </p:nvSpPr>
        <p:spPr>
          <a:xfrm>
            <a:off x="457200" y="224928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❌  </a:t>
            </a: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Normal (No TypedDict)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6" name="Text 10"/>
          <p:cNvSpPr/>
          <p:nvPr/>
        </p:nvSpPr>
        <p:spPr>
          <a:xfrm>
            <a:off x="457200" y="2651760"/>
            <a:ext cx="365652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person_data = {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"name": "Ganesh",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"age": 25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}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No type checking,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no structure enforcement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7" name="Shape 11"/>
          <p:cNvSpPr/>
          <p:nvPr/>
        </p:nvSpPr>
        <p:spPr>
          <a:xfrm>
            <a:off x="4846320" y="2212920"/>
            <a:ext cx="3976560" cy="251352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8" name="Shape 12"/>
          <p:cNvSpPr/>
          <p:nvPr/>
        </p:nvSpPr>
        <p:spPr>
          <a:xfrm>
            <a:off x="4846320" y="2212920"/>
            <a:ext cx="3976560" cy="364680"/>
          </a:xfrm>
          <a:prstGeom prst="rect">
            <a:avLst/>
          </a:prstGeom>
          <a:solidFill>
            <a:srgbClr val="06d6a0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3"/>
          <p:cNvSpPr/>
          <p:nvPr/>
        </p:nvSpPr>
        <p:spPr>
          <a:xfrm>
            <a:off x="4983480" y="224928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✓  </a:t>
            </a: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With TypedDict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0" name="Text 14"/>
          <p:cNvSpPr/>
          <p:nvPr/>
        </p:nvSpPr>
        <p:spPr>
          <a:xfrm>
            <a:off x="4983480" y="2651760"/>
            <a:ext cx="374796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from typing import TypedDict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class PersonInfo(TypedDict):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Structured, hinted keys!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1" name="Shape 15"/>
          <p:cNvSpPr/>
          <p:nvPr/>
        </p:nvSpPr>
        <p:spPr>
          <a:xfrm>
            <a:off x="320040" y="4782240"/>
            <a:ext cx="8502840" cy="273240"/>
          </a:xfrm>
          <a:prstGeom prst="rect">
            <a:avLst/>
          </a:prstGeom>
          <a:solidFill>
            <a:srgbClr val="ffd16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16"/>
          <p:cNvSpPr/>
          <p:nvPr/>
        </p:nvSpPr>
        <p:spPr>
          <a:xfrm>
            <a:off x="457200" y="4809600"/>
            <a:ext cx="82285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⚠️  </a:t>
            </a:r>
            <a:r>
              <a:rPr b="1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Important: TypedDict does NOT validate — it only provides type hints!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0" y="0"/>
            <a:ext cx="9142920" cy="9590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Shape 1"/>
          <p:cNvSpPr/>
          <p:nvPr/>
        </p:nvSpPr>
        <p:spPr>
          <a:xfrm>
            <a:off x="0" y="960120"/>
            <a:ext cx="9142920" cy="53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45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246" name="Text 2"/>
          <p:cNvSpPr/>
          <p:nvPr/>
        </p:nvSpPr>
        <p:spPr>
          <a:xfrm>
            <a:off x="1005840" y="182880"/>
            <a:ext cx="77713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TypedDict Code Example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47" name="Shape 3"/>
          <p:cNvSpPr/>
          <p:nvPr/>
        </p:nvSpPr>
        <p:spPr>
          <a:xfrm>
            <a:off x="320040" y="1097280"/>
            <a:ext cx="5028120" cy="292500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8" name="Text 4"/>
          <p:cNvSpPr/>
          <p:nvPr/>
        </p:nvSpPr>
        <p:spPr>
          <a:xfrm>
            <a:off x="457200" y="1170360"/>
            <a:ext cx="47538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Code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9" name="Text 5"/>
          <p:cNvSpPr/>
          <p:nvPr/>
        </p:nvSpPr>
        <p:spPr>
          <a:xfrm>
            <a:off x="457200" y="1463040"/>
            <a:ext cx="4753800" cy="246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from typing import TypedDict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class PersonInfo(TypedDict):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Create a dictionary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new_person: PersonInfo = {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'name': 'Ganesh',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'age': 25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}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print(new_person)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print(type(new_person))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0" name="Shape 6"/>
          <p:cNvSpPr/>
          <p:nvPr/>
        </p:nvSpPr>
        <p:spPr>
          <a:xfrm>
            <a:off x="320040" y="4114800"/>
            <a:ext cx="5028120" cy="86760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7"/>
          <p:cNvSpPr/>
          <p:nvPr/>
        </p:nvSpPr>
        <p:spPr>
          <a:xfrm>
            <a:off x="457200" y="4160520"/>
            <a:ext cx="4570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2" name="Text 8"/>
          <p:cNvSpPr/>
          <p:nvPr/>
        </p:nvSpPr>
        <p:spPr>
          <a:xfrm>
            <a:off x="457200" y="4370760"/>
            <a:ext cx="46623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d6a0"/>
                </a:solidFill>
                <a:latin typeface="Consolas"/>
                <a:ea typeface="Consolas"/>
              </a:rPr>
              <a:t>{'name': 'Ganesh', 'age': 25}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d6a0"/>
                </a:solidFill>
                <a:latin typeface="Consolas"/>
                <a:ea typeface="Consolas"/>
              </a:rPr>
              <a:t>&lt;class 'dict'&gt;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3" name="Shape 9"/>
          <p:cNvSpPr/>
          <p:nvPr/>
        </p:nvSpPr>
        <p:spPr>
          <a:xfrm>
            <a:off x="5532120" y="1097280"/>
            <a:ext cx="3290760" cy="3885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4" name="Shape 10"/>
          <p:cNvSpPr/>
          <p:nvPr/>
        </p:nvSpPr>
        <p:spPr>
          <a:xfrm>
            <a:off x="5532120" y="1097280"/>
            <a:ext cx="3290760" cy="43776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11"/>
          <p:cNvSpPr/>
          <p:nvPr/>
        </p:nvSpPr>
        <p:spPr>
          <a:xfrm>
            <a:off x="5669280" y="1152000"/>
            <a:ext cx="30164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Key Observations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6" name="Shape 12"/>
          <p:cNvSpPr/>
          <p:nvPr/>
        </p:nvSpPr>
        <p:spPr>
          <a:xfrm>
            <a:off x="5596200" y="1645920"/>
            <a:ext cx="3135240" cy="54756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Shape 13"/>
          <p:cNvSpPr/>
          <p:nvPr/>
        </p:nvSpPr>
        <p:spPr>
          <a:xfrm>
            <a:off x="5596200" y="1645920"/>
            <a:ext cx="53640" cy="5475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14"/>
          <p:cNvSpPr/>
          <p:nvPr/>
        </p:nvSpPr>
        <p:spPr>
          <a:xfrm>
            <a:off x="5715000" y="1682640"/>
            <a:ext cx="10962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Import: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9" name="Text 15"/>
          <p:cNvSpPr/>
          <p:nvPr/>
        </p:nvSpPr>
        <p:spPr>
          <a:xfrm>
            <a:off x="5715000" y="188352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Use TypedDict from the typing module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0" name="Shape 16"/>
          <p:cNvSpPr/>
          <p:nvPr/>
        </p:nvSpPr>
        <p:spPr>
          <a:xfrm>
            <a:off x="5596200" y="2304360"/>
            <a:ext cx="3135240" cy="54756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Shape 17"/>
          <p:cNvSpPr/>
          <p:nvPr/>
        </p:nvSpPr>
        <p:spPr>
          <a:xfrm>
            <a:off x="5596200" y="2304360"/>
            <a:ext cx="53640" cy="5475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18"/>
          <p:cNvSpPr/>
          <p:nvPr/>
        </p:nvSpPr>
        <p:spPr>
          <a:xfrm>
            <a:off x="5715000" y="2340720"/>
            <a:ext cx="10962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Class syntax: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3" name="Text 19"/>
          <p:cNvSpPr/>
          <p:nvPr/>
        </p:nvSpPr>
        <p:spPr>
          <a:xfrm>
            <a:off x="5715000" y="254196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Define as a class inheriting TypedDict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4" name="Shape 20"/>
          <p:cNvSpPr/>
          <p:nvPr/>
        </p:nvSpPr>
        <p:spPr>
          <a:xfrm>
            <a:off x="5596200" y="2962800"/>
            <a:ext cx="3135240" cy="54756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Shape 21"/>
          <p:cNvSpPr/>
          <p:nvPr/>
        </p:nvSpPr>
        <p:spPr>
          <a:xfrm>
            <a:off x="5596200" y="2962800"/>
            <a:ext cx="53640" cy="5475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22"/>
          <p:cNvSpPr/>
          <p:nvPr/>
        </p:nvSpPr>
        <p:spPr>
          <a:xfrm>
            <a:off x="5715000" y="2999160"/>
            <a:ext cx="10962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Type hints: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7" name="Text 23"/>
          <p:cNvSpPr/>
          <p:nvPr/>
        </p:nvSpPr>
        <p:spPr>
          <a:xfrm>
            <a:off x="5715000" y="320040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Annotate each field: name: str, age: int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8" name="Shape 24"/>
          <p:cNvSpPr/>
          <p:nvPr/>
        </p:nvSpPr>
        <p:spPr>
          <a:xfrm>
            <a:off x="5596200" y="3620880"/>
            <a:ext cx="3135240" cy="54756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Shape 25"/>
          <p:cNvSpPr/>
          <p:nvPr/>
        </p:nvSpPr>
        <p:spPr>
          <a:xfrm>
            <a:off x="5596200" y="3620880"/>
            <a:ext cx="53640" cy="5475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26"/>
          <p:cNvSpPr/>
          <p:nvPr/>
        </p:nvSpPr>
        <p:spPr>
          <a:xfrm>
            <a:off x="5715000" y="3657600"/>
            <a:ext cx="10962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Returns dict: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1" name="Text 27"/>
          <p:cNvSpPr/>
          <p:nvPr/>
        </p:nvSpPr>
        <p:spPr>
          <a:xfrm>
            <a:off x="5715000" y="385884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Output type is still &lt;class 'dict'&gt;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2" name="Shape 28"/>
          <p:cNvSpPr/>
          <p:nvPr/>
        </p:nvSpPr>
        <p:spPr>
          <a:xfrm>
            <a:off x="5596200" y="4279320"/>
            <a:ext cx="3135240" cy="54756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Shape 29"/>
          <p:cNvSpPr/>
          <p:nvPr/>
        </p:nvSpPr>
        <p:spPr>
          <a:xfrm>
            <a:off x="5596200" y="4279320"/>
            <a:ext cx="53640" cy="5475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30"/>
          <p:cNvSpPr/>
          <p:nvPr/>
        </p:nvSpPr>
        <p:spPr>
          <a:xfrm>
            <a:off x="5715000" y="4316040"/>
            <a:ext cx="10962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No errors: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5" name="Text 31"/>
          <p:cNvSpPr/>
          <p:nvPr/>
        </p:nvSpPr>
        <p:spPr>
          <a:xfrm>
            <a:off x="5715000" y="451728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Even wrong types won't raise exceptions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0" y="0"/>
            <a:ext cx="9142920" cy="9590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Shape 1"/>
          <p:cNvSpPr/>
          <p:nvPr/>
        </p:nvSpPr>
        <p:spPr>
          <a:xfrm>
            <a:off x="0" y="960120"/>
            <a:ext cx="9142920" cy="53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78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279" name="Text 2"/>
          <p:cNvSpPr/>
          <p:nvPr/>
        </p:nvSpPr>
        <p:spPr>
          <a:xfrm>
            <a:off x="1005840" y="182880"/>
            <a:ext cx="77713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TypedDict Limitation — No Validation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80" name="Shape 3"/>
          <p:cNvSpPr/>
          <p:nvPr/>
        </p:nvSpPr>
        <p:spPr>
          <a:xfrm>
            <a:off x="320040" y="1097280"/>
            <a:ext cx="5028120" cy="310788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1" name="Text 4"/>
          <p:cNvSpPr/>
          <p:nvPr/>
        </p:nvSpPr>
        <p:spPr>
          <a:xfrm>
            <a:off x="457200" y="1170360"/>
            <a:ext cx="47538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Limitation Demo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457200" y="1444680"/>
            <a:ext cx="4753800" cy="26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typing import TypedDict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PersonInfo(TypedDict):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int  # Should be int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String instead of int — no error!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new_person: PersonInfo = {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'name': 'Ganesh',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'age': '25'  # ← Wrong type!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print(new_person)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print(type(new_person))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83" name="Shape 6"/>
          <p:cNvSpPr/>
          <p:nvPr/>
        </p:nvSpPr>
        <p:spPr>
          <a:xfrm>
            <a:off x="320040" y="4297680"/>
            <a:ext cx="5028120" cy="6847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7"/>
          <p:cNvSpPr/>
          <p:nvPr/>
        </p:nvSpPr>
        <p:spPr>
          <a:xfrm>
            <a:off x="457200" y="4343400"/>
            <a:ext cx="4570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f476f"/>
                </a:solidFill>
                <a:latin typeface="Consolas"/>
                <a:ea typeface="Consolas"/>
              </a:rPr>
              <a:t>Output — No error raised!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5" name="Text 8"/>
          <p:cNvSpPr/>
          <p:nvPr/>
        </p:nvSpPr>
        <p:spPr>
          <a:xfrm>
            <a:off x="457200" y="4553640"/>
            <a:ext cx="46623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d166"/>
                </a:solidFill>
                <a:latin typeface="Consolas"/>
                <a:ea typeface="Consolas"/>
              </a:rPr>
              <a:t>{'name': 'Ganesh', 'age': '25'}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d166"/>
                </a:solidFill>
                <a:latin typeface="Consolas"/>
                <a:ea typeface="Consolas"/>
              </a:rPr>
              <a:t>&lt;class 'dict'&gt;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6" name="Shape 9"/>
          <p:cNvSpPr/>
          <p:nvPr/>
        </p:nvSpPr>
        <p:spPr>
          <a:xfrm>
            <a:off x="5532120" y="1097280"/>
            <a:ext cx="3290760" cy="201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7" name="Shape 10"/>
          <p:cNvSpPr/>
          <p:nvPr/>
        </p:nvSpPr>
        <p:spPr>
          <a:xfrm>
            <a:off x="5532120" y="1097280"/>
            <a:ext cx="3290760" cy="43776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11"/>
          <p:cNvSpPr/>
          <p:nvPr/>
        </p:nvSpPr>
        <p:spPr>
          <a:xfrm>
            <a:off x="5669280" y="1152000"/>
            <a:ext cx="30164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❌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The Problem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9" name="Text 12"/>
          <p:cNvSpPr/>
          <p:nvPr/>
        </p:nvSpPr>
        <p:spPr>
          <a:xfrm>
            <a:off x="5669280" y="1645920"/>
            <a:ext cx="3062160" cy="13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TypedDict allows age to be '30' (a string) even though the type hint says int. No error is raised at runtime.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0" name="Shape 13"/>
          <p:cNvSpPr/>
          <p:nvPr/>
        </p:nvSpPr>
        <p:spPr>
          <a:xfrm>
            <a:off x="5532120" y="3246120"/>
            <a:ext cx="3290760" cy="1736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1" name="Shape 14"/>
          <p:cNvSpPr/>
          <p:nvPr/>
        </p:nvSpPr>
        <p:spPr>
          <a:xfrm>
            <a:off x="5532120" y="3246120"/>
            <a:ext cx="3290760" cy="43776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Text 15"/>
          <p:cNvSpPr/>
          <p:nvPr/>
        </p:nvSpPr>
        <p:spPr>
          <a:xfrm>
            <a:off x="5669280" y="3300840"/>
            <a:ext cx="30164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✓  </a:t>
            </a: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The Solution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3" name="Text 16"/>
          <p:cNvSpPr/>
          <p:nvPr/>
        </p:nvSpPr>
        <p:spPr>
          <a:xfrm>
            <a:off x="5669280" y="3794760"/>
            <a:ext cx="30621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Use Pydantic (next section) for actual validation with runtime checks and error throwing.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0" y="0"/>
            <a:ext cx="9142920" cy="514260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Shape 1"/>
          <p:cNvSpPr/>
          <p:nvPr/>
        </p:nvSpPr>
        <p:spPr>
          <a:xfrm>
            <a:off x="-1371600" y="-1371600"/>
            <a:ext cx="4570920" cy="457092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Shape 2"/>
          <p:cNvSpPr/>
          <p:nvPr/>
        </p:nvSpPr>
        <p:spPr>
          <a:xfrm>
            <a:off x="5943600" y="2286000"/>
            <a:ext cx="4113720" cy="411372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Shape 3"/>
          <p:cNvSpPr/>
          <p:nvPr/>
        </p:nvSpPr>
        <p:spPr>
          <a:xfrm>
            <a:off x="4023360" y="2103120"/>
            <a:ext cx="1096200" cy="53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4"/>
          <p:cNvSpPr/>
          <p:nvPr/>
        </p:nvSpPr>
        <p:spPr>
          <a:xfrm>
            <a:off x="4023360" y="1554480"/>
            <a:ext cx="4570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3" strike="noStrike">
                <a:solidFill>
                  <a:srgbClr val="48cae4"/>
                </a:solidFill>
                <a:latin typeface="Calibri"/>
                <a:ea typeface="Calibri"/>
              </a:rPr>
              <a:t>METHOD 1 — APPLIED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9" name="Text 5"/>
          <p:cNvSpPr/>
          <p:nvPr/>
        </p:nvSpPr>
        <p:spPr>
          <a:xfrm>
            <a:off x="4023360" y="2194560"/>
            <a:ext cx="47538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TypedDict with</a:t>
            </a:r>
            <a:endParaRPr b="0" lang="en-IN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LangChain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4023360" y="3383280"/>
            <a:ext cx="4753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Real code examples using with_structured_output() and TypedDict schemas.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301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1960" cy="146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0"/>
          <p:cNvSpPr/>
          <p:nvPr/>
        </p:nvSpPr>
        <p:spPr>
          <a:xfrm>
            <a:off x="0" y="0"/>
            <a:ext cx="9142920" cy="9590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Shape 1"/>
          <p:cNvSpPr/>
          <p:nvPr/>
        </p:nvSpPr>
        <p:spPr>
          <a:xfrm>
            <a:off x="0" y="960120"/>
            <a:ext cx="9142920" cy="53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04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305" name="Text 2"/>
          <p:cNvSpPr/>
          <p:nvPr/>
        </p:nvSpPr>
        <p:spPr>
          <a:xfrm>
            <a:off x="1005840" y="182880"/>
            <a:ext cx="77713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Example: Phone Review Analysis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06" name="Shape 3"/>
          <p:cNvSpPr/>
          <p:nvPr/>
        </p:nvSpPr>
        <p:spPr>
          <a:xfrm>
            <a:off x="320040" y="1152000"/>
            <a:ext cx="8502840" cy="40140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4"/>
          <p:cNvSpPr/>
          <p:nvPr/>
        </p:nvSpPr>
        <p:spPr>
          <a:xfrm>
            <a:off x="457200" y="1188720"/>
            <a:ext cx="8228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Problem Statement: Extract structured insights from phone reviews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8" name="Shape 5"/>
          <p:cNvSpPr/>
          <p:nvPr/>
        </p:nvSpPr>
        <p:spPr>
          <a:xfrm>
            <a:off x="320040" y="1691640"/>
            <a:ext cx="4068000" cy="1004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9" name="Shape 6"/>
          <p:cNvSpPr/>
          <p:nvPr/>
        </p:nvSpPr>
        <p:spPr>
          <a:xfrm>
            <a:off x="320040" y="1691640"/>
            <a:ext cx="4068000" cy="43776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 7"/>
          <p:cNvSpPr/>
          <p:nvPr/>
        </p:nvSpPr>
        <p:spPr>
          <a:xfrm>
            <a:off x="457200" y="1737360"/>
            <a:ext cx="3747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📝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Goal: Extract Summary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1" name="Text 8"/>
          <p:cNvSpPr/>
          <p:nvPr/>
        </p:nvSpPr>
        <p:spPr>
          <a:xfrm>
            <a:off x="457200" y="2194560"/>
            <a:ext cx="37479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A brief overview of the review content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2" name="Shape 9"/>
          <p:cNvSpPr/>
          <p:nvPr/>
        </p:nvSpPr>
        <p:spPr>
          <a:xfrm>
            <a:off x="4617720" y="1691640"/>
            <a:ext cx="4068000" cy="1004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3" name="Shape 10"/>
          <p:cNvSpPr/>
          <p:nvPr/>
        </p:nvSpPr>
        <p:spPr>
          <a:xfrm>
            <a:off x="4617720" y="1691640"/>
            <a:ext cx="4068000" cy="43776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11"/>
          <p:cNvSpPr/>
          <p:nvPr/>
        </p:nvSpPr>
        <p:spPr>
          <a:xfrm>
            <a:off x="4754880" y="1737360"/>
            <a:ext cx="3747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💬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Goal: Extract Sentiment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5" name="Text 12"/>
          <p:cNvSpPr/>
          <p:nvPr/>
        </p:nvSpPr>
        <p:spPr>
          <a:xfrm>
            <a:off x="4754880" y="2194560"/>
            <a:ext cx="37479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positive / negative / neutral classification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6" name="Text 13"/>
          <p:cNvSpPr/>
          <p:nvPr/>
        </p:nvSpPr>
        <p:spPr>
          <a:xfrm>
            <a:off x="320040" y="2834640"/>
            <a:ext cx="3656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2e42"/>
                </a:solidFill>
                <a:latin typeface="Calibri"/>
                <a:ea typeface="Calibri"/>
              </a:rPr>
              <a:t>Approach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17" name="Shape 14"/>
          <p:cNvSpPr/>
          <p:nvPr/>
        </p:nvSpPr>
        <p:spPr>
          <a:xfrm>
            <a:off x="320040" y="3246120"/>
            <a:ext cx="273240" cy="2732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15"/>
          <p:cNvSpPr/>
          <p:nvPr/>
        </p:nvSpPr>
        <p:spPr>
          <a:xfrm>
            <a:off x="320040" y="324612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9" name="Text 16"/>
          <p:cNvSpPr/>
          <p:nvPr/>
        </p:nvSpPr>
        <p:spPr>
          <a:xfrm>
            <a:off x="685800" y="3246120"/>
            <a:ext cx="383940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Define schema using TypedDict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0" name="Shape 17"/>
          <p:cNvSpPr/>
          <p:nvPr/>
        </p:nvSpPr>
        <p:spPr>
          <a:xfrm>
            <a:off x="320040" y="3684960"/>
            <a:ext cx="273240" cy="2732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 18"/>
          <p:cNvSpPr/>
          <p:nvPr/>
        </p:nvSpPr>
        <p:spPr>
          <a:xfrm>
            <a:off x="320040" y="368496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2" name="Text 19"/>
          <p:cNvSpPr/>
          <p:nvPr/>
        </p:nvSpPr>
        <p:spPr>
          <a:xfrm>
            <a:off x="685800" y="3684960"/>
            <a:ext cx="383940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Use with_structured_output()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3" name="Shape 20"/>
          <p:cNvSpPr/>
          <p:nvPr/>
        </p:nvSpPr>
        <p:spPr>
          <a:xfrm>
            <a:off x="320040" y="4123800"/>
            <a:ext cx="273240" cy="2732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Text 21"/>
          <p:cNvSpPr/>
          <p:nvPr/>
        </p:nvSpPr>
        <p:spPr>
          <a:xfrm>
            <a:off x="320040" y="412380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5" name="Text 22"/>
          <p:cNvSpPr/>
          <p:nvPr/>
        </p:nvSpPr>
        <p:spPr>
          <a:xfrm>
            <a:off x="685800" y="4123800"/>
            <a:ext cx="383940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Invoke model with review text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6" name="Shape 23"/>
          <p:cNvSpPr/>
          <p:nvPr/>
        </p:nvSpPr>
        <p:spPr>
          <a:xfrm>
            <a:off x="320040" y="4563000"/>
            <a:ext cx="273240" cy="2732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Text 24"/>
          <p:cNvSpPr/>
          <p:nvPr/>
        </p:nvSpPr>
        <p:spPr>
          <a:xfrm>
            <a:off x="320040" y="456300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8" name="Text 25"/>
          <p:cNvSpPr/>
          <p:nvPr/>
        </p:nvSpPr>
        <p:spPr>
          <a:xfrm>
            <a:off x="685800" y="4563000"/>
            <a:ext cx="383940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Get back a Python dictionary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9" name="Shape 26"/>
          <p:cNvSpPr/>
          <p:nvPr/>
        </p:nvSpPr>
        <p:spPr>
          <a:xfrm>
            <a:off x="4846320" y="2816280"/>
            <a:ext cx="3976560" cy="219348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0" name="Text 27"/>
          <p:cNvSpPr/>
          <p:nvPr/>
        </p:nvSpPr>
        <p:spPr>
          <a:xfrm>
            <a:off x="4983480" y="2889360"/>
            <a:ext cx="3747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Preview: Schema Definition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1" name="Text 28"/>
          <p:cNvSpPr/>
          <p:nvPr/>
        </p:nvSpPr>
        <p:spPr>
          <a:xfrm>
            <a:off x="4983480" y="3182040"/>
            <a:ext cx="3747960" cy="171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class ReviewAnalysis(TypedDict):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summary: str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sentiment: str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structured_llm = llm.with_structured_output(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ReviewAnalysis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0" y="0"/>
            <a:ext cx="9142920" cy="9590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Shape 1"/>
          <p:cNvSpPr/>
          <p:nvPr/>
        </p:nvSpPr>
        <p:spPr>
          <a:xfrm>
            <a:off x="0" y="960120"/>
            <a:ext cx="9142920" cy="53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34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335" name="Text 2"/>
          <p:cNvSpPr/>
          <p:nvPr/>
        </p:nvSpPr>
        <p:spPr>
          <a:xfrm>
            <a:off x="1005840" y="182880"/>
            <a:ext cx="77713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Basic TypedDict + LangChain Code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36" name="Shape 3"/>
          <p:cNvSpPr/>
          <p:nvPr/>
        </p:nvSpPr>
        <p:spPr>
          <a:xfrm>
            <a:off x="320040" y="1097280"/>
            <a:ext cx="5165280" cy="37479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7" name="Text 4"/>
          <p:cNvSpPr/>
          <p:nvPr/>
        </p:nvSpPr>
        <p:spPr>
          <a:xfrm>
            <a:off x="457200" y="1170360"/>
            <a:ext cx="4845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langchain_review.py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8" name="Text 5"/>
          <p:cNvSpPr/>
          <p:nvPr/>
        </p:nvSpPr>
        <p:spPr>
          <a:xfrm>
            <a:off x="457200" y="1444680"/>
            <a:ext cx="4936680" cy="32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dotenv import load_dotenv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typing import TypedDict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load_dotenv()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llm = ChatOpenAI()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ReviewAnalysis(TypedDict):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summary: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sentiment: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structured_llm = llm.with_structured_output(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ReviewAnalysis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review_text = """The hardware is great, but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the software feels bloated..."""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analysis = structured_llm.invoke(review_text)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print(analysis)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print(type(analysis))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39" name="Shape 6"/>
          <p:cNvSpPr/>
          <p:nvPr/>
        </p:nvSpPr>
        <p:spPr>
          <a:xfrm>
            <a:off x="5623560" y="1097280"/>
            <a:ext cx="3199320" cy="14619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7"/>
          <p:cNvSpPr/>
          <p:nvPr/>
        </p:nvSpPr>
        <p:spPr>
          <a:xfrm>
            <a:off x="5760720" y="1161360"/>
            <a:ext cx="29250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1" name="Text 8"/>
          <p:cNvSpPr/>
          <p:nvPr/>
        </p:nvSpPr>
        <p:spPr>
          <a:xfrm>
            <a:off x="5760720" y="1389960"/>
            <a:ext cx="294336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{'summary': 'Hardware great but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software feels bloated...', 'sentiment': 'negative'}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&lt;class 'dict'&gt;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2" name="Shape 9"/>
          <p:cNvSpPr/>
          <p:nvPr/>
        </p:nvSpPr>
        <p:spPr>
          <a:xfrm>
            <a:off x="5623560" y="2697480"/>
            <a:ext cx="3199320" cy="137052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10"/>
          <p:cNvSpPr/>
          <p:nvPr/>
        </p:nvSpPr>
        <p:spPr>
          <a:xfrm>
            <a:off x="5760720" y="2761560"/>
            <a:ext cx="29250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Accessing Fields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4" name="Text 11"/>
          <p:cNvSpPr/>
          <p:nvPr/>
        </p:nvSpPr>
        <p:spPr>
          <a:xfrm>
            <a:off x="5760720" y="3017520"/>
            <a:ext cx="294336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print(analysis['summary'])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print(analysis['sentiment'])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Hardware great but...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negative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5" name="Shape 12"/>
          <p:cNvSpPr/>
          <p:nvPr/>
        </p:nvSpPr>
        <p:spPr>
          <a:xfrm>
            <a:off x="5623560" y="4178880"/>
            <a:ext cx="3199320" cy="63900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Shape 13"/>
          <p:cNvSpPr/>
          <p:nvPr/>
        </p:nvSpPr>
        <p:spPr>
          <a:xfrm>
            <a:off x="5623560" y="4178880"/>
            <a:ext cx="53640" cy="639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Text 14"/>
          <p:cNvSpPr/>
          <p:nvPr/>
        </p:nvSpPr>
        <p:spPr>
          <a:xfrm>
            <a:off x="5733360" y="4224600"/>
            <a:ext cx="301644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Access values using standard Python dict notation: analysis['key']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0"/>
          <p:cNvSpPr/>
          <p:nvPr/>
        </p:nvSpPr>
        <p:spPr>
          <a:xfrm>
            <a:off x="0" y="0"/>
            <a:ext cx="9142920" cy="9590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Shape 1"/>
          <p:cNvSpPr/>
          <p:nvPr/>
        </p:nvSpPr>
        <p:spPr>
          <a:xfrm>
            <a:off x="0" y="960120"/>
            <a:ext cx="9142920" cy="53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50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351" name="Text 2"/>
          <p:cNvSpPr/>
          <p:nvPr/>
        </p:nvSpPr>
        <p:spPr>
          <a:xfrm>
            <a:off x="1005840" y="182880"/>
            <a:ext cx="77713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TypedDict — Summary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52" name="Shape 3"/>
          <p:cNvSpPr/>
          <p:nvPr/>
        </p:nvSpPr>
        <p:spPr>
          <a:xfrm>
            <a:off x="320040" y="1115640"/>
            <a:ext cx="2742120" cy="3565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3" name="Shape 4"/>
          <p:cNvSpPr/>
          <p:nvPr/>
        </p:nvSpPr>
        <p:spPr>
          <a:xfrm>
            <a:off x="320040" y="1115640"/>
            <a:ext cx="2742120" cy="45612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Text 5"/>
          <p:cNvSpPr/>
          <p:nvPr/>
        </p:nvSpPr>
        <p:spPr>
          <a:xfrm>
            <a:off x="457200" y="1170360"/>
            <a:ext cx="24678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How TypedDict Works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355" name="Image 1" descr="preencoded.png"/>
          <p:cNvPicPr/>
          <p:nvPr/>
        </p:nvPicPr>
        <p:blipFill>
          <a:blip r:embed="rId2"/>
          <a:stretch/>
        </p:blipFill>
        <p:spPr>
          <a:xfrm>
            <a:off x="457200" y="169164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356" name="Text 6"/>
          <p:cNvSpPr/>
          <p:nvPr/>
        </p:nvSpPr>
        <p:spPr>
          <a:xfrm>
            <a:off x="777240" y="167328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Define dictionary structure with type hints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57" name="Image 2" descr="preencoded.png"/>
          <p:cNvPicPr/>
          <p:nvPr/>
        </p:nvPicPr>
        <p:blipFill>
          <a:blip r:embed="rId3"/>
          <a:stretch/>
        </p:blipFill>
        <p:spPr>
          <a:xfrm>
            <a:off x="457200" y="233172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358" name="Text 7"/>
          <p:cNvSpPr/>
          <p:nvPr/>
        </p:nvSpPr>
        <p:spPr>
          <a:xfrm>
            <a:off x="777240" y="231336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Use with with_structured_output()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59" name="Image 3" descr="preencoded.png"/>
          <p:cNvPicPr/>
          <p:nvPr/>
        </p:nvPicPr>
        <p:blipFill>
          <a:blip r:embed="rId4"/>
          <a:stretch/>
        </p:blipFill>
        <p:spPr>
          <a:xfrm>
            <a:off x="457200" y="297180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360" name="Text 8"/>
          <p:cNvSpPr/>
          <p:nvPr/>
        </p:nvSpPr>
        <p:spPr>
          <a:xfrm>
            <a:off x="777240" y="295344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Get back standard Python dictionaries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61" name="Image 4" descr="preencoded.png"/>
          <p:cNvPicPr/>
          <p:nvPr/>
        </p:nvPicPr>
        <p:blipFill>
          <a:blip r:embed="rId5"/>
          <a:stretch/>
        </p:blipFill>
        <p:spPr>
          <a:xfrm>
            <a:off x="457200" y="361188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362" name="Text 9"/>
          <p:cNvSpPr/>
          <p:nvPr/>
        </p:nvSpPr>
        <p:spPr>
          <a:xfrm>
            <a:off x="777240" y="359352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Access values with dict[key] notation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3" name="Shape 10"/>
          <p:cNvSpPr/>
          <p:nvPr/>
        </p:nvSpPr>
        <p:spPr>
          <a:xfrm>
            <a:off x="3246120" y="1115640"/>
            <a:ext cx="2742120" cy="3565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4" name="Shape 11"/>
          <p:cNvSpPr/>
          <p:nvPr/>
        </p:nvSpPr>
        <p:spPr>
          <a:xfrm>
            <a:off x="3246120" y="1115640"/>
            <a:ext cx="2742120" cy="45612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Text 12"/>
          <p:cNvSpPr/>
          <p:nvPr/>
        </p:nvSpPr>
        <p:spPr>
          <a:xfrm>
            <a:off x="3383280" y="1170360"/>
            <a:ext cx="24678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Advantages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366" name="Image 5" descr="preencoded.png"/>
          <p:cNvPicPr/>
          <p:nvPr/>
        </p:nvPicPr>
        <p:blipFill>
          <a:blip r:embed="rId6"/>
          <a:stretch/>
        </p:blipFill>
        <p:spPr>
          <a:xfrm>
            <a:off x="3383280" y="169164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367" name="Text 13"/>
          <p:cNvSpPr/>
          <p:nvPr/>
        </p:nvSpPr>
        <p:spPr>
          <a:xfrm>
            <a:off x="3703320" y="167328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Simple, clean syntax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68" name="Image 6" descr="preencoded.png"/>
          <p:cNvPicPr/>
          <p:nvPr/>
        </p:nvPicPr>
        <p:blipFill>
          <a:blip r:embed="rId7"/>
          <a:stretch/>
        </p:blipFill>
        <p:spPr>
          <a:xfrm>
            <a:off x="3383280" y="233172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369" name="Text 14"/>
          <p:cNvSpPr/>
          <p:nvPr/>
        </p:nvSpPr>
        <p:spPr>
          <a:xfrm>
            <a:off x="3703320" y="231336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Native Python support (no extra libraries)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70" name="Image 7" descr="preencoded.png"/>
          <p:cNvPicPr/>
          <p:nvPr/>
        </p:nvPicPr>
        <p:blipFill>
          <a:blip r:embed="rId8"/>
          <a:stretch/>
        </p:blipFill>
        <p:spPr>
          <a:xfrm>
            <a:off x="3383280" y="297180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371" name="Text 15"/>
          <p:cNvSpPr/>
          <p:nvPr/>
        </p:nvSpPr>
        <p:spPr>
          <a:xfrm>
            <a:off x="3703320" y="295344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Good for basic use cases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72" name="Image 8" descr="preencoded.png"/>
          <p:cNvPicPr/>
          <p:nvPr/>
        </p:nvPicPr>
        <p:blipFill>
          <a:blip r:embed="rId9"/>
          <a:stretch/>
        </p:blipFill>
        <p:spPr>
          <a:xfrm>
            <a:off x="3383280" y="361188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373" name="Text 16"/>
          <p:cNvSpPr/>
          <p:nvPr/>
        </p:nvSpPr>
        <p:spPr>
          <a:xfrm>
            <a:off x="3703320" y="359352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Code editors provide type hints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4" name="Shape 17"/>
          <p:cNvSpPr/>
          <p:nvPr/>
        </p:nvSpPr>
        <p:spPr>
          <a:xfrm>
            <a:off x="6172200" y="1115640"/>
            <a:ext cx="2742120" cy="3565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5" name="Shape 18"/>
          <p:cNvSpPr/>
          <p:nvPr/>
        </p:nvSpPr>
        <p:spPr>
          <a:xfrm>
            <a:off x="6172200" y="1115640"/>
            <a:ext cx="2742120" cy="45612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Text 19"/>
          <p:cNvSpPr/>
          <p:nvPr/>
        </p:nvSpPr>
        <p:spPr>
          <a:xfrm>
            <a:off x="6309360" y="1170360"/>
            <a:ext cx="24678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Limitations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377" name="Image 9" descr="preencoded.png"/>
          <p:cNvPicPr/>
          <p:nvPr/>
        </p:nvPicPr>
        <p:blipFill>
          <a:blip r:embed="rId10"/>
          <a:stretch/>
        </p:blipFill>
        <p:spPr>
          <a:xfrm>
            <a:off x="6309360" y="169164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378" name="Text 20"/>
          <p:cNvSpPr/>
          <p:nvPr/>
        </p:nvSpPr>
        <p:spPr>
          <a:xfrm>
            <a:off x="6629400" y="167328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No runtime validation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79" name="Image 10" descr="preencoded.png"/>
          <p:cNvPicPr/>
          <p:nvPr/>
        </p:nvPicPr>
        <p:blipFill>
          <a:blip r:embed="rId11"/>
          <a:stretch/>
        </p:blipFill>
        <p:spPr>
          <a:xfrm>
            <a:off x="6309360" y="233172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380" name="Text 21"/>
          <p:cNvSpPr/>
          <p:nvPr/>
        </p:nvSpPr>
        <p:spPr>
          <a:xfrm>
            <a:off x="6629400" y="231336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No type coercion (str won't become int)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81" name="Image 11" descr="preencoded.png"/>
          <p:cNvPicPr/>
          <p:nvPr/>
        </p:nvPicPr>
        <p:blipFill>
          <a:blip r:embed="rId12"/>
          <a:stretch/>
        </p:blipFill>
        <p:spPr>
          <a:xfrm>
            <a:off x="6309360" y="297180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382" name="Text 22"/>
          <p:cNvSpPr/>
          <p:nvPr/>
        </p:nvSpPr>
        <p:spPr>
          <a:xfrm>
            <a:off x="6629400" y="295344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No default values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383" name="Image 12" descr="preencoded.png"/>
          <p:cNvPicPr/>
          <p:nvPr/>
        </p:nvPicPr>
        <p:blipFill>
          <a:blip r:embed="rId13"/>
          <a:stretch/>
        </p:blipFill>
        <p:spPr>
          <a:xfrm>
            <a:off x="6309360" y="361188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384" name="Text 23"/>
          <p:cNvSpPr/>
          <p:nvPr/>
        </p:nvSpPr>
        <p:spPr>
          <a:xfrm>
            <a:off x="6629400" y="3593520"/>
            <a:ext cx="21934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No constraints (e.g. age &gt; 0)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85" name="Shape 24"/>
          <p:cNvSpPr/>
          <p:nvPr/>
        </p:nvSpPr>
        <p:spPr>
          <a:xfrm>
            <a:off x="320040" y="4773240"/>
            <a:ext cx="8502840" cy="291600"/>
          </a:xfrm>
          <a:prstGeom prst="rect">
            <a:avLst/>
          </a:prstGeom>
          <a:solidFill>
            <a:srgbClr val="ffd16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86" name="Image 13" descr="preencoded.png"/>
          <p:cNvPicPr/>
          <p:nvPr/>
        </p:nvPicPr>
        <p:blipFill>
          <a:blip r:embed="rId14"/>
          <a:stretch/>
        </p:blipFill>
        <p:spPr>
          <a:xfrm>
            <a:off x="402480" y="4818960"/>
            <a:ext cx="200160" cy="200160"/>
          </a:xfrm>
          <a:prstGeom prst="rect">
            <a:avLst/>
          </a:prstGeom>
          <a:ln w="0">
            <a:noFill/>
          </a:ln>
        </p:spPr>
      </p:pic>
      <p:sp>
        <p:nvSpPr>
          <p:cNvPr id="387" name="Text 25"/>
          <p:cNvSpPr/>
          <p:nvPr/>
        </p:nvSpPr>
        <p:spPr>
          <a:xfrm>
            <a:off x="658440" y="4818960"/>
            <a:ext cx="80456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For validation &amp; constraints, use Pydantic — covered in Part 2B!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2026-03-19T15:35:44Z</dcterms:created>
  <dc:creator>PptxGenJS</dc:creator>
  <dc:description/>
  <dc:language>en-IN</dc:language>
  <cp:lastModifiedBy/>
  <dcterms:modified xsi:type="dcterms:W3CDTF">2026-03-22T11:49:16Z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