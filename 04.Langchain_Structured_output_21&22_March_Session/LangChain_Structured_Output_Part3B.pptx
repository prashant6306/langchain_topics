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A13DFBA-2031-4326-B6D0-CDF027C0DAF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71E6DE-2C6D-4E95-A19E-3EDCC396C6E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D59A4F-D4F6-4795-BB1C-16C329C261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CF45C1-A6EF-41E7-8155-1BF0BC9F7C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2E6F10-C21F-4936-93EE-CEA8335BCE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BDE774-2347-4A4C-B50B-197A0700EF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B902AC-BB4C-4406-A995-1780F2BA23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71400E-C4BF-42B4-853F-F61A7337AB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846317-A26D-4CD5-BCBF-49EBD45B96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923BC4-8441-49AF-BF1B-7573EF1D69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E0B2F5-0B71-4867-9FAA-B456FACC94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E74CCE-7FFA-4C06-B4F4-077C1F79FA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000" cy="347400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480" cy="274248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280" cy="3834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199680" cy="3834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1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1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4205520" cy="401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4205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Part 3B: Advanced Pydantic &amp; LangChain Integration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5 — Field Constraints with Field()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15640"/>
            <a:ext cx="8503200" cy="529560"/>
          </a:xfrm>
          <a:prstGeom prst="rect">
            <a:avLst/>
          </a:prstGeom>
          <a:solidFill>
            <a:srgbClr val="f4a261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4"/>
          <p:cNvSpPr/>
          <p:nvPr/>
        </p:nvSpPr>
        <p:spPr>
          <a:xfrm>
            <a:off x="320040" y="1115640"/>
            <a:ext cx="63360" cy="5295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5"/>
          <p:cNvSpPr/>
          <p:nvPr/>
        </p:nvSpPr>
        <p:spPr>
          <a:xfrm>
            <a:off x="475560" y="120708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Field() lets you add constraints, defaults, and descriptions all in one place. Great for numeric ranges, string lengths, and LLM guidance.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20040" y="1874520"/>
            <a:ext cx="4937040" cy="2696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7"/>
          <p:cNvSpPr/>
          <p:nvPr/>
        </p:nvSpPr>
        <p:spPr>
          <a:xfrm>
            <a:off x="457200" y="1984320"/>
            <a:ext cx="4735800" cy="249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cgpa: float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ge=0,         # &gt;=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lt=10,        # &lt;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default=5.0,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description="CGPA of student"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Valid CGPA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s1 = StudentInfo(name='Alice', age=20, cgpa=8.5)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print("Valid:", s1.cgpa)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Invalid CGPA →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s2 = StudentInfo(name='Bob', age=21, cgpa=12)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str(e)[:60])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320040" y="4690800"/>
            <a:ext cx="4937040" cy="3834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57200" y="474588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57200" y="4983480"/>
            <a:ext cx="4735800" cy="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Valid: 8.5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Error: Input should be less than 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5440680" y="1783080"/>
            <a:ext cx="3382560" cy="3291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2"/>
          <p:cNvSpPr/>
          <p:nvPr/>
        </p:nvSpPr>
        <p:spPr>
          <a:xfrm>
            <a:off x="5440680" y="1783080"/>
            <a:ext cx="3382560" cy="4564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3"/>
          <p:cNvSpPr/>
          <p:nvPr/>
        </p:nvSpPr>
        <p:spPr>
          <a:xfrm>
            <a:off x="5577840" y="18378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Field() Parameters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5532120" y="234072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5"/>
          <p:cNvSpPr/>
          <p:nvPr/>
        </p:nvSpPr>
        <p:spPr>
          <a:xfrm>
            <a:off x="5532120" y="234072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6"/>
          <p:cNvSpPr/>
          <p:nvPr/>
        </p:nvSpPr>
        <p:spPr>
          <a:xfrm>
            <a:off x="5650920" y="236844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ge=N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6967800" y="236844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Greater than or equal to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5532120" y="273420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9"/>
          <p:cNvSpPr/>
          <p:nvPr/>
        </p:nvSpPr>
        <p:spPr>
          <a:xfrm>
            <a:off x="5532120" y="273420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0"/>
          <p:cNvSpPr/>
          <p:nvPr/>
        </p:nvSpPr>
        <p:spPr>
          <a:xfrm>
            <a:off x="5650920" y="276156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gt=N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6967800" y="276156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Strictly greater than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5532120" y="312732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3"/>
          <p:cNvSpPr/>
          <p:nvPr/>
        </p:nvSpPr>
        <p:spPr>
          <a:xfrm>
            <a:off x="5532120" y="312732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4"/>
          <p:cNvSpPr/>
          <p:nvPr/>
        </p:nvSpPr>
        <p:spPr>
          <a:xfrm>
            <a:off x="5650920" y="315468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le=N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6967800" y="315468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Less than or equal to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5532120" y="352044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27"/>
          <p:cNvSpPr/>
          <p:nvPr/>
        </p:nvSpPr>
        <p:spPr>
          <a:xfrm>
            <a:off x="5532120" y="352044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8"/>
          <p:cNvSpPr/>
          <p:nvPr/>
        </p:nvSpPr>
        <p:spPr>
          <a:xfrm>
            <a:off x="5650920" y="354780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lt=N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6967800" y="354780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Strictly less than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5532120" y="391356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31"/>
          <p:cNvSpPr/>
          <p:nvPr/>
        </p:nvSpPr>
        <p:spPr>
          <a:xfrm>
            <a:off x="5532120" y="391356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32"/>
          <p:cNvSpPr/>
          <p:nvPr/>
        </p:nvSpPr>
        <p:spPr>
          <a:xfrm>
            <a:off x="5650920" y="394092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default=X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 33"/>
          <p:cNvSpPr/>
          <p:nvPr/>
        </p:nvSpPr>
        <p:spPr>
          <a:xfrm>
            <a:off x="6967800" y="394092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Default value if not provided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5532120" y="430668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35"/>
          <p:cNvSpPr/>
          <p:nvPr/>
        </p:nvSpPr>
        <p:spPr>
          <a:xfrm>
            <a:off x="5532120" y="430668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6"/>
          <p:cNvSpPr/>
          <p:nvPr/>
        </p:nvSpPr>
        <p:spPr>
          <a:xfrm>
            <a:off x="5650920" y="433440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description='...'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6967800" y="433440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Hint sent to the LLM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Shape 38"/>
          <p:cNvSpPr/>
          <p:nvPr/>
        </p:nvSpPr>
        <p:spPr>
          <a:xfrm>
            <a:off x="5532120" y="470016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39"/>
          <p:cNvSpPr/>
          <p:nvPr/>
        </p:nvSpPr>
        <p:spPr>
          <a:xfrm>
            <a:off x="5532120" y="470016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40"/>
          <p:cNvSpPr/>
          <p:nvPr/>
        </p:nvSpPr>
        <p:spPr>
          <a:xfrm>
            <a:off x="5650920" y="472752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min_length=N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Text 41"/>
          <p:cNvSpPr/>
          <p:nvPr/>
        </p:nvSpPr>
        <p:spPr>
          <a:xfrm>
            <a:off x="6967800" y="472752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Minimum string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5532120" y="5093280"/>
            <a:ext cx="3199680" cy="3376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43"/>
          <p:cNvSpPr/>
          <p:nvPr/>
        </p:nvSpPr>
        <p:spPr>
          <a:xfrm>
            <a:off x="5532120" y="5093280"/>
            <a:ext cx="54000" cy="3376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44"/>
          <p:cNvSpPr/>
          <p:nvPr/>
        </p:nvSpPr>
        <p:spPr>
          <a:xfrm>
            <a:off x="5650920" y="512064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max_length=N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Text 45"/>
          <p:cNvSpPr/>
          <p:nvPr/>
        </p:nvSpPr>
        <p:spPr>
          <a:xfrm>
            <a:off x="6967800" y="5120640"/>
            <a:ext cx="1663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Maximum string length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Field with Descriptions — LLM Guidance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320040" y="1115640"/>
            <a:ext cx="8503200" cy="5295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4"/>
          <p:cNvSpPr/>
          <p:nvPr/>
        </p:nvSpPr>
        <p:spPr>
          <a:xfrm>
            <a:off x="320040" y="1115640"/>
            <a:ext cx="63360" cy="52956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5"/>
          <p:cNvSpPr/>
          <p:nvPr/>
        </p:nvSpPr>
        <p:spPr>
          <a:xfrm>
            <a:off x="475560" y="120708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The description parameter in Field() is sent to the LLM as a hint — telling it exactly what to extract for that field.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20040" y="1645560"/>
            <a:ext cx="4937040" cy="30340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8"/>
          <p:cNvSpPr/>
          <p:nvPr/>
        </p:nvSpPr>
        <p:spPr>
          <a:xfrm>
            <a:off x="457200" y="2267640"/>
            <a:ext cx="47358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cgpa: float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ge=0,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lt=10,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default=5.0,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 decimal value representing 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"the CGPA of student"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StudentInfo(name='Alice', age=20)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320040" y="4500000"/>
            <a:ext cx="4937040" cy="5022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0"/>
          <p:cNvSpPr/>
          <p:nvPr/>
        </p:nvSpPr>
        <p:spPr>
          <a:xfrm>
            <a:off x="457200" y="426096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457200" y="4498920"/>
            <a:ext cx="47358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age=20 cgpa=5.0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5440680" y="1783080"/>
            <a:ext cx="3382560" cy="2925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3"/>
          <p:cNvSpPr/>
          <p:nvPr/>
        </p:nvSpPr>
        <p:spPr>
          <a:xfrm>
            <a:off x="5440680" y="1783080"/>
            <a:ext cx="3382560" cy="45648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4"/>
          <p:cNvSpPr/>
          <p:nvPr/>
        </p:nvSpPr>
        <p:spPr>
          <a:xfrm>
            <a:off x="5577840" y="18378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How Description Flows to 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5532120" y="235008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6"/>
          <p:cNvSpPr/>
          <p:nvPr/>
        </p:nvSpPr>
        <p:spPr>
          <a:xfrm>
            <a:off x="5532120" y="23500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5897880" y="2359080"/>
            <a:ext cx="2833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You define Field(description='...')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5664600" y="2624400"/>
            <a:ext cx="12960" cy="20052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9"/>
          <p:cNvSpPr/>
          <p:nvPr/>
        </p:nvSpPr>
        <p:spPr>
          <a:xfrm>
            <a:off x="5532120" y="282564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0"/>
          <p:cNvSpPr/>
          <p:nvPr/>
        </p:nvSpPr>
        <p:spPr>
          <a:xfrm>
            <a:off x="5532120" y="28256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5897880" y="2834640"/>
            <a:ext cx="2833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LangChain reads the Pydantic schema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5664600" y="3099960"/>
            <a:ext cx="12960" cy="20052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3"/>
          <p:cNvSpPr/>
          <p:nvPr/>
        </p:nvSpPr>
        <p:spPr>
          <a:xfrm>
            <a:off x="5532120" y="330084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4"/>
          <p:cNvSpPr/>
          <p:nvPr/>
        </p:nvSpPr>
        <p:spPr>
          <a:xfrm>
            <a:off x="5532120" y="33008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5897880" y="3310200"/>
            <a:ext cx="2833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Generates a system prompt with field hints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5664600" y="3575160"/>
            <a:ext cx="12960" cy="20052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7"/>
          <p:cNvSpPr/>
          <p:nvPr/>
        </p:nvSpPr>
        <p:spPr>
          <a:xfrm>
            <a:off x="5532120" y="377640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8"/>
          <p:cNvSpPr/>
          <p:nvPr/>
        </p:nvSpPr>
        <p:spPr>
          <a:xfrm>
            <a:off x="5532120" y="37764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5897880" y="3785760"/>
            <a:ext cx="2833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extracts exactly what you described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Shape 30"/>
          <p:cNvSpPr/>
          <p:nvPr/>
        </p:nvSpPr>
        <p:spPr>
          <a:xfrm>
            <a:off x="5664600" y="4050720"/>
            <a:ext cx="12960" cy="20052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1"/>
          <p:cNvSpPr/>
          <p:nvPr/>
        </p:nvSpPr>
        <p:spPr>
          <a:xfrm>
            <a:off x="5532120" y="425196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2"/>
          <p:cNvSpPr/>
          <p:nvPr/>
        </p:nvSpPr>
        <p:spPr>
          <a:xfrm>
            <a:off x="5532120" y="42519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5897880" y="4260960"/>
            <a:ext cx="2833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Pydantic validates the returned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34"/>
          <p:cNvSpPr/>
          <p:nvPr/>
        </p:nvSpPr>
        <p:spPr>
          <a:xfrm>
            <a:off x="5440680" y="4800600"/>
            <a:ext cx="3382560" cy="27360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5"/>
          <p:cNvSpPr/>
          <p:nvPr/>
        </p:nvSpPr>
        <p:spPr>
          <a:xfrm>
            <a:off x="5532120" y="4827960"/>
            <a:ext cx="3245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Best Practice: Always add description to every Field when using with LLMs!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Converting Pydantic Objects — model_dump()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320040" y="1115640"/>
            <a:ext cx="8503200" cy="52956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4"/>
          <p:cNvSpPr/>
          <p:nvPr/>
        </p:nvSpPr>
        <p:spPr>
          <a:xfrm>
            <a:off x="320040" y="1115640"/>
            <a:ext cx="63360" cy="5295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5"/>
          <p:cNvSpPr/>
          <p:nvPr/>
        </p:nvSpPr>
        <p:spPr>
          <a:xfrm>
            <a:off x="475560" y="120708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objects are not dicts — use model_dump() to get a dict, or model_dump_json() to get a JSON string.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320040" y="1920240"/>
            <a:ext cx="4937040" cy="25596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7"/>
          <p:cNvSpPr/>
          <p:nvPr/>
        </p:nvSpPr>
        <p:spPr>
          <a:xfrm>
            <a:off x="540000" y="1620000"/>
            <a:ext cx="47541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model_dump.py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457200" y="2267640"/>
            <a:ext cx="473580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StudentInfo(name='Alice', age=30)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Convert to dictionary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student_dict = student.model_dump()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print("Dict:", student_dict)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print("Age:", student_dict['age'])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Convert to JSON string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student_json = student.model_dump_json()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print("JSON:", student_json)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20040" y="4572000"/>
            <a:ext cx="4937040" cy="5022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0"/>
          <p:cNvSpPr/>
          <p:nvPr/>
        </p:nvSpPr>
        <p:spPr>
          <a:xfrm>
            <a:off x="457200" y="462672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457200" y="4864680"/>
            <a:ext cx="47358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Dict: {'name': 'Alice', 'age': 30}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Age: 30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JSON: {"name":"Alice","age":30}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5440680" y="1783080"/>
            <a:ext cx="338256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13"/>
          <p:cNvSpPr/>
          <p:nvPr/>
        </p:nvSpPr>
        <p:spPr>
          <a:xfrm>
            <a:off x="5440680" y="1783080"/>
            <a:ext cx="3382560" cy="456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4"/>
          <p:cNvSpPr/>
          <p:nvPr/>
        </p:nvSpPr>
        <p:spPr>
          <a:xfrm>
            <a:off x="5577840" y="18378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Conversion Methods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5532120" y="2340720"/>
            <a:ext cx="319968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6"/>
          <p:cNvSpPr/>
          <p:nvPr/>
        </p:nvSpPr>
        <p:spPr>
          <a:xfrm>
            <a:off x="5532120" y="2340720"/>
            <a:ext cx="54000" cy="566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7"/>
          <p:cNvSpPr/>
          <p:nvPr/>
        </p:nvSpPr>
        <p:spPr>
          <a:xfrm>
            <a:off x="5650920" y="2368440"/>
            <a:ext cx="301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5650920" y="2560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Dot notation — Direct attribute access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5532120" y="2999160"/>
            <a:ext cx="319968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20"/>
          <p:cNvSpPr/>
          <p:nvPr/>
        </p:nvSpPr>
        <p:spPr>
          <a:xfrm>
            <a:off x="5532120" y="2999160"/>
            <a:ext cx="54000" cy="566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1"/>
          <p:cNvSpPr/>
          <p:nvPr/>
        </p:nvSpPr>
        <p:spPr>
          <a:xfrm>
            <a:off x="5650920" y="3026520"/>
            <a:ext cx="301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student.model_dump()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5650920" y="321876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dict — When you need dict operations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5532120" y="3657600"/>
            <a:ext cx="319968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4"/>
          <p:cNvSpPr/>
          <p:nvPr/>
        </p:nvSpPr>
        <p:spPr>
          <a:xfrm>
            <a:off x="5532120" y="3657600"/>
            <a:ext cx="54000" cy="566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5"/>
          <p:cNvSpPr/>
          <p:nvPr/>
        </p:nvSpPr>
        <p:spPr>
          <a:xfrm>
            <a:off x="5650920" y="3684960"/>
            <a:ext cx="301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student.model_dump_json()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5650920" y="387720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JSON str — API responses, file storage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5532120" y="4316040"/>
            <a:ext cx="319968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28"/>
          <p:cNvSpPr/>
          <p:nvPr/>
        </p:nvSpPr>
        <p:spPr>
          <a:xfrm>
            <a:off x="5532120" y="4316040"/>
            <a:ext cx="54000" cy="566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9"/>
          <p:cNvSpPr/>
          <p:nvPr/>
        </p:nvSpPr>
        <p:spPr>
          <a:xfrm>
            <a:off x="5650920" y="4343400"/>
            <a:ext cx="301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StudentInfo(**data)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5650920" y="453528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dict → model — Creating from existing dict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5440680" y="4572000"/>
            <a:ext cx="3382560" cy="50220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2"/>
          <p:cNvSpPr/>
          <p:nvPr/>
        </p:nvSpPr>
        <p:spPr>
          <a:xfrm>
            <a:off x="5440680" y="4572000"/>
            <a:ext cx="54000" cy="5022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Image 1" descr="preencoded.png"/>
          <p:cNvPicPr/>
          <p:nvPr/>
        </p:nvPicPr>
        <p:blipFill>
          <a:blip r:embed="rId2"/>
          <a:stretch/>
        </p:blipFill>
        <p:spPr>
          <a:xfrm>
            <a:off x="5541120" y="466344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173" name="Text 33"/>
          <p:cNvSpPr/>
          <p:nvPr/>
        </p:nvSpPr>
        <p:spPr>
          <a:xfrm>
            <a:off x="5806440" y="4626720"/>
            <a:ext cx="2925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Dot notation (obj.field) is more Pythonic — prefer it over dict access.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1"/>
          <p:cNvSpPr/>
          <p:nvPr/>
        </p:nvSpPr>
        <p:spPr>
          <a:xfrm>
            <a:off x="-1371600" y="-1371600"/>
            <a:ext cx="4571280" cy="45712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"/>
          <p:cNvSpPr/>
          <p:nvPr/>
        </p:nvSpPr>
        <p:spPr>
          <a:xfrm>
            <a:off x="5943600" y="2286000"/>
            <a:ext cx="4114080" cy="41140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3"/>
          <p:cNvSpPr/>
          <p:nvPr/>
        </p:nvSpPr>
        <p:spPr>
          <a:xfrm>
            <a:off x="4023360" y="2103120"/>
            <a:ext cx="109656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4023360" y="155448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6" strike="noStrike">
                <a:solidFill>
                  <a:srgbClr val="48cae4"/>
                </a:solidFill>
                <a:latin typeface="Calibri"/>
                <a:ea typeface="Calibri"/>
              </a:rPr>
              <a:t>PYDANTIC + LANGCHAIN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023360" y="2194560"/>
            <a:ext cx="47541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Pydantic with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023360" y="3456360"/>
            <a:ext cx="4754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Using BaseModel schemas with with_structured_output() for production-grade extraction.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32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85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Simple Pydantic + LangChain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320040" y="1078920"/>
            <a:ext cx="4899600" cy="59407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Text 4"/>
          <p:cNvSpPr/>
          <p:nvPr/>
        </p:nvSpPr>
        <p:spPr>
          <a:xfrm>
            <a:off x="457200" y="1188720"/>
            <a:ext cx="482724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llm = ChatOpenAI()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Define Pydantic schema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description="A brief summary of the review"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description="positive, negative, or neutral"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Create structured LLM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review = "The hardware is great, but the software feels bloated."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Get result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structured_llm.invoke(review)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print(result)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print(type(result))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320040" y="5580000"/>
            <a:ext cx="5028480" cy="71244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6"/>
          <p:cNvSpPr/>
          <p:nvPr/>
        </p:nvSpPr>
        <p:spPr>
          <a:xfrm>
            <a:off x="457200" y="4260960"/>
            <a:ext cx="484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57200" y="4498920"/>
            <a:ext cx="4827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summary='Good hardware but bloated software' sentiment='negative'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'__main__.ReviewAnalysis'&gt;  # ← Pydantic object, not dict!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5486400" y="1097280"/>
            <a:ext cx="3336840" cy="3821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Shape 9"/>
          <p:cNvSpPr/>
          <p:nvPr/>
        </p:nvSpPr>
        <p:spPr>
          <a:xfrm>
            <a:off x="5486400" y="1097280"/>
            <a:ext cx="3336840" cy="456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0"/>
          <p:cNvSpPr/>
          <p:nvPr/>
        </p:nvSpPr>
        <p:spPr>
          <a:xfrm>
            <a:off x="5623560" y="115200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TypedDict vs Pydantic Return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5559480" y="1664280"/>
            <a:ext cx="3181320" cy="6393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2"/>
          <p:cNvSpPr/>
          <p:nvPr/>
        </p:nvSpPr>
        <p:spPr>
          <a:xfrm>
            <a:off x="5559480" y="1664280"/>
            <a:ext cx="54000" cy="63936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3"/>
          <p:cNvSpPr/>
          <p:nvPr/>
        </p:nvSpPr>
        <p:spPr>
          <a:xfrm>
            <a:off x="5678280" y="1710000"/>
            <a:ext cx="292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TypedDict returns: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5678280" y="191124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'dict'&gt;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5559480" y="2414160"/>
            <a:ext cx="3181320" cy="6393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6"/>
          <p:cNvSpPr/>
          <p:nvPr/>
        </p:nvSpPr>
        <p:spPr>
          <a:xfrm>
            <a:off x="5559480" y="2414160"/>
            <a:ext cx="54000" cy="63936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7"/>
          <p:cNvSpPr/>
          <p:nvPr/>
        </p:nvSpPr>
        <p:spPr>
          <a:xfrm>
            <a:off x="5678280" y="2459880"/>
            <a:ext cx="292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Pydantic returns: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5678280" y="26607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'ReviewAnalysis'&gt;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5559480" y="3163680"/>
            <a:ext cx="318132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20"/>
          <p:cNvSpPr/>
          <p:nvPr/>
        </p:nvSpPr>
        <p:spPr>
          <a:xfrm>
            <a:off x="5559480" y="3163680"/>
            <a:ext cx="54000" cy="4564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1"/>
          <p:cNvSpPr/>
          <p:nvPr/>
        </p:nvSpPr>
        <p:spPr>
          <a:xfrm>
            <a:off x="5678280" y="3200400"/>
            <a:ext cx="2925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Pydantic access: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5678280" y="3364920"/>
            <a:ext cx="2925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result.summary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5559480" y="3694320"/>
            <a:ext cx="318132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4"/>
          <p:cNvSpPr/>
          <p:nvPr/>
        </p:nvSpPr>
        <p:spPr>
          <a:xfrm>
            <a:off x="5559480" y="3694320"/>
            <a:ext cx="54000" cy="4564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5"/>
          <p:cNvSpPr/>
          <p:nvPr/>
        </p:nvSpPr>
        <p:spPr>
          <a:xfrm>
            <a:off x="5678280" y="3730680"/>
            <a:ext cx="2925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Dict access: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5678280" y="3895200"/>
            <a:ext cx="2925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result['summary']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5559480" y="4224600"/>
            <a:ext cx="318132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28"/>
          <p:cNvSpPr/>
          <p:nvPr/>
        </p:nvSpPr>
        <p:spPr>
          <a:xfrm>
            <a:off x="5559480" y="4224600"/>
            <a:ext cx="54000" cy="456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9"/>
          <p:cNvSpPr/>
          <p:nvPr/>
        </p:nvSpPr>
        <p:spPr>
          <a:xfrm>
            <a:off x="5678280" y="4260960"/>
            <a:ext cx="2925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Convert if needed: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30"/>
          <p:cNvSpPr/>
          <p:nvPr/>
        </p:nvSpPr>
        <p:spPr>
          <a:xfrm>
            <a:off x="5678280" y="4425840"/>
            <a:ext cx="2925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result.model_dump()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17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Accessing Pydantic Object Fields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20040" y="1078920"/>
            <a:ext cx="5028480" cy="25048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4"/>
          <p:cNvSpPr/>
          <p:nvPr/>
        </p:nvSpPr>
        <p:spPr>
          <a:xfrm>
            <a:off x="457200" y="1188720"/>
            <a:ext cx="4827240" cy="23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Continuing from previous...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structured_llm.invoke(review)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Access using dot notation (OOP style) ✓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print("Summary:", result.summary)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print("Sentiment:", result.sentiment)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Or convert to dict first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result_dict = result.model_dump()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print("Dict access:", result_dict['summary'])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320040" y="3675960"/>
            <a:ext cx="5028480" cy="7308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6"/>
          <p:cNvSpPr/>
          <p:nvPr/>
        </p:nvSpPr>
        <p:spPr>
          <a:xfrm>
            <a:off x="457200" y="3730680"/>
            <a:ext cx="484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457200" y="3968640"/>
            <a:ext cx="4827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Summary: Good hardware but bloated software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Sentiment: negative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Dict access: Good hardware but bloated software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5486400" y="1097280"/>
            <a:ext cx="3336840" cy="3309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9"/>
          <p:cNvSpPr/>
          <p:nvPr/>
        </p:nvSpPr>
        <p:spPr>
          <a:xfrm>
            <a:off x="5486400" y="1097280"/>
            <a:ext cx="3336840" cy="456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0"/>
          <p:cNvSpPr/>
          <p:nvPr/>
        </p:nvSpPr>
        <p:spPr>
          <a:xfrm>
            <a:off x="5623560" y="115200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Two Access Patterns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5559480" y="1664280"/>
            <a:ext cx="3181320" cy="1114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2"/>
          <p:cNvSpPr/>
          <p:nvPr/>
        </p:nvSpPr>
        <p:spPr>
          <a:xfrm>
            <a:off x="5559480" y="1664280"/>
            <a:ext cx="54000" cy="11149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3"/>
          <p:cNvSpPr/>
          <p:nvPr/>
        </p:nvSpPr>
        <p:spPr>
          <a:xfrm>
            <a:off x="5678280" y="1700640"/>
            <a:ext cx="2925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Pattern 1: Dot Notation (Preferred)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5678280" y="1920240"/>
            <a:ext cx="29253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result.summary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result.sentiment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result.reviewer_name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5559480" y="2889360"/>
            <a:ext cx="3181320" cy="1114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16"/>
          <p:cNvSpPr/>
          <p:nvPr/>
        </p:nvSpPr>
        <p:spPr>
          <a:xfrm>
            <a:off x="5559480" y="2889360"/>
            <a:ext cx="54000" cy="11149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7"/>
          <p:cNvSpPr/>
          <p:nvPr/>
        </p:nvSpPr>
        <p:spPr>
          <a:xfrm>
            <a:off x="5678280" y="2926080"/>
            <a:ext cx="2925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Pattern 2: Via Dict Conversion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5678280" y="3145680"/>
            <a:ext cx="29253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 = result.model_dump()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d['summary']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d['sentiment']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320040" y="4517280"/>
            <a:ext cx="8503200" cy="2919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5" name="Image 1" descr="preencoded.png"/>
          <p:cNvPicPr/>
          <p:nvPr/>
        </p:nvPicPr>
        <p:blipFill>
          <a:blip r:embed="rId2"/>
          <a:stretch/>
        </p:blipFill>
        <p:spPr>
          <a:xfrm>
            <a:off x="402480" y="455364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36" name="Text 20"/>
          <p:cNvSpPr/>
          <p:nvPr/>
        </p:nvSpPr>
        <p:spPr>
          <a:xfrm>
            <a:off x="658440" y="4553640"/>
            <a:ext cx="804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Prefer dot notation (result.field) — it's cleaner, IDE auto-completes, and catches typos at edit time.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40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Complex Pydantic Schema — Full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20040" y="1078920"/>
            <a:ext cx="5028480" cy="39312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Text 4"/>
          <p:cNvSpPr/>
          <p:nvPr/>
        </p:nvSpPr>
        <p:spPr>
          <a:xfrm>
            <a:off x="457200" y="1188720"/>
            <a:ext cx="4827240" cy="37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Optional, Literal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class DetailedReview(BaseModel):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key_themes: list[str]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description="Key themes in the review"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description="Brief summary of the review"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Literal["positive", "negative"]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description="Overall sentiment"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pros: Optional[list[str]]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description="List all pros in a list"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cons: Optional[list[str]]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description="List all cons in a list"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reviewer_name: Optional[str]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description="Name of reviewer if mentioned"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DetailedReview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5486400" y="1097280"/>
            <a:ext cx="3336840" cy="712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Shape 6"/>
          <p:cNvSpPr/>
          <p:nvPr/>
        </p:nvSpPr>
        <p:spPr>
          <a:xfrm>
            <a:off x="5486400" y="1097280"/>
            <a:ext cx="54000" cy="7124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7"/>
          <p:cNvSpPr/>
          <p:nvPr/>
        </p:nvSpPr>
        <p:spPr>
          <a:xfrm>
            <a:off x="5605200" y="11340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onsolas"/>
                <a:ea typeface="Consolas"/>
              </a:rPr>
              <a:t>list[str]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5605200" y="13716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Multiple values as a Python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5486400" y="1901880"/>
            <a:ext cx="3336840" cy="712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10"/>
          <p:cNvSpPr/>
          <p:nvPr/>
        </p:nvSpPr>
        <p:spPr>
          <a:xfrm>
            <a:off x="5486400" y="1901880"/>
            <a:ext cx="54000" cy="7124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1"/>
          <p:cNvSpPr/>
          <p:nvPr/>
        </p:nvSpPr>
        <p:spPr>
          <a:xfrm>
            <a:off x="5605200" y="19386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Literal[...]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5605200" y="21762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Constrain to specific values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5486400" y="2706480"/>
            <a:ext cx="3336840" cy="712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2" name="Shape 14"/>
          <p:cNvSpPr/>
          <p:nvPr/>
        </p:nvSpPr>
        <p:spPr>
          <a:xfrm>
            <a:off x="5486400" y="2706480"/>
            <a:ext cx="54000" cy="712440"/>
          </a:xfrm>
          <a:prstGeom prst="rect">
            <a:avLst/>
          </a:prstGeom>
          <a:solidFill>
            <a:srgbClr val="7b2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15"/>
          <p:cNvSpPr/>
          <p:nvPr/>
        </p:nvSpPr>
        <p:spPr>
          <a:xfrm>
            <a:off x="5605200" y="27432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7b2d8b"/>
                </a:solidFill>
                <a:latin typeface="Consolas"/>
                <a:ea typeface="Consolas"/>
              </a:rPr>
              <a:t>Optional[...]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5605200" y="29808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 may be absent or None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5486400" y="3511440"/>
            <a:ext cx="3336840" cy="712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18"/>
          <p:cNvSpPr/>
          <p:nvPr/>
        </p:nvSpPr>
        <p:spPr>
          <a:xfrm>
            <a:off x="5486400" y="3511440"/>
            <a:ext cx="54000" cy="7124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9"/>
          <p:cNvSpPr/>
          <p:nvPr/>
        </p:nvSpPr>
        <p:spPr>
          <a:xfrm>
            <a:off x="5605200" y="35478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Field(description=)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20"/>
          <p:cNvSpPr/>
          <p:nvPr/>
        </p:nvSpPr>
        <p:spPr>
          <a:xfrm>
            <a:off x="5605200" y="378576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guidance hint per field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9" name="Shape 21"/>
          <p:cNvSpPr/>
          <p:nvPr/>
        </p:nvSpPr>
        <p:spPr>
          <a:xfrm>
            <a:off x="5486400" y="4316040"/>
            <a:ext cx="3336840" cy="712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0" name="Shape 22"/>
          <p:cNvSpPr/>
          <p:nvPr/>
        </p:nvSpPr>
        <p:spPr>
          <a:xfrm>
            <a:off x="5486400" y="4316040"/>
            <a:ext cx="54000" cy="7124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23"/>
          <p:cNvSpPr/>
          <p:nvPr/>
        </p:nvSpPr>
        <p:spPr>
          <a:xfrm>
            <a:off x="5605200" y="43524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Field(default=None)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5605200" y="459036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Safe default for absent fields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5486400" y="5120640"/>
            <a:ext cx="3336840" cy="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67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Running the Complex Example — Full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320040" y="1115640"/>
            <a:ext cx="8503200" cy="13251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4"/>
          <p:cNvSpPr/>
          <p:nvPr/>
        </p:nvSpPr>
        <p:spPr>
          <a:xfrm>
            <a:off x="457200" y="1161360"/>
            <a:ext cx="4571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Input Review (Samsung Galaxy S24 Ultra)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5"/>
          <p:cNvSpPr/>
          <p:nvPr/>
        </p:nvSpPr>
        <p:spPr>
          <a:xfrm>
            <a:off x="457200" y="1389960"/>
            <a:ext cx="8320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"Snapdragon 8 Gen 3 makes everything lightning fast. 5000mAh battery lasts a full day.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The 200MP camera is stunning. However, weight makes one-handed use uncomfortable.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Samsung One UI has bloatware. $1,300 is hard to swallow. — Review by John Smith"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320040" y="2578680"/>
            <a:ext cx="4159800" cy="14166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Text 7"/>
          <p:cNvSpPr/>
          <p:nvPr/>
        </p:nvSpPr>
        <p:spPr>
          <a:xfrm>
            <a:off x="457200" y="2651760"/>
            <a:ext cx="3976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accessing_output.py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457200" y="2926080"/>
            <a:ext cx="3958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structured_llm.invoke(full_review)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print("Themes:", result.key_themes)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print("Sentiment:", result.sentiment)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print("Pros:", result.pros)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print("Cons:", result.cons)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print("Reviewer:", result.reviewer_name)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4617720" y="2578680"/>
            <a:ext cx="4205520" cy="2541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Text 10"/>
          <p:cNvSpPr/>
          <p:nvPr/>
        </p:nvSpPr>
        <p:spPr>
          <a:xfrm>
            <a:off x="4754880" y="265176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Structured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4754880" y="2944440"/>
            <a:ext cx="913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Themes: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5669280" y="2944440"/>
            <a:ext cx="3016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['Snapdragon 8 Gen 3', '5000mAh battery', '200MP camera']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4754880" y="3355920"/>
            <a:ext cx="913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4a261"/>
                </a:solidFill>
                <a:latin typeface="Consolas"/>
                <a:ea typeface="Consolas"/>
              </a:rPr>
              <a:t>Sentiment: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5669280" y="3355920"/>
            <a:ext cx="3016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positive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4754880" y="3767400"/>
            <a:ext cx="913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Pros: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1" name="Text 16"/>
          <p:cNvSpPr/>
          <p:nvPr/>
        </p:nvSpPr>
        <p:spPr>
          <a:xfrm>
            <a:off x="5669280" y="3767400"/>
            <a:ext cx="3016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['Powerful processor', 'Great battery', 'Camera']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4754880" y="4178880"/>
            <a:ext cx="913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Cons: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5669280" y="4178880"/>
            <a:ext cx="3016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['Heavy', 'Bloatware', 'Expensive']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Text 19"/>
          <p:cNvSpPr/>
          <p:nvPr/>
        </p:nvSpPr>
        <p:spPr>
          <a:xfrm>
            <a:off x="4754880" y="4590360"/>
            <a:ext cx="913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Reviewer: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Text 20"/>
          <p:cNvSpPr/>
          <p:nvPr/>
        </p:nvSpPr>
        <p:spPr>
          <a:xfrm>
            <a:off x="5669280" y="4590360"/>
            <a:ext cx="3016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John Smith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320040" y="4096440"/>
            <a:ext cx="8503200" cy="50220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22"/>
          <p:cNvSpPr/>
          <p:nvPr/>
        </p:nvSpPr>
        <p:spPr>
          <a:xfrm>
            <a:off x="320040" y="4096440"/>
            <a:ext cx="54000" cy="5022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8" name="Image 1" descr="preencoded.png"/>
          <p:cNvPicPr/>
          <p:nvPr/>
        </p:nvPicPr>
        <p:blipFill>
          <a:blip r:embed="rId2"/>
          <a:stretch/>
        </p:blipFill>
        <p:spPr>
          <a:xfrm>
            <a:off x="438840" y="41878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89" name="Text 23"/>
          <p:cNvSpPr/>
          <p:nvPr/>
        </p:nvSpPr>
        <p:spPr>
          <a:xfrm>
            <a:off x="713160" y="4151520"/>
            <a:ext cx="8046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All fields validated, coerced, and returned as a Pydantic object with dot-notation access!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93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When to Use Pydantic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320040" y="1115640"/>
            <a:ext cx="8503200" cy="60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Shape 4"/>
          <p:cNvSpPr/>
          <p:nvPr/>
        </p:nvSpPr>
        <p:spPr>
          <a:xfrm>
            <a:off x="320040" y="1115640"/>
            <a:ext cx="54000" cy="6026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6" name="Image 1" descr="preencoded.png"/>
          <p:cNvPicPr/>
          <p:nvPr/>
        </p:nvPicPr>
        <p:blipFill>
          <a:blip r:embed="rId2"/>
          <a:stretch/>
        </p:blipFill>
        <p:spPr>
          <a:xfrm>
            <a:off x="475560" y="129852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297" name="Text 5"/>
          <p:cNvSpPr/>
          <p:nvPr/>
        </p:nvSpPr>
        <p:spPr>
          <a:xfrm>
            <a:off x="786240" y="12070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You need data validation: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786240" y="1463040"/>
            <a:ext cx="7954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Ensure age is positive, email is valid, CGPA is in range,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320040" y="1792080"/>
            <a:ext cx="8503200" cy="60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8"/>
          <p:cNvSpPr/>
          <p:nvPr/>
        </p:nvSpPr>
        <p:spPr>
          <a:xfrm>
            <a:off x="320040" y="1792080"/>
            <a:ext cx="54000" cy="6026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1" name="Image 2" descr="preencoded.png"/>
          <p:cNvPicPr/>
          <p:nvPr/>
        </p:nvPicPr>
        <p:blipFill>
          <a:blip r:embed="rId3"/>
          <a:stretch/>
        </p:blipFill>
        <p:spPr>
          <a:xfrm>
            <a:off x="475560" y="19749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02" name="Text 9"/>
          <p:cNvSpPr/>
          <p:nvPr/>
        </p:nvSpPr>
        <p:spPr>
          <a:xfrm>
            <a:off x="786240" y="18835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96c7"/>
                </a:solidFill>
                <a:latin typeface="Calibri"/>
                <a:ea typeface="Calibri"/>
              </a:rPr>
              <a:t>You want default values: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786240" y="2139840"/>
            <a:ext cx="7954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might skip some optional fields — defaults keep the object valid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320040" y="2468880"/>
            <a:ext cx="8503200" cy="60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5" name="Shape 12"/>
          <p:cNvSpPr/>
          <p:nvPr/>
        </p:nvSpPr>
        <p:spPr>
          <a:xfrm>
            <a:off x="320040" y="2468880"/>
            <a:ext cx="54000" cy="602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6" name="Image 3" descr="preencoded.png"/>
          <p:cNvPicPr/>
          <p:nvPr/>
        </p:nvPicPr>
        <p:blipFill>
          <a:blip r:embed="rId4"/>
          <a:stretch/>
        </p:blipFill>
        <p:spPr>
          <a:xfrm>
            <a:off x="475560" y="26517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07" name="Text 13"/>
          <p:cNvSpPr/>
          <p:nvPr/>
        </p:nvSpPr>
        <p:spPr>
          <a:xfrm>
            <a:off x="786240" y="25603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You need type coercion: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786240" y="2816280"/>
            <a:ext cx="7954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String '30' automatically becomes integer 30 without manual casting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320040" y="3145680"/>
            <a:ext cx="8503200" cy="60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0" name="Shape 16"/>
          <p:cNvSpPr/>
          <p:nvPr/>
        </p:nvSpPr>
        <p:spPr>
          <a:xfrm>
            <a:off x="320040" y="3145680"/>
            <a:ext cx="54000" cy="6026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1" name="Image 4" descr="preencoded.png"/>
          <p:cNvPicPr/>
          <p:nvPr/>
        </p:nvPicPr>
        <p:blipFill>
          <a:blip r:embed="rId5"/>
          <a:stretch/>
        </p:blipFill>
        <p:spPr>
          <a:xfrm>
            <a:off x="475560" y="33285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12" name="Text 17"/>
          <p:cNvSpPr/>
          <p:nvPr/>
        </p:nvSpPr>
        <p:spPr>
          <a:xfrm>
            <a:off x="786240" y="32371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4a261"/>
                </a:solidFill>
                <a:latin typeface="Calibri"/>
                <a:ea typeface="Calibri"/>
              </a:rPr>
              <a:t>You want field constraints: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786240" y="3493080"/>
            <a:ext cx="7954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CGPA must be between 0 and 10, age must be positive,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20040" y="3822120"/>
            <a:ext cx="8503200" cy="60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Shape 20"/>
          <p:cNvSpPr/>
          <p:nvPr/>
        </p:nvSpPr>
        <p:spPr>
          <a:xfrm>
            <a:off x="320040" y="3822120"/>
            <a:ext cx="54000" cy="60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6" name="Image 5" descr="preencoded.png"/>
          <p:cNvPicPr/>
          <p:nvPr/>
        </p:nvPicPr>
        <p:blipFill>
          <a:blip r:embed="rId6"/>
          <a:stretch/>
        </p:blipFill>
        <p:spPr>
          <a:xfrm>
            <a:off x="475560" y="4005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17" name="Text 21"/>
          <p:cNvSpPr/>
          <p:nvPr/>
        </p:nvSpPr>
        <p:spPr>
          <a:xfrm>
            <a:off x="786240" y="39135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alibri"/>
                <a:ea typeface="Calibri"/>
              </a:rPr>
              <a:t>You prefer working with objects: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8" name="Text 22"/>
          <p:cNvSpPr/>
          <p:nvPr/>
        </p:nvSpPr>
        <p:spPr>
          <a:xfrm>
            <a:off x="786240" y="4169520"/>
            <a:ext cx="7954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student.name instead of student['name'] — more readable and Pythonic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9" name="Shape 23"/>
          <p:cNvSpPr/>
          <p:nvPr/>
        </p:nvSpPr>
        <p:spPr>
          <a:xfrm>
            <a:off x="320040" y="4498920"/>
            <a:ext cx="8503200" cy="602640"/>
          </a:xfrm>
          <a:prstGeom prst="rect">
            <a:avLst/>
          </a:prstGeom>
          <a:solidFill>
            <a:srgbClr val="ef476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24"/>
          <p:cNvSpPr/>
          <p:nvPr/>
        </p:nvSpPr>
        <p:spPr>
          <a:xfrm>
            <a:off x="320040" y="4498920"/>
            <a:ext cx="54000" cy="6026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1" name="Image 6" descr="preencoded.png"/>
          <p:cNvPicPr/>
          <p:nvPr/>
        </p:nvPicPr>
        <p:blipFill>
          <a:blip r:embed="rId7"/>
          <a:stretch/>
        </p:blipFill>
        <p:spPr>
          <a:xfrm>
            <a:off x="475560" y="46818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22" name="Text 25"/>
          <p:cNvSpPr/>
          <p:nvPr/>
        </p:nvSpPr>
        <p:spPr>
          <a:xfrm>
            <a:off x="786240" y="459036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Limitation: Python only 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Text 26"/>
          <p:cNvSpPr/>
          <p:nvPr/>
        </p:nvSpPr>
        <p:spPr>
          <a:xfrm>
            <a:off x="786240" y="4846320"/>
            <a:ext cx="7954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cross-language support. For cross-language use cases, use JSON Schema (covered next).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327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Pydantic — Complete Features Summary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20040" y="1115640"/>
            <a:ext cx="274248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20040" y="1115640"/>
            <a:ext cx="2742480" cy="4564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429840" y="1207080"/>
            <a:ext cx="273600" cy="2736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429840" y="12070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795600" y="1207080"/>
            <a:ext cx="21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 Validation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429840" y="1682640"/>
            <a:ext cx="2522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Validates types at runtime — throws errors for invalid data. No silent failures.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3264480" y="1115640"/>
            <a:ext cx="274248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Shape 10"/>
          <p:cNvSpPr/>
          <p:nvPr/>
        </p:nvSpPr>
        <p:spPr>
          <a:xfrm>
            <a:off x="3264480" y="1115640"/>
            <a:ext cx="2742480" cy="45648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Shape 11"/>
          <p:cNvSpPr/>
          <p:nvPr/>
        </p:nvSpPr>
        <p:spPr>
          <a:xfrm>
            <a:off x="3374280" y="1207080"/>
            <a:ext cx="273600" cy="2736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3374280" y="12070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3740040" y="1207080"/>
            <a:ext cx="21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Type Coercion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3374280" y="1682640"/>
            <a:ext cx="2522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Converts compatible types automatically — '30' becomes 30.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6208920" y="1115640"/>
            <a:ext cx="274248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Shape 16"/>
          <p:cNvSpPr/>
          <p:nvPr/>
        </p:nvSpPr>
        <p:spPr>
          <a:xfrm>
            <a:off x="6208920" y="1115640"/>
            <a:ext cx="2742480" cy="456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17"/>
          <p:cNvSpPr/>
          <p:nvPr/>
        </p:nvSpPr>
        <p:spPr>
          <a:xfrm>
            <a:off x="6318360" y="1207080"/>
            <a:ext cx="273600" cy="2736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8"/>
          <p:cNvSpPr/>
          <p:nvPr/>
        </p:nvSpPr>
        <p:spPr>
          <a:xfrm>
            <a:off x="6318360" y="12070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6684120" y="1207080"/>
            <a:ext cx="21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Default Values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6318360" y="1682640"/>
            <a:ext cx="2522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Set defaults — field: type = default_value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6" name="Shape 21"/>
          <p:cNvSpPr/>
          <p:nvPr/>
        </p:nvSpPr>
        <p:spPr>
          <a:xfrm>
            <a:off x="320040" y="3035880"/>
            <a:ext cx="274248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7" name="Shape 22"/>
          <p:cNvSpPr/>
          <p:nvPr/>
        </p:nvSpPr>
        <p:spPr>
          <a:xfrm>
            <a:off x="320040" y="3035880"/>
            <a:ext cx="2742480" cy="456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429840" y="3127320"/>
            <a:ext cx="273600" cy="2736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429840" y="31273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795600" y="3127320"/>
            <a:ext cx="21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Optional Fields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429840" y="3602880"/>
            <a:ext cx="2522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Optional[type] = None — nullable fields that may not appear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Shape 27"/>
          <p:cNvSpPr/>
          <p:nvPr/>
        </p:nvSpPr>
        <p:spPr>
          <a:xfrm>
            <a:off x="3264480" y="3035880"/>
            <a:ext cx="274248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Shape 28"/>
          <p:cNvSpPr/>
          <p:nvPr/>
        </p:nvSpPr>
        <p:spPr>
          <a:xfrm>
            <a:off x="3264480" y="3035880"/>
            <a:ext cx="2742480" cy="456480"/>
          </a:xfrm>
          <a:prstGeom prst="rect">
            <a:avLst/>
          </a:prstGeom>
          <a:solidFill>
            <a:srgbClr val="7b2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29"/>
          <p:cNvSpPr/>
          <p:nvPr/>
        </p:nvSpPr>
        <p:spPr>
          <a:xfrm>
            <a:off x="3374280" y="3127320"/>
            <a:ext cx="273600" cy="2736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3374280" y="31273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6" name="Text 31"/>
          <p:cNvSpPr/>
          <p:nvPr/>
        </p:nvSpPr>
        <p:spPr>
          <a:xfrm>
            <a:off x="3740040" y="3127320"/>
            <a:ext cx="21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Field Constraints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7" name="Text 32"/>
          <p:cNvSpPr/>
          <p:nvPr/>
        </p:nvSpPr>
        <p:spPr>
          <a:xfrm>
            <a:off x="3374280" y="3602880"/>
            <a:ext cx="2522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Apply ge, le, gt, lt, min_length, regex via Field()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8" name="Shape 33"/>
          <p:cNvSpPr/>
          <p:nvPr/>
        </p:nvSpPr>
        <p:spPr>
          <a:xfrm>
            <a:off x="6208920" y="3035880"/>
            <a:ext cx="274248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9" name="Shape 34"/>
          <p:cNvSpPr/>
          <p:nvPr/>
        </p:nvSpPr>
        <p:spPr>
          <a:xfrm>
            <a:off x="6208920" y="3035880"/>
            <a:ext cx="2742480" cy="4564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35"/>
          <p:cNvSpPr/>
          <p:nvPr/>
        </p:nvSpPr>
        <p:spPr>
          <a:xfrm>
            <a:off x="6318360" y="3127320"/>
            <a:ext cx="273600" cy="2736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36"/>
          <p:cNvSpPr/>
          <p:nvPr/>
        </p:nvSpPr>
        <p:spPr>
          <a:xfrm>
            <a:off x="6318360" y="31273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6684120" y="3127320"/>
            <a:ext cx="21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Easy Conversion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3" name="Text 38"/>
          <p:cNvSpPr/>
          <p:nvPr/>
        </p:nvSpPr>
        <p:spPr>
          <a:xfrm>
            <a:off x="6318360" y="3602880"/>
            <a:ext cx="2522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model_dump() for dict, model_dump_json() for JSON string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Shape 39"/>
          <p:cNvSpPr/>
          <p:nvPr/>
        </p:nvSpPr>
        <p:spPr>
          <a:xfrm>
            <a:off x="320040" y="4892040"/>
            <a:ext cx="8503200" cy="218880"/>
          </a:xfrm>
          <a:prstGeom prst="rect">
            <a:avLst/>
          </a:prstGeom>
          <a:solidFill>
            <a:srgbClr val="00b4d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40"/>
          <p:cNvSpPr/>
          <p:nvPr/>
        </p:nvSpPr>
        <p:spPr>
          <a:xfrm>
            <a:off x="457200" y="4910400"/>
            <a:ext cx="822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Next: JSON Schema — the cross-language, universal format for structured output schemas.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2026-03-21T03:35:57Z</dcterms:created>
  <dc:creator>PptxGenJS</dc:creator>
  <dc:description/>
  <dc:language>en-IN</dc:language>
  <cp:lastModifiedBy/>
  <dcterms:modified xsi:type="dcterms:W3CDTF">2026-03-22T11:48:44Z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