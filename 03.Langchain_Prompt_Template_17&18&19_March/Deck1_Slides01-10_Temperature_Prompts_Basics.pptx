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move the slide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to edit the notes 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0CBEDF48-409A-41A7-9176-EB11E5670F6C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13FA9A9-7332-4054-90A2-88DB8DCCF8A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7DF0CBC-B863-4436-AC6F-A1F240B7786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C789C69-6C94-4D69-94B1-71DA1CE774B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B1694DE-A319-4CD6-9FA1-A3592A9DFE4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AC41B1A-9829-4130-939B-DD001C026AF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6644462-2E11-4868-9792-A88B5AAEAC6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401BA46-432F-45EE-8D8D-6B45D393A08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FA31575-5A19-47EA-9B22-D1BE68E1A04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226EB14-DCB8-4495-AF1F-9252FED422B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D57424E-FCE7-431E-A3FB-36C9CC61DE3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edit the title text format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6217920" y="-1097280"/>
            <a:ext cx="5028480" cy="5028480"/>
          </a:xfrm>
          <a:prstGeom prst="ellipse">
            <a:avLst/>
          </a:prstGeom>
          <a:solidFill>
            <a:srgbClr val="0d9488">
              <a:alpha val="12000"/>
            </a:srgbClr>
          </a:solidFill>
          <a:ln w="12600">
            <a:solidFill>
              <a:srgbClr val="0d9488">
                <a:alpha val="1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Shape 1"/>
          <p:cNvSpPr/>
          <p:nvPr/>
        </p:nvSpPr>
        <p:spPr>
          <a:xfrm>
            <a:off x="7498080" y="2926080"/>
            <a:ext cx="2559600" cy="2559600"/>
          </a:xfrm>
          <a:prstGeom prst="ellipse">
            <a:avLst/>
          </a:prstGeom>
          <a:solidFill>
            <a:srgbClr val="2dd4bf">
              <a:alpha val="10000"/>
            </a:srgbClr>
          </a:solidFill>
          <a:ln w="12600">
            <a:solidFill>
              <a:srgbClr val="2dd4bf">
                <a:alpha val="14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Shape 2"/>
          <p:cNvSpPr/>
          <p:nvPr/>
        </p:nvSpPr>
        <p:spPr>
          <a:xfrm>
            <a:off x="0" y="0"/>
            <a:ext cx="182160" cy="514296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Shape 3"/>
          <p:cNvSpPr/>
          <p:nvPr/>
        </p:nvSpPr>
        <p:spPr>
          <a:xfrm>
            <a:off x="502920" y="457200"/>
            <a:ext cx="2010960" cy="34668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" name="Text 4"/>
          <p:cNvSpPr/>
          <p:nvPr/>
        </p:nvSpPr>
        <p:spPr>
          <a:xfrm>
            <a:off x="502920" y="457200"/>
            <a:ext cx="20109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DejaVu Sans"/>
              </a:rPr>
              <a:t>PART 1 OF 4  •  SLIDES 1–10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49" name="Text 5"/>
          <p:cNvSpPr/>
          <p:nvPr/>
        </p:nvSpPr>
        <p:spPr>
          <a:xfrm>
            <a:off x="502920" y="1005840"/>
            <a:ext cx="82288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2dd4bf"/>
                </a:solidFill>
                <a:latin typeface="Calibri"/>
                <a:ea typeface="Calibri"/>
              </a:rPr>
              <a:t>Complete Guide to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50" name="Text 6"/>
          <p:cNvSpPr/>
          <p:nvPr/>
        </p:nvSpPr>
        <p:spPr>
          <a:xfrm>
            <a:off x="502920" y="1463040"/>
            <a:ext cx="82288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5200" spc="-1" strike="noStrike">
                <a:solidFill>
                  <a:srgbClr val="ffffff"/>
                </a:solidFill>
                <a:latin typeface="Calibri"/>
                <a:ea typeface="Calibri"/>
              </a:rPr>
              <a:t>LangChain Prompts</a:t>
            </a:r>
            <a:endParaRPr b="0" lang="en-IN" sz="5200" spc="-1" strike="noStrike">
              <a:latin typeface="Arial"/>
            </a:endParaRPr>
          </a:p>
        </p:txBody>
      </p:sp>
      <p:sp>
        <p:nvSpPr>
          <p:cNvPr id="51" name="Text 7"/>
          <p:cNvSpPr/>
          <p:nvPr/>
        </p:nvSpPr>
        <p:spPr>
          <a:xfrm>
            <a:off x="502920" y="2578680"/>
            <a:ext cx="82288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ccfbf1"/>
                </a:solidFill>
                <a:latin typeface="Calibri"/>
                <a:ea typeface="Calibri"/>
              </a:rPr>
              <a:t>Building Dynamic AI Applications with Prompt Engineering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2" name="Shape 8"/>
          <p:cNvSpPr/>
          <p:nvPr/>
        </p:nvSpPr>
        <p:spPr>
          <a:xfrm>
            <a:off x="502920" y="3200400"/>
            <a:ext cx="2193840" cy="4500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Text 9"/>
          <p:cNvSpPr/>
          <p:nvPr/>
        </p:nvSpPr>
        <p:spPr>
          <a:xfrm>
            <a:off x="502920" y="3364920"/>
            <a:ext cx="73144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64748b"/>
                </a:solidFill>
                <a:latin typeface="Calibri"/>
                <a:ea typeface="DejaVu Sans"/>
              </a:rPr>
              <a:t>LangChain  •  OpenAI  •  Streamlit  •  Python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54" name="Shape 10"/>
          <p:cNvSpPr/>
          <p:nvPr/>
        </p:nvSpPr>
        <p:spPr>
          <a:xfrm>
            <a:off x="0" y="4773240"/>
            <a:ext cx="9143280" cy="369720"/>
          </a:xfrm>
          <a:prstGeom prst="rect">
            <a:avLst/>
          </a:prstGeom>
          <a:solidFill>
            <a:srgbClr val="0611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5" name="Text 11"/>
          <p:cNvSpPr/>
          <p:nvPr/>
        </p:nvSpPr>
        <p:spPr>
          <a:xfrm>
            <a:off x="365760" y="4773240"/>
            <a:ext cx="8411760" cy="3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  <a:ea typeface="DejaVu Sans"/>
              </a:rPr>
              <a:t>LangChain Prompt Engineering — Complete Series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0"/>
          <p:cNvSpPr/>
          <p:nvPr/>
        </p:nvSpPr>
        <p:spPr>
          <a:xfrm>
            <a:off x="0" y="0"/>
            <a:ext cx="9143280" cy="82224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Text 1"/>
          <p:cNvSpPr/>
          <p:nvPr/>
        </p:nvSpPr>
        <p:spPr>
          <a:xfrm>
            <a:off x="411480" y="0"/>
            <a:ext cx="83203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What We'll Cover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58" name="Shape 2"/>
          <p:cNvSpPr/>
          <p:nvPr/>
        </p:nvSpPr>
        <p:spPr>
          <a:xfrm>
            <a:off x="320040" y="1024200"/>
            <a:ext cx="4205520" cy="8406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37674" dir="8100000" blurRad="101520" rotWithShape="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9" name="Shape 3"/>
          <p:cNvSpPr/>
          <p:nvPr/>
        </p:nvSpPr>
        <p:spPr>
          <a:xfrm>
            <a:off x="320040" y="1024200"/>
            <a:ext cx="63360" cy="84060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0" name="Text 4"/>
          <p:cNvSpPr/>
          <p:nvPr/>
        </p:nvSpPr>
        <p:spPr>
          <a:xfrm>
            <a:off x="457200" y="1078920"/>
            <a:ext cx="4381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0d9488"/>
                </a:solidFill>
                <a:latin typeface="Calibri"/>
                <a:ea typeface="DejaVu Sans"/>
              </a:rPr>
              <a:t>01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61" name="Text 5"/>
          <p:cNvSpPr/>
          <p:nvPr/>
        </p:nvSpPr>
        <p:spPr>
          <a:xfrm>
            <a:off x="457200" y="1298520"/>
            <a:ext cx="39312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e293b"/>
                </a:solidFill>
                <a:latin typeface="Calibri"/>
                <a:ea typeface="DejaVu Sans"/>
              </a:rPr>
              <a:t>🌡️ </a:t>
            </a:r>
            <a:r>
              <a:rPr b="1" lang="en-US" sz="1300" spc="-1" strike="noStrike">
                <a:solidFill>
                  <a:srgbClr val="1e293b"/>
                </a:solidFill>
                <a:latin typeface="Calibri"/>
                <a:ea typeface="DejaVu Sans"/>
              </a:rPr>
              <a:t>Temperature Parameter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2" name="Text 6"/>
          <p:cNvSpPr/>
          <p:nvPr/>
        </p:nvSpPr>
        <p:spPr>
          <a:xfrm>
            <a:off x="457200" y="1591200"/>
            <a:ext cx="39312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DejaVu Sans"/>
              </a:rPr>
              <a:t>Control output randomness — from deterministic to creative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63" name="Shape 7"/>
          <p:cNvSpPr/>
          <p:nvPr/>
        </p:nvSpPr>
        <p:spPr>
          <a:xfrm>
            <a:off x="4800600" y="1024200"/>
            <a:ext cx="4205520" cy="8406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37674" dir="8100000" blurRad="101520" rotWithShape="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4" name="Shape 8"/>
          <p:cNvSpPr/>
          <p:nvPr/>
        </p:nvSpPr>
        <p:spPr>
          <a:xfrm>
            <a:off x="4800600" y="1024200"/>
            <a:ext cx="63360" cy="84060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5" name="Text 9"/>
          <p:cNvSpPr/>
          <p:nvPr/>
        </p:nvSpPr>
        <p:spPr>
          <a:xfrm>
            <a:off x="4937760" y="1078920"/>
            <a:ext cx="4381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0d9488"/>
                </a:solidFill>
                <a:latin typeface="Calibri"/>
                <a:ea typeface="DejaVu Sans"/>
              </a:rPr>
              <a:t>02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66" name="Text 10"/>
          <p:cNvSpPr/>
          <p:nvPr/>
        </p:nvSpPr>
        <p:spPr>
          <a:xfrm>
            <a:off x="4937760" y="1298520"/>
            <a:ext cx="39312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e293b"/>
                </a:solidFill>
                <a:latin typeface="Calibri"/>
                <a:ea typeface="DejaVu Sans"/>
              </a:rPr>
              <a:t>💬 </a:t>
            </a:r>
            <a:r>
              <a:rPr b="1" lang="en-US" sz="1300" spc="-1" strike="noStrike">
                <a:solidFill>
                  <a:srgbClr val="1e293b"/>
                </a:solidFill>
                <a:latin typeface="Calibri"/>
                <a:ea typeface="DejaVu Sans"/>
              </a:rPr>
              <a:t>Understanding Prompts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7" name="Text 11"/>
          <p:cNvSpPr/>
          <p:nvPr/>
        </p:nvSpPr>
        <p:spPr>
          <a:xfrm>
            <a:off x="4937760" y="1591200"/>
            <a:ext cx="39312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DejaVu Sans"/>
              </a:rPr>
              <a:t>Text, image and multimodal inputs explained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68" name="Shape 12"/>
          <p:cNvSpPr/>
          <p:nvPr/>
        </p:nvSpPr>
        <p:spPr>
          <a:xfrm>
            <a:off x="320040" y="2011680"/>
            <a:ext cx="4205520" cy="8406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37674" dir="8100000" blurRad="101520" rotWithShape="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9" name="Shape 13"/>
          <p:cNvSpPr/>
          <p:nvPr/>
        </p:nvSpPr>
        <p:spPr>
          <a:xfrm>
            <a:off x="320040" y="2011680"/>
            <a:ext cx="63360" cy="84060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0" name="Text 14"/>
          <p:cNvSpPr/>
          <p:nvPr/>
        </p:nvSpPr>
        <p:spPr>
          <a:xfrm>
            <a:off x="457200" y="2066400"/>
            <a:ext cx="4381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0d9488"/>
                </a:solidFill>
                <a:latin typeface="Calibri"/>
                <a:ea typeface="DejaVu Sans"/>
              </a:rPr>
              <a:t>03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71" name="Text 15"/>
          <p:cNvSpPr/>
          <p:nvPr/>
        </p:nvSpPr>
        <p:spPr>
          <a:xfrm>
            <a:off x="457200" y="2286000"/>
            <a:ext cx="39312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e293b"/>
                </a:solidFill>
                <a:latin typeface="Calibri"/>
                <a:ea typeface="DejaVu Sans"/>
              </a:rPr>
              <a:t>⚡ </a:t>
            </a:r>
            <a:r>
              <a:rPr b="1" lang="en-US" sz="1300" spc="-1" strike="noStrike">
                <a:solidFill>
                  <a:srgbClr val="1e293b"/>
                </a:solidFill>
                <a:latin typeface="Calibri"/>
                <a:ea typeface="DejaVu Sans"/>
              </a:rPr>
              <a:t>Static vs Dynamic Prompts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2" name="Text 16"/>
          <p:cNvSpPr/>
          <p:nvPr/>
        </p:nvSpPr>
        <p:spPr>
          <a:xfrm>
            <a:off x="457200" y="2578680"/>
            <a:ext cx="39312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DejaVu Sans"/>
              </a:rPr>
              <a:t>Why raw strings fail in real production apps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73" name="Shape 17"/>
          <p:cNvSpPr/>
          <p:nvPr/>
        </p:nvSpPr>
        <p:spPr>
          <a:xfrm>
            <a:off x="4800600" y="2011680"/>
            <a:ext cx="4205520" cy="8406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37674" dir="8100000" blurRad="101520" rotWithShape="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4" name="Shape 18"/>
          <p:cNvSpPr/>
          <p:nvPr/>
        </p:nvSpPr>
        <p:spPr>
          <a:xfrm>
            <a:off x="4800600" y="2011680"/>
            <a:ext cx="63360" cy="84060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5" name="Text 19"/>
          <p:cNvSpPr/>
          <p:nvPr/>
        </p:nvSpPr>
        <p:spPr>
          <a:xfrm>
            <a:off x="4937760" y="2066400"/>
            <a:ext cx="4381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0d9488"/>
                </a:solidFill>
                <a:latin typeface="Calibri"/>
                <a:ea typeface="DejaVu Sans"/>
              </a:rPr>
              <a:t>04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76" name="Text 20"/>
          <p:cNvSpPr/>
          <p:nvPr/>
        </p:nvSpPr>
        <p:spPr>
          <a:xfrm>
            <a:off x="4937760" y="2286000"/>
            <a:ext cx="39312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e293b"/>
                </a:solidFill>
                <a:latin typeface="Calibri"/>
                <a:ea typeface="DejaVu Sans"/>
              </a:rPr>
              <a:t>🔧 </a:t>
            </a:r>
            <a:r>
              <a:rPr b="1" lang="en-US" sz="1300" spc="-1" strike="noStrike">
                <a:solidFill>
                  <a:srgbClr val="1e293b"/>
                </a:solidFill>
                <a:latin typeface="Calibri"/>
                <a:ea typeface="DejaVu Sans"/>
              </a:rPr>
              <a:t>Prompt Templates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7" name="Text 21"/>
          <p:cNvSpPr/>
          <p:nvPr/>
        </p:nvSpPr>
        <p:spPr>
          <a:xfrm>
            <a:off x="4937760" y="2578680"/>
            <a:ext cx="39312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DejaVu Sans"/>
              </a:rPr>
              <a:t>PromptTemplate: validation, reuse, and chains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78" name="Shape 22"/>
          <p:cNvSpPr/>
          <p:nvPr/>
        </p:nvSpPr>
        <p:spPr>
          <a:xfrm>
            <a:off x="320040" y="2999160"/>
            <a:ext cx="4205520" cy="8406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37674" dir="8100000" blurRad="101520" rotWithShape="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9" name="Shape 23"/>
          <p:cNvSpPr/>
          <p:nvPr/>
        </p:nvSpPr>
        <p:spPr>
          <a:xfrm>
            <a:off x="320040" y="2999160"/>
            <a:ext cx="63360" cy="84060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0" name="Text 24"/>
          <p:cNvSpPr/>
          <p:nvPr/>
        </p:nvSpPr>
        <p:spPr>
          <a:xfrm>
            <a:off x="457200" y="3054240"/>
            <a:ext cx="4381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0d9488"/>
                </a:solidFill>
                <a:latin typeface="Calibri"/>
                <a:ea typeface="DejaVu Sans"/>
              </a:rPr>
              <a:t>05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1" name="Text 25"/>
          <p:cNvSpPr/>
          <p:nvPr/>
        </p:nvSpPr>
        <p:spPr>
          <a:xfrm>
            <a:off x="457200" y="3273480"/>
            <a:ext cx="39312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e293b"/>
                </a:solidFill>
                <a:latin typeface="Calibri"/>
                <a:ea typeface="DejaVu Sans"/>
              </a:rPr>
              <a:t>🤖 </a:t>
            </a:r>
            <a:r>
              <a:rPr b="1" lang="en-US" sz="1300" spc="-1" strike="noStrike">
                <a:solidFill>
                  <a:srgbClr val="1e293b"/>
                </a:solidFill>
                <a:latin typeface="Calibri"/>
                <a:ea typeface="DejaVu Sans"/>
              </a:rPr>
              <a:t>Building Chat Applications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82" name="Text 26"/>
          <p:cNvSpPr/>
          <p:nvPr/>
        </p:nvSpPr>
        <p:spPr>
          <a:xfrm>
            <a:off x="457200" y="3566160"/>
            <a:ext cx="39312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DejaVu Sans"/>
              </a:rPr>
              <a:t>Add memory with proper chat history management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3" name="Shape 27"/>
          <p:cNvSpPr/>
          <p:nvPr/>
        </p:nvSpPr>
        <p:spPr>
          <a:xfrm>
            <a:off x="4800600" y="2999160"/>
            <a:ext cx="4205520" cy="8406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37674" dir="8100000" blurRad="101520" rotWithShape="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4" name="Shape 28"/>
          <p:cNvSpPr/>
          <p:nvPr/>
        </p:nvSpPr>
        <p:spPr>
          <a:xfrm>
            <a:off x="4800600" y="2999160"/>
            <a:ext cx="63360" cy="84060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5" name="Text 29"/>
          <p:cNvSpPr/>
          <p:nvPr/>
        </p:nvSpPr>
        <p:spPr>
          <a:xfrm>
            <a:off x="4937760" y="3054240"/>
            <a:ext cx="4381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0d9488"/>
                </a:solidFill>
                <a:latin typeface="Calibri"/>
                <a:ea typeface="DejaVu Sans"/>
              </a:rPr>
              <a:t>06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6" name="Text 30"/>
          <p:cNvSpPr/>
          <p:nvPr/>
        </p:nvSpPr>
        <p:spPr>
          <a:xfrm>
            <a:off x="4937760" y="3273480"/>
            <a:ext cx="39312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e293b"/>
                </a:solidFill>
                <a:latin typeface="Calibri"/>
                <a:ea typeface="DejaVu Sans"/>
              </a:rPr>
              <a:t>📨 </a:t>
            </a:r>
            <a:r>
              <a:rPr b="1" lang="en-US" sz="1300" spc="-1" strike="noStrike">
                <a:solidFill>
                  <a:srgbClr val="1e293b"/>
                </a:solidFill>
                <a:latin typeface="Calibri"/>
                <a:ea typeface="DejaVu Sans"/>
              </a:rPr>
              <a:t>Message Types &amp; Chat History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87" name="Text 31"/>
          <p:cNvSpPr/>
          <p:nvPr/>
        </p:nvSpPr>
        <p:spPr>
          <a:xfrm>
            <a:off x="4937760" y="3566160"/>
            <a:ext cx="39312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DejaVu Sans"/>
              </a:rPr>
              <a:t>SystemMessage, HumanMessage, AIMessage in depth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8" name="Shape 32"/>
          <p:cNvSpPr/>
          <p:nvPr/>
        </p:nvSpPr>
        <p:spPr>
          <a:xfrm>
            <a:off x="320040" y="3986640"/>
            <a:ext cx="4205520" cy="8406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37674" dir="8100000" blurRad="101520" rotWithShape="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9" name="Shape 33"/>
          <p:cNvSpPr/>
          <p:nvPr/>
        </p:nvSpPr>
        <p:spPr>
          <a:xfrm>
            <a:off x="320040" y="3986640"/>
            <a:ext cx="63360" cy="84060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0" name="Text 34"/>
          <p:cNvSpPr/>
          <p:nvPr/>
        </p:nvSpPr>
        <p:spPr>
          <a:xfrm>
            <a:off x="457200" y="4041720"/>
            <a:ext cx="4381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0d9488"/>
                </a:solidFill>
                <a:latin typeface="Calibri"/>
                <a:ea typeface="DejaVu Sans"/>
              </a:rPr>
              <a:t>07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91" name="Text 35"/>
          <p:cNvSpPr/>
          <p:nvPr/>
        </p:nvSpPr>
        <p:spPr>
          <a:xfrm>
            <a:off x="457200" y="4260960"/>
            <a:ext cx="39312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e293b"/>
                </a:solidFill>
                <a:latin typeface="Calibri"/>
                <a:ea typeface="DejaVu Sans"/>
              </a:rPr>
              <a:t>🗂️ </a:t>
            </a:r>
            <a:r>
              <a:rPr b="1" lang="en-US" sz="1300" spc="-1" strike="noStrike">
                <a:solidFill>
                  <a:srgbClr val="1e293b"/>
                </a:solidFill>
                <a:latin typeface="Calibri"/>
                <a:ea typeface="DejaVu Sans"/>
              </a:rPr>
              <a:t>ChatPromptTemplate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92" name="Text 36"/>
          <p:cNvSpPr/>
          <p:nvPr/>
        </p:nvSpPr>
        <p:spPr>
          <a:xfrm>
            <a:off x="457200" y="4553640"/>
            <a:ext cx="39312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DejaVu Sans"/>
              </a:rPr>
              <a:t>Multi-turn conversation templates with placeholders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93" name="Shape 37"/>
          <p:cNvSpPr/>
          <p:nvPr/>
        </p:nvSpPr>
        <p:spPr>
          <a:xfrm>
            <a:off x="4800600" y="3986640"/>
            <a:ext cx="4205520" cy="8406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37674" dir="8100000" blurRad="101520" rotWithShape="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4" name="Shape 38"/>
          <p:cNvSpPr/>
          <p:nvPr/>
        </p:nvSpPr>
        <p:spPr>
          <a:xfrm>
            <a:off x="4800600" y="3986640"/>
            <a:ext cx="63360" cy="84060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5" name="Text 39"/>
          <p:cNvSpPr/>
          <p:nvPr/>
        </p:nvSpPr>
        <p:spPr>
          <a:xfrm>
            <a:off x="4937760" y="4041720"/>
            <a:ext cx="4381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0d9488"/>
                </a:solidFill>
                <a:latin typeface="Calibri"/>
                <a:ea typeface="DejaVu Sans"/>
              </a:rPr>
              <a:t>08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96" name="Text 40"/>
          <p:cNvSpPr/>
          <p:nvPr/>
        </p:nvSpPr>
        <p:spPr>
          <a:xfrm>
            <a:off x="4937760" y="4260960"/>
            <a:ext cx="39312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e293b"/>
                </a:solidFill>
                <a:latin typeface="Calibri"/>
                <a:ea typeface="DejaVu Sans"/>
              </a:rPr>
              <a:t>📦 </a:t>
            </a:r>
            <a:r>
              <a:rPr b="1" lang="en-US" sz="1300" spc="-1" strike="noStrike">
                <a:solidFill>
                  <a:srgbClr val="1e293b"/>
                </a:solidFill>
                <a:latin typeface="Calibri"/>
                <a:ea typeface="DejaVu Sans"/>
              </a:rPr>
              <a:t>MessagesPlaceholder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97" name="Text 41"/>
          <p:cNvSpPr/>
          <p:nvPr/>
        </p:nvSpPr>
        <p:spPr>
          <a:xfrm>
            <a:off x="4937760" y="4553640"/>
            <a:ext cx="39312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DejaVu Sans"/>
              </a:rPr>
              <a:t>Inject saved history into new conversation turns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0"/>
          <p:cNvSpPr/>
          <p:nvPr/>
        </p:nvSpPr>
        <p:spPr>
          <a:xfrm>
            <a:off x="0" y="0"/>
            <a:ext cx="9143280" cy="82224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9" name="Text 1"/>
          <p:cNvSpPr/>
          <p:nvPr/>
        </p:nvSpPr>
        <p:spPr>
          <a:xfrm>
            <a:off x="411480" y="0"/>
            <a:ext cx="83203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DejaVu Sans"/>
              </a:rPr>
              <a:t>Understanding the Temperature Parameter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00" name="Text 2"/>
          <p:cNvSpPr/>
          <p:nvPr/>
        </p:nvSpPr>
        <p:spPr>
          <a:xfrm>
            <a:off x="411480" y="932760"/>
            <a:ext cx="83203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64748b"/>
                </a:solidFill>
                <a:latin typeface="Calibri"/>
                <a:ea typeface="DejaVu Sans"/>
              </a:rPr>
              <a:t>Controls how random or predictable the LLM's output will be — from fully deterministic to highly creative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01" name="Shape 3"/>
          <p:cNvSpPr/>
          <p:nvPr/>
        </p:nvSpPr>
        <p:spPr>
          <a:xfrm>
            <a:off x="411480" y="1353240"/>
            <a:ext cx="1188000" cy="25524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2" name="Shape 4"/>
          <p:cNvSpPr/>
          <p:nvPr/>
        </p:nvSpPr>
        <p:spPr>
          <a:xfrm>
            <a:off x="1600200" y="1353240"/>
            <a:ext cx="1188000" cy="255240"/>
          </a:xfrm>
          <a:prstGeom prst="rect">
            <a:avLst/>
          </a:prstGeom>
          <a:solidFill>
            <a:srgbClr val="14b8a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Shape 5"/>
          <p:cNvSpPr/>
          <p:nvPr/>
        </p:nvSpPr>
        <p:spPr>
          <a:xfrm>
            <a:off x="2788920" y="1353240"/>
            <a:ext cx="1188000" cy="255240"/>
          </a:xfrm>
          <a:prstGeom prst="rect">
            <a:avLst/>
          </a:prstGeom>
          <a:solidFill>
            <a:srgbClr val="34d3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4" name="Shape 6"/>
          <p:cNvSpPr/>
          <p:nvPr/>
        </p:nvSpPr>
        <p:spPr>
          <a:xfrm>
            <a:off x="3977640" y="1353240"/>
            <a:ext cx="1188000" cy="255240"/>
          </a:xfrm>
          <a:prstGeom prst="rect">
            <a:avLst/>
          </a:prstGeom>
          <a:solidFill>
            <a:srgbClr val="a3e6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5" name="Shape 7"/>
          <p:cNvSpPr/>
          <p:nvPr/>
        </p:nvSpPr>
        <p:spPr>
          <a:xfrm>
            <a:off x="5166360" y="1353240"/>
            <a:ext cx="1188000" cy="255240"/>
          </a:xfrm>
          <a:prstGeom prst="rect">
            <a:avLst/>
          </a:prstGeom>
          <a:solidFill>
            <a:srgbClr val="fcd3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6" name="Shape 8"/>
          <p:cNvSpPr/>
          <p:nvPr/>
        </p:nvSpPr>
        <p:spPr>
          <a:xfrm>
            <a:off x="6355080" y="1353240"/>
            <a:ext cx="1188000" cy="255240"/>
          </a:xfrm>
          <a:prstGeom prst="rect">
            <a:avLst/>
          </a:prstGeom>
          <a:solidFill>
            <a:srgbClr val="f9731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Shape 9"/>
          <p:cNvSpPr/>
          <p:nvPr/>
        </p:nvSpPr>
        <p:spPr>
          <a:xfrm>
            <a:off x="7543800" y="1353240"/>
            <a:ext cx="1188000" cy="255240"/>
          </a:xfrm>
          <a:prstGeom prst="rect">
            <a:avLst/>
          </a:pr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Text 10"/>
          <p:cNvSpPr/>
          <p:nvPr/>
        </p:nvSpPr>
        <p:spPr>
          <a:xfrm>
            <a:off x="347400" y="1645920"/>
            <a:ext cx="456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d9488"/>
                </a:solidFill>
                <a:latin typeface="Calibri"/>
                <a:ea typeface="DejaVu Sans"/>
              </a:rPr>
              <a:t>0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09" name="Text 11"/>
          <p:cNvSpPr/>
          <p:nvPr/>
        </p:nvSpPr>
        <p:spPr>
          <a:xfrm>
            <a:off x="274320" y="1901880"/>
            <a:ext cx="11880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0d9488"/>
                </a:solidFill>
                <a:latin typeface="Calibri"/>
                <a:ea typeface="DejaVu Sans"/>
              </a:rPr>
              <a:t>Deterministic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10" name="Text 12"/>
          <p:cNvSpPr/>
          <p:nvPr/>
        </p:nvSpPr>
        <p:spPr>
          <a:xfrm>
            <a:off x="4160520" y="1645920"/>
            <a:ext cx="547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59e0b"/>
                </a:solidFill>
                <a:latin typeface="Calibri"/>
                <a:ea typeface="DejaVu Sans"/>
              </a:rPr>
              <a:t>1.0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1" name="Text 13"/>
          <p:cNvSpPr/>
          <p:nvPr/>
        </p:nvSpPr>
        <p:spPr>
          <a:xfrm>
            <a:off x="3977640" y="1901880"/>
            <a:ext cx="10965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59e0b"/>
                </a:solidFill>
                <a:latin typeface="Calibri"/>
                <a:ea typeface="DejaVu Sans"/>
              </a:rPr>
              <a:t>Balanced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12" name="Text 14"/>
          <p:cNvSpPr/>
          <p:nvPr/>
        </p:nvSpPr>
        <p:spPr>
          <a:xfrm>
            <a:off x="8183880" y="1645920"/>
            <a:ext cx="547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ef4444"/>
                </a:solidFill>
                <a:latin typeface="Calibri"/>
                <a:ea typeface="DejaVu Sans"/>
              </a:rPr>
              <a:t>2.0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3" name="Text 15"/>
          <p:cNvSpPr/>
          <p:nvPr/>
        </p:nvSpPr>
        <p:spPr>
          <a:xfrm>
            <a:off x="8001000" y="1901880"/>
            <a:ext cx="10051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ef4444"/>
                </a:solidFill>
                <a:latin typeface="Calibri"/>
                <a:ea typeface="DejaVu Sans"/>
              </a:rPr>
              <a:t>Creative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14" name="Shape 16"/>
          <p:cNvSpPr/>
          <p:nvPr/>
        </p:nvSpPr>
        <p:spPr>
          <a:xfrm>
            <a:off x="320040" y="2240280"/>
            <a:ext cx="4205520" cy="26053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37674" dir="8100000" blurRad="101520" rotWithShape="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5" name="Shape 17"/>
          <p:cNvSpPr/>
          <p:nvPr/>
        </p:nvSpPr>
        <p:spPr>
          <a:xfrm>
            <a:off x="320040" y="2240280"/>
            <a:ext cx="4205520" cy="502200"/>
          </a:xfrm>
          <a:prstGeom prst="rect">
            <a:avLst/>
          </a:prstGeom>
          <a:solidFill>
            <a:srgbClr val="2b6cb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Text 18"/>
          <p:cNvSpPr/>
          <p:nvPr/>
        </p:nvSpPr>
        <p:spPr>
          <a:xfrm>
            <a:off x="457200" y="2240280"/>
            <a:ext cx="39769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Temperature = 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17" name="Text 19"/>
          <p:cNvSpPr/>
          <p:nvPr/>
        </p:nvSpPr>
        <p:spPr>
          <a:xfrm>
            <a:off x="457200" y="2541960"/>
            <a:ext cx="39769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bfdbfe"/>
                </a:solidFill>
                <a:latin typeface="Calibri"/>
                <a:ea typeface="DejaVu Sans"/>
              </a:rPr>
              <a:t>Deterministic Mode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18" name="Text 20"/>
          <p:cNvSpPr/>
          <p:nvPr/>
        </p:nvSpPr>
        <p:spPr>
          <a:xfrm>
            <a:off x="484560" y="2834640"/>
            <a:ext cx="3912840" cy="19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spcAft>
                <a:spcPts val="700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Exact same output for the same input, every run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00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Consistent and reproducible results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00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Best for: factual Q&amp;A, data extraction, classification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00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Recommended for production systems needing reliability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9" name="Shape 21"/>
          <p:cNvSpPr/>
          <p:nvPr/>
        </p:nvSpPr>
        <p:spPr>
          <a:xfrm>
            <a:off x="4846320" y="2240280"/>
            <a:ext cx="4205520" cy="26053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37674" dir="8100000" blurRad="101520" rotWithShape="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20" name="Shape 22"/>
          <p:cNvSpPr/>
          <p:nvPr/>
        </p:nvSpPr>
        <p:spPr>
          <a:xfrm>
            <a:off x="4846320" y="2240280"/>
            <a:ext cx="4205520" cy="502200"/>
          </a:xfrm>
          <a:prstGeom prst="rect">
            <a:avLst/>
          </a:pr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1" name="Text 23"/>
          <p:cNvSpPr/>
          <p:nvPr/>
        </p:nvSpPr>
        <p:spPr>
          <a:xfrm>
            <a:off x="4983480" y="2240280"/>
            <a:ext cx="39769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Temperature = 1.5–2.0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22" name="Text 24"/>
          <p:cNvSpPr/>
          <p:nvPr/>
        </p:nvSpPr>
        <p:spPr>
          <a:xfrm>
            <a:off x="4983480" y="2541960"/>
            <a:ext cx="39769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bfdbfe"/>
                </a:solidFill>
                <a:latin typeface="Calibri"/>
                <a:ea typeface="DejaVu Sans"/>
              </a:rPr>
              <a:t>Creative Mode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23" name="Text 25"/>
          <p:cNvSpPr/>
          <p:nvPr/>
        </p:nvSpPr>
        <p:spPr>
          <a:xfrm>
            <a:off x="5010840" y="2834640"/>
            <a:ext cx="3912840" cy="19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spcAft>
                <a:spcPts val="700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Different output each run even with identical input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00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Imaginative, varied, and surprising responses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00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Best for: creative writing, brainstorming, storytelling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00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Great for marketing copy and generative content apps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hape 0"/>
          <p:cNvSpPr/>
          <p:nvPr/>
        </p:nvSpPr>
        <p:spPr>
          <a:xfrm>
            <a:off x="0" y="0"/>
            <a:ext cx="9143280" cy="82224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5" name="Text 1"/>
          <p:cNvSpPr/>
          <p:nvPr/>
        </p:nvSpPr>
        <p:spPr>
          <a:xfrm>
            <a:off x="411480" y="0"/>
            <a:ext cx="83203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DejaVu Sans"/>
              </a:rPr>
              <a:t>Temperature in Action — Code Example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26" name="Shape 2"/>
          <p:cNvSpPr/>
          <p:nvPr/>
        </p:nvSpPr>
        <p:spPr>
          <a:xfrm>
            <a:off x="320040" y="960120"/>
            <a:ext cx="5211360" cy="3245400"/>
          </a:xfrm>
          <a:prstGeom prst="rect">
            <a:avLst/>
          </a:prstGeom>
          <a:solidFill>
            <a:srgbClr val="1e293b"/>
          </a:solidFill>
          <a:ln w="0">
            <a:noFill/>
          </a:ln>
          <a:effectLst>
            <a:outerShdw dist="37674" dir="8100000" blurRad="101520" rotWithShape="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27" name="Shape 3"/>
          <p:cNvSpPr/>
          <p:nvPr/>
        </p:nvSpPr>
        <p:spPr>
          <a:xfrm>
            <a:off x="320040" y="960120"/>
            <a:ext cx="5211360" cy="328320"/>
          </a:xfrm>
          <a:prstGeom prst="rect">
            <a:avLst/>
          </a:prstGeom>
          <a:solidFill>
            <a:srgbClr val="111c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8" name="Text 4"/>
          <p:cNvSpPr/>
          <p:nvPr/>
        </p:nvSpPr>
        <p:spPr>
          <a:xfrm>
            <a:off x="457200" y="960120"/>
            <a:ext cx="27424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7dd3fc"/>
                </a:solidFill>
                <a:latin typeface="Calibri"/>
                <a:ea typeface="DejaVu Sans"/>
              </a:rPr>
              <a:t>temperature_demo.py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29" name="Text 5"/>
          <p:cNvSpPr/>
          <p:nvPr/>
        </p:nvSpPr>
        <p:spPr>
          <a:xfrm>
            <a:off x="457200" y="900000"/>
            <a:ext cx="4982760" cy="278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c084fc"/>
                </a:solidFill>
                <a:latin typeface="Consolas"/>
                <a:ea typeface="Consolas"/>
              </a:rPr>
              <a:t>from langchain_openai import ChatOpenAI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c084fc"/>
                </a:solidFill>
                <a:latin typeface="Consolas"/>
                <a:ea typeface="Consolas"/>
              </a:rPr>
              <a:t>from dotenv import load_dotenv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c084fc"/>
                </a:solidFill>
                <a:latin typeface="Consolas"/>
                <a:ea typeface="Consolas"/>
              </a:rPr>
              <a:t>load_dotenv()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c084fc"/>
                </a:solidFill>
                <a:latin typeface="Consolas"/>
                <a:ea typeface="Consolas"/>
              </a:rPr>
              <a:t># temperature=0 → identical output every run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c084fc"/>
                </a:solidFill>
                <a:latin typeface="Consolas"/>
                <a:ea typeface="Consolas"/>
              </a:rPr>
              <a:t>ai_model = ChatOpenAI(model='gpt-4', temperature=0.9)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c084fc"/>
                </a:solidFill>
                <a:latin typeface="Consolas"/>
                <a:ea typeface="Consolas"/>
              </a:rPr>
              <a:t>reply = ai_model.invoke(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c084fc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c084fc"/>
                </a:solidFill>
                <a:latin typeface="Consolas"/>
                <a:ea typeface="Consolas"/>
              </a:rPr>
              <a:t>'provide 5 liner poetry on climate change?'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c084fc"/>
                </a:solidFill>
                <a:latin typeface="Consolas"/>
                <a:ea typeface="Consolas"/>
              </a:rPr>
              <a:t>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c084fc"/>
                </a:solidFill>
                <a:latin typeface="Consolas"/>
                <a:ea typeface="Consolas"/>
              </a:rPr>
              <a:t>print(reply.content)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30" name="Shape 7"/>
          <p:cNvSpPr/>
          <p:nvPr/>
        </p:nvSpPr>
        <p:spPr>
          <a:xfrm>
            <a:off x="5669280" y="960120"/>
            <a:ext cx="3199680" cy="32832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1" name="Text 8"/>
          <p:cNvSpPr/>
          <p:nvPr/>
        </p:nvSpPr>
        <p:spPr>
          <a:xfrm>
            <a:off x="5779080" y="960120"/>
            <a:ext cx="301680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DejaVu Sans"/>
              </a:rPr>
              <a:t>Output  (same every run)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32" name="Shape 10"/>
          <p:cNvSpPr/>
          <p:nvPr/>
        </p:nvSpPr>
        <p:spPr>
          <a:xfrm>
            <a:off x="320040" y="4343400"/>
            <a:ext cx="8503200" cy="593640"/>
          </a:xfrm>
          <a:prstGeom prst="rect">
            <a:avLst/>
          </a:prstGeom>
          <a:solidFill>
            <a:srgbClr val="ccfbf1"/>
          </a:solidFill>
          <a:ln w="0">
            <a:noFill/>
          </a:ln>
          <a:effectLst>
            <a:outerShdw dist="37674" dir="8100000" blurRad="101520" rotWithShape="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3" name="Shape 11"/>
          <p:cNvSpPr/>
          <p:nvPr/>
        </p:nvSpPr>
        <p:spPr>
          <a:xfrm>
            <a:off x="320040" y="4343400"/>
            <a:ext cx="63360" cy="59364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Text 12"/>
          <p:cNvSpPr/>
          <p:nvPr/>
        </p:nvSpPr>
        <p:spPr>
          <a:xfrm>
            <a:off x="475560" y="4343400"/>
            <a:ext cx="827460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💡 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Key Insight: temperature=0 is ideal for production apps requiring consistent, reliable output. Raise it gradually for creative tasks — try 0.7 for balanced, 1.2+ for highly imaginative results.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35" name="Shape 25"/>
          <p:cNvSpPr/>
          <p:nvPr/>
        </p:nvSpPr>
        <p:spPr>
          <a:xfrm>
            <a:off x="5616000" y="1640520"/>
            <a:ext cx="3384000" cy="141948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lang="en-IN" sz="1200" spc="-1" strike="noStrike">
                <a:latin typeface="Arial"/>
              </a:rPr>
              <a:t>Earth cries with each raindrop’s fall, a plea,</a:t>
            </a:r>
            <a:endParaRPr b="0" lang="en-IN" sz="1200" spc="-1" strike="noStrike">
              <a:latin typeface="Arial"/>
            </a:endParaRPr>
          </a:p>
          <a:p>
            <a:r>
              <a:rPr b="0" lang="en-IN" sz="1200" spc="-1" strike="noStrike">
                <a:latin typeface="Arial"/>
              </a:rPr>
              <a:t>Winds whisper of a dying decree.</a:t>
            </a:r>
            <a:endParaRPr b="0" lang="en-IN" sz="1200" spc="-1" strike="noStrike">
              <a:latin typeface="Arial"/>
            </a:endParaRPr>
          </a:p>
          <a:p>
            <a:r>
              <a:rPr b="0" lang="en-IN" sz="1200" spc="-1" strike="noStrike">
                <a:latin typeface="Arial"/>
              </a:rPr>
              <a:t>Ice turning to tears, forests to ash,</a:t>
            </a:r>
            <a:endParaRPr b="0" lang="en-IN" sz="1200" spc="-1" strike="noStrike">
              <a:latin typeface="Arial"/>
            </a:endParaRPr>
          </a:p>
          <a:p>
            <a:r>
              <a:rPr b="0" lang="en-IN" sz="1200" spc="-1" strike="noStrike">
                <a:latin typeface="Arial"/>
              </a:rPr>
              <a:t>Our reckless actions, a calamitous clash.</a:t>
            </a:r>
            <a:endParaRPr b="0" lang="en-IN" sz="1200" spc="-1" strike="noStrike">
              <a:latin typeface="Arial"/>
            </a:endParaRPr>
          </a:p>
          <a:p>
            <a:r>
              <a:rPr b="0" lang="en-IN" sz="1200" spc="-1" strike="noStrike">
                <a:latin typeface="Arial"/>
              </a:rPr>
              <a:t>Let's heal her wounds, let the change be in we.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0"/>
          <p:cNvSpPr/>
          <p:nvPr/>
        </p:nvSpPr>
        <p:spPr>
          <a:xfrm>
            <a:off x="0" y="0"/>
            <a:ext cx="9143280" cy="82224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7" name="Text 1"/>
          <p:cNvSpPr/>
          <p:nvPr/>
        </p:nvSpPr>
        <p:spPr>
          <a:xfrm>
            <a:off x="411480" y="0"/>
            <a:ext cx="83203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DejaVu Sans"/>
              </a:rPr>
              <a:t>What Are Prompts?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138" name="Shape 2"/>
          <p:cNvSpPr/>
          <p:nvPr/>
        </p:nvSpPr>
        <p:spPr>
          <a:xfrm>
            <a:off x="320040" y="932760"/>
            <a:ext cx="8503200" cy="5022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9" name="Text 3"/>
          <p:cNvSpPr/>
          <p:nvPr/>
        </p:nvSpPr>
        <p:spPr>
          <a:xfrm>
            <a:off x="411480" y="932760"/>
            <a:ext cx="83203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A prompt is the instruction you send to an LLM to direct and shape its response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40" name="Shape 4"/>
          <p:cNvSpPr/>
          <p:nvPr/>
        </p:nvSpPr>
        <p:spPr>
          <a:xfrm>
            <a:off x="292680" y="1572840"/>
            <a:ext cx="2788200" cy="33368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37674" dir="8100000" blurRad="101520" rotWithShape="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1" name="Shape 5"/>
          <p:cNvSpPr/>
          <p:nvPr/>
        </p:nvSpPr>
        <p:spPr>
          <a:xfrm>
            <a:off x="292680" y="1572840"/>
            <a:ext cx="2788200" cy="547920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2" name="Text 6"/>
          <p:cNvSpPr/>
          <p:nvPr/>
        </p:nvSpPr>
        <p:spPr>
          <a:xfrm>
            <a:off x="402480" y="1572840"/>
            <a:ext cx="26326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50" spc="-1" strike="noStrike">
                <a:solidFill>
                  <a:srgbClr val="ffffff"/>
                </a:solidFill>
                <a:latin typeface="Calibri"/>
                <a:ea typeface="DejaVu Sans"/>
              </a:rPr>
              <a:t>📝  </a:t>
            </a:r>
            <a:r>
              <a:rPr b="1" lang="en-US" sz="1350" spc="-1" strike="noStrike">
                <a:solidFill>
                  <a:srgbClr val="ffffff"/>
                </a:solidFill>
                <a:latin typeface="Calibri"/>
                <a:ea typeface="DejaVu Sans"/>
              </a:rPr>
              <a:t>Text-Based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143" name="Text 7"/>
          <p:cNvSpPr/>
          <p:nvPr/>
        </p:nvSpPr>
        <p:spPr>
          <a:xfrm>
            <a:off x="640800" y="1891080"/>
            <a:ext cx="26326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000000"/>
                </a:solidFill>
                <a:latin typeface="Calibri"/>
                <a:ea typeface="DejaVu Sans"/>
              </a:rPr>
              <a:t>Most common prompt type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Shape 8"/>
          <p:cNvSpPr/>
          <p:nvPr/>
        </p:nvSpPr>
        <p:spPr>
          <a:xfrm>
            <a:off x="402480" y="2240280"/>
            <a:ext cx="2605320" cy="45648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5" name="Text 9"/>
          <p:cNvSpPr/>
          <p:nvPr/>
        </p:nvSpPr>
        <p:spPr>
          <a:xfrm>
            <a:off x="457200" y="2240280"/>
            <a:ext cx="24865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7dd3fc"/>
                </a:solidFill>
                <a:latin typeface="Consolas"/>
                <a:ea typeface="Consolas"/>
              </a:rPr>
              <a:t>"Summarize this article for me"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46" name="Shape 10"/>
          <p:cNvSpPr/>
          <p:nvPr/>
        </p:nvSpPr>
        <p:spPr>
          <a:xfrm>
            <a:off x="402480" y="2807280"/>
            <a:ext cx="2605320" cy="45648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7" name="Text 11"/>
          <p:cNvSpPr/>
          <p:nvPr/>
        </p:nvSpPr>
        <p:spPr>
          <a:xfrm>
            <a:off x="457200" y="2807280"/>
            <a:ext cx="24865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7dd3fc"/>
                </a:solidFill>
                <a:latin typeface="Consolas"/>
                <a:ea typeface="Consolas"/>
              </a:rPr>
              <a:t>"Explain quantum computing simply"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48" name="Shape 12"/>
          <p:cNvSpPr/>
          <p:nvPr/>
        </p:nvSpPr>
        <p:spPr>
          <a:xfrm>
            <a:off x="402480" y="3374280"/>
            <a:ext cx="2605320" cy="45648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9" name="Text 13"/>
          <p:cNvSpPr/>
          <p:nvPr/>
        </p:nvSpPr>
        <p:spPr>
          <a:xfrm>
            <a:off x="457200" y="3374280"/>
            <a:ext cx="24865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7dd3fc"/>
                </a:solidFill>
                <a:latin typeface="Consolas"/>
                <a:ea typeface="Consolas"/>
              </a:rPr>
              <a:t>"Write a Python function to sort a list"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50" name="Shape 14"/>
          <p:cNvSpPr/>
          <p:nvPr/>
        </p:nvSpPr>
        <p:spPr>
          <a:xfrm>
            <a:off x="402480" y="4005000"/>
            <a:ext cx="2605320" cy="803880"/>
          </a:xfrm>
          <a:prstGeom prst="rect">
            <a:avLst/>
          </a:prstGeom>
          <a:solidFill>
            <a:srgbClr val="1d4ed8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1" name="Text 15"/>
          <p:cNvSpPr/>
          <p:nvPr/>
        </p:nvSpPr>
        <p:spPr>
          <a:xfrm>
            <a:off x="457200" y="4005000"/>
            <a:ext cx="2486520" cy="8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1e293b"/>
                </a:solidFill>
                <a:latin typeface="Calibri"/>
                <a:ea typeface="DejaVu Sans"/>
              </a:rPr>
              <a:t>💡 </a:t>
            </a:r>
            <a:r>
              <a:rPr b="0" lang="en-US" sz="950" spc="-1" strike="noStrike">
                <a:solidFill>
                  <a:srgbClr val="1e293b"/>
                </a:solidFill>
                <a:latin typeface="Calibri"/>
                <a:ea typeface="DejaVu Sans"/>
              </a:rPr>
              <a:t>Works with all LLMs. Plain natural language instructions.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52" name="Shape 16"/>
          <p:cNvSpPr/>
          <p:nvPr/>
        </p:nvSpPr>
        <p:spPr>
          <a:xfrm>
            <a:off x="3237120" y="1572840"/>
            <a:ext cx="2788200" cy="33368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37674" dir="8100000" blurRad="101520" rotWithShape="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3" name="Shape 17"/>
          <p:cNvSpPr/>
          <p:nvPr/>
        </p:nvSpPr>
        <p:spPr>
          <a:xfrm>
            <a:off x="3237120" y="1572840"/>
            <a:ext cx="2788200" cy="54792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4" name="Text 18"/>
          <p:cNvSpPr/>
          <p:nvPr/>
        </p:nvSpPr>
        <p:spPr>
          <a:xfrm>
            <a:off x="3346560" y="1572840"/>
            <a:ext cx="26326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50" spc="-1" strike="noStrike">
                <a:solidFill>
                  <a:srgbClr val="ffffff"/>
                </a:solidFill>
                <a:latin typeface="Calibri"/>
                <a:ea typeface="DejaVu Sans"/>
              </a:rPr>
              <a:t>🖼️  </a:t>
            </a:r>
            <a:r>
              <a:rPr b="1" lang="en-US" sz="1350" spc="-1" strike="noStrike">
                <a:solidFill>
                  <a:srgbClr val="ffffff"/>
                </a:solidFill>
                <a:latin typeface="Calibri"/>
                <a:ea typeface="DejaVu Sans"/>
              </a:rPr>
              <a:t>Image-Based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155" name="Text 19"/>
          <p:cNvSpPr/>
          <p:nvPr/>
        </p:nvSpPr>
        <p:spPr>
          <a:xfrm>
            <a:off x="3600000" y="1883880"/>
            <a:ext cx="26326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000000"/>
                </a:solidFill>
                <a:latin typeface="Calibri"/>
                <a:ea typeface="DejaVu Sans"/>
              </a:rPr>
              <a:t>Vision-capable models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Shape 20"/>
          <p:cNvSpPr/>
          <p:nvPr/>
        </p:nvSpPr>
        <p:spPr>
          <a:xfrm>
            <a:off x="3346560" y="2240280"/>
            <a:ext cx="2605320" cy="45648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7" name="Text 21"/>
          <p:cNvSpPr/>
          <p:nvPr/>
        </p:nvSpPr>
        <p:spPr>
          <a:xfrm>
            <a:off x="3401640" y="2240280"/>
            <a:ext cx="24865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7dd3fc"/>
                </a:solidFill>
                <a:latin typeface="Consolas"/>
                <a:ea typeface="Consolas"/>
              </a:rPr>
              <a:t>"What objects are in this image?"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58" name="Shape 22"/>
          <p:cNvSpPr/>
          <p:nvPr/>
        </p:nvSpPr>
        <p:spPr>
          <a:xfrm>
            <a:off x="3346560" y="2807280"/>
            <a:ext cx="2605320" cy="45648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9" name="Text 23"/>
          <p:cNvSpPr/>
          <p:nvPr/>
        </p:nvSpPr>
        <p:spPr>
          <a:xfrm>
            <a:off x="3401640" y="2807280"/>
            <a:ext cx="24865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7dd3fc"/>
                </a:solidFill>
                <a:latin typeface="Consolas"/>
                <a:ea typeface="Consolas"/>
              </a:rPr>
              <a:t>"Describe this architecture diagram"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60" name="Shape 24"/>
          <p:cNvSpPr/>
          <p:nvPr/>
        </p:nvSpPr>
        <p:spPr>
          <a:xfrm>
            <a:off x="3346560" y="3374280"/>
            <a:ext cx="2605320" cy="45648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1" name="Text 25"/>
          <p:cNvSpPr/>
          <p:nvPr/>
        </p:nvSpPr>
        <p:spPr>
          <a:xfrm>
            <a:off x="3401640" y="3374280"/>
            <a:ext cx="24865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7dd3fc"/>
                </a:solidFill>
                <a:latin typeface="Consolas"/>
                <a:ea typeface="Consolas"/>
              </a:rPr>
              <a:t>"Extract the text from this screenshot"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62" name="Shape 26"/>
          <p:cNvSpPr/>
          <p:nvPr/>
        </p:nvSpPr>
        <p:spPr>
          <a:xfrm>
            <a:off x="3346560" y="4005000"/>
            <a:ext cx="2605320" cy="803880"/>
          </a:xfrm>
          <a:prstGeom prst="rect">
            <a:avLst/>
          </a:prstGeom>
          <a:solidFill>
            <a:srgbClr val="7c3aed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3" name="Text 27"/>
          <p:cNvSpPr/>
          <p:nvPr/>
        </p:nvSpPr>
        <p:spPr>
          <a:xfrm>
            <a:off x="3401640" y="4005000"/>
            <a:ext cx="2486520" cy="8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1e293b"/>
                </a:solidFill>
                <a:latin typeface="Calibri"/>
                <a:ea typeface="DejaVu Sans"/>
              </a:rPr>
              <a:t>💡 </a:t>
            </a:r>
            <a:r>
              <a:rPr b="0" lang="en-US" sz="950" spc="-1" strike="noStrike">
                <a:solidFill>
                  <a:srgbClr val="1e293b"/>
                </a:solidFill>
                <a:latin typeface="Calibri"/>
                <a:ea typeface="DejaVu Sans"/>
              </a:rPr>
              <a:t>Requires multimodal models: GPT-4o, Claude 3, Gemini.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64" name="Shape 28"/>
          <p:cNvSpPr/>
          <p:nvPr/>
        </p:nvSpPr>
        <p:spPr>
          <a:xfrm>
            <a:off x="6181200" y="1572840"/>
            <a:ext cx="2788200" cy="33368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37674" dir="8100000" blurRad="101520" rotWithShape="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5" name="Shape 29"/>
          <p:cNvSpPr/>
          <p:nvPr/>
        </p:nvSpPr>
        <p:spPr>
          <a:xfrm>
            <a:off x="6181200" y="1572840"/>
            <a:ext cx="2788200" cy="54792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6" name="Text 30"/>
          <p:cNvSpPr/>
          <p:nvPr/>
        </p:nvSpPr>
        <p:spPr>
          <a:xfrm>
            <a:off x="6291000" y="1572840"/>
            <a:ext cx="26326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50" spc="-1" strike="noStrike">
                <a:solidFill>
                  <a:srgbClr val="ffffff"/>
                </a:solidFill>
                <a:latin typeface="Calibri"/>
                <a:ea typeface="DejaVu Sans"/>
              </a:rPr>
              <a:t>🎵  </a:t>
            </a:r>
            <a:r>
              <a:rPr b="1" lang="en-US" sz="1350" spc="-1" strike="noStrike">
                <a:solidFill>
                  <a:srgbClr val="ffffff"/>
                </a:solidFill>
                <a:latin typeface="Calibri"/>
                <a:ea typeface="DejaVu Sans"/>
              </a:rPr>
              <a:t>Audio / Video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167" name="Text 31"/>
          <p:cNvSpPr/>
          <p:nvPr/>
        </p:nvSpPr>
        <p:spPr>
          <a:xfrm>
            <a:off x="6547320" y="1883880"/>
            <a:ext cx="26326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000000"/>
                </a:solidFill>
                <a:latin typeface="Calibri"/>
                <a:ea typeface="DejaVu Sans"/>
              </a:rPr>
              <a:t>Advanced multimodal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Shape 32"/>
          <p:cNvSpPr/>
          <p:nvPr/>
        </p:nvSpPr>
        <p:spPr>
          <a:xfrm>
            <a:off x="6291000" y="2240280"/>
            <a:ext cx="2605320" cy="45648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9" name="Text 33"/>
          <p:cNvSpPr/>
          <p:nvPr/>
        </p:nvSpPr>
        <p:spPr>
          <a:xfrm>
            <a:off x="6346080" y="2240280"/>
            <a:ext cx="24865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7dd3fc"/>
                </a:solidFill>
                <a:latin typeface="Consolas"/>
                <a:ea typeface="Consolas"/>
              </a:rPr>
              <a:t>"Transcribe this audio recording"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70" name="Shape 34"/>
          <p:cNvSpPr/>
          <p:nvPr/>
        </p:nvSpPr>
        <p:spPr>
          <a:xfrm>
            <a:off x="6291000" y="2807280"/>
            <a:ext cx="2605320" cy="45648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1" name="Text 35"/>
          <p:cNvSpPr/>
          <p:nvPr/>
        </p:nvSpPr>
        <p:spPr>
          <a:xfrm>
            <a:off x="6346080" y="2807280"/>
            <a:ext cx="24865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7dd3fc"/>
                </a:solidFill>
                <a:latin typeface="Consolas"/>
                <a:ea typeface="Consolas"/>
              </a:rPr>
              <a:t>"Summarize this meeting recording"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72" name="Shape 36"/>
          <p:cNvSpPr/>
          <p:nvPr/>
        </p:nvSpPr>
        <p:spPr>
          <a:xfrm>
            <a:off x="6291000" y="3374280"/>
            <a:ext cx="2605320" cy="45648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3" name="Text 37"/>
          <p:cNvSpPr/>
          <p:nvPr/>
        </p:nvSpPr>
        <p:spPr>
          <a:xfrm>
            <a:off x="6346080" y="3374280"/>
            <a:ext cx="24865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7dd3fc"/>
                </a:solidFill>
                <a:latin typeface="Consolas"/>
                <a:ea typeface="Consolas"/>
              </a:rPr>
              <a:t>"Translate this spoken clip to English"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74" name="Shape 38"/>
          <p:cNvSpPr/>
          <p:nvPr/>
        </p:nvSpPr>
        <p:spPr>
          <a:xfrm>
            <a:off x="6291000" y="4005000"/>
            <a:ext cx="2605320" cy="803880"/>
          </a:xfrm>
          <a:prstGeom prst="rect">
            <a:avLst/>
          </a:prstGeom>
          <a:solidFill>
            <a:srgbClr val="f59e0b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5" name="Text 39"/>
          <p:cNvSpPr/>
          <p:nvPr/>
        </p:nvSpPr>
        <p:spPr>
          <a:xfrm>
            <a:off x="6346080" y="4005000"/>
            <a:ext cx="2486520" cy="8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1e293b"/>
                </a:solidFill>
                <a:latin typeface="Calibri"/>
                <a:ea typeface="DejaVu Sans"/>
              </a:rPr>
              <a:t>💡 </a:t>
            </a:r>
            <a:r>
              <a:rPr b="0" lang="en-US" sz="950" spc="-1" strike="noStrike">
                <a:solidFill>
                  <a:srgbClr val="1e293b"/>
                </a:solidFill>
                <a:latin typeface="Calibri"/>
                <a:ea typeface="DejaVu Sans"/>
              </a:rPr>
              <a:t>Emerging capability — Whisper, Gemini 1.5 Pro, etc.</a:t>
            </a:r>
            <a:endParaRPr b="0" lang="en-IN" sz="9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Shape 0"/>
          <p:cNvSpPr/>
          <p:nvPr/>
        </p:nvSpPr>
        <p:spPr>
          <a:xfrm>
            <a:off x="0" y="0"/>
            <a:ext cx="9143280" cy="82224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7" name="Text 1"/>
          <p:cNvSpPr/>
          <p:nvPr/>
        </p:nvSpPr>
        <p:spPr>
          <a:xfrm>
            <a:off x="411480" y="0"/>
            <a:ext cx="83203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DejaVu Sans"/>
              </a:rPr>
              <a:t>Why Prompts Are So Important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178" name="Shape 2"/>
          <p:cNvSpPr/>
          <p:nvPr/>
        </p:nvSpPr>
        <p:spPr>
          <a:xfrm>
            <a:off x="320040" y="960120"/>
            <a:ext cx="8503200" cy="100512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9" name="Text 3"/>
          <p:cNvSpPr/>
          <p:nvPr/>
        </p:nvSpPr>
        <p:spPr>
          <a:xfrm>
            <a:off x="457200" y="960120"/>
            <a:ext cx="822888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  <a:ea typeface="DejaVu Sans"/>
              </a:rPr>
              <a:t>Output quality depends entirely on the prompt you write — </a:t>
            </a:r>
            <a:r>
              <a:rPr b="1" lang="en-US" sz="1600" spc="-1" strike="noStrike">
                <a:solidFill>
                  <a:srgbClr val="ccfbf1"/>
                </a:solidFill>
                <a:latin typeface="Calibri"/>
                <a:ea typeface="DejaVu Sans"/>
              </a:rPr>
              <a:t>tiny changes produce dramatically different results.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80" name="Shape 4"/>
          <p:cNvSpPr/>
          <p:nvPr/>
        </p:nvSpPr>
        <p:spPr>
          <a:xfrm>
            <a:off x="292680" y="2148840"/>
            <a:ext cx="2788200" cy="26967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37674" dir="8100000" blurRad="101520" rotWithShape="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1" name="Shape 5"/>
          <p:cNvSpPr/>
          <p:nvPr/>
        </p:nvSpPr>
        <p:spPr>
          <a:xfrm>
            <a:off x="292680" y="2148840"/>
            <a:ext cx="2788200" cy="438120"/>
          </a:xfrm>
          <a:prstGeom prst="rect">
            <a:avLst/>
          </a:pr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2" name="Text 6"/>
          <p:cNvSpPr/>
          <p:nvPr/>
        </p:nvSpPr>
        <p:spPr>
          <a:xfrm>
            <a:off x="402480" y="2148840"/>
            <a:ext cx="26326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DejaVu Sans"/>
              </a:rPr>
              <a:t>Vague Prompt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183" name="Shape 7"/>
          <p:cNvSpPr/>
          <p:nvPr/>
        </p:nvSpPr>
        <p:spPr>
          <a:xfrm>
            <a:off x="402480" y="2679120"/>
            <a:ext cx="2632680" cy="65772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4" name="Text 8"/>
          <p:cNvSpPr/>
          <p:nvPr/>
        </p:nvSpPr>
        <p:spPr>
          <a:xfrm>
            <a:off x="457200" y="2679120"/>
            <a:ext cx="252288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7dd3fc"/>
                </a:solidFill>
                <a:latin typeface="Consolas"/>
                <a:ea typeface="Consolas"/>
              </a:rPr>
              <a:t>Prompt: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7dd3fc"/>
                </a:solidFill>
                <a:latin typeface="Consolas"/>
                <a:ea typeface="Consolas"/>
              </a:rPr>
              <a:t>"Tell me about AI"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185" name="Text 9"/>
          <p:cNvSpPr/>
          <p:nvPr/>
        </p:nvSpPr>
        <p:spPr>
          <a:xfrm>
            <a:off x="402480" y="3401640"/>
            <a:ext cx="2632680" cy="13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DejaVu Sans"/>
              </a:rPr>
              <a:t>Result: Gets a generic 3-paragraph essay about AI history — not what you probably wanted.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86" name="Shape 10"/>
          <p:cNvSpPr/>
          <p:nvPr/>
        </p:nvSpPr>
        <p:spPr>
          <a:xfrm>
            <a:off x="3237120" y="2148840"/>
            <a:ext cx="2788200" cy="26967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37674" dir="8100000" blurRad="101520" rotWithShape="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7" name="Shape 11"/>
          <p:cNvSpPr/>
          <p:nvPr/>
        </p:nvSpPr>
        <p:spPr>
          <a:xfrm>
            <a:off x="3237120" y="2148840"/>
            <a:ext cx="2788200" cy="43812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8" name="Text 12"/>
          <p:cNvSpPr/>
          <p:nvPr/>
        </p:nvSpPr>
        <p:spPr>
          <a:xfrm>
            <a:off x="3346560" y="2148840"/>
            <a:ext cx="26326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DejaVu Sans"/>
              </a:rPr>
              <a:t>Specific Prompt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189" name="Shape 13"/>
          <p:cNvSpPr/>
          <p:nvPr/>
        </p:nvSpPr>
        <p:spPr>
          <a:xfrm>
            <a:off x="3346560" y="2679120"/>
            <a:ext cx="2632680" cy="65772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0" name="Text 14"/>
          <p:cNvSpPr/>
          <p:nvPr/>
        </p:nvSpPr>
        <p:spPr>
          <a:xfrm>
            <a:off x="3401640" y="2679120"/>
            <a:ext cx="252288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7dd3fc"/>
                </a:solidFill>
                <a:latin typeface="Consolas"/>
                <a:ea typeface="Consolas"/>
              </a:rPr>
              <a:t>Prompt: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7dd3fc"/>
                </a:solidFill>
                <a:latin typeface="Consolas"/>
                <a:ea typeface="Consolas"/>
              </a:rPr>
              <a:t>"Explain neural networks in 3 bullet points for a 12-year-old"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191" name="Text 15"/>
          <p:cNvSpPr/>
          <p:nvPr/>
        </p:nvSpPr>
        <p:spPr>
          <a:xfrm>
            <a:off x="3346560" y="3401640"/>
            <a:ext cx="2632680" cy="13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DejaVu Sans"/>
              </a:rPr>
              <a:t>Result: Gets exactly 3 simple bullets tailored to a young audience — precise and useful.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92" name="Shape 16"/>
          <p:cNvSpPr/>
          <p:nvPr/>
        </p:nvSpPr>
        <p:spPr>
          <a:xfrm>
            <a:off x="6181200" y="2148840"/>
            <a:ext cx="2788200" cy="26967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37674" dir="8100000" blurRad="101520" rotWithShape="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93" name="Shape 17"/>
          <p:cNvSpPr/>
          <p:nvPr/>
        </p:nvSpPr>
        <p:spPr>
          <a:xfrm>
            <a:off x="6181200" y="2148840"/>
            <a:ext cx="2788200" cy="43812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4" name="Text 18"/>
          <p:cNvSpPr/>
          <p:nvPr/>
        </p:nvSpPr>
        <p:spPr>
          <a:xfrm>
            <a:off x="6291000" y="2148840"/>
            <a:ext cx="26326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DejaVu Sans"/>
              </a:rPr>
              <a:t>Structured Prompt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195" name="Shape 19"/>
          <p:cNvSpPr/>
          <p:nvPr/>
        </p:nvSpPr>
        <p:spPr>
          <a:xfrm>
            <a:off x="6291000" y="2679120"/>
            <a:ext cx="2632680" cy="65772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6" name="Text 20"/>
          <p:cNvSpPr/>
          <p:nvPr/>
        </p:nvSpPr>
        <p:spPr>
          <a:xfrm>
            <a:off x="6346080" y="2679120"/>
            <a:ext cx="252288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7dd3fc"/>
                </a:solidFill>
                <a:latin typeface="Consolas"/>
                <a:ea typeface="Consolas"/>
              </a:rPr>
              <a:t>Prompt: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7dd3fc"/>
                </a:solidFill>
                <a:latin typeface="Consolas"/>
                <a:ea typeface="Consolas"/>
              </a:rPr>
              <a:t>"List 5 real-world uses of NLP, formatted as a numbered list with one sentence each"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197" name="Text 21"/>
          <p:cNvSpPr/>
          <p:nvPr/>
        </p:nvSpPr>
        <p:spPr>
          <a:xfrm>
            <a:off x="6291000" y="3401640"/>
            <a:ext cx="2632680" cy="13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DejaVu Sans"/>
              </a:rPr>
              <a:t>Result: Gets a perfectly formatted numbered list ready to copy into a document.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98" name="Shape 22"/>
          <p:cNvSpPr/>
          <p:nvPr/>
        </p:nvSpPr>
        <p:spPr>
          <a:xfrm>
            <a:off x="320040" y="4809600"/>
            <a:ext cx="8503200" cy="236880"/>
          </a:xfrm>
          <a:prstGeom prst="rect">
            <a:avLst/>
          </a:prstGeom>
          <a:solidFill>
            <a:srgbClr val="ccfb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9" name="Text 23"/>
          <p:cNvSpPr/>
          <p:nvPr/>
        </p:nvSpPr>
        <p:spPr>
          <a:xfrm>
            <a:off x="411480" y="4809600"/>
            <a:ext cx="83203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DejaVu Sans"/>
              </a:rPr>
              <a:t>🔑  </a:t>
            </a: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DejaVu Sans"/>
              </a:rPr>
              <a:t>The same LLM can produce excellent or poor results purely based on how you write the prompt.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0"/>
          <p:cNvSpPr/>
          <p:nvPr/>
        </p:nvSpPr>
        <p:spPr>
          <a:xfrm>
            <a:off x="0" y="0"/>
            <a:ext cx="9143280" cy="82224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1" name="Text 1"/>
          <p:cNvSpPr/>
          <p:nvPr/>
        </p:nvSpPr>
        <p:spPr>
          <a:xfrm>
            <a:off x="411480" y="0"/>
            <a:ext cx="83203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DejaVu Sans"/>
              </a:rPr>
              <a:t>Current Way of Writing Prompts — and the Problem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202" name="Shape 2"/>
          <p:cNvSpPr/>
          <p:nvPr/>
        </p:nvSpPr>
        <p:spPr>
          <a:xfrm>
            <a:off x="292680" y="932760"/>
            <a:ext cx="4132440" cy="39128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37674" dir="8100000" blurRad="101520" rotWithShape="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03" name="Shape 3"/>
          <p:cNvSpPr/>
          <p:nvPr/>
        </p:nvSpPr>
        <p:spPr>
          <a:xfrm>
            <a:off x="292680" y="932760"/>
            <a:ext cx="4132440" cy="474840"/>
          </a:xfrm>
          <a:prstGeom prst="rect">
            <a:avLst/>
          </a:pr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4" name="Text 4"/>
          <p:cNvSpPr/>
          <p:nvPr/>
        </p:nvSpPr>
        <p:spPr>
          <a:xfrm>
            <a:off x="411480" y="932760"/>
            <a:ext cx="39495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❌ 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Current Approach (Hard-coded)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05" name="Shape 5"/>
          <p:cNvSpPr/>
          <p:nvPr/>
        </p:nvSpPr>
        <p:spPr>
          <a:xfrm>
            <a:off x="411480" y="1508760"/>
            <a:ext cx="3885480" cy="159948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6" name="Text 6"/>
          <p:cNvSpPr/>
          <p:nvPr/>
        </p:nvSpPr>
        <p:spPr>
          <a:xfrm>
            <a:off x="502920" y="1572840"/>
            <a:ext cx="3729960" cy="146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# Developer writes prompt directly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ai_engine = ChatOpenAI()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ai_engine.invoke(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'write a five line poem on climate change'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)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207" name="Text 7"/>
          <p:cNvSpPr/>
          <p:nvPr/>
        </p:nvSpPr>
        <p:spPr>
          <a:xfrm>
            <a:off x="411480" y="3200400"/>
            <a:ext cx="3885480" cy="150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spcAft>
                <a:spcPts val="799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Developer writes all prompts manually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99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No flexibility for different users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99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Prompt quality depends on developer knowledge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99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Cannot adapt to user needs or preferences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08" name="Shape 8"/>
          <p:cNvSpPr/>
          <p:nvPr/>
        </p:nvSpPr>
        <p:spPr>
          <a:xfrm>
            <a:off x="4718160" y="932760"/>
            <a:ext cx="4132440" cy="39128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37674" dir="8100000" blurRad="101520" rotWithShape="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09" name="Shape 9"/>
          <p:cNvSpPr/>
          <p:nvPr/>
        </p:nvSpPr>
        <p:spPr>
          <a:xfrm>
            <a:off x="4718160" y="932760"/>
            <a:ext cx="4132440" cy="47484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0" name="Text 10"/>
          <p:cNvSpPr/>
          <p:nvPr/>
        </p:nvSpPr>
        <p:spPr>
          <a:xfrm>
            <a:off x="4827960" y="932760"/>
            <a:ext cx="39495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✓ 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Correct Approach (User-Driven)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11" name="Shape 11"/>
          <p:cNvSpPr/>
          <p:nvPr/>
        </p:nvSpPr>
        <p:spPr>
          <a:xfrm>
            <a:off x="4827960" y="1508760"/>
            <a:ext cx="3885480" cy="159948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2" name="Text 12"/>
          <p:cNvSpPr/>
          <p:nvPr/>
        </p:nvSpPr>
        <p:spPr>
          <a:xfrm>
            <a:off x="4919400" y="1572840"/>
            <a:ext cx="3729960" cy="146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# User provides the prompt via UI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user_prompt = st.text_input('Your query')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# App sends user's prompt to LLM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ai_engine.invoke(user_prompt)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213" name="Text 13"/>
          <p:cNvSpPr/>
          <p:nvPr/>
        </p:nvSpPr>
        <p:spPr>
          <a:xfrm>
            <a:off x="4827960" y="3200400"/>
            <a:ext cx="3885480" cy="150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spcAft>
                <a:spcPts val="799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Users write prompts through your application UI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99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Each user gets personalised, relevant responses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99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Developers focus on building the app, not prompts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99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Scales naturally across different user needs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Shape 0"/>
          <p:cNvSpPr/>
          <p:nvPr/>
        </p:nvSpPr>
        <p:spPr>
          <a:xfrm>
            <a:off x="0" y="0"/>
            <a:ext cx="9143280" cy="82224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5" name="Text 1"/>
          <p:cNvSpPr/>
          <p:nvPr/>
        </p:nvSpPr>
        <p:spPr>
          <a:xfrm>
            <a:off x="411480" y="0"/>
            <a:ext cx="83203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DejaVu Sans"/>
              </a:rPr>
              <a:t>Real-World Use Case: Research Assistant Tool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216" name="Shape 2"/>
          <p:cNvSpPr/>
          <p:nvPr/>
        </p:nvSpPr>
        <p:spPr>
          <a:xfrm>
            <a:off x="320040" y="960120"/>
            <a:ext cx="4022640" cy="38581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37674" dir="8100000" blurRad="101520" rotWithShape="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7" name="Shape 3"/>
          <p:cNvSpPr/>
          <p:nvPr/>
        </p:nvSpPr>
        <p:spPr>
          <a:xfrm>
            <a:off x="320040" y="960120"/>
            <a:ext cx="4022640" cy="456480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8" name="Text 4"/>
          <p:cNvSpPr/>
          <p:nvPr/>
        </p:nvSpPr>
        <p:spPr>
          <a:xfrm>
            <a:off x="438840" y="960120"/>
            <a:ext cx="38397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📋  </a:t>
            </a: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What We're Building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19" name="Text 5"/>
          <p:cNvSpPr/>
          <p:nvPr/>
        </p:nvSpPr>
        <p:spPr>
          <a:xfrm>
            <a:off x="457200" y="1508760"/>
            <a:ext cx="3748320" cy="31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spcAft>
                <a:spcPts val="1001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150" spc="-1" strike="noStrike">
                <a:solidFill>
                  <a:srgbClr val="1e293b"/>
                </a:solidFill>
                <a:latin typeface="Calibri"/>
                <a:ea typeface="DejaVu Sans"/>
              </a:rPr>
              <a:t>A web app where users can create any topic report</a:t>
            </a:r>
            <a:endParaRPr b="0" lang="en-IN" sz="11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1001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150" spc="-1" strike="noStrike">
                <a:solidFill>
                  <a:srgbClr val="1e293b"/>
                </a:solidFill>
                <a:latin typeface="Calibri"/>
                <a:ea typeface="DejaVu Sans"/>
              </a:rPr>
              <a:t>Users type a query like: "create report on climate change"</a:t>
            </a:r>
            <a:endParaRPr b="0" lang="en-IN" sz="11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1001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150" spc="-1" strike="noStrike">
                <a:solidFill>
                  <a:srgbClr val="1e293b"/>
                </a:solidFill>
                <a:latin typeface="Calibri"/>
                <a:ea typeface="DejaVu Sans"/>
              </a:rPr>
              <a:t>User clicks a 'Generate Response' button</a:t>
            </a:r>
            <a:endParaRPr b="0" lang="en-IN" sz="11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1001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150" spc="-1" strike="noStrike">
                <a:solidFill>
                  <a:srgbClr val="1e293b"/>
                </a:solidFill>
                <a:latin typeface="Calibri"/>
                <a:ea typeface="DejaVu Sans"/>
              </a:rPr>
              <a:t>App fetches text from the input box, sends it to the LLM, and displays the response</a:t>
            </a:r>
            <a:endParaRPr b="0" lang="en-IN" sz="11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1001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150" spc="-1" strike="noStrike">
                <a:solidFill>
                  <a:srgbClr val="1e293b"/>
                </a:solidFill>
                <a:latin typeface="Calibri"/>
                <a:ea typeface="DejaVu Sans"/>
              </a:rPr>
              <a:t>Built with Streamlit + LangChain + ChatOpenAI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20" name="Shape 6"/>
          <p:cNvSpPr/>
          <p:nvPr/>
        </p:nvSpPr>
        <p:spPr>
          <a:xfrm>
            <a:off x="4572000" y="960120"/>
            <a:ext cx="4251240" cy="38581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37674" dir="8100000" blurRad="101520" rotWithShape="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21" name="Shape 7"/>
          <p:cNvSpPr/>
          <p:nvPr/>
        </p:nvSpPr>
        <p:spPr>
          <a:xfrm>
            <a:off x="4572000" y="960120"/>
            <a:ext cx="4251240" cy="45648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2" name="Text 8"/>
          <p:cNvSpPr/>
          <p:nvPr/>
        </p:nvSpPr>
        <p:spPr>
          <a:xfrm>
            <a:off x="4681800" y="960120"/>
            <a:ext cx="40683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🔄  </a:t>
            </a: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Application Flow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23" name="Shape 9"/>
          <p:cNvSpPr/>
          <p:nvPr/>
        </p:nvSpPr>
        <p:spPr>
          <a:xfrm>
            <a:off x="4681800" y="1609200"/>
            <a:ext cx="419760" cy="419760"/>
          </a:xfrm>
          <a:prstGeom prst="ellipse">
            <a:avLst/>
          </a:prstGeom>
          <a:solidFill>
            <a:srgbClr val="1d4e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4" name="Text 10"/>
          <p:cNvSpPr/>
          <p:nvPr/>
        </p:nvSpPr>
        <p:spPr>
          <a:xfrm>
            <a:off x="4681800" y="1609200"/>
            <a:ext cx="41976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1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25" name="Shape 11"/>
          <p:cNvSpPr/>
          <p:nvPr/>
        </p:nvSpPr>
        <p:spPr>
          <a:xfrm>
            <a:off x="5193720" y="1627560"/>
            <a:ext cx="3492360" cy="383400"/>
          </a:xfrm>
          <a:prstGeom prst="rect">
            <a:avLst/>
          </a:prstGeom>
          <a:solidFill>
            <a:srgbClr val="1d4ed8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6" name="Text 12"/>
          <p:cNvSpPr/>
          <p:nvPr/>
        </p:nvSpPr>
        <p:spPr>
          <a:xfrm>
            <a:off x="5285160" y="1627560"/>
            <a:ext cx="33368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User visits the web app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27" name="Shape 13"/>
          <p:cNvSpPr/>
          <p:nvPr/>
        </p:nvSpPr>
        <p:spPr>
          <a:xfrm>
            <a:off x="4873680" y="2030040"/>
            <a:ext cx="36000" cy="182160"/>
          </a:xfrm>
          <a:prstGeom prst="rect">
            <a:avLst/>
          </a:pr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8" name="Shape 14"/>
          <p:cNvSpPr/>
          <p:nvPr/>
        </p:nvSpPr>
        <p:spPr>
          <a:xfrm>
            <a:off x="4681800" y="2231280"/>
            <a:ext cx="419760" cy="419760"/>
          </a:xfrm>
          <a:prstGeom prst="ellipse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9" name="Text 15"/>
          <p:cNvSpPr/>
          <p:nvPr/>
        </p:nvSpPr>
        <p:spPr>
          <a:xfrm>
            <a:off x="4681800" y="2231280"/>
            <a:ext cx="41976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2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30" name="Shape 16"/>
          <p:cNvSpPr/>
          <p:nvPr/>
        </p:nvSpPr>
        <p:spPr>
          <a:xfrm>
            <a:off x="5193720" y="2249280"/>
            <a:ext cx="3492360" cy="383400"/>
          </a:xfrm>
          <a:prstGeom prst="rect">
            <a:avLst/>
          </a:prstGeom>
          <a:solidFill>
            <a:srgbClr val="0d9488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1" name="Text 17"/>
          <p:cNvSpPr/>
          <p:nvPr/>
        </p:nvSpPr>
        <p:spPr>
          <a:xfrm>
            <a:off x="5285160" y="2249280"/>
            <a:ext cx="33368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Types query in text box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32" name="Shape 18"/>
          <p:cNvSpPr/>
          <p:nvPr/>
        </p:nvSpPr>
        <p:spPr>
          <a:xfrm>
            <a:off x="4873680" y="2651760"/>
            <a:ext cx="36000" cy="182160"/>
          </a:xfrm>
          <a:prstGeom prst="rect">
            <a:avLst/>
          </a:pr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3" name="Shape 19"/>
          <p:cNvSpPr/>
          <p:nvPr/>
        </p:nvSpPr>
        <p:spPr>
          <a:xfrm>
            <a:off x="4681800" y="2853000"/>
            <a:ext cx="419760" cy="419760"/>
          </a:xfrm>
          <a:prstGeom prst="ellipse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4" name="Text 20"/>
          <p:cNvSpPr/>
          <p:nvPr/>
        </p:nvSpPr>
        <p:spPr>
          <a:xfrm>
            <a:off x="4681800" y="2853000"/>
            <a:ext cx="41976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3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35" name="Shape 21"/>
          <p:cNvSpPr/>
          <p:nvPr/>
        </p:nvSpPr>
        <p:spPr>
          <a:xfrm>
            <a:off x="5193720" y="2871360"/>
            <a:ext cx="3492360" cy="383400"/>
          </a:xfrm>
          <a:prstGeom prst="rect">
            <a:avLst/>
          </a:prstGeom>
          <a:solidFill>
            <a:srgbClr val="7c3aed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6" name="Text 22"/>
          <p:cNvSpPr/>
          <p:nvPr/>
        </p:nvSpPr>
        <p:spPr>
          <a:xfrm>
            <a:off x="5285160" y="2871360"/>
            <a:ext cx="33368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Clicks 'Generate response' button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37" name="Shape 23"/>
          <p:cNvSpPr/>
          <p:nvPr/>
        </p:nvSpPr>
        <p:spPr>
          <a:xfrm>
            <a:off x="4873680" y="3273480"/>
            <a:ext cx="36000" cy="182160"/>
          </a:xfrm>
          <a:prstGeom prst="rect">
            <a:avLst/>
          </a:pr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8" name="Shape 24"/>
          <p:cNvSpPr/>
          <p:nvPr/>
        </p:nvSpPr>
        <p:spPr>
          <a:xfrm>
            <a:off x="4681800" y="3474720"/>
            <a:ext cx="419760" cy="41976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9" name="Text 25"/>
          <p:cNvSpPr/>
          <p:nvPr/>
        </p:nvSpPr>
        <p:spPr>
          <a:xfrm>
            <a:off x="4681800" y="3474720"/>
            <a:ext cx="41976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4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40" name="Shape 26"/>
          <p:cNvSpPr/>
          <p:nvPr/>
        </p:nvSpPr>
        <p:spPr>
          <a:xfrm>
            <a:off x="5193720" y="3493080"/>
            <a:ext cx="3492360" cy="383400"/>
          </a:xfrm>
          <a:prstGeom prst="rect">
            <a:avLst/>
          </a:prstGeom>
          <a:solidFill>
            <a:srgbClr val="f59e0b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1" name="Text 27"/>
          <p:cNvSpPr/>
          <p:nvPr/>
        </p:nvSpPr>
        <p:spPr>
          <a:xfrm>
            <a:off x="5285160" y="3493080"/>
            <a:ext cx="33368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App sends prompt to LLM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42" name="Shape 28"/>
          <p:cNvSpPr/>
          <p:nvPr/>
        </p:nvSpPr>
        <p:spPr>
          <a:xfrm>
            <a:off x="4873680" y="3895200"/>
            <a:ext cx="36000" cy="182160"/>
          </a:xfrm>
          <a:prstGeom prst="rect">
            <a:avLst/>
          </a:pr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3" name="Shape 29"/>
          <p:cNvSpPr/>
          <p:nvPr/>
        </p:nvSpPr>
        <p:spPr>
          <a:xfrm>
            <a:off x="4681800" y="4096440"/>
            <a:ext cx="419760" cy="41976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4" name="Text 30"/>
          <p:cNvSpPr/>
          <p:nvPr/>
        </p:nvSpPr>
        <p:spPr>
          <a:xfrm>
            <a:off x="4681800" y="4096440"/>
            <a:ext cx="41976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5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45" name="Shape 31"/>
          <p:cNvSpPr/>
          <p:nvPr/>
        </p:nvSpPr>
        <p:spPr>
          <a:xfrm>
            <a:off x="5193720" y="4114800"/>
            <a:ext cx="3492360" cy="383400"/>
          </a:xfrm>
          <a:prstGeom prst="rect">
            <a:avLst/>
          </a:prstGeom>
          <a:solidFill>
            <a:srgbClr val="10b981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6" name="Text 32"/>
          <p:cNvSpPr/>
          <p:nvPr/>
        </p:nvSpPr>
        <p:spPr>
          <a:xfrm>
            <a:off x="5285160" y="4114800"/>
            <a:ext cx="33368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LLM response shown on page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Shape 0"/>
          <p:cNvSpPr/>
          <p:nvPr/>
        </p:nvSpPr>
        <p:spPr>
          <a:xfrm>
            <a:off x="0" y="0"/>
            <a:ext cx="9143280" cy="82224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8" name="Text 1"/>
          <p:cNvSpPr/>
          <p:nvPr/>
        </p:nvSpPr>
        <p:spPr>
          <a:xfrm>
            <a:off x="411480" y="0"/>
            <a:ext cx="83203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DejaVu Sans"/>
              </a:rPr>
              <a:t>Building the Research Assistant UI — Code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249" name="Shape 2"/>
          <p:cNvSpPr/>
          <p:nvPr/>
        </p:nvSpPr>
        <p:spPr>
          <a:xfrm>
            <a:off x="320040" y="932760"/>
            <a:ext cx="5321160" cy="3858120"/>
          </a:xfrm>
          <a:prstGeom prst="rect">
            <a:avLst/>
          </a:prstGeom>
          <a:solidFill>
            <a:srgbClr val="1e293b"/>
          </a:solidFill>
          <a:ln w="0">
            <a:noFill/>
          </a:ln>
          <a:effectLst>
            <a:outerShdw dist="37674" dir="8100000" blurRad="101520" rotWithShape="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50" name="Shape 3"/>
          <p:cNvSpPr/>
          <p:nvPr/>
        </p:nvSpPr>
        <p:spPr>
          <a:xfrm>
            <a:off x="320040" y="932760"/>
            <a:ext cx="5321160" cy="319320"/>
          </a:xfrm>
          <a:prstGeom prst="rect">
            <a:avLst/>
          </a:prstGeom>
          <a:solidFill>
            <a:srgbClr val="111c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1" name="Text 4"/>
          <p:cNvSpPr/>
          <p:nvPr/>
        </p:nvSpPr>
        <p:spPr>
          <a:xfrm>
            <a:off x="457200" y="932760"/>
            <a:ext cx="3199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7dd3fc"/>
                </a:solidFill>
                <a:latin typeface="Calibri"/>
                <a:ea typeface="DejaVu Sans"/>
              </a:rPr>
              <a:t>content_assistant.py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52" name="Text 5"/>
          <p:cNvSpPr/>
          <p:nvPr/>
        </p:nvSpPr>
        <p:spPr>
          <a:xfrm>
            <a:off x="457200" y="1316880"/>
            <a:ext cx="5119920" cy="340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c084fc"/>
                </a:solidFill>
                <a:latin typeface="Consolas"/>
                <a:ea typeface="Consolas"/>
              </a:rPr>
              <a:t>from langchain_openai import ChatOpenAI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c084fc"/>
                </a:solidFill>
                <a:latin typeface="Consolas"/>
                <a:ea typeface="Consolas"/>
              </a:rPr>
              <a:t>import streamlit as ui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c084fc"/>
                </a:solidFill>
                <a:latin typeface="Consolas"/>
                <a:ea typeface="Consolas"/>
              </a:rPr>
              <a:t>from dotenv import load_dotenv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c084fc"/>
                </a:solidFill>
                <a:latin typeface="Consolas"/>
                <a:ea typeface="Consolas"/>
              </a:rPr>
              <a:t># Load environment variables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c084fc"/>
                </a:solidFill>
                <a:latin typeface="Consolas"/>
                <a:ea typeface="Consolas"/>
              </a:rPr>
              <a:t>load_dotenv()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c084fc"/>
                </a:solidFill>
                <a:latin typeface="Consolas"/>
                <a:ea typeface="Consolas"/>
              </a:rPr>
              <a:t># Initialize language model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c084fc"/>
                </a:solidFill>
                <a:latin typeface="Consolas"/>
                <a:ea typeface="Consolas"/>
              </a:rPr>
              <a:t>llm_engine = ChatOpenAI()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c084fc"/>
                </a:solidFill>
                <a:latin typeface="Consolas"/>
                <a:ea typeface="Consolas"/>
              </a:rPr>
              <a:t># Streamlit UI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c084fc"/>
                </a:solidFill>
                <a:latin typeface="Consolas"/>
                <a:ea typeface="Consolas"/>
              </a:rPr>
              <a:t>ui.title("AI Report Generator")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c084fc"/>
                </a:solidFill>
                <a:latin typeface="Consolas"/>
                <a:ea typeface="Consolas"/>
              </a:rPr>
              <a:t>query_text = ui.text_input("Type your question here")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c084fc"/>
                </a:solidFill>
                <a:latin typeface="Consolas"/>
                <a:ea typeface="Consolas"/>
              </a:rPr>
              <a:t>if ui.button("Generate Response"):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c084fc"/>
                </a:solidFill>
                <a:latin typeface="Consolas"/>
                <a:ea typeface="Consolas"/>
              </a:rPr>
              <a:t>    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c084fc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c084fc"/>
                </a:solidFill>
                <a:latin typeface="Consolas"/>
                <a:ea typeface="Consolas"/>
              </a:rPr>
              <a:t>if query_text: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c084fc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c084fc"/>
                </a:solidFill>
                <a:latin typeface="Consolas"/>
                <a:ea typeface="Consolas"/>
              </a:rPr>
              <a:t>answer = llm_engine.invoke(query_text)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c084fc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c084fc"/>
                </a:solidFill>
                <a:latin typeface="Consolas"/>
                <a:ea typeface="Consolas"/>
              </a:rPr>
              <a:t>ui.write(answer.content)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c084fc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c084fc"/>
                </a:solidFill>
                <a:latin typeface="Consolas"/>
                <a:ea typeface="Consolas"/>
              </a:rPr>
              <a:t>else: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c084fc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c084fc"/>
                </a:solidFill>
                <a:latin typeface="Consolas"/>
                <a:ea typeface="Consolas"/>
              </a:rPr>
              <a:t>ui.warning("Please enter a question first.")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53" name="Shape 6"/>
          <p:cNvSpPr/>
          <p:nvPr/>
        </p:nvSpPr>
        <p:spPr>
          <a:xfrm>
            <a:off x="5806440" y="932760"/>
            <a:ext cx="3035160" cy="17182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37674" dir="8100000" blurRad="101520" rotWithShape="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54" name="Shape 7"/>
          <p:cNvSpPr/>
          <p:nvPr/>
        </p:nvSpPr>
        <p:spPr>
          <a:xfrm>
            <a:off x="5806440" y="932760"/>
            <a:ext cx="3035160" cy="383400"/>
          </a:xfrm>
          <a:prstGeom prst="rect">
            <a:avLst/>
          </a:pr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5" name="Text 8"/>
          <p:cNvSpPr/>
          <p:nvPr/>
        </p:nvSpPr>
        <p:spPr>
          <a:xfrm>
            <a:off x="5925240" y="932760"/>
            <a:ext cx="28796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⚠️  </a:t>
            </a: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The Problem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56" name="Text 9"/>
          <p:cNvSpPr/>
          <p:nvPr/>
        </p:nvSpPr>
        <p:spPr>
          <a:xfrm>
            <a:off x="5925240" y="1371600"/>
            <a:ext cx="285228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DejaVu Sans"/>
              </a:rPr>
              <a:t>Users have full control of the prompt text — they can type anything! This causes: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DejaVu Sans"/>
              </a:rPr>
              <a:t>• </a:t>
            </a: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DejaVu Sans"/>
              </a:rPr>
              <a:t>Inconsistent output quality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DejaVu Sans"/>
              </a:rPr>
              <a:t>• </a:t>
            </a: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DejaVu Sans"/>
              </a:rPr>
              <a:t>Unpredictable response formats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DejaVu Sans"/>
              </a:rPr>
              <a:t>• </a:t>
            </a: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DejaVu Sans"/>
              </a:rPr>
              <a:t>Potential misuse or irrelevant queries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57" name="Shape 10"/>
          <p:cNvSpPr/>
          <p:nvPr/>
        </p:nvSpPr>
        <p:spPr>
          <a:xfrm>
            <a:off x="5806440" y="2816280"/>
            <a:ext cx="3035160" cy="19742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37674" dir="8100000" blurRad="101520" rotWithShape="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58" name="Shape 11"/>
          <p:cNvSpPr/>
          <p:nvPr/>
        </p:nvSpPr>
        <p:spPr>
          <a:xfrm>
            <a:off x="5806440" y="2816280"/>
            <a:ext cx="3035160" cy="38340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9" name="Text 12"/>
          <p:cNvSpPr/>
          <p:nvPr/>
        </p:nvSpPr>
        <p:spPr>
          <a:xfrm>
            <a:off x="5925240" y="2816280"/>
            <a:ext cx="28796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✅  </a:t>
            </a: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The Solution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60" name="Text 13"/>
          <p:cNvSpPr/>
          <p:nvPr/>
        </p:nvSpPr>
        <p:spPr>
          <a:xfrm>
            <a:off x="5925240" y="3255120"/>
            <a:ext cx="2852280" cy="144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DejaVu Sans"/>
              </a:rPr>
              <a:t>Use Prompt Templates with controlled inputs!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DejaVu Sans"/>
              </a:rPr>
              <a:t>• </a:t>
            </a: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DejaVu Sans"/>
              </a:rPr>
              <a:t>Replace free text input with dropdowns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DejaVu Sans"/>
              </a:rPr>
              <a:t>• </a:t>
            </a: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DejaVu Sans"/>
              </a:rPr>
              <a:t>Users choose style, length, format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DejaVu Sans"/>
              </a:rPr>
              <a:t>• </a:t>
            </a: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DejaVu Sans"/>
              </a:rPr>
              <a:t>Developer controls prompt structure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DejaVu Sans"/>
              </a:rPr>
              <a:t>• </a:t>
            </a: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DejaVu Sans"/>
              </a:rPr>
              <a:t>Output quality becomes predictable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Shape 0"/>
          <p:cNvSpPr/>
          <p:nvPr/>
        </p:nvSpPr>
        <p:spPr>
          <a:xfrm>
            <a:off x="0" y="0"/>
            <a:ext cx="9143280" cy="82224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2" name="Text 1"/>
          <p:cNvSpPr/>
          <p:nvPr/>
        </p:nvSpPr>
        <p:spPr>
          <a:xfrm>
            <a:off x="411480" y="0"/>
            <a:ext cx="83203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DejaVu Sans"/>
              </a:rPr>
              <a:t>Static Prompts vs Dynamic Prompt Templates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263" name="Shape 2"/>
          <p:cNvSpPr/>
          <p:nvPr/>
        </p:nvSpPr>
        <p:spPr>
          <a:xfrm>
            <a:off x="292680" y="932760"/>
            <a:ext cx="4132440" cy="39128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37674" dir="8100000" blurRad="101520" rotWithShape="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64" name="Shape 3"/>
          <p:cNvSpPr/>
          <p:nvPr/>
        </p:nvSpPr>
        <p:spPr>
          <a:xfrm>
            <a:off x="292680" y="932760"/>
            <a:ext cx="4132440" cy="474840"/>
          </a:xfrm>
          <a:prstGeom prst="rect">
            <a:avLst/>
          </a:pr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5" name="Text 4"/>
          <p:cNvSpPr/>
          <p:nvPr/>
        </p:nvSpPr>
        <p:spPr>
          <a:xfrm>
            <a:off x="411480" y="932760"/>
            <a:ext cx="39495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DejaVu Sans"/>
              </a:rPr>
              <a:t>❌  </a:t>
            </a: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DejaVu Sans"/>
              </a:rPr>
              <a:t>Static Prompts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66" name="Text 5"/>
          <p:cNvSpPr/>
          <p:nvPr/>
        </p:nvSpPr>
        <p:spPr>
          <a:xfrm>
            <a:off x="457200" y="1508760"/>
            <a:ext cx="3821400" cy="150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spcAft>
                <a:spcPts val="901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DejaVu Sans"/>
              </a:rPr>
              <a:t>User writes the full prompt text freely</a:t>
            </a:r>
            <a:endParaRPr b="0" lang="en-IN" sz="1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901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DejaVu Sans"/>
              </a:rPr>
              <a:t>No structure, no constraints, no template</a:t>
            </a:r>
            <a:endParaRPr b="0" lang="en-IN" sz="1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901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DejaVu Sans"/>
              </a:rPr>
              <a:t>Risk of typos, unclear instructions</a:t>
            </a:r>
            <a:endParaRPr b="0" lang="en-IN" sz="1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901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DejaVu Sans"/>
              </a:rPr>
              <a:t>Unpredictable output quality every time</a:t>
            </a:r>
            <a:endParaRPr b="0" lang="en-IN" sz="1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901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DejaVu Sans"/>
              </a:rPr>
              <a:t>Hard to maintain or improve over time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67" name="Shape 6"/>
          <p:cNvSpPr/>
          <p:nvPr/>
        </p:nvSpPr>
        <p:spPr>
          <a:xfrm>
            <a:off x="411480" y="3108960"/>
            <a:ext cx="3885480" cy="52956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8" name="Text 7"/>
          <p:cNvSpPr/>
          <p:nvPr/>
        </p:nvSpPr>
        <p:spPr>
          <a:xfrm>
            <a:off x="502920" y="3108960"/>
            <a:ext cx="372996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7dd3fc"/>
                </a:solidFill>
                <a:latin typeface="Consolas"/>
                <a:ea typeface="Consolas"/>
              </a:rPr>
              <a:t>"Provide report on climate Change"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69" name="Text 8"/>
          <p:cNvSpPr/>
          <p:nvPr/>
        </p:nvSpPr>
        <p:spPr>
          <a:xfrm>
            <a:off x="438840" y="3730680"/>
            <a:ext cx="38581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ef4444"/>
                </a:solidFill>
                <a:latin typeface="Calibri"/>
                <a:ea typeface="DejaVu Sans"/>
              </a:rPr>
              <a:t>⚠  </a:t>
            </a:r>
            <a:r>
              <a:rPr b="0" i="1" lang="en-US" sz="1000" spc="-1" strike="noStrike">
                <a:solidFill>
                  <a:srgbClr val="ef4444"/>
                </a:solidFill>
                <a:latin typeface="Calibri"/>
                <a:ea typeface="DejaVu Sans"/>
              </a:rPr>
              <a:t>Inconsistent — user controls everything!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70" name="Shape 9"/>
          <p:cNvSpPr/>
          <p:nvPr/>
        </p:nvSpPr>
        <p:spPr>
          <a:xfrm>
            <a:off x="411480" y="4133160"/>
            <a:ext cx="3885480" cy="566280"/>
          </a:xfrm>
          <a:prstGeom prst="rect">
            <a:avLst/>
          </a:prstGeom>
          <a:solidFill>
            <a:srgbClr val="fe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1" name="Text 10"/>
          <p:cNvSpPr/>
          <p:nvPr/>
        </p:nvSpPr>
        <p:spPr>
          <a:xfrm>
            <a:off x="502920" y="4133160"/>
            <a:ext cx="37299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ef4444"/>
                </a:solidFill>
                <a:latin typeface="Calibri"/>
                <a:ea typeface="DejaVu Sans"/>
              </a:rPr>
              <a:t>❌ </a:t>
            </a:r>
            <a:r>
              <a:rPr b="0" lang="en-US" sz="1050" spc="-1" strike="noStrike">
                <a:solidFill>
                  <a:srgbClr val="ef4444"/>
                </a:solidFill>
                <a:latin typeface="Calibri"/>
                <a:ea typeface="DejaVu Sans"/>
              </a:rPr>
              <a:t>No validation   ❌ No structure   ❌ No reuse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72" name="Shape 11"/>
          <p:cNvSpPr/>
          <p:nvPr/>
        </p:nvSpPr>
        <p:spPr>
          <a:xfrm>
            <a:off x="4718160" y="932760"/>
            <a:ext cx="4132440" cy="39128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37674" dir="8100000" blurRad="101520" rotWithShape="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73" name="Shape 12"/>
          <p:cNvSpPr/>
          <p:nvPr/>
        </p:nvSpPr>
        <p:spPr>
          <a:xfrm>
            <a:off x="4718160" y="932760"/>
            <a:ext cx="4132440" cy="47484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4" name="Text 13"/>
          <p:cNvSpPr/>
          <p:nvPr/>
        </p:nvSpPr>
        <p:spPr>
          <a:xfrm>
            <a:off x="4827960" y="932760"/>
            <a:ext cx="39495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DejaVu Sans"/>
              </a:rPr>
              <a:t>✓  </a:t>
            </a: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DejaVu Sans"/>
              </a:rPr>
              <a:t>Dynamic Prompt Templates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75" name="Text 14"/>
          <p:cNvSpPr/>
          <p:nvPr/>
        </p:nvSpPr>
        <p:spPr>
          <a:xfrm>
            <a:off x="4846320" y="1508760"/>
            <a:ext cx="3821400" cy="150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spcAft>
                <a:spcPts val="901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DejaVu Sans"/>
              </a:rPr>
              <a:t>Template defines the structure — user fills slots</a:t>
            </a:r>
            <a:endParaRPr b="0" lang="en-IN" sz="1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901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DejaVu Sans"/>
              </a:rPr>
              <a:t>Controlled inputs: dropdowns, text fields</a:t>
            </a:r>
            <a:endParaRPr b="0" lang="en-IN" sz="1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901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DejaVu Sans"/>
              </a:rPr>
              <a:t>Consistent format and quality every single time</a:t>
            </a:r>
            <a:endParaRPr b="0" lang="en-IN" sz="1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901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DejaVu Sans"/>
              </a:rPr>
              <a:t>Easy to test, improve, and reuse across projects</a:t>
            </a:r>
            <a:endParaRPr b="0" lang="en-IN" sz="1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901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DejaVu Sans"/>
              </a:rPr>
              <a:t>LangChain validates placeholders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DejaVu Sans"/>
              </a:rPr>
              <a:t> automatically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76" name="Shape 15"/>
          <p:cNvSpPr/>
          <p:nvPr/>
        </p:nvSpPr>
        <p:spPr>
          <a:xfrm>
            <a:off x="4827960" y="3108960"/>
            <a:ext cx="3885480" cy="52956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7" name="Text 16"/>
          <p:cNvSpPr/>
          <p:nvPr/>
        </p:nvSpPr>
        <p:spPr>
          <a:xfrm>
            <a:off x="4919400" y="3108960"/>
            <a:ext cx="372996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7dd3fc"/>
                </a:solidFill>
                <a:latin typeface="Consolas"/>
                <a:ea typeface="Consolas"/>
              </a:rPr>
              <a:t>"</a:t>
            </a:r>
            <a:r>
              <a:rPr b="0" lang="en-US" sz="1000" spc="-1" strike="noStrike">
                <a:solidFill>
                  <a:srgbClr val="7dd3fc"/>
                </a:solidFill>
                <a:latin typeface="Consolas"/>
                <a:ea typeface="Consolas"/>
              </a:rPr>
              <a:t>Provide {short} report on {subject} “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78" name="Text 17"/>
          <p:cNvSpPr/>
          <p:nvPr/>
        </p:nvSpPr>
        <p:spPr>
          <a:xfrm>
            <a:off x="4864680" y="3730680"/>
            <a:ext cx="38581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10b981"/>
                </a:solidFill>
                <a:latin typeface="Calibri"/>
                <a:ea typeface="DejaVu Sans"/>
              </a:rPr>
              <a:t>✓  </a:t>
            </a:r>
            <a:r>
              <a:rPr b="0" i="1" lang="en-US" sz="1000" spc="-1" strike="noStrike">
                <a:solidFill>
                  <a:srgbClr val="10b981"/>
                </a:solidFill>
                <a:latin typeface="Calibri"/>
                <a:ea typeface="DejaVu Sans"/>
              </a:rPr>
              <a:t>Predictable — template controls structure!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79" name="Shape 18"/>
          <p:cNvSpPr/>
          <p:nvPr/>
        </p:nvSpPr>
        <p:spPr>
          <a:xfrm>
            <a:off x="4827960" y="4133160"/>
            <a:ext cx="3885480" cy="566280"/>
          </a:xfrm>
          <a:prstGeom prst="rect">
            <a:avLst/>
          </a:prstGeom>
          <a:solidFill>
            <a:srgbClr val="f0fd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0" name="Text 19"/>
          <p:cNvSpPr/>
          <p:nvPr/>
        </p:nvSpPr>
        <p:spPr>
          <a:xfrm>
            <a:off x="4919400" y="4133160"/>
            <a:ext cx="37299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10b981"/>
                </a:solidFill>
                <a:latin typeface="Calibri"/>
                <a:ea typeface="DejaVu Sans"/>
              </a:rPr>
              <a:t>✅ </a:t>
            </a:r>
            <a:r>
              <a:rPr b="0" lang="en-US" sz="1050" spc="-1" strike="noStrike">
                <a:solidFill>
                  <a:srgbClr val="10b981"/>
                </a:solidFill>
                <a:latin typeface="Calibri"/>
                <a:ea typeface="DejaVu Sans"/>
              </a:rPr>
              <a:t>Validated   ✅ Structured   ✅ Reusable</a:t>
            </a:r>
            <a:endParaRPr b="0" lang="en-IN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424</TotalTime>
  <Application>LibreOffice/7.3.7.2$Linux_X86_64 LibreOffice_project/30$Build-2</Application>
  <AppVersion>15.0000</AppVersion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2026-03-14T03:13:09Z</dcterms:created>
  <dc:creator>PptxGenJS</dc:creator>
  <dc:description/>
  <dc:language>en-IN</dc:language>
  <cp:lastModifiedBy/>
  <dcterms:modified xsi:type="dcterms:W3CDTF">2026-03-18T19:06:11Z</dcterms:modified>
  <cp:revision>8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10</vt:r8>
  </property>
  <property fmtid="{D5CDD505-2E9C-101B-9397-08002B2CF9AE}" pid="3" name="PresentationFormat">
    <vt:lpwstr>On-screen Show (16:9)</vt:lpwstr>
  </property>
  <property fmtid="{D5CDD505-2E9C-101B-9397-08002B2CF9AE}" pid="4" name="Slides">
    <vt:r8>10</vt:r8>
  </property>
</Properties>
</file>