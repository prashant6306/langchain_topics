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</a:t>
            </a:r>
            <a:r>
              <a:rPr b="0" lang="en-IN" sz="2000" spc="-1" strike="noStrike">
                <a:latin typeface="Arial"/>
              </a:rPr>
              <a:t>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4CCB11E-E926-48C3-A5DA-76BC967A54E1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CA70F0-A3F2-439A-917C-0A3BB65BB82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005D20-050B-4CCC-8226-B8D3989BD55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74F298A-F3F2-4929-AEB2-C2A6AE37AD7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C7B88AD-C487-4602-A189-F93768CCEA6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072600-D47C-4624-93F2-5CAC51EA080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599EE7-1FE6-4C29-A087-59302D63622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C6A81D-577E-4E3A-9021-02A5EEA6162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CB4AE6F-4B71-4E6E-963D-2A1C2418F39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ChatPromptTemplate: Full Example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31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8" name="Shape 4"/>
          <p:cNvSpPr/>
          <p:nvPr/>
        </p:nvSpPr>
        <p:spPr>
          <a:xfrm>
            <a:off x="320040" y="1389960"/>
            <a:ext cx="5259960" cy="617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49" name="Shape 5"/>
          <p:cNvSpPr/>
          <p:nvPr/>
        </p:nvSpPr>
        <p:spPr>
          <a:xfrm>
            <a:off x="320040" y="1389960"/>
            <a:ext cx="5166000" cy="31968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 6"/>
          <p:cNvSpPr/>
          <p:nvPr/>
        </p:nvSpPr>
        <p:spPr>
          <a:xfrm>
            <a:off x="457200" y="138996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</a:rPr>
              <a:t>chat_prompt_template.py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457200" y="1774080"/>
            <a:ext cx="4955760" cy="31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ChatPromptTemplate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SystemMessage, HumanMessage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dotenv import load_dotenv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load_dotenv()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ai_model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Define multi-turn template with {placeholders}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chat_tpl = ChatPromptTemplate([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content="You are a knowledgeable {domain} expert"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content="Explain {concept} in simple terms"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Method 1: Fill and inspect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 = chat_tpl.invoke({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"domain":  "astrophysics",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"concept": "black holes",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print(filled.messages)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Method 2: Build chain (recommended)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pipeline = chat_tpl | ai_model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  = pipeline.invoke({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"domain":  "astrophysics",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"concept": "black holes",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print(result.content)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52" name="Shape 8"/>
          <p:cNvSpPr/>
          <p:nvPr/>
        </p:nvSpPr>
        <p:spPr>
          <a:xfrm>
            <a:off x="5623560" y="1389960"/>
            <a:ext cx="3200040" cy="785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3" name="Shape 9"/>
          <p:cNvSpPr/>
          <p:nvPr/>
        </p:nvSpPr>
        <p:spPr>
          <a:xfrm>
            <a:off x="5669280" y="1572840"/>
            <a:ext cx="411120" cy="411120"/>
          </a:xfrm>
          <a:prstGeom prst="ellipse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0"/>
          <p:cNvSpPr/>
          <p:nvPr/>
        </p:nvSpPr>
        <p:spPr>
          <a:xfrm>
            <a:off x="5669280" y="15728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6172200" y="146304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93b"/>
                </a:solidFill>
                <a:latin typeface="Calibri"/>
              </a:rPr>
              <a:t>Define the Template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56" name="Text 12"/>
          <p:cNvSpPr/>
          <p:nvPr/>
        </p:nvSpPr>
        <p:spPr>
          <a:xfrm>
            <a:off x="6172200" y="17740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Ordered list of message objects — SystemMessage sets context, HumanMessage carries user query. Use {placeholders} anywhere.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7" name="Shape 13"/>
          <p:cNvSpPr/>
          <p:nvPr/>
        </p:nvSpPr>
        <p:spPr>
          <a:xfrm>
            <a:off x="5623560" y="2286000"/>
            <a:ext cx="3200040" cy="785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8" name="Shape 14"/>
          <p:cNvSpPr/>
          <p:nvPr/>
        </p:nvSpPr>
        <p:spPr>
          <a:xfrm>
            <a:off x="5669280" y="2468880"/>
            <a:ext cx="411120" cy="4111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15"/>
          <p:cNvSpPr/>
          <p:nvPr/>
        </p:nvSpPr>
        <p:spPr>
          <a:xfrm>
            <a:off x="5669280" y="246888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0" name="Text 16"/>
          <p:cNvSpPr/>
          <p:nvPr/>
        </p:nvSpPr>
        <p:spPr>
          <a:xfrm>
            <a:off x="6172200" y="235908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93b"/>
                </a:solidFill>
                <a:latin typeface="Calibri"/>
              </a:rPr>
              <a:t>Invoke with Values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1" name="Text 17"/>
          <p:cNvSpPr/>
          <p:nvPr/>
        </p:nvSpPr>
        <p:spPr>
          <a:xfrm>
            <a:off x="6172200" y="26701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Pass a dict with all placeholder names. LangChain validates and fills them, returning a ChatPromptValue.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2" name="Shape 18"/>
          <p:cNvSpPr/>
          <p:nvPr/>
        </p:nvSpPr>
        <p:spPr>
          <a:xfrm>
            <a:off x="5623560" y="3182040"/>
            <a:ext cx="3200040" cy="785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3" name="Shape 19"/>
          <p:cNvSpPr/>
          <p:nvPr/>
        </p:nvSpPr>
        <p:spPr>
          <a:xfrm>
            <a:off x="5669280" y="3364920"/>
            <a:ext cx="411120" cy="41112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20"/>
          <p:cNvSpPr/>
          <p:nvPr/>
        </p:nvSpPr>
        <p:spPr>
          <a:xfrm>
            <a:off x="5669280" y="33649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65" name="Text 21"/>
          <p:cNvSpPr/>
          <p:nvPr/>
        </p:nvSpPr>
        <p:spPr>
          <a:xfrm>
            <a:off x="6172200" y="32551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93b"/>
                </a:solidFill>
                <a:latin typeface="Calibri"/>
              </a:rPr>
              <a:t>Pipe to LLM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6" name="Text 22"/>
          <p:cNvSpPr/>
          <p:nvPr/>
        </p:nvSpPr>
        <p:spPr>
          <a:xfrm>
            <a:off x="6172200" y="35661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Create a chain with |. One invoke() call fills template AND calls the LLM — single-step pipeline.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7" name="Shape 23"/>
          <p:cNvSpPr/>
          <p:nvPr/>
        </p:nvSpPr>
        <p:spPr>
          <a:xfrm>
            <a:off x="5623560" y="4078080"/>
            <a:ext cx="3200040" cy="785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24"/>
          <p:cNvSpPr/>
          <p:nvPr/>
        </p:nvSpPr>
        <p:spPr>
          <a:xfrm>
            <a:off x="5669280" y="4260960"/>
            <a:ext cx="411120" cy="4111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25"/>
          <p:cNvSpPr/>
          <p:nvPr/>
        </p:nvSpPr>
        <p:spPr>
          <a:xfrm>
            <a:off x="5669280" y="426096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0" name="Text 26"/>
          <p:cNvSpPr/>
          <p:nvPr/>
        </p:nvSpPr>
        <p:spPr>
          <a:xfrm>
            <a:off x="6172200" y="4151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93b"/>
                </a:solidFill>
                <a:latin typeface="Calibri"/>
              </a:rPr>
              <a:t>Get AIMessage Back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1" name="Text 27"/>
          <p:cNvSpPr/>
          <p:nvPr/>
        </p:nvSpPr>
        <p:spPr>
          <a:xfrm>
            <a:off x="6172200" y="446220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</a:rPr>
              <a:t>Returns an AIMessage object. Access .content for the text string.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MessagesPlaceholder: Managing Chat History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74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32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6" name="Shape 4"/>
          <p:cNvSpPr/>
          <p:nvPr/>
        </p:nvSpPr>
        <p:spPr>
          <a:xfrm>
            <a:off x="320040" y="1389960"/>
            <a:ext cx="8503560" cy="59400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5"/>
          <p:cNvSpPr/>
          <p:nvPr/>
        </p:nvSpPr>
        <p:spPr>
          <a:xfrm>
            <a:off x="457200" y="1389960"/>
            <a:ext cx="8320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fffff"/>
                </a:solidFill>
                <a:latin typeface="Calibri"/>
              </a:rPr>
              <a:t>MessagesPlaceholder  — dynamically inserts a list of saved messages into a ChatPromptTemplate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320040" y="2084760"/>
            <a:ext cx="8503560" cy="1298160"/>
          </a:xfrm>
          <a:prstGeom prst="rect">
            <a:avLst/>
          </a:prstGeom>
          <a:solidFill>
            <a:srgbClr val="ecfd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9" name="Shape 7"/>
          <p:cNvSpPr/>
          <p:nvPr/>
        </p:nvSpPr>
        <p:spPr>
          <a:xfrm>
            <a:off x="320040" y="2084760"/>
            <a:ext cx="63720" cy="129816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8"/>
          <p:cNvSpPr/>
          <p:nvPr/>
        </p:nvSpPr>
        <p:spPr>
          <a:xfrm>
            <a:off x="475560" y="212148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065f46"/>
                </a:solidFill>
                <a:latin typeface="Calibri"/>
              </a:rPr>
              <a:t>📦  </a:t>
            </a:r>
            <a:r>
              <a:rPr b="1" lang="en-US" sz="1250" spc="-1" strike="noStrike">
                <a:solidFill>
                  <a:srgbClr val="065f46"/>
                </a:solidFill>
                <a:latin typeface="Calibri"/>
              </a:rPr>
              <a:t>Real-World Scenario: Customer Support Bot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475560" y="2450520"/>
            <a:ext cx="827496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Day 1:  Customer asks — "I need a refund for order #56789" → Bot confirms it will arrive in 3–5 business days.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Day 3:  Customer returns — "Where is my refund?"   →   The chatbot must load the Day 1 conversation to know which refund is being asked about.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320040" y="3493080"/>
            <a:ext cx="4251600" cy="1481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Shape 11"/>
          <p:cNvSpPr/>
          <p:nvPr/>
        </p:nvSpPr>
        <p:spPr>
          <a:xfrm>
            <a:off x="320040" y="3493080"/>
            <a:ext cx="4251600" cy="402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Text 12"/>
          <p:cNvSpPr/>
          <p:nvPr/>
        </p:nvSpPr>
        <p:spPr>
          <a:xfrm>
            <a:off x="429840" y="3493080"/>
            <a:ext cx="4068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🤔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Problem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5" name="Text 13"/>
          <p:cNvSpPr/>
          <p:nvPr/>
        </p:nvSpPr>
        <p:spPr>
          <a:xfrm>
            <a:off x="429840" y="3968640"/>
            <a:ext cx="4068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Without MessagesPlaceholder, a new session has no knowledge of the Day 1 exchange. The bot cannot answer 'Where is my refund?' because it has no context about any previous refund request.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>
            <a:off x="4782240" y="3493080"/>
            <a:ext cx="4251600" cy="148104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7" name="Shape 15"/>
          <p:cNvSpPr/>
          <p:nvPr/>
        </p:nvSpPr>
        <p:spPr>
          <a:xfrm>
            <a:off x="4782240" y="3493080"/>
            <a:ext cx="4251600" cy="40212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Text 16"/>
          <p:cNvSpPr/>
          <p:nvPr/>
        </p:nvSpPr>
        <p:spPr>
          <a:xfrm>
            <a:off x="4892040" y="3493080"/>
            <a:ext cx="4068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Solution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9" name="Text 17"/>
          <p:cNvSpPr/>
          <p:nvPr/>
        </p:nvSpPr>
        <p:spPr>
          <a:xfrm>
            <a:off x="4892040" y="3968640"/>
            <a:ext cx="406872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Load the Day 1 messages from a database or session store, then inject them into the template using MessagesPlaceholder. The LLM receives full context and can give a coherent, accurate reply.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Complete LangChain Prompt Workflow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92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34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94" name="Shape 4"/>
          <p:cNvSpPr/>
          <p:nvPr/>
        </p:nvSpPr>
        <p:spPr>
          <a:xfrm>
            <a:off x="320040" y="1389960"/>
            <a:ext cx="8503560" cy="3470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5"/>
          <p:cNvSpPr/>
          <p:nvPr/>
        </p:nvSpPr>
        <p:spPr>
          <a:xfrm>
            <a:off x="457200" y="138996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PATH A — Single-turn Prompt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96" name="Shape 6"/>
          <p:cNvSpPr/>
          <p:nvPr/>
        </p:nvSpPr>
        <p:spPr>
          <a:xfrm>
            <a:off x="457200" y="1828800"/>
            <a:ext cx="1992960" cy="712800"/>
          </a:xfrm>
          <a:prstGeom prst="rect">
            <a:avLst/>
          </a:prstGeom>
          <a:solidFill>
            <a:srgbClr val="1d4ed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Text 7"/>
          <p:cNvSpPr/>
          <p:nvPr/>
        </p:nvSpPr>
        <p:spPr>
          <a:xfrm>
            <a:off x="457200" y="1828800"/>
            <a:ext cx="199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Static String / User Input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8" name="Text 8"/>
          <p:cNvSpPr/>
          <p:nvPr/>
        </p:nvSpPr>
        <p:spPr>
          <a:xfrm>
            <a:off x="2450520" y="1965960"/>
            <a:ext cx="15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4748b"/>
                </a:solidFill>
                <a:latin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99" name="Shape 9"/>
          <p:cNvSpPr/>
          <p:nvPr/>
        </p:nvSpPr>
        <p:spPr>
          <a:xfrm>
            <a:off x="2606040" y="1828800"/>
            <a:ext cx="1992960" cy="71280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0" name="Text 10"/>
          <p:cNvSpPr/>
          <p:nvPr/>
        </p:nvSpPr>
        <p:spPr>
          <a:xfrm>
            <a:off x="2606040" y="1828800"/>
            <a:ext cx="199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PromptTemplate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(Dynamic)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1" name="Text 11"/>
          <p:cNvSpPr/>
          <p:nvPr/>
        </p:nvSpPr>
        <p:spPr>
          <a:xfrm>
            <a:off x="4599360" y="1965960"/>
            <a:ext cx="15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4748b"/>
                </a:solidFill>
                <a:latin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2" name="Shape 12"/>
          <p:cNvSpPr/>
          <p:nvPr/>
        </p:nvSpPr>
        <p:spPr>
          <a:xfrm>
            <a:off x="4754880" y="1828800"/>
            <a:ext cx="1992960" cy="712800"/>
          </a:xfrm>
          <a:prstGeom prst="rect">
            <a:avLst/>
          </a:prstGeom>
          <a:solidFill>
            <a:srgbClr val="7c3ae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3" name="Text 13"/>
          <p:cNvSpPr/>
          <p:nvPr/>
        </p:nvSpPr>
        <p:spPr>
          <a:xfrm>
            <a:off x="4754880" y="1828800"/>
            <a:ext cx="199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LLM invoke()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4" name="Text 14"/>
          <p:cNvSpPr/>
          <p:nvPr/>
        </p:nvSpPr>
        <p:spPr>
          <a:xfrm>
            <a:off x="6748200" y="1965960"/>
            <a:ext cx="155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64748b"/>
                </a:solidFill>
                <a:latin typeface="Calibri"/>
              </a:rPr>
              <a:t>→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05" name="Shape 15"/>
          <p:cNvSpPr/>
          <p:nvPr/>
        </p:nvSpPr>
        <p:spPr>
          <a:xfrm>
            <a:off x="6903720" y="1828800"/>
            <a:ext cx="1992960" cy="712800"/>
          </a:xfrm>
          <a:prstGeom prst="rect">
            <a:avLst/>
          </a:prstGeom>
          <a:solidFill>
            <a:srgbClr val="05966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Text 16"/>
          <p:cNvSpPr/>
          <p:nvPr/>
        </p:nvSpPr>
        <p:spPr>
          <a:xfrm>
            <a:off x="6903720" y="1828800"/>
            <a:ext cx="19929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Response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07" name="Shape 17"/>
          <p:cNvSpPr/>
          <p:nvPr/>
        </p:nvSpPr>
        <p:spPr>
          <a:xfrm>
            <a:off x="320040" y="2743200"/>
            <a:ext cx="8503560" cy="3470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 18"/>
          <p:cNvSpPr/>
          <p:nvPr/>
        </p:nvSpPr>
        <p:spPr>
          <a:xfrm>
            <a:off x="457200" y="274320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PATH B — Multi-turn Chat with History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9" name="Shape 19"/>
          <p:cNvSpPr/>
          <p:nvPr/>
        </p:nvSpPr>
        <p:spPr>
          <a:xfrm>
            <a:off x="347400" y="3182040"/>
            <a:ext cx="1627200" cy="822600"/>
          </a:xfrm>
          <a:prstGeom prst="rect">
            <a:avLst/>
          </a:prstGeom>
          <a:solidFill>
            <a:srgbClr val="1d4ed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0" name="Text 20"/>
          <p:cNvSpPr/>
          <p:nvPr/>
        </p:nvSpPr>
        <p:spPr>
          <a:xfrm>
            <a:off x="347400" y="3182040"/>
            <a:ext cx="1627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User Input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+ System Role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1" name="Text 21"/>
          <p:cNvSpPr/>
          <p:nvPr/>
        </p:nvSpPr>
        <p:spPr>
          <a:xfrm>
            <a:off x="1974960" y="3310200"/>
            <a:ext cx="109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4748b"/>
                </a:solidFill>
                <a:latin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2" name="Shape 22"/>
          <p:cNvSpPr/>
          <p:nvPr/>
        </p:nvSpPr>
        <p:spPr>
          <a:xfrm>
            <a:off x="2084760" y="3182040"/>
            <a:ext cx="1627200" cy="82260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3" name="Text 23"/>
          <p:cNvSpPr/>
          <p:nvPr/>
        </p:nvSpPr>
        <p:spPr>
          <a:xfrm>
            <a:off x="2084760" y="3182040"/>
            <a:ext cx="1627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ChatPromptTemplate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+ Placeholders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4" name="Text 24"/>
          <p:cNvSpPr/>
          <p:nvPr/>
        </p:nvSpPr>
        <p:spPr>
          <a:xfrm>
            <a:off x="3712320" y="3310200"/>
            <a:ext cx="109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4748b"/>
                </a:solidFill>
                <a:latin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5" name="Shape 25"/>
          <p:cNvSpPr/>
          <p:nvPr/>
        </p:nvSpPr>
        <p:spPr>
          <a:xfrm>
            <a:off x="3822120" y="3182040"/>
            <a:ext cx="1627200" cy="822600"/>
          </a:xfrm>
          <a:prstGeom prst="rect">
            <a:avLst/>
          </a:prstGeom>
          <a:solidFill>
            <a:srgbClr val="7c3ae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6" name="Text 26"/>
          <p:cNvSpPr/>
          <p:nvPr/>
        </p:nvSpPr>
        <p:spPr>
          <a:xfrm>
            <a:off x="3822120" y="3182040"/>
            <a:ext cx="1627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MessagesPlaceholder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(Prior History)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7" name="Text 27"/>
          <p:cNvSpPr/>
          <p:nvPr/>
        </p:nvSpPr>
        <p:spPr>
          <a:xfrm>
            <a:off x="5449680" y="3310200"/>
            <a:ext cx="109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4748b"/>
                </a:solidFill>
                <a:latin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Shape 28"/>
          <p:cNvSpPr/>
          <p:nvPr/>
        </p:nvSpPr>
        <p:spPr>
          <a:xfrm>
            <a:off x="5559480" y="3182040"/>
            <a:ext cx="1627200" cy="82260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Text 29"/>
          <p:cNvSpPr/>
          <p:nvPr/>
        </p:nvSpPr>
        <p:spPr>
          <a:xfrm>
            <a:off x="5559480" y="3182040"/>
            <a:ext cx="1627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LLM invoke()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20" name="Text 30"/>
          <p:cNvSpPr/>
          <p:nvPr/>
        </p:nvSpPr>
        <p:spPr>
          <a:xfrm>
            <a:off x="7187040" y="3310200"/>
            <a:ext cx="109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64748b"/>
                </a:solidFill>
                <a:latin typeface="Calibri"/>
              </a:rPr>
              <a:t>→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21" name="Shape 31"/>
          <p:cNvSpPr/>
          <p:nvPr/>
        </p:nvSpPr>
        <p:spPr>
          <a:xfrm>
            <a:off x="7296840" y="3182040"/>
            <a:ext cx="1627200" cy="822600"/>
          </a:xfrm>
          <a:prstGeom prst="rect">
            <a:avLst/>
          </a:prstGeom>
          <a:solidFill>
            <a:srgbClr val="05966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Text 32"/>
          <p:cNvSpPr/>
          <p:nvPr/>
        </p:nvSpPr>
        <p:spPr>
          <a:xfrm>
            <a:off x="7296840" y="3182040"/>
            <a:ext cx="1627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AIMessage</a:t>
            </a:r>
            <a:endParaRPr b="0" lang="en-IN" sz="9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Response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23" name="Shape 33"/>
          <p:cNvSpPr/>
          <p:nvPr/>
        </p:nvSpPr>
        <p:spPr>
          <a:xfrm>
            <a:off x="320040" y="4160520"/>
            <a:ext cx="8503560" cy="3470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34"/>
          <p:cNvSpPr/>
          <p:nvPr/>
        </p:nvSpPr>
        <p:spPr>
          <a:xfrm>
            <a:off x="457200" y="416052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When to Use Which Template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5" name="Shape 35"/>
          <p:cNvSpPr/>
          <p:nvPr/>
        </p:nvSpPr>
        <p:spPr>
          <a:xfrm>
            <a:off x="320040" y="4590360"/>
            <a:ext cx="8503560" cy="14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Shape 36"/>
          <p:cNvSpPr/>
          <p:nvPr/>
        </p:nvSpPr>
        <p:spPr>
          <a:xfrm>
            <a:off x="320040" y="4754880"/>
            <a:ext cx="8503560" cy="14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37"/>
          <p:cNvSpPr/>
          <p:nvPr/>
        </p:nvSpPr>
        <p:spPr>
          <a:xfrm>
            <a:off x="320040" y="4919400"/>
            <a:ext cx="8503560" cy="145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Shape 38"/>
          <p:cNvSpPr/>
          <p:nvPr/>
        </p:nvSpPr>
        <p:spPr>
          <a:xfrm>
            <a:off x="320040" y="4590360"/>
            <a:ext cx="1874160" cy="1458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9" name="Text 39"/>
          <p:cNvSpPr/>
          <p:nvPr/>
        </p:nvSpPr>
        <p:spPr>
          <a:xfrm>
            <a:off x="384120" y="4590360"/>
            <a:ext cx="1782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PromptTemplate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0" name="Text 40"/>
          <p:cNvSpPr/>
          <p:nvPr/>
        </p:nvSpPr>
        <p:spPr>
          <a:xfrm>
            <a:off x="2267640" y="4590360"/>
            <a:ext cx="6473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alibri"/>
              </a:rPr>
              <a:t>Single-turn: summarisation, translation, classification, one-shot Q&amp;A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31" name="Shape 41"/>
          <p:cNvSpPr/>
          <p:nvPr/>
        </p:nvSpPr>
        <p:spPr>
          <a:xfrm>
            <a:off x="320040" y="4754880"/>
            <a:ext cx="1874160" cy="14580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42"/>
          <p:cNvSpPr/>
          <p:nvPr/>
        </p:nvSpPr>
        <p:spPr>
          <a:xfrm>
            <a:off x="384120" y="4754880"/>
            <a:ext cx="1782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ChatPromptTemplate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3" name="Text 43"/>
          <p:cNvSpPr/>
          <p:nvPr/>
        </p:nvSpPr>
        <p:spPr>
          <a:xfrm>
            <a:off x="2267640" y="4754880"/>
            <a:ext cx="6473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alibri"/>
              </a:rPr>
              <a:t>Multi-turn: chatbots, assistants, domain-expert conversations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134" name="Shape 44"/>
          <p:cNvSpPr/>
          <p:nvPr/>
        </p:nvSpPr>
        <p:spPr>
          <a:xfrm>
            <a:off x="320040" y="4919400"/>
            <a:ext cx="1874160" cy="1458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 45"/>
          <p:cNvSpPr/>
          <p:nvPr/>
        </p:nvSpPr>
        <p:spPr>
          <a:xfrm>
            <a:off x="384120" y="4919400"/>
            <a:ext cx="17827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00" spc="-1" strike="noStrike">
                <a:solidFill>
                  <a:srgbClr val="ffffff"/>
                </a:solidFill>
                <a:latin typeface="Calibri"/>
              </a:rPr>
              <a:t>MessagesPlaceholder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6" name="Text 46"/>
          <p:cNvSpPr/>
          <p:nvPr/>
        </p:nvSpPr>
        <p:spPr>
          <a:xfrm>
            <a:off x="2267640" y="4919400"/>
            <a:ext cx="6473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0" bIns="90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850" spc="-1" strike="noStrike">
                <a:solidFill>
                  <a:srgbClr val="1e293b"/>
                </a:solidFill>
                <a:latin typeface="Calibri"/>
              </a:rPr>
              <a:t>Session continuity: customer support, persistent assistants, multi-day workflows</a:t>
            </a:r>
            <a:endParaRPr b="0" lang="en-IN" sz="8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Key Takeaways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35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320040" y="1389960"/>
            <a:ext cx="427896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5"/>
          <p:cNvSpPr/>
          <p:nvPr/>
        </p:nvSpPr>
        <p:spPr>
          <a:xfrm>
            <a:off x="429840" y="1664280"/>
            <a:ext cx="456840" cy="4568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6"/>
          <p:cNvSpPr/>
          <p:nvPr/>
        </p:nvSpPr>
        <p:spPr>
          <a:xfrm>
            <a:off x="429840" y="1664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978480" y="1554480"/>
            <a:ext cx="352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Temperature controls randomness: 0 = deterministic output, 1.5–2.0 = creative and varied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4782240" y="1389960"/>
            <a:ext cx="427896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6" name="Shape 9"/>
          <p:cNvSpPr/>
          <p:nvPr/>
        </p:nvSpPr>
        <p:spPr>
          <a:xfrm>
            <a:off x="4892040" y="1664280"/>
            <a:ext cx="456840" cy="456840"/>
          </a:xfrm>
          <a:prstGeom prst="ellipse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0"/>
          <p:cNvSpPr/>
          <p:nvPr/>
        </p:nvSpPr>
        <p:spPr>
          <a:xfrm>
            <a:off x="4892040" y="1664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5440680" y="1554480"/>
            <a:ext cx="352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Use PromptTemplate for single messages, ChatPromptTemplate for multi-turn conversations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320040" y="2532960"/>
            <a:ext cx="427896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0" name="Shape 13"/>
          <p:cNvSpPr/>
          <p:nvPr/>
        </p:nvSpPr>
        <p:spPr>
          <a:xfrm>
            <a:off x="429840" y="2807280"/>
            <a:ext cx="456840" cy="456840"/>
          </a:xfrm>
          <a:prstGeom prst="ellipse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14"/>
          <p:cNvSpPr/>
          <p:nvPr/>
        </p:nvSpPr>
        <p:spPr>
          <a:xfrm>
            <a:off x="42984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978480" y="2697480"/>
            <a:ext cx="352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Message types (SystemMessage, HumanMessage, AIMessage) label who said what in chat history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3" name="Shape 16"/>
          <p:cNvSpPr/>
          <p:nvPr/>
        </p:nvSpPr>
        <p:spPr>
          <a:xfrm>
            <a:off x="4782240" y="2532960"/>
            <a:ext cx="427896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Shape 17"/>
          <p:cNvSpPr/>
          <p:nvPr/>
        </p:nvSpPr>
        <p:spPr>
          <a:xfrm>
            <a:off x="4892040" y="2807280"/>
            <a:ext cx="456840" cy="456840"/>
          </a:xfrm>
          <a:prstGeom prst="ellipse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18"/>
          <p:cNvSpPr/>
          <p:nvPr/>
        </p:nvSpPr>
        <p:spPr>
          <a:xfrm>
            <a:off x="4892040" y="2807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6" name="Text 19"/>
          <p:cNvSpPr/>
          <p:nvPr/>
        </p:nvSpPr>
        <p:spPr>
          <a:xfrm>
            <a:off x="5440680" y="2697480"/>
            <a:ext cx="352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MessagesPlaceholder dynamically injects saved history — enabling true session continuity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7" name="Shape 20"/>
          <p:cNvSpPr/>
          <p:nvPr/>
        </p:nvSpPr>
        <p:spPr>
          <a:xfrm>
            <a:off x="320040" y="3675960"/>
            <a:ext cx="427896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8" name="Shape 21"/>
          <p:cNvSpPr/>
          <p:nvPr/>
        </p:nvSpPr>
        <p:spPr>
          <a:xfrm>
            <a:off x="429840" y="3950280"/>
            <a:ext cx="456840" cy="45684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2"/>
          <p:cNvSpPr/>
          <p:nvPr/>
        </p:nvSpPr>
        <p:spPr>
          <a:xfrm>
            <a:off x="429840" y="3950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978480" y="3840480"/>
            <a:ext cx="352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Chains (|) elegantly combine template + model into a single pipeline with one invoke() call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1" name="Shape 24"/>
          <p:cNvSpPr/>
          <p:nvPr/>
        </p:nvSpPr>
        <p:spPr>
          <a:xfrm>
            <a:off x="4782240" y="3675960"/>
            <a:ext cx="4278960" cy="10054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2" name="Shape 25"/>
          <p:cNvSpPr/>
          <p:nvPr/>
        </p:nvSpPr>
        <p:spPr>
          <a:xfrm>
            <a:off x="4892040" y="3950280"/>
            <a:ext cx="456840" cy="45684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26"/>
          <p:cNvSpPr/>
          <p:nvPr/>
        </p:nvSpPr>
        <p:spPr>
          <a:xfrm>
            <a:off x="4892040" y="39502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64" name="Text 27"/>
          <p:cNvSpPr/>
          <p:nvPr/>
        </p:nvSpPr>
        <p:spPr>
          <a:xfrm>
            <a:off x="5440680" y="3840480"/>
            <a:ext cx="3529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PromptTemplates provide built-in validation, JSON reusability, and seamless LangChain integration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Best Practices &amp; Common Pitfalls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36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292680" y="1389960"/>
            <a:ext cx="4132800" cy="358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0" name="Shape 5"/>
          <p:cNvSpPr/>
          <p:nvPr/>
        </p:nvSpPr>
        <p:spPr>
          <a:xfrm>
            <a:off x="292680" y="1389960"/>
            <a:ext cx="4132800" cy="43848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6"/>
          <p:cNvSpPr/>
          <p:nvPr/>
        </p:nvSpPr>
        <p:spPr>
          <a:xfrm>
            <a:off x="411480" y="1389960"/>
            <a:ext cx="3949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✅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Do This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2" name="Shape 7"/>
          <p:cNvSpPr/>
          <p:nvPr/>
        </p:nvSpPr>
        <p:spPr>
          <a:xfrm>
            <a:off x="438840" y="201168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8"/>
          <p:cNvSpPr/>
          <p:nvPr/>
        </p:nvSpPr>
        <p:spPr>
          <a:xfrm>
            <a:off x="438840" y="20116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822960" y="199332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Always use dynamic PromptTemplate in production — never hard-code prompts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75" name="Shape 10"/>
          <p:cNvSpPr/>
          <p:nvPr/>
        </p:nvSpPr>
        <p:spPr>
          <a:xfrm>
            <a:off x="438840" y="261504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11"/>
          <p:cNvSpPr/>
          <p:nvPr/>
        </p:nvSpPr>
        <p:spPr>
          <a:xfrm>
            <a:off x="438840" y="2615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7" name="Text 12"/>
          <p:cNvSpPr/>
          <p:nvPr/>
        </p:nvSpPr>
        <p:spPr>
          <a:xfrm>
            <a:off x="822960" y="259704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Label every message with SystemMessage, HumanMessage, or AIMessage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78" name="Shape 13"/>
          <p:cNvSpPr/>
          <p:nvPr/>
        </p:nvSpPr>
        <p:spPr>
          <a:xfrm>
            <a:off x="438840" y="321876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4"/>
          <p:cNvSpPr/>
          <p:nvPr/>
        </p:nvSpPr>
        <p:spPr>
          <a:xfrm>
            <a:off x="438840" y="3218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0" name="Text 15"/>
          <p:cNvSpPr/>
          <p:nvPr/>
        </p:nvSpPr>
        <p:spPr>
          <a:xfrm>
            <a:off x="822960" y="320040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Save templates as JSON files for reuse across projects and team members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81" name="Shape 16"/>
          <p:cNvSpPr/>
          <p:nvPr/>
        </p:nvSpPr>
        <p:spPr>
          <a:xfrm>
            <a:off x="438840" y="382212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 17"/>
          <p:cNvSpPr/>
          <p:nvPr/>
        </p:nvSpPr>
        <p:spPr>
          <a:xfrm>
            <a:off x="438840" y="38221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3" name="Text 18"/>
          <p:cNvSpPr/>
          <p:nvPr/>
        </p:nvSpPr>
        <p:spPr>
          <a:xfrm>
            <a:off x="822960" y="380376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Use the | pipe operator to build clean, readable LangChain pipelines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84" name="Shape 19"/>
          <p:cNvSpPr/>
          <p:nvPr/>
        </p:nvSpPr>
        <p:spPr>
          <a:xfrm>
            <a:off x="438840" y="4425840"/>
            <a:ext cx="292320" cy="292320"/>
          </a:xfrm>
          <a:prstGeom prst="ellipse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20"/>
          <p:cNvSpPr/>
          <p:nvPr/>
        </p:nvSpPr>
        <p:spPr>
          <a:xfrm>
            <a:off x="438840" y="44258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6" name="Text 21"/>
          <p:cNvSpPr/>
          <p:nvPr/>
        </p:nvSpPr>
        <p:spPr>
          <a:xfrm>
            <a:off x="822960" y="440748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Use MessagesPlaceholder to restore session context across multiple days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87" name="Shape 22"/>
          <p:cNvSpPr/>
          <p:nvPr/>
        </p:nvSpPr>
        <p:spPr>
          <a:xfrm>
            <a:off x="4718160" y="1389960"/>
            <a:ext cx="4132800" cy="3584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8" name="Shape 23"/>
          <p:cNvSpPr/>
          <p:nvPr/>
        </p:nvSpPr>
        <p:spPr>
          <a:xfrm>
            <a:off x="4718160" y="1389960"/>
            <a:ext cx="4132800" cy="43848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24"/>
          <p:cNvSpPr/>
          <p:nvPr/>
        </p:nvSpPr>
        <p:spPr>
          <a:xfrm>
            <a:off x="4827960" y="1389960"/>
            <a:ext cx="3949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❌  </a:t>
            </a: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Avoid This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0" name="Shape 25"/>
          <p:cNvSpPr/>
          <p:nvPr/>
        </p:nvSpPr>
        <p:spPr>
          <a:xfrm>
            <a:off x="4827960" y="2011680"/>
            <a:ext cx="292320" cy="29232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Text 26"/>
          <p:cNvSpPr/>
          <p:nvPr/>
        </p:nvSpPr>
        <p:spPr>
          <a:xfrm>
            <a:off x="4827960" y="20116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2" name="Text 27"/>
          <p:cNvSpPr/>
          <p:nvPr/>
        </p:nvSpPr>
        <p:spPr>
          <a:xfrm>
            <a:off x="5212080" y="199332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Don't give users free text control over prompts — output becomes inconsistent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93" name="Shape 28"/>
          <p:cNvSpPr/>
          <p:nvPr/>
        </p:nvSpPr>
        <p:spPr>
          <a:xfrm>
            <a:off x="4827960" y="2615040"/>
            <a:ext cx="292320" cy="29232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29"/>
          <p:cNvSpPr/>
          <p:nvPr/>
        </p:nvSpPr>
        <p:spPr>
          <a:xfrm>
            <a:off x="4827960" y="2615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5" name="Text 30"/>
          <p:cNvSpPr/>
          <p:nvPr/>
        </p:nvSpPr>
        <p:spPr>
          <a:xfrm>
            <a:off x="5212080" y="259704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Don't forget to maintain and pass the full chat history with every invoke()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96" name="Shape 31"/>
          <p:cNvSpPr/>
          <p:nvPr/>
        </p:nvSpPr>
        <p:spPr>
          <a:xfrm>
            <a:off x="4827960" y="3218760"/>
            <a:ext cx="292320" cy="29232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7" name="Text 32"/>
          <p:cNvSpPr/>
          <p:nvPr/>
        </p:nvSpPr>
        <p:spPr>
          <a:xfrm>
            <a:off x="4827960" y="32187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8" name="Text 33"/>
          <p:cNvSpPr/>
          <p:nvPr/>
        </p:nvSpPr>
        <p:spPr>
          <a:xfrm>
            <a:off x="5212080" y="320040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Don't embed prompts inside application logic — separate concerns properly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199" name="Shape 34"/>
          <p:cNvSpPr/>
          <p:nvPr/>
        </p:nvSpPr>
        <p:spPr>
          <a:xfrm>
            <a:off x="4827960" y="3822120"/>
            <a:ext cx="292320" cy="29232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35"/>
          <p:cNvSpPr/>
          <p:nvPr/>
        </p:nvSpPr>
        <p:spPr>
          <a:xfrm>
            <a:off x="4827960" y="38221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1" name="Text 36"/>
          <p:cNvSpPr/>
          <p:nvPr/>
        </p:nvSpPr>
        <p:spPr>
          <a:xfrm>
            <a:off x="5212080" y="380376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Don't skip PromptTemplate validation — it catches bugs early at dev time</a:t>
            </a:r>
            <a:endParaRPr b="0" lang="en-IN" sz="1080" spc="-1" strike="noStrike">
              <a:latin typeface="Arial"/>
            </a:endParaRPr>
          </a:p>
        </p:txBody>
      </p:sp>
      <p:sp>
        <p:nvSpPr>
          <p:cNvPr id="202" name="Shape 37"/>
          <p:cNvSpPr/>
          <p:nvPr/>
        </p:nvSpPr>
        <p:spPr>
          <a:xfrm>
            <a:off x="4827960" y="4425840"/>
            <a:ext cx="292320" cy="292320"/>
          </a:xfrm>
          <a:prstGeom prst="ellipse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Text 38"/>
          <p:cNvSpPr/>
          <p:nvPr/>
        </p:nvSpPr>
        <p:spPr>
          <a:xfrm>
            <a:off x="4827960" y="44258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Calibri"/>
              </a:rPr>
              <a:t>✗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4" name="Text 39"/>
          <p:cNvSpPr/>
          <p:nvPr/>
        </p:nvSpPr>
        <p:spPr>
          <a:xfrm>
            <a:off x="5212080" y="4407480"/>
            <a:ext cx="34927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80" spc="-1" strike="noStrike">
                <a:solidFill>
                  <a:srgbClr val="1e293b"/>
                </a:solidFill>
                <a:latin typeface="Calibri"/>
              </a:rPr>
              <a:t>Don't mix unlabelled plain strings with typed message objects in history</a:t>
            </a:r>
            <a:endParaRPr b="0" lang="en-IN" sz="108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1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Resources &amp; Next Steps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Text 3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37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320040" y="1389960"/>
            <a:ext cx="4278960" cy="1078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0" name="Shape 5"/>
          <p:cNvSpPr/>
          <p:nvPr/>
        </p:nvSpPr>
        <p:spPr>
          <a:xfrm>
            <a:off x="320040" y="1389960"/>
            <a:ext cx="63720" cy="107856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6"/>
          <p:cNvSpPr/>
          <p:nvPr/>
        </p:nvSpPr>
        <p:spPr>
          <a:xfrm>
            <a:off x="484560" y="1481400"/>
            <a:ext cx="4041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📚 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LangChain Docs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484560" y="1865520"/>
            <a:ext cx="4041360" cy="255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8"/>
          <p:cNvSpPr/>
          <p:nvPr/>
        </p:nvSpPr>
        <p:spPr>
          <a:xfrm>
            <a:off x="539640" y="18655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docs.langchain.com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484560" y="217620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</a:rPr>
              <a:t>Official documentation — reference for all classes and APIs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4782240" y="1389960"/>
            <a:ext cx="4278960" cy="1078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6" name="Shape 11"/>
          <p:cNvSpPr/>
          <p:nvPr/>
        </p:nvSpPr>
        <p:spPr>
          <a:xfrm>
            <a:off x="4782240" y="1389960"/>
            <a:ext cx="63720" cy="107856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7" name="Text 12"/>
          <p:cNvSpPr/>
          <p:nvPr/>
        </p:nvSpPr>
        <p:spPr>
          <a:xfrm>
            <a:off x="4946760" y="1481400"/>
            <a:ext cx="4041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🤖 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OpenAI API Docs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8" name="Shape 13"/>
          <p:cNvSpPr/>
          <p:nvPr/>
        </p:nvSpPr>
        <p:spPr>
          <a:xfrm>
            <a:off x="4946760" y="1865520"/>
            <a:ext cx="4041360" cy="255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9" name="Text 14"/>
          <p:cNvSpPr/>
          <p:nvPr/>
        </p:nvSpPr>
        <p:spPr>
          <a:xfrm>
            <a:off x="5001840" y="186552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platform.openai.com/docs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4946760" y="217620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</a:rPr>
              <a:t>Model parameters, token pricing, and API reference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320040" y="2597040"/>
            <a:ext cx="4278960" cy="1078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2" name="Shape 17"/>
          <p:cNvSpPr/>
          <p:nvPr/>
        </p:nvSpPr>
        <p:spPr>
          <a:xfrm>
            <a:off x="320040" y="2597040"/>
            <a:ext cx="63720" cy="107856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18"/>
          <p:cNvSpPr/>
          <p:nvPr/>
        </p:nvSpPr>
        <p:spPr>
          <a:xfrm>
            <a:off x="484560" y="2688480"/>
            <a:ext cx="4041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🎈 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Streamlit Documentation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484560" y="3072240"/>
            <a:ext cx="4041360" cy="255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20"/>
          <p:cNvSpPr/>
          <p:nvPr/>
        </p:nvSpPr>
        <p:spPr>
          <a:xfrm>
            <a:off x="539640" y="307224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docs.streamlit.io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484560" y="338328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</a:rPr>
              <a:t>Build interactive ML web apps quickly with Python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4782240" y="2597040"/>
            <a:ext cx="4278960" cy="1078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8" name="Shape 23"/>
          <p:cNvSpPr/>
          <p:nvPr/>
        </p:nvSpPr>
        <p:spPr>
          <a:xfrm>
            <a:off x="4782240" y="2597040"/>
            <a:ext cx="63720" cy="107856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9" name="Text 24"/>
          <p:cNvSpPr/>
          <p:nvPr/>
        </p:nvSpPr>
        <p:spPr>
          <a:xfrm>
            <a:off x="4946760" y="2688480"/>
            <a:ext cx="4041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🐍  </a:t>
            </a:r>
            <a:r>
              <a:rPr b="1" lang="en-US" sz="1300" spc="-1" strike="noStrike">
                <a:solidFill>
                  <a:srgbClr val="1e293b"/>
                </a:solidFill>
                <a:latin typeface="Calibri"/>
              </a:rPr>
              <a:t>python-dotenv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0" name="Shape 25"/>
          <p:cNvSpPr/>
          <p:nvPr/>
        </p:nvSpPr>
        <p:spPr>
          <a:xfrm>
            <a:off x="4946760" y="3072240"/>
            <a:ext cx="4041360" cy="25560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26"/>
          <p:cNvSpPr/>
          <p:nvPr/>
        </p:nvSpPr>
        <p:spPr>
          <a:xfrm>
            <a:off x="5001840" y="3072240"/>
            <a:ext cx="391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7dd3fc"/>
                </a:solidFill>
                <a:latin typeface="Consolas"/>
                <a:ea typeface="Consolas"/>
              </a:rPr>
              <a:t>pypi.org/project/python-dotenv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4946760" y="3383280"/>
            <a:ext cx="40413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</a:rPr>
              <a:t>Load .env files for secure API key management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233" name="Shape 28"/>
          <p:cNvSpPr/>
          <p:nvPr/>
        </p:nvSpPr>
        <p:spPr>
          <a:xfrm>
            <a:off x="320040" y="3840480"/>
            <a:ext cx="8503560" cy="347040"/>
          </a:xfrm>
          <a:prstGeom prst="rect">
            <a:avLst/>
          </a:prstGeom>
          <a:solidFill>
            <a:srgbClr val="1e2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29"/>
          <p:cNvSpPr/>
          <p:nvPr/>
        </p:nvSpPr>
        <p:spPr>
          <a:xfrm>
            <a:off x="457200" y="3840480"/>
            <a:ext cx="8320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🚀  </a:t>
            </a: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Explore Next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35" name="Shape 30"/>
          <p:cNvSpPr/>
          <p:nvPr/>
        </p:nvSpPr>
        <p:spPr>
          <a:xfrm>
            <a:off x="347400" y="4279320"/>
            <a:ext cx="208440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6" name="Shape 31"/>
          <p:cNvSpPr/>
          <p:nvPr/>
        </p:nvSpPr>
        <p:spPr>
          <a:xfrm>
            <a:off x="347400" y="4279320"/>
            <a:ext cx="2084400" cy="27396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7" name="Text 32"/>
          <p:cNvSpPr/>
          <p:nvPr/>
        </p:nvSpPr>
        <p:spPr>
          <a:xfrm>
            <a:off x="420480" y="42793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🕵️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LangChain Agents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38" name="Text 33"/>
          <p:cNvSpPr/>
          <p:nvPr/>
        </p:nvSpPr>
        <p:spPr>
          <a:xfrm>
            <a:off x="420480" y="457200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Build autonomous agents that use tools to solve complex tasks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39" name="Shape 34"/>
          <p:cNvSpPr/>
          <p:nvPr/>
        </p:nvSpPr>
        <p:spPr>
          <a:xfrm>
            <a:off x="2541960" y="4279320"/>
            <a:ext cx="208440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Shape 35"/>
          <p:cNvSpPr/>
          <p:nvPr/>
        </p:nvSpPr>
        <p:spPr>
          <a:xfrm>
            <a:off x="2541960" y="4279320"/>
            <a:ext cx="2084400" cy="27396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36"/>
          <p:cNvSpPr/>
          <p:nvPr/>
        </p:nvSpPr>
        <p:spPr>
          <a:xfrm>
            <a:off x="2615040" y="42793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🗄️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RAG (Retrieval-Augmented Generation)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42" name="Text 37"/>
          <p:cNvSpPr/>
          <p:nvPr/>
        </p:nvSpPr>
        <p:spPr>
          <a:xfrm>
            <a:off x="2615040" y="457200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Connect LLMs to your own documents and knowledge bases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3" name="Shape 38"/>
          <p:cNvSpPr/>
          <p:nvPr/>
        </p:nvSpPr>
        <p:spPr>
          <a:xfrm>
            <a:off x="4736520" y="4279320"/>
            <a:ext cx="208440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4" name="Shape 39"/>
          <p:cNvSpPr/>
          <p:nvPr/>
        </p:nvSpPr>
        <p:spPr>
          <a:xfrm>
            <a:off x="4736520" y="4279320"/>
            <a:ext cx="2084400" cy="27396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5" name="Text 40"/>
          <p:cNvSpPr/>
          <p:nvPr/>
        </p:nvSpPr>
        <p:spPr>
          <a:xfrm>
            <a:off x="4809600" y="42793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🔢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Vector Stores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46" name="Text 41"/>
          <p:cNvSpPr/>
          <p:nvPr/>
        </p:nvSpPr>
        <p:spPr>
          <a:xfrm>
            <a:off x="4809600" y="457200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Store and retrieve embeddings for semantic search at scale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247" name="Shape 42"/>
          <p:cNvSpPr/>
          <p:nvPr/>
        </p:nvSpPr>
        <p:spPr>
          <a:xfrm>
            <a:off x="6931080" y="4279320"/>
            <a:ext cx="2084400" cy="7311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Shape 43"/>
          <p:cNvSpPr/>
          <p:nvPr/>
        </p:nvSpPr>
        <p:spPr>
          <a:xfrm>
            <a:off x="6931080" y="4279320"/>
            <a:ext cx="2084400" cy="27396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9" name="Text 44"/>
          <p:cNvSpPr/>
          <p:nvPr/>
        </p:nvSpPr>
        <p:spPr>
          <a:xfrm>
            <a:off x="7004160" y="427932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💾 </a:t>
            </a:r>
            <a:r>
              <a:rPr b="1" lang="en-US" sz="850" spc="-1" strike="noStrike">
                <a:solidFill>
                  <a:srgbClr val="ffffff"/>
                </a:solidFill>
                <a:latin typeface="Calibri"/>
              </a:rPr>
              <a:t>Memory Modules</a:t>
            </a:r>
            <a:endParaRPr b="0" lang="en-IN" sz="850" spc="-1" strike="noStrike">
              <a:latin typeface="Arial"/>
            </a:endParaRPr>
          </a:p>
        </p:txBody>
      </p:sp>
      <p:sp>
        <p:nvSpPr>
          <p:cNvPr id="250" name="Text 45"/>
          <p:cNvSpPr/>
          <p:nvPr/>
        </p:nvSpPr>
        <p:spPr>
          <a:xfrm>
            <a:off x="7004160" y="457200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800" spc="-1" strike="noStrike">
                <a:solidFill>
                  <a:srgbClr val="64748b"/>
                </a:solidFill>
                <a:latin typeface="Calibri"/>
              </a:rPr>
              <a:t>Automatic conversation memory with LangChain memory classes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3"/>
          <p:cNvSpPr/>
          <p:nvPr/>
        </p:nvSpPr>
        <p:spPr>
          <a:xfrm>
            <a:off x="0" y="0"/>
            <a:ext cx="9143640" cy="8226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Text 47"/>
          <p:cNvSpPr/>
          <p:nvPr/>
        </p:nvSpPr>
        <p:spPr>
          <a:xfrm>
            <a:off x="411480" y="0"/>
            <a:ext cx="8320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MessagesPlaceholder: Code Implementation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253" name="Shape 32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solidFill>
            <a:srgbClr val="065f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48"/>
          <p:cNvSpPr/>
          <p:nvPr/>
        </p:nvSpPr>
        <p:spPr>
          <a:xfrm>
            <a:off x="320040" y="932760"/>
            <a:ext cx="1371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SLIDE 33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55" name="Shape 40"/>
          <p:cNvSpPr/>
          <p:nvPr/>
        </p:nvSpPr>
        <p:spPr>
          <a:xfrm>
            <a:off x="320040" y="1389960"/>
            <a:ext cx="8679960" cy="5630040"/>
          </a:xfrm>
          <a:prstGeom prst="rect">
            <a:avLst/>
          </a:prstGeom>
          <a:solidFill>
            <a:srgbClr val="1e29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6" name="Shape 45"/>
          <p:cNvSpPr/>
          <p:nvPr/>
        </p:nvSpPr>
        <p:spPr>
          <a:xfrm>
            <a:off x="320040" y="1389960"/>
            <a:ext cx="8503560" cy="319680"/>
          </a:xfrm>
          <a:prstGeom prst="rect">
            <a:avLst/>
          </a:prstGeom>
          <a:solidFill>
            <a:srgbClr val="111c2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7" name="Text 49"/>
          <p:cNvSpPr/>
          <p:nvPr/>
        </p:nvSpPr>
        <p:spPr>
          <a:xfrm>
            <a:off x="457200" y="13899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7dd3fc"/>
                </a:solidFill>
                <a:latin typeface="Calibri"/>
              </a:rPr>
              <a:t>messages_placeholder_demo.py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8" name="Text 50"/>
          <p:cNvSpPr/>
          <p:nvPr/>
        </p:nvSpPr>
        <p:spPr>
          <a:xfrm>
            <a:off x="457200" y="1774080"/>
            <a:ext cx="8302320" cy="318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langchain_core.prompts import ChatPromptTemplate, MessagesPlaceholder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langchain_core.messages import HumanMessage, AIMessage, SystemMessage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from langchain_openai import ChatOpenAI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ai_model = ChatOpenAI()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① Template with a named slot for injecting saved messages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support_tpl = ChatPromptTemplate([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SystemMessage(content="You are a friendly customer support agent"),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MessagesPlaceholder(variable_name="prior_chat"),   # ← history slot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HumanMessage(content="{new_query}"),               # ← current question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② Saved messages loaded from database / session store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prior_chat = [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HumanMessage(content="I need a refund for order #56789"),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AIMessage(content="Your refund will be processed within 3–5 business days"),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]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③ Fill template: inject history + new query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filled = support_tpl.invoke({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"prior_chat" : prior_chat,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    </a:t>
            </a: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"new_query"  : "Where is my refund?",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④ LLM now has FULL context — Day 1 + Day 3 combined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result = ai_model.invoke(filled)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print(result.content)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→ "Based on our earlier conversation, your refund for order #56789 should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18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fffff"/>
                </a:solidFill>
                <a:latin typeface="Consolas"/>
                <a:ea typeface="Consolas"/>
              </a:rPr>
              <a:t>#    arrive within the 3–5 business day window we discussed..."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Shape 0"/>
          <p:cNvSpPr/>
          <p:nvPr/>
        </p:nvSpPr>
        <p:spPr>
          <a:xfrm>
            <a:off x="5943600" y="-914400"/>
            <a:ext cx="5486040" cy="5486040"/>
          </a:xfrm>
          <a:prstGeom prst="ellipse">
            <a:avLst/>
          </a:prstGeom>
          <a:solidFill>
            <a:srgbClr val="059669">
              <a:alpha val="10000"/>
            </a:srgbClr>
          </a:solidFill>
          <a:ln w="12700">
            <a:solidFill>
              <a:srgbClr val="059669">
                <a:alpha val="1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Shape 1"/>
          <p:cNvSpPr/>
          <p:nvPr/>
        </p:nvSpPr>
        <p:spPr>
          <a:xfrm>
            <a:off x="7132320" y="2926080"/>
            <a:ext cx="2742840" cy="2742840"/>
          </a:xfrm>
          <a:prstGeom prst="ellipse">
            <a:avLst/>
          </a:prstGeom>
          <a:solidFill>
            <a:srgbClr val="065f46">
              <a:alpha val="12000"/>
            </a:srgbClr>
          </a:solidFill>
          <a:ln w="12700">
            <a:solidFill>
              <a:srgbClr val="065f46">
                <a:alpha val="16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1" name="Shape 2"/>
          <p:cNvSpPr/>
          <p:nvPr/>
        </p:nvSpPr>
        <p:spPr>
          <a:xfrm>
            <a:off x="0" y="0"/>
            <a:ext cx="182520" cy="514332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3"/>
          <p:cNvSpPr/>
          <p:nvPr/>
        </p:nvSpPr>
        <p:spPr>
          <a:xfrm>
            <a:off x="457200" y="3657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libri"/>
              </a:rPr>
              <a:t>Complete Series Summary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263" name="Shape 4"/>
          <p:cNvSpPr/>
          <p:nvPr/>
        </p:nvSpPr>
        <p:spPr>
          <a:xfrm>
            <a:off x="457200" y="1024200"/>
            <a:ext cx="2559960" cy="4536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4" name="Shape 5"/>
          <p:cNvSpPr/>
          <p:nvPr/>
        </p:nvSpPr>
        <p:spPr>
          <a:xfrm>
            <a:off x="347400" y="1207080"/>
            <a:ext cx="2084400" cy="3584160"/>
          </a:xfrm>
          <a:prstGeom prst="rect">
            <a:avLst/>
          </a:prstGeom>
          <a:solidFill>
            <a:srgbClr val="0d1f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5" name="Shape 6"/>
          <p:cNvSpPr/>
          <p:nvPr/>
        </p:nvSpPr>
        <p:spPr>
          <a:xfrm>
            <a:off x="347400" y="1207080"/>
            <a:ext cx="2084400" cy="43848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Text 7"/>
          <p:cNvSpPr/>
          <p:nvPr/>
        </p:nvSpPr>
        <p:spPr>
          <a:xfrm>
            <a:off x="457200" y="120708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Part 1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67" name="Text 8"/>
          <p:cNvSpPr/>
          <p:nvPr/>
        </p:nvSpPr>
        <p:spPr>
          <a:xfrm>
            <a:off x="475560" y="1719000"/>
            <a:ext cx="184680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Temperature: 0 = deterministic, 2.0 = creative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Text, Image, Multimodal prompt types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Static prompts vs dynamic templates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Research Assistant use-case demo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68" name="Shape 9"/>
          <p:cNvSpPr/>
          <p:nvPr/>
        </p:nvSpPr>
        <p:spPr>
          <a:xfrm>
            <a:off x="2541960" y="1207080"/>
            <a:ext cx="2084400" cy="3584160"/>
          </a:xfrm>
          <a:prstGeom prst="rect">
            <a:avLst/>
          </a:prstGeom>
          <a:solidFill>
            <a:srgbClr val="0d1f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69" name="Shape 10"/>
          <p:cNvSpPr/>
          <p:nvPr/>
        </p:nvSpPr>
        <p:spPr>
          <a:xfrm>
            <a:off x="2541960" y="1207080"/>
            <a:ext cx="2084400" cy="438480"/>
          </a:xfrm>
          <a:prstGeom prst="rect">
            <a:avLst/>
          </a:prstGeom>
          <a:solidFill>
            <a:srgbClr val="7c3ae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Text 11"/>
          <p:cNvSpPr/>
          <p:nvPr/>
        </p:nvSpPr>
        <p:spPr>
          <a:xfrm>
            <a:off x="2651760" y="120708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Part 2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1" name="Text 12"/>
          <p:cNvSpPr/>
          <p:nvPr/>
        </p:nvSpPr>
        <p:spPr>
          <a:xfrm>
            <a:off x="2670120" y="1719000"/>
            <a:ext cx="184680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PromptTemplate: validation + JSON reuse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Chains with | pipe operator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Rich guidelines in prompt templates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Streamlit UI with controlled inputs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72" name="Shape 13"/>
          <p:cNvSpPr/>
          <p:nvPr/>
        </p:nvSpPr>
        <p:spPr>
          <a:xfrm>
            <a:off x="4736520" y="1207080"/>
            <a:ext cx="2084400" cy="3584160"/>
          </a:xfrm>
          <a:prstGeom prst="rect">
            <a:avLst/>
          </a:prstGeom>
          <a:solidFill>
            <a:srgbClr val="0d1f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3" name="Shape 14"/>
          <p:cNvSpPr/>
          <p:nvPr/>
        </p:nvSpPr>
        <p:spPr>
          <a:xfrm>
            <a:off x="4736520" y="1207080"/>
            <a:ext cx="2084400" cy="438480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Text 15"/>
          <p:cNvSpPr/>
          <p:nvPr/>
        </p:nvSpPr>
        <p:spPr>
          <a:xfrm>
            <a:off x="4846320" y="120708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Part 3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5" name="Text 16"/>
          <p:cNvSpPr/>
          <p:nvPr/>
        </p:nvSpPr>
        <p:spPr>
          <a:xfrm>
            <a:off x="4864680" y="1719000"/>
            <a:ext cx="184680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Chat history solves LLM statelessness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SystemMessage, HumanMessage, AIMessage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Typed messages vs plain strings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Full production chatbot pattern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76" name="Shape 17"/>
          <p:cNvSpPr/>
          <p:nvPr/>
        </p:nvSpPr>
        <p:spPr>
          <a:xfrm>
            <a:off x="6931080" y="1207080"/>
            <a:ext cx="2084400" cy="3584160"/>
          </a:xfrm>
          <a:prstGeom prst="rect">
            <a:avLst/>
          </a:prstGeom>
          <a:solidFill>
            <a:srgbClr val="0d1f35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77" name="Shape 18"/>
          <p:cNvSpPr/>
          <p:nvPr/>
        </p:nvSpPr>
        <p:spPr>
          <a:xfrm>
            <a:off x="6931080" y="1207080"/>
            <a:ext cx="2084400" cy="43848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9"/>
          <p:cNvSpPr/>
          <p:nvPr/>
        </p:nvSpPr>
        <p:spPr>
          <a:xfrm>
            <a:off x="7040880" y="1207080"/>
            <a:ext cx="19198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Part 4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9" name="Text 20"/>
          <p:cNvSpPr/>
          <p:nvPr/>
        </p:nvSpPr>
        <p:spPr>
          <a:xfrm>
            <a:off x="7059240" y="1719000"/>
            <a:ext cx="1846800" cy="29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ChatPromptTemplate for multi-turn apps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MessagesPlaceholder for session history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Complete end-to-end workflow</a:t>
            </a:r>
            <a:endParaRPr b="0" lang="en-IN" sz="980" spc="-1" strike="noStrike">
              <a:latin typeface="Arial"/>
            </a:endParaRPr>
          </a:p>
          <a:p>
            <a:pPr marL="343080" indent="-343080">
              <a:lnSpc>
                <a:spcPct val="120000"/>
              </a:lnSpc>
              <a:spcAft>
                <a:spcPts val="799"/>
              </a:spcAft>
              <a:buClr>
                <a:srgbClr val="cbd5e1"/>
              </a:buClr>
              <a:buFont typeface="Symbol" charset="2"/>
              <a:buChar char=""/>
            </a:pPr>
            <a:r>
              <a:rPr b="0" lang="en-US" sz="980" spc="-1" strike="noStrike">
                <a:solidFill>
                  <a:srgbClr val="cbd5e1"/>
                </a:solidFill>
                <a:latin typeface="Calibri"/>
              </a:rPr>
              <a:t>Best practices &amp; next-step topics</a:t>
            </a:r>
            <a:endParaRPr b="0" lang="en-IN" sz="980" spc="-1" strike="noStrike">
              <a:latin typeface="Arial"/>
            </a:endParaRPr>
          </a:p>
        </p:txBody>
      </p:sp>
      <p:sp>
        <p:nvSpPr>
          <p:cNvPr id="280" name="Shape 21"/>
          <p:cNvSpPr/>
          <p:nvPr/>
        </p:nvSpPr>
        <p:spPr>
          <a:xfrm>
            <a:off x="0" y="4773240"/>
            <a:ext cx="9143640" cy="370080"/>
          </a:xfrm>
          <a:prstGeom prst="rect">
            <a:avLst/>
          </a:prstGeom>
          <a:solidFill>
            <a:srgbClr val="06111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22"/>
          <p:cNvSpPr/>
          <p:nvPr/>
        </p:nvSpPr>
        <p:spPr>
          <a:xfrm>
            <a:off x="365760" y="4773240"/>
            <a:ext cx="8412120" cy="37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4d399"/>
                </a:solidFill>
                <a:latin typeface="Calibri"/>
              </a:rPr>
              <a:t>Next: Explore LangChain Agents, RAG, Vector Stores &amp; Memory Modules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2026-03-14T03:20:29Z</dcterms:created>
  <dc:creator>PptxGenJS</dc:creator>
  <dc:description/>
  <dc:language>en-IN</dc:language>
  <cp:lastModifiedBy/>
  <dcterms:modified xsi:type="dcterms:W3CDTF">2026-03-19T22:56:46Z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