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66E7685-2161-4763-B65F-72276556A4D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AC0005-B50A-476B-993B-8C321F6462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BEC425-600D-42AD-AB4B-1FAFD314DD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23BD81-5BDA-4601-B691-8BD0154A22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1CB60A-039E-4B4D-B431-A9D2CCA89E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C4BB9C-33AE-4CD2-999E-7F64FF74E6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DD6305-F039-4737-9A2E-EA39D700BB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100+ Document Loaders: Organized by Category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1371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1463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🌐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94360" y="2011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Web Pages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94360" y="2468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WebBaseLoader, RecursiveURL, Sitemap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337560" y="1371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3337560" y="1463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📄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3474720" y="2011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PDFs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3474720" y="2468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PyPDF, Unstructured, PDFPlumber, PyMuPDF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6217920" y="1371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6217920" y="1463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☁️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355080" y="2011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Cloud Storage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355080" y="2468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S3, Azure Blob, Google Drive, Dropbox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457200" y="3657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457200" y="3749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💬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94360" y="4297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Messaging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594360" y="4754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Slack, Discord, Telegram, WhatsApp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3337560" y="3657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3337560" y="3749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🔧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3474720" y="4297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Productivity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3474720" y="4754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Notion, GitHub, Jira, Trello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6217920" y="3657600"/>
            <a:ext cx="2651040" cy="191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22"/>
          <p:cNvSpPr/>
          <p:nvPr/>
        </p:nvSpPr>
        <p:spPr>
          <a:xfrm>
            <a:off x="6217920" y="374904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📊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6355080" y="42976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File Types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6355080" y="4754880"/>
            <a:ext cx="2376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121"/>
                </a:solidFill>
                <a:latin typeface="Calibri"/>
                <a:ea typeface="DejaVu Sans"/>
              </a:rPr>
              <a:t>CSV, JSON, Excel, Markdown, HTML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Text 25"/>
          <p:cNvSpPr/>
          <p:nvPr/>
        </p:nvSpPr>
        <p:spPr>
          <a:xfrm>
            <a:off x="457200" y="55778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📚 </a:t>
            </a: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Full documentation: python.langchain.com/docs/how_to/document_loaders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Creating Custom Document Loaders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1188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When to Build Your Own: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457200" y="1645920"/>
            <a:ext cx="822888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3"/>
          <p:cNvSpPr/>
          <p:nvPr/>
        </p:nvSpPr>
        <p:spPr>
          <a:xfrm>
            <a:off x="640080" y="1828800"/>
            <a:ext cx="7863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Calibri"/>
                <a:ea typeface="DejaVu Sans"/>
              </a:rPr>
              <a:t>No existing loader fits your unique data source or format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57200" y="27432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Basic Implementation: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457200" y="3200400"/>
            <a:ext cx="8228880" cy="237672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6"/>
          <p:cNvSpPr/>
          <p:nvPr/>
        </p:nvSpPr>
        <p:spPr>
          <a:xfrm>
            <a:off x="640080" y="3337560"/>
            <a:ext cx="78631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langchain_core.document_loaders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200" spc="-1" strike="noStrike">
                <a:solidFill>
                  <a:srgbClr val="82aaff"/>
                </a:solidFill>
                <a:latin typeface="Consolas"/>
                <a:ea typeface="Consolas"/>
              </a:rPr>
              <a:t> BaseLoader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langchain_core.documents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200" spc="-1" strike="noStrike">
                <a:solidFill>
                  <a:srgbClr val="82aaff"/>
                </a:solidFill>
                <a:latin typeface="Consolas"/>
                <a:ea typeface="Consolas"/>
              </a:rPr>
              <a:t> Document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class</a:t>
            </a:r>
            <a:r>
              <a:rPr b="0" lang="en-US" sz="1200" spc="-1" strike="noStrike">
                <a:solidFill>
                  <a:srgbClr val="82aaff"/>
                </a:solidFill>
                <a:latin typeface="Consolas"/>
                <a:ea typeface="Consolas"/>
              </a:rPr>
              <a:t> CustomLoader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(BaseLoader):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def</a:t>
            </a:r>
            <a:r>
              <a:rPr b="0" lang="en-US" sz="1200" spc="-1" strike="noStrike">
                <a:solidFill>
                  <a:srgbClr val="82aaff"/>
                </a:solidFill>
                <a:latin typeface="Consolas"/>
                <a:ea typeface="Consolas"/>
              </a:rPr>
              <a:t> __init__</a:t>
            </a:r>
            <a:r>
              <a:rPr b="0" lang="en-US" sz="1200" spc="-1" strike="noStrike">
                <a:solidFill>
                  <a:srgbClr val="89ddff"/>
                </a:solidFill>
                <a:latin typeface="Consolas"/>
                <a:ea typeface="Consolas"/>
              </a:rPr>
              <a:t>(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self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, file_path: </a:t>
            </a:r>
            <a:r>
              <a:rPr b="0" lang="en-US" sz="1200" spc="-1" strike="noStrike">
                <a:solidFill>
                  <a:srgbClr val="ffcb6b"/>
                </a:solidFill>
                <a:latin typeface="Consolas"/>
                <a:ea typeface="Consolas"/>
              </a:rPr>
              <a:t>str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   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self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.file_path = file_path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def</a:t>
            </a:r>
            <a:r>
              <a:rPr b="0" lang="en-US" sz="1200" spc="-1" strike="noStrike">
                <a:solidFill>
                  <a:srgbClr val="82aaff"/>
                </a:solidFill>
                <a:latin typeface="Consolas"/>
                <a:ea typeface="Consolas"/>
              </a:rPr>
              <a:t> load</a:t>
            </a:r>
            <a:r>
              <a:rPr b="0" lang="en-US" sz="1200" spc="-1" strike="noStrike">
                <a:solidFill>
                  <a:srgbClr val="89ddff"/>
                </a:solidFill>
                <a:latin typeface="Consolas"/>
                <a:ea typeface="Consolas"/>
              </a:rPr>
              <a:t>(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self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    </a:t>
            </a:r>
            <a:r>
              <a:rPr b="0" i="1" lang="en-US" sz="1200" spc="-1" strike="noStrike">
                <a:solidFill>
                  <a:srgbClr val="546e7a"/>
                </a:solidFill>
                <a:latin typeface="Consolas"/>
                <a:ea typeface="Consolas"/>
              </a:rPr>
              <a:t># Your custom loading logic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    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data =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self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._read_file()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      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return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 [Document(page_content=data, metadata={</a:t>
            </a:r>
            <a:r>
              <a:rPr b="0" lang="en-US" sz="1200" spc="-1" strike="noStrike">
                <a:solidFill>
                  <a:srgbClr val="c3e88d"/>
                </a:solidFill>
                <a:latin typeface="Consolas"/>
                <a:ea typeface="Consolas"/>
              </a:rPr>
              <a:t>"source"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: </a:t>
            </a: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self</a:t>
            </a:r>
            <a:r>
              <a:rPr b="0" lang="en-US" sz="1200" spc="-1" strike="noStrike">
                <a:solidFill>
                  <a:srgbClr val="eeffff"/>
                </a:solidFill>
                <a:latin typeface="Consolas"/>
                <a:ea typeface="Consolas"/>
              </a:rPr>
              <a:t>.file_path})]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5760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28090"/>
                </a:solidFill>
                <a:latin typeface="Calibri"/>
                <a:ea typeface="DejaVu Sans"/>
              </a:rPr>
              <a:t>All 100+ community loaders were built this way and contributed back!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Key Takeaways: Document Loaders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57200" y="12801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"/>
          <p:cNvSpPr/>
          <p:nvPr/>
        </p:nvSpPr>
        <p:spPr>
          <a:xfrm>
            <a:off x="640080" y="13532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1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1280160" y="13716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All loaders convert data into standardized Document objects (page_content + metadata)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57200" y="19659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5"/>
          <p:cNvSpPr/>
          <p:nvPr/>
        </p:nvSpPr>
        <p:spPr>
          <a:xfrm>
            <a:off x="640080" y="20390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280160" y="20574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Use load() for small datasets, lazy_load() for large ones to manage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457200" y="26517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8"/>
          <p:cNvSpPr/>
          <p:nvPr/>
        </p:nvSpPr>
        <p:spPr>
          <a:xfrm>
            <a:off x="640080" y="27248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3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1280160" y="27432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Choose the right loader: Text for .txt, PyPDF for PDFs, WebBase for websites, CSV for spreadsheets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457200" y="33375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1"/>
          <p:cNvSpPr/>
          <p:nvPr/>
        </p:nvSpPr>
        <p:spPr>
          <a:xfrm>
            <a:off x="640080" y="34106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4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1280160" y="34290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DirectoryLoader processes multiple files at once with glob patterns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457200" y="40233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4"/>
          <p:cNvSpPr/>
          <p:nvPr/>
        </p:nvSpPr>
        <p:spPr>
          <a:xfrm>
            <a:off x="640080" y="40964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5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280160" y="41148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100+ loaders available - learn basics, then refer to docs as needed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457200" y="4709160"/>
            <a:ext cx="822888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7"/>
          <p:cNvSpPr/>
          <p:nvPr/>
        </p:nvSpPr>
        <p:spPr>
          <a:xfrm>
            <a:off x="640080" y="47822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8090"/>
                </a:solidFill>
                <a:latin typeface="Calibri"/>
                <a:ea typeface="DejaVu Sans"/>
              </a:rPr>
              <a:t>6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1280160" y="4800600"/>
            <a:ext cx="7223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Create custom loaders by inheriting from BaseLoader for unique data sources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Next Steps in Building RAG Applications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457200" y="1188720"/>
            <a:ext cx="8228880" cy="7308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2"/>
          <p:cNvSpPr/>
          <p:nvPr/>
        </p:nvSpPr>
        <p:spPr>
          <a:xfrm>
            <a:off x="640080" y="137160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e7d32"/>
                </a:solidFill>
                <a:latin typeface="Calibri"/>
                <a:ea typeface="DejaVu Sans"/>
              </a:rPr>
              <a:t>✓ </a:t>
            </a:r>
            <a:r>
              <a:rPr b="1" lang="en-US" sz="1600" spc="-1" strike="noStrike">
                <a:solidFill>
                  <a:srgbClr val="2e7d32"/>
                </a:solidFill>
                <a:latin typeface="Calibri"/>
                <a:ea typeface="DejaVu Sans"/>
              </a:rPr>
              <a:t>Component 1: Document Loaders (Today's Topic)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457200" y="2194560"/>
            <a:ext cx="82288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"/>
          <p:cNvSpPr/>
          <p:nvPr/>
        </p:nvSpPr>
        <p:spPr>
          <a:xfrm>
            <a:off x="640080" y="23317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DejaVu Sans"/>
              </a:rPr>
              <a:t>2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371600" y="22860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Text Splitters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371600" y="265176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Break documents into optimal chunks for processing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57200" y="3200400"/>
            <a:ext cx="82288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8"/>
          <p:cNvSpPr/>
          <p:nvPr/>
        </p:nvSpPr>
        <p:spPr>
          <a:xfrm>
            <a:off x="640080" y="33375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DejaVu Sans"/>
              </a:rPr>
              <a:t>3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1371600" y="32918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Vector Databases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1371600" y="365760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Store and retrieve document embeddings efficiently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457200" y="4206240"/>
            <a:ext cx="82288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2"/>
          <p:cNvSpPr/>
          <p:nvPr/>
        </p:nvSpPr>
        <p:spPr>
          <a:xfrm>
            <a:off x="640080" y="43434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DejaVu Sans"/>
              </a:rPr>
              <a:t>4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1371600" y="429768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Retrievers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1371600" y="466344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Find relevant context to answer user queries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457200" y="53035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  <a:ea typeface="DejaVu Sans"/>
              </a:rPr>
              <a:t>Final Goal: Build complete RAG-based applications!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Resources &amp; Best Practices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1188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📚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Official Documentation: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57200" y="1645920"/>
            <a:ext cx="822888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3"/>
          <p:cNvSpPr/>
          <p:nvPr/>
        </p:nvSpPr>
        <p:spPr>
          <a:xfrm>
            <a:off x="640080" y="1783080"/>
            <a:ext cx="7863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LangChain Document Loaders Guide: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28090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028090"/>
                </a:solidFill>
                <a:latin typeface="Consolas"/>
                <a:ea typeface="Consolas"/>
              </a:rPr>
              <a:t>python.langchain.com/docs/how_to/document_loaders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• </a:t>
            </a:r>
            <a:r>
              <a:rPr b="1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Custom Loaders Tutorial: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28090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028090"/>
                </a:solidFill>
                <a:latin typeface="Consolas"/>
                <a:ea typeface="Consolas"/>
              </a:rPr>
              <a:t>python.langchain.com/docs/how_to/document_loader_custom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457200" y="29260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💡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Best Practices: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640080" y="3383280"/>
            <a:ext cx="7863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1. Learn on a project-by-project basis - don't memorize all 100+ loaders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2. Start simple (Text/PDF) before moving to complex loaders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3. Use lazy_load() for large datasets to avoid memory issues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4. Check metadata to verify correct file/page was loaded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5. Refer to documentation when you need a specific loader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457200" y="51206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⚠️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Common Pitfalls: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640080" y="557784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Using PyPDF on scanned images  • Forgetting encoding parameter  • Not handling large files with lazy_load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457200" y="13716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Summary: Document Loaders in LangChain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1371600" y="2377440"/>
            <a:ext cx="6400080" cy="274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"/>
          <p:cNvSpPr/>
          <p:nvPr/>
        </p:nvSpPr>
        <p:spPr>
          <a:xfrm>
            <a:off x="1645920" y="2560320"/>
            <a:ext cx="58514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Understand RAG and its benefits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Know the 4 core RAG components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1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Master 4 essential loaders: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Text, PDF, Web, CSV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Load single files and directories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Optimize memory with lazy_load()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  <a:ea typeface="DejaVu Sans"/>
              </a:rPr>
              <a:t>Navigate 100+ available loaders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457200" y="54864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DejaVu Sans"/>
              </a:rPr>
              <a:t>Ready to build powerful RAG applications! 🚀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2026-02-10T12:06:53Z</dcterms:created>
  <dc:creator>PptxGenJS</dc:creator>
  <dc:description/>
  <dc:language>en-IN</dc:language>
  <cp:lastModifiedBy>PptxGenJS</cp:lastModifiedBy>
  <dcterms:modified xsi:type="dcterms:W3CDTF">2026-02-10T12:06:53Z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