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</a:t>
            </a:r>
            <a:r>
              <a:rPr b="0" lang="en-IN" sz="4400" spc="-1" strike="noStrike">
                <a:latin typeface="Arial"/>
              </a:rPr>
              <a:t>move the </a:t>
            </a:r>
            <a:r>
              <a:rPr b="0" lang="en-IN" sz="4400" spc="-1" strike="noStrike">
                <a:latin typeface="Arial"/>
              </a:rPr>
              <a:t>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</a:t>
            </a:r>
            <a:r>
              <a:rPr b="0" lang="en-IN" sz="2000" spc="-1" strike="noStrike">
                <a:latin typeface="Arial"/>
              </a:rPr>
              <a:t>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55144A5-2229-4B21-9401-2CD527E275B0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F971602-1DEE-4F8C-88D9-E4B9183E296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5B2C1F5-27FF-48A3-81A8-475D5B70F0B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CA39832-1EA2-40B9-8DD3-76A4B142AE2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6FCEFCE-502A-46F7-927C-E750E304861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88C2113-227E-45F4-9CCA-7998CB02CF8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65a82"/>
                </a:solidFill>
                <a:latin typeface="Calibri"/>
                <a:ea typeface="DejaVu Sans"/>
              </a:rPr>
              <a:t>3. Web-Based Loader (WebBaseLoader)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45" name="Shape 1"/>
          <p:cNvSpPr/>
          <p:nvPr/>
        </p:nvSpPr>
        <p:spPr>
          <a:xfrm>
            <a:off x="457200" y="1188720"/>
            <a:ext cx="3839760" cy="137088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640080" y="1371600"/>
            <a:ext cx="3474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Purpose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640080" y="1737360"/>
            <a:ext cx="34740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Extracts text content from web pages using Beautiful-soup and Requests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4846320" y="118872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DejaVu Sans"/>
              </a:rPr>
              <a:t>How It Works: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5029200" y="1645920"/>
            <a:ext cx="338256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1. Makes HTTP request to URL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2. Parses HTML structure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3. Removes HTML tags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4. Extracts visible text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457200" y="301752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DejaVu Sans"/>
              </a:rPr>
              <a:t>Best Use Cases: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640080" y="3474720"/>
            <a:ext cx="338256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✓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Blog posts and articles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✓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News websites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✓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Static public websites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✓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Documentation pages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4846320" y="301752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DejaVu Sans"/>
              </a:rPr>
              <a:t>Limitations: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5029200" y="3474720"/>
            <a:ext cx="3474000" cy="1188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10"/>
          <p:cNvSpPr/>
          <p:nvPr/>
        </p:nvSpPr>
        <p:spPr>
          <a:xfrm>
            <a:off x="5212080" y="3611880"/>
            <a:ext cx="31082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✗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JavaScript-heavy pages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✗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Dynamic content loaded after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  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page render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→ </a:t>
            </a:r>
            <a:r>
              <a:rPr b="0" i="1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Use SeleniumURLLoader instead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457200" y="48463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28090"/>
                </a:solidFill>
                <a:latin typeface="Calibri"/>
                <a:ea typeface="DejaVu Sans"/>
              </a:rPr>
              <a:t>💡 </a:t>
            </a:r>
            <a:r>
              <a:rPr b="0" i="1" lang="en-US" sz="1500" spc="-1" strike="noStrike">
                <a:solidFill>
                  <a:srgbClr val="028090"/>
                </a:solidFill>
                <a:latin typeface="Calibri"/>
                <a:ea typeface="DejaVu Sans"/>
              </a:rPr>
              <a:t>Project Idea: Chrome plugin to chat with any webpage!</a:t>
            </a:r>
            <a:endParaRPr b="0" lang="en-IN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410760" y="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3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3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65a82"/>
                </a:solidFill>
                <a:latin typeface="Calibri"/>
                <a:ea typeface="DejaVu Sans"/>
              </a:rPr>
              <a:t>Web Loader - Code Implementation</a:t>
            </a:r>
            <a:endParaRPr b="0" lang="en-IN" sz="3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3600" spc="-1" strike="noStrike">
              <a:latin typeface="Arial"/>
            </a:endParaRPr>
          </a:p>
        </p:txBody>
      </p:sp>
      <p:sp>
        <p:nvSpPr>
          <p:cNvPr id="57" name="Shape 1"/>
          <p:cNvSpPr/>
          <p:nvPr/>
        </p:nvSpPr>
        <p:spPr>
          <a:xfrm>
            <a:off x="360000" y="1454400"/>
            <a:ext cx="8182440" cy="2505600"/>
          </a:xfrm>
          <a:prstGeom prst="roundRect">
            <a:avLst>
              <a:gd name="adj" fmla="val 16667"/>
            </a:avLst>
          </a:prstGeom>
          <a:solidFill>
            <a:srgbClr val="263238"/>
          </a:solidFill>
          <a:ln w="254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2"/>
          <p:cNvSpPr/>
          <p:nvPr/>
        </p:nvSpPr>
        <p:spPr>
          <a:xfrm>
            <a:off x="640080" y="1234440"/>
            <a:ext cx="786312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792ea"/>
                </a:solidFill>
                <a:latin typeface="Consolas"/>
                <a:ea typeface="Consolas"/>
              </a:rPr>
              <a:t>from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 langchain_community.document_loaders </a:t>
            </a:r>
            <a:r>
              <a:rPr b="0" lang="en-US" sz="1300" spc="-1" strike="noStrike">
                <a:solidFill>
                  <a:srgbClr val="c792ea"/>
                </a:solidFill>
                <a:latin typeface="Consolas"/>
                <a:ea typeface="Consolas"/>
              </a:rPr>
              <a:t>import</a:t>
            </a:r>
            <a:r>
              <a:rPr b="0" lang="en-US" sz="1300" spc="-1" strike="noStrike">
                <a:solidFill>
                  <a:srgbClr val="82aaff"/>
                </a:solidFill>
                <a:latin typeface="Consolas"/>
                <a:ea typeface="Consolas"/>
              </a:rPr>
              <a:t> WebBaseLoader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300" spc="-1" strike="noStrike">
                <a:solidFill>
                  <a:srgbClr val="546e7a"/>
                </a:solidFill>
                <a:latin typeface="Consolas"/>
                <a:ea typeface="Consolas"/>
              </a:rPr>
              <a:t># Single URL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url = </a:t>
            </a:r>
            <a:r>
              <a:rPr b="0" lang="en-US" sz="1300" spc="-1" strike="noStrike">
                <a:solidFill>
                  <a:srgbClr val="c3e88d"/>
                </a:solidFill>
                <a:latin typeface="Consolas"/>
                <a:ea typeface="Consolas"/>
              </a:rPr>
              <a:t>"https://blog.example.com/ai-trends-2024"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3e88d"/>
                </a:solidFill>
                <a:latin typeface="Consolas"/>
                <a:ea typeface="Consolas"/>
              </a:rPr>
              <a:t>loader = WebBaseLoader(web_path=url)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300" spc="-1" strike="noStrike">
                <a:solidFill>
                  <a:srgbClr val="546e7a"/>
                </a:solidFill>
                <a:latin typeface="Consolas"/>
                <a:ea typeface="Consolas"/>
              </a:rPr>
              <a:t># Load the webpage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documents = loader.load()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300" spc="-1" strike="noStrike">
                <a:solidFill>
                  <a:srgbClr val="546e7a"/>
                </a:solidFill>
                <a:latin typeface="Consolas"/>
                <a:ea typeface="Consolas"/>
              </a:rPr>
              <a:t># Multiple URLs (list)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urls = [</a:t>
            </a:r>
            <a:r>
              <a:rPr b="0" lang="en-US" sz="1300" spc="-1" strike="noStrike">
                <a:solidFill>
                  <a:srgbClr val="c3e88d"/>
                </a:solidFill>
                <a:latin typeface="Consolas"/>
                <a:ea typeface="Consolas"/>
              </a:rPr>
              <a:t>"url1.com"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, </a:t>
            </a:r>
            <a:r>
              <a:rPr b="0" lang="en-US" sz="1300" spc="-1" strike="noStrike">
                <a:solidFill>
                  <a:srgbClr val="c3e88d"/>
                </a:solidFill>
                <a:latin typeface="Consolas"/>
                <a:ea typeface="Consolas"/>
              </a:rPr>
              <a:t>"url2.com"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, </a:t>
            </a:r>
            <a:r>
              <a:rPr b="0" lang="en-US" sz="1300" spc="-1" strike="noStrike">
                <a:solidFill>
                  <a:srgbClr val="c3e88d"/>
                </a:solidFill>
                <a:latin typeface="Consolas"/>
                <a:ea typeface="Consolas"/>
              </a:rPr>
              <a:t>"url3.com"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]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loader = WebBaseLoader(web_path=urls)  </a:t>
            </a:r>
            <a:r>
              <a:rPr b="0" i="1" lang="en-US" sz="1300" spc="-1" strike="noStrike">
                <a:solidFill>
                  <a:srgbClr val="546e7a"/>
                </a:solidFill>
                <a:latin typeface="Consolas"/>
                <a:ea typeface="Consolas"/>
              </a:rPr>
              <a:t># 3 documents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457200" y="338328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640080" y="3977640"/>
            <a:ext cx="786312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c792ea"/>
                </a:solidFill>
                <a:latin typeface="Consolas"/>
                <a:ea typeface="Consolas"/>
              </a:rPr>
              <a:t>f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" descr=""/>
          <p:cNvPicPr/>
          <p:nvPr/>
        </p:nvPicPr>
        <p:blipFill>
          <a:blip r:embed="rId1"/>
          <a:stretch/>
        </p:blipFill>
        <p:spPr>
          <a:xfrm>
            <a:off x="492120" y="-385200"/>
            <a:ext cx="8156520" cy="51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492120" y="-385200"/>
            <a:ext cx="8156520" cy="51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" descr=""/>
          <p:cNvPicPr/>
          <p:nvPr/>
        </p:nvPicPr>
        <p:blipFill>
          <a:blip r:embed="rId1"/>
          <a:stretch/>
        </p:blipFill>
        <p:spPr>
          <a:xfrm>
            <a:off x="540000" y="76680"/>
            <a:ext cx="7762680" cy="51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65a82"/>
                </a:solidFill>
                <a:latin typeface="Calibri"/>
                <a:ea typeface="DejaVu Sans"/>
              </a:rPr>
              <a:t>4. CSV Loader (CSVLoader)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65" name="Shape 1"/>
          <p:cNvSpPr/>
          <p:nvPr/>
        </p:nvSpPr>
        <p:spPr>
          <a:xfrm>
            <a:off x="457200" y="1188720"/>
            <a:ext cx="3839760" cy="1370880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2"/>
          <p:cNvSpPr/>
          <p:nvPr/>
        </p:nvSpPr>
        <p:spPr>
          <a:xfrm>
            <a:off x="640080" y="1371600"/>
            <a:ext cx="3474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Purpose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640080" y="1737360"/>
            <a:ext cx="34740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Loads CSV files - converts each row into a separate Document object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4846320" y="118872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DejaVu Sans"/>
              </a:rPr>
              <a:t>Key Feature: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" name="Shape 5"/>
          <p:cNvSpPr/>
          <p:nvPr/>
        </p:nvSpPr>
        <p:spPr>
          <a:xfrm>
            <a:off x="5029200" y="1645920"/>
            <a:ext cx="3474000" cy="913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6"/>
          <p:cNvSpPr/>
          <p:nvPr/>
        </p:nvSpPr>
        <p:spPr>
          <a:xfrm>
            <a:off x="5212080" y="1783080"/>
            <a:ext cx="31082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Row-by-row processing: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400 rows → 400 Document objects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1" name="Text 7"/>
          <p:cNvSpPr/>
          <p:nvPr/>
        </p:nvSpPr>
        <p:spPr>
          <a:xfrm>
            <a:off x="457200" y="283464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DejaVu Sans"/>
              </a:rPr>
              <a:t>Example Dataset: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" name="Shape 8"/>
          <p:cNvSpPr/>
          <p:nvPr/>
        </p:nvSpPr>
        <p:spPr>
          <a:xfrm>
            <a:off x="457200" y="3291840"/>
            <a:ext cx="8228880" cy="2376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9"/>
          <p:cNvSpPr/>
          <p:nvPr/>
        </p:nvSpPr>
        <p:spPr>
          <a:xfrm>
            <a:off x="640080" y="3429000"/>
            <a:ext cx="786312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File: customer_data.csv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Columns: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12121"/>
                </a:solidFill>
                <a:latin typeface="Consolas"/>
                <a:ea typeface="Consolas"/>
              </a:rPr>
              <a:t>• </a:t>
            </a:r>
            <a:r>
              <a:rPr b="0" lang="en-US" sz="1300" spc="-1" strike="noStrike">
                <a:solidFill>
                  <a:srgbClr val="212121"/>
                </a:solidFill>
                <a:latin typeface="Consolas"/>
                <a:ea typeface="Consolas"/>
              </a:rPr>
              <a:t>UserID | Gender | Age | EstimatedSalary | Purchased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12121"/>
                </a:solidFill>
                <a:latin typeface="Calibri"/>
                <a:ea typeface="Consolas"/>
              </a:rPr>
              <a:t>Sample Rows: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15624510 | Male   | 19  | 19000          | 0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15810944 | Male   | 35  | 20000          | 0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15668575 | Female | 26  | 43000          | 0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28090"/>
                </a:solidFill>
                <a:latin typeface="Calibri"/>
                <a:ea typeface="Consolas"/>
              </a:rPr>
              <a:t>Total: 400 rows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697320" y="-103320"/>
            <a:ext cx="7762680" cy="51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65a82"/>
                </a:solidFill>
                <a:latin typeface="Calibri"/>
                <a:ea typeface="DejaVu Sans"/>
              </a:rPr>
              <a:t>CSV Loader - Code Implementation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76" name="Shape 1"/>
          <p:cNvSpPr/>
          <p:nvPr/>
        </p:nvSpPr>
        <p:spPr>
          <a:xfrm>
            <a:off x="457200" y="1097280"/>
            <a:ext cx="8228880" cy="1370880"/>
          </a:xfrm>
          <a:prstGeom prst="roundRect">
            <a:avLst>
              <a:gd name="adj" fmla="val 16667"/>
            </a:avLst>
          </a:prstGeom>
          <a:solidFill>
            <a:srgbClr val="26323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2"/>
          <p:cNvSpPr/>
          <p:nvPr/>
        </p:nvSpPr>
        <p:spPr>
          <a:xfrm>
            <a:off x="640080" y="1234440"/>
            <a:ext cx="78631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792ea"/>
                </a:solidFill>
                <a:latin typeface="Consolas"/>
                <a:ea typeface="Consolas"/>
              </a:rPr>
              <a:t>from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 langchain_community.document_loaders </a:t>
            </a:r>
            <a:r>
              <a:rPr b="0" lang="en-US" sz="1300" spc="-1" strike="noStrike">
                <a:solidFill>
                  <a:srgbClr val="c792ea"/>
                </a:solidFill>
                <a:latin typeface="Consolas"/>
                <a:ea typeface="Consolas"/>
              </a:rPr>
              <a:t>import</a:t>
            </a:r>
            <a:r>
              <a:rPr b="0" lang="en-US" sz="1300" spc="-1" strike="noStrike">
                <a:solidFill>
                  <a:srgbClr val="82aaff"/>
                </a:solidFill>
                <a:latin typeface="Consolas"/>
                <a:ea typeface="Consolas"/>
              </a:rPr>
              <a:t> CSVLoader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loader = CSVLoader(file_path=</a:t>
            </a:r>
            <a:r>
              <a:rPr b="0" lang="en-US" sz="1300" spc="-1" strike="noStrike">
                <a:solidFill>
                  <a:srgbClr val="c3e88d"/>
                </a:solidFill>
                <a:latin typeface="Consolas"/>
                <a:ea typeface="Consolas"/>
              </a:rPr>
              <a:t>"customer_data.csv"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documents = loader.load()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82aaff"/>
                </a:solidFill>
                <a:latin typeface="Consolas"/>
                <a:ea typeface="Consolas"/>
              </a:rPr>
              <a:t>print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(</a:t>
            </a:r>
            <a:r>
              <a:rPr b="0" lang="en-US" sz="1300" spc="-1" strike="noStrike">
                <a:solidFill>
                  <a:srgbClr val="82aaff"/>
                </a:solidFill>
                <a:latin typeface="Consolas"/>
                <a:ea typeface="Consolas"/>
              </a:rPr>
              <a:t>len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(documents))  </a:t>
            </a:r>
            <a:r>
              <a:rPr b="0" i="1" lang="en-US" sz="1300" spc="-1" strike="noStrike">
                <a:solidFill>
                  <a:srgbClr val="546e7a"/>
                </a:solidFill>
                <a:latin typeface="Consolas"/>
                <a:ea typeface="Consolas"/>
              </a:rPr>
              <a:t># Output: 400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457200" y="26517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DejaVu Sans"/>
              </a:rPr>
              <a:t>Document Structure: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9" name="Shape 4"/>
          <p:cNvSpPr/>
          <p:nvPr/>
        </p:nvSpPr>
        <p:spPr>
          <a:xfrm>
            <a:off x="457200" y="3108960"/>
            <a:ext cx="8228880" cy="255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5"/>
          <p:cNvSpPr/>
          <p:nvPr/>
        </p:nvSpPr>
        <p:spPr>
          <a:xfrm>
            <a:off x="640080" y="3246120"/>
            <a:ext cx="786312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First row (index 0):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028090"/>
                </a:solidFill>
                <a:latin typeface="Consolas"/>
                <a:ea typeface="Consolas"/>
              </a:rPr>
              <a:t>documents[0].page_content: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"""UserID: 15624510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Gender: Male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Age: 19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EstimatedSalary: 19000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Purchased: 0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"""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028090"/>
                </a:solidFill>
                <a:latin typeface="Consolas"/>
                <a:ea typeface="Consolas"/>
              </a:rPr>
              <a:t>documents[0].metadata: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{'source': 'customer_data.csv', 'row': 0}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65a82"/>
                </a:solidFill>
                <a:latin typeface="Calibri"/>
                <a:ea typeface="DejaVu Sans"/>
              </a:rPr>
              <a:t>Beyond PyPDF: Specialized PDF Loaders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457200" y="10058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Choose the right loader based on your PDF type: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457200" y="1645920"/>
            <a:ext cx="3931200" cy="1645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3"/>
          <p:cNvSpPr/>
          <p:nvPr/>
        </p:nvSpPr>
        <p:spPr>
          <a:xfrm>
            <a:off x="640080" y="192024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28090"/>
                </a:solidFill>
                <a:latin typeface="Calibri"/>
                <a:ea typeface="DejaVu Sans"/>
              </a:rPr>
              <a:t>PyPDFLoader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640080" y="2377440"/>
            <a:ext cx="3565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Simple text PDFs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6" name="Shape 5"/>
          <p:cNvSpPr/>
          <p:nvPr/>
        </p:nvSpPr>
        <p:spPr>
          <a:xfrm>
            <a:off x="4800600" y="1645920"/>
            <a:ext cx="3931200" cy="1645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6"/>
          <p:cNvSpPr/>
          <p:nvPr/>
        </p:nvSpPr>
        <p:spPr>
          <a:xfrm>
            <a:off x="4983480" y="192024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a896"/>
                </a:solidFill>
                <a:latin typeface="Calibri"/>
                <a:ea typeface="DejaVu Sans"/>
              </a:rPr>
              <a:t>PDFPlumberLoader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4983480" y="2377440"/>
            <a:ext cx="3565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Tables &amp; structured data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9" name="Shape 8"/>
          <p:cNvSpPr/>
          <p:nvPr/>
        </p:nvSpPr>
        <p:spPr>
          <a:xfrm>
            <a:off x="457200" y="3657600"/>
            <a:ext cx="3931200" cy="1645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9"/>
          <p:cNvSpPr/>
          <p:nvPr/>
        </p:nvSpPr>
        <p:spPr>
          <a:xfrm>
            <a:off x="640080" y="393192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2c39a"/>
                </a:solidFill>
                <a:latin typeface="Calibri"/>
                <a:ea typeface="DejaVu Sans"/>
              </a:rPr>
              <a:t>UnstructuredPDFLoader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1" name="Text 10"/>
          <p:cNvSpPr/>
          <p:nvPr/>
        </p:nvSpPr>
        <p:spPr>
          <a:xfrm>
            <a:off x="640080" y="4389120"/>
            <a:ext cx="3565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Scanned images/OCR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2" name="Shape 11"/>
          <p:cNvSpPr/>
          <p:nvPr/>
        </p:nvSpPr>
        <p:spPr>
          <a:xfrm>
            <a:off x="4800600" y="3657600"/>
            <a:ext cx="3931200" cy="1645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12"/>
          <p:cNvSpPr/>
          <p:nvPr/>
        </p:nvSpPr>
        <p:spPr>
          <a:xfrm>
            <a:off x="4983480" y="393192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DejaVu Sans"/>
              </a:rPr>
              <a:t>PyMuPDFLoader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4" name="Text 13"/>
          <p:cNvSpPr/>
          <p:nvPr/>
        </p:nvSpPr>
        <p:spPr>
          <a:xfrm>
            <a:off x="4983480" y="4389120"/>
            <a:ext cx="3565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Layout &amp; structure preservation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5" name="Text 14"/>
          <p:cNvSpPr/>
          <p:nvPr/>
        </p:nvSpPr>
        <p:spPr>
          <a:xfrm>
            <a:off x="457200" y="54864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28090"/>
                </a:solidFill>
                <a:latin typeface="Calibri"/>
                <a:ea typeface="DejaVu Sans"/>
              </a:rPr>
              <a:t>💡 </a:t>
            </a:r>
            <a:r>
              <a:rPr b="0" i="1" lang="en-US" sz="1500" spc="-1" strike="noStrike">
                <a:solidFill>
                  <a:srgbClr val="028090"/>
                </a:solidFill>
                <a:latin typeface="Calibri"/>
                <a:ea typeface="DejaVu Sans"/>
              </a:rPr>
              <a:t>Tip: Start with PyPDFLoader, switch only if you encounter issues</a:t>
            </a:r>
            <a:endParaRPr b="0" lang="en-IN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2026-02-10T12:05:44Z</dcterms:created>
  <dc:creator>PptxGenJS</dc:creator>
  <dc:description/>
  <dc:language>en-IN</dc:language>
  <cp:lastModifiedBy/>
  <dcterms:modified xsi:type="dcterms:W3CDTF">2026-02-24T12:09:40Z</dcterms:modified>
  <cp:revision>7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