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4813C2D-AF7C-48EF-8F33-EB3687A89E9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3B50F0-DEA7-402A-8CD4-EEA97A1A43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9D1452-9210-4558-8EF0-F015986684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A893E6-7660-4CD2-AE12-FCCFDA3DB61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99D351-0474-46C0-8B87-E8F2332C27B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5037BF-A543-45E5-9884-D6163C5E0A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10440" y="690480"/>
            <a:ext cx="9120240" cy="16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Other PDF Loaders Available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The speaker mentions several alternatives and provides tutorial links: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1. PDF Plumber Loader - For PDFs with lots of tabular structures, to extract table data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2. Unstructured PDF Loader - If working with scanned image PDFs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3. Amazon Textract PDF Loader - Another option for image extraction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4. PyMuPDF Loader - For layout extraction and structure extraction from PDFs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-1440" y="1177920"/>
            <a:ext cx="9143280" cy="295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-1440" y="423360"/>
            <a:ext cx="9143280" cy="446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619920" y="689040"/>
            <a:ext cx="7900920" cy="39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Key Characteristics of PyPDF Loader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Page-by-page processing: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The biggest feature is that it works on a page-by-page basis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Suppose you have a PDF with 25 pages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When you send this 25-page PDF to the PDF document loader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It will create 25 document objects for this 25-page PDF document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Basically, after processing, you'll have a list of 25 document objects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Each document object has its own page content and its own metadata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In the metadata, you'll get the page number and source extra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Example output: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If you have a PDF with 23 pages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When you load it, you get 23 documents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Each page becomes one document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For the first page: docs[0].page_content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For the last page (page 326): docs[325] (because indexing starts from 0)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180000" y="-728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PDF Loader - Code Implementation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230760" y="180000"/>
            <a:ext cx="8228880" cy="215964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2"/>
          <p:cNvSpPr/>
          <p:nvPr/>
        </p:nvSpPr>
        <p:spPr>
          <a:xfrm>
            <a:off x="413640" y="425520"/>
            <a:ext cx="78631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langchain_community.document_loaders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 PyPDFLoader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Create loader with PDF path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loader = PyPDFLoader(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"machine_learning_guide.pdf"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Load all pages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documents = loader.load()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Check number of pages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print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len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(documents))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Output: 23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230760" y="23000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Sample Output: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230760" y="2757240"/>
            <a:ext cx="8228880" cy="2102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5"/>
          <p:cNvSpPr/>
          <p:nvPr/>
        </p:nvSpPr>
        <p:spPr>
          <a:xfrm>
            <a:off x="413640" y="2894400"/>
            <a:ext cx="78631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Page 0 content: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28090"/>
                </a:solidFill>
                <a:latin typeface="Consolas"/>
                <a:ea typeface="Consolas"/>
              </a:rPr>
              <a:t>documents[0].page_content  </a:t>
            </a:r>
            <a:r>
              <a:rPr b="0" lang="en-US" sz="1200" spc="-1" strike="noStrike">
                <a:solidFill>
                  <a:srgbClr val="212121"/>
                </a:solidFill>
                <a:latin typeface="Calibri"/>
                <a:ea typeface="Consolas"/>
              </a:rPr>
              <a:t># First page text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Page 0 metadata: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'source': 'machine_learning_guide.pdf',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'page': 0,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'total_pages': 23,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'creator': 'PyPDF',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'creation_date': '2024-01-15'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}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Loading Multiple Files: Directory Loader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457200" y="1188720"/>
            <a:ext cx="8228880" cy="9136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2"/>
          <p:cNvSpPr/>
          <p:nvPr/>
        </p:nvSpPr>
        <p:spPr>
          <a:xfrm>
            <a:off x="640080" y="1371600"/>
            <a:ext cx="7863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Load all files from a folder at once - specify file types with glob patterns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457200" y="23774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Scenario: Books folder with 3 PDFs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834640"/>
            <a:ext cx="33825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ml_fundamentals.pdf (326 pages)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python_for_ml.pdf (392 pages)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advanced_techniques.pdf (468 pages)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846320" y="23774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DejaVu Sans"/>
              </a:rPr>
              <a:t>Result: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5029200" y="2834640"/>
            <a:ext cx="347400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7"/>
          <p:cNvSpPr/>
          <p:nvPr/>
        </p:nvSpPr>
        <p:spPr>
          <a:xfrm>
            <a:off x="5212080" y="3017520"/>
            <a:ext cx="31082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DejaVu Sans"/>
              </a:rPr>
              <a:t>1,186 Document objects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(326 + 392 + 468)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Each page = 1 document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57200" y="41148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Common Glob Patterns: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57200" y="4572000"/>
            <a:ext cx="822888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0"/>
          <p:cNvSpPr/>
          <p:nvPr/>
        </p:nvSpPr>
        <p:spPr>
          <a:xfrm>
            <a:off x="640080" y="4709160"/>
            <a:ext cx="7863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*.pdf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All PDF files in root directory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**/*.txt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All text files in all subfolders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data/*.csv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CSV files in 'data' folder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**/*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All files in all folders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78280" y="0"/>
            <a:ext cx="836136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455840" y="2013120"/>
            <a:ext cx="6228720" cy="264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Directory Loader - Code Example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457200" y="1097280"/>
            <a:ext cx="8228880" cy="228528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2"/>
          <p:cNvSpPr/>
          <p:nvPr/>
        </p:nvSpPr>
        <p:spPr>
          <a:xfrm>
            <a:off x="640080" y="1234440"/>
            <a:ext cx="78631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from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langchain_community.document_loaders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import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 DirectoryLoader, PyPDFLoader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Configure directory loader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loader = DirectoryLoader(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path=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"reference_books/"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,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glob=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"*.pdf"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,            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Load only PDFs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loader_cls=PyPDFLoader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Use PDF loader for each file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Load all documents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all_docs = loader.load()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print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"Loaded {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len</a:t>
            </a:r>
            <a:r>
              <a:rPr b="0" lang="en-US" sz="1300" spc="-1" strike="noStrike">
                <a:solidFill>
                  <a:srgbClr val="c3e88d"/>
                </a:solidFill>
                <a:latin typeface="Consolas"/>
                <a:ea typeface="Consolas"/>
              </a:rPr>
              <a:t>(all_docs)} documents"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457200" y="3566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Output: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457200" y="4023360"/>
            <a:ext cx="8228880" cy="1645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5"/>
          <p:cNvSpPr/>
          <p:nvPr/>
        </p:nvSpPr>
        <p:spPr>
          <a:xfrm>
            <a:off x="640080" y="416052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212121"/>
                </a:solidFill>
                <a:latin typeface="Consolas"/>
                <a:ea typeface="Consolas"/>
              </a:rPr>
              <a:t>Loaded 1186 documents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First document: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all_docs[0].metadata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→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{'source': 'reference_books/ml_fundamentals.pdf', 'page': 0}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Last page of first book (page 325):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all_docs[325].metadata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→ </a:t>
            </a:r>
            <a:r>
              <a:rPr b="0" lang="en-US" sz="1200" spc="-1" strike="noStrike">
                <a:solidFill>
                  <a:srgbClr val="212121"/>
                </a:solidFill>
                <a:latin typeface="Consolas"/>
                <a:ea typeface="Consolas"/>
              </a:rPr>
              <a:t>{'source': 'reference_books/ml_fundamentals.pdf', 'page': 325}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940680" y="-1221120"/>
            <a:ext cx="7259400" cy="83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latin typeface="Arial"/>
              </a:rPr>
              <a:t>1. load() → Loads everything at once (Eager Loading)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What it does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</a:rPr>
              <a:t>Reads all documents immediately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</a:rPr>
              <a:t>Stores them in memory as a list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Returns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</a:rPr>
              <a:t>list[Document]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Example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</a:rPr>
              <a:t>docs = loader.load()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print(type(docs))      # list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print(len(docs))      # total documents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print(docs[45])       # 46th document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  <a:ea typeface="Courier New"/>
              </a:rPr>
              <a:t>✔ </a:t>
            </a:r>
            <a:r>
              <a:rPr b="1" lang="en-IN" sz="1600" spc="-1" strike="noStrike">
                <a:latin typeface="Arial"/>
                <a:ea typeface="Courier New"/>
              </a:rPr>
              <a:t>Memory Diagram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PDF Files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  ↓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</a:t>
            </a:r>
            <a:r>
              <a:rPr b="0" lang="en-IN" sz="1000" spc="-1" strike="noStrike">
                <a:latin typeface="Courier New"/>
                <a:ea typeface="Courier New"/>
              </a:rPr>
              <a:t>load()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  ↓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[List of all Documents in RAM]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  <a:ea typeface="Courier New"/>
              </a:rPr>
              <a:t>✔ </a:t>
            </a:r>
            <a:r>
              <a:rPr b="1" lang="en-IN" sz="1600" spc="-1" strike="noStrike">
                <a:latin typeface="Arial"/>
                <a:ea typeface="Courier New"/>
              </a:rPr>
              <a:t>Pros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  <a:ea typeface="Courier New"/>
              </a:rPr>
              <a:t>✔ </a:t>
            </a:r>
            <a:r>
              <a:rPr b="0" lang="en-IN" sz="1000" spc="-1" strike="noStrike">
                <a:latin typeface="Arial"/>
                <a:ea typeface="Courier New"/>
              </a:rPr>
              <a:t>Easy indexing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  <a:ea typeface="Courier New"/>
              </a:rPr>
              <a:t>✔ </a:t>
            </a:r>
            <a:r>
              <a:rPr b="0" lang="en-IN" sz="1000" spc="-1" strike="noStrike">
                <a:latin typeface="Arial"/>
                <a:ea typeface="Courier New"/>
              </a:rPr>
              <a:t>Fast access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  <a:ea typeface="Courier New"/>
              </a:rPr>
              <a:t>✔ </a:t>
            </a:r>
            <a:r>
              <a:rPr b="0" lang="en-IN" sz="1000" spc="-1" strike="noStrike">
                <a:latin typeface="Arial"/>
                <a:ea typeface="Courier New"/>
              </a:rPr>
              <a:t>Simple to use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  <a:ea typeface="Courier New"/>
              </a:rPr>
              <a:t>✔ </a:t>
            </a:r>
            <a:r>
              <a:rPr b="1" lang="en-IN" sz="1600" spc="-1" strike="noStrike">
                <a:latin typeface="Arial"/>
                <a:ea typeface="Courier New"/>
              </a:rPr>
              <a:t>Cons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  <a:ea typeface="Courier New"/>
              </a:rPr>
              <a:t>❌ </a:t>
            </a:r>
            <a:r>
              <a:rPr b="0" lang="en-IN" sz="1000" spc="-1" strike="noStrike">
                <a:latin typeface="Arial"/>
                <a:ea typeface="Courier New"/>
              </a:rPr>
              <a:t>High RAM usage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  <a:ea typeface="Courier New"/>
              </a:rPr>
              <a:t>❌ </a:t>
            </a:r>
            <a:r>
              <a:rPr b="0" lang="en-IN" sz="1000" spc="-1" strike="noStrike">
                <a:latin typeface="Arial"/>
                <a:ea typeface="Courier New"/>
              </a:rPr>
              <a:t>Slow if thousands of PDFs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1172520" y="338040"/>
            <a:ext cx="6796080" cy="52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latin typeface="Arial"/>
              </a:rPr>
              <a:t>2. lazy_load() → Loads one by one (Lazy Loading)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What it does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</a:rPr>
              <a:t>Loads documents only when needed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</a:rPr>
              <a:t>Uses generator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Arial"/>
              </a:rPr>
              <a:t>Does NOT load everything into memory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Returns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</a:rPr>
              <a:t>generator object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</a:rPr>
              <a:t>✔ </a:t>
            </a:r>
            <a:r>
              <a:rPr b="1" lang="en-IN" sz="1600" spc="-1" strike="noStrike">
                <a:latin typeface="Arial"/>
              </a:rPr>
              <a:t>Example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</a:rPr>
              <a:t>docs = loader.lazy_load()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for doc in docs: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   </a:t>
            </a:r>
            <a:r>
              <a:rPr b="0" lang="en-IN" sz="1000" spc="-1" strike="noStrike">
                <a:latin typeface="Courier New"/>
                <a:ea typeface="Courier New"/>
              </a:rPr>
              <a:t>print(doc)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IN" sz="1600" spc="-1" strike="noStrike">
                <a:latin typeface="Arial"/>
                <a:ea typeface="Courier New"/>
              </a:rPr>
              <a:t>✔ </a:t>
            </a:r>
            <a:r>
              <a:rPr b="1" lang="en-IN" sz="1600" spc="-1" strike="noStrike">
                <a:latin typeface="Arial"/>
                <a:ea typeface="Courier New"/>
              </a:rPr>
              <a:t>Memory Diagram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PDF Files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  ↓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lazy_load()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   ↓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000" spc="-1" strike="noStrike">
                <a:latin typeface="Courier New"/>
                <a:ea typeface="Courier New"/>
              </a:rPr>
              <a:t>Loads ONE document at a time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Load vs Lazy Load: Memory Management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1188720"/>
            <a:ext cx="393120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"/>
          <p:cNvSpPr/>
          <p:nvPr/>
        </p:nvSpPr>
        <p:spPr>
          <a:xfrm>
            <a:off x="640080" y="137160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  <a:ea typeface="DejaVu Sans"/>
              </a:rPr>
              <a:t>load() - Eager Loading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40080" y="1920240"/>
            <a:ext cx="35654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How it works: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Loads ALL documents into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memory at once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Returns a complete list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Immediate access to all data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Best for: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Small datasets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Few documents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Need everything upfront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Drawbacks: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High memory usage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Slow initial load time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754880" y="1188720"/>
            <a:ext cx="393120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5"/>
          <p:cNvSpPr/>
          <p:nvPr/>
        </p:nvSpPr>
        <p:spPr>
          <a:xfrm>
            <a:off x="4937760" y="1371600"/>
            <a:ext cx="356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a896"/>
                </a:solidFill>
                <a:latin typeface="Calibri"/>
                <a:ea typeface="DejaVu Sans"/>
              </a:rPr>
              <a:t>lazy_load() - Stream Loading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937760" y="1920240"/>
            <a:ext cx="35654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How it works: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Loads ONE document at a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time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Returns a generator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Process and discard each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Best for: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Large datasets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Many/large documents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Stream processing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Benefits: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Low memory footprint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DejaVu Sans"/>
              </a:rPr>
              <a:t>Immediate start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  <a:ea typeface="DejaVu Sans"/>
              </a:rPr>
              <a:t>Lazy Load - Code Comparison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457200" y="1097280"/>
            <a:ext cx="8228880" cy="255960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640080" y="1234440"/>
            <a:ext cx="78631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Regular load - loads everything upfront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documents = loader.load()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Returns list immediately after loading ALL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Process all at once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for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doc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in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documents: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print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(doc.metadata)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Lazy load - loads one at a time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for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doc </a:t>
            </a:r>
            <a:r>
              <a:rPr b="0" lang="en-US" sz="1300" spc="-1" strike="noStrike">
                <a:solidFill>
                  <a:srgbClr val="c792ea"/>
                </a:solidFill>
                <a:latin typeface="Consolas"/>
                <a:ea typeface="Consolas"/>
              </a:rPr>
              <a:t>in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loader.lazy_load():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Returns generator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82aaff"/>
                </a:solidFill>
                <a:latin typeface="Consolas"/>
                <a:ea typeface="Consolas"/>
              </a:rPr>
              <a:t>print</a:t>
            </a:r>
            <a:r>
              <a:rPr b="0" lang="en-US" sz="1300" spc="-1" strike="noStrike">
                <a:solidFill>
                  <a:srgbClr val="eeffff"/>
                </a:solidFill>
                <a:latin typeface="Consolas"/>
                <a:ea typeface="Consolas"/>
              </a:rPr>
              <a:t>(doc.metadata)      </a:t>
            </a:r>
            <a:r>
              <a:rPr b="0" i="1" lang="en-US" sz="1300" spc="-1" strike="noStrike">
                <a:solidFill>
                  <a:srgbClr val="546e7a"/>
                </a:solidFill>
                <a:latin typeface="Consolas"/>
                <a:ea typeface="Consolas"/>
              </a:rPr>
              <a:t># Process, then discard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57200" y="38404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DejaVu Sans"/>
              </a:rPr>
              <a:t>Memory Impact Example: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457200" y="4297680"/>
            <a:ext cx="8228880" cy="1370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640080" y="4434840"/>
            <a:ext cx="7863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212121"/>
                </a:solidFill>
                <a:latin typeface="Calibri"/>
                <a:ea typeface="DejaVu Sans"/>
              </a:rPr>
              <a:t>Loading 1,186 documents (from 3 PDFs):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load()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Waits ~15 seconds, loads all 1,186 into RAM, then processes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a896"/>
                </a:solidFill>
                <a:latin typeface="Consolas"/>
                <a:ea typeface="Consolas"/>
              </a:rPr>
              <a:t>lazy_load()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  <a:ea typeface="Consolas"/>
              </a:rPr>
              <a:t> → Starts immediately, only 1 document in RAM at a time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-47520" y="1840680"/>
            <a:ext cx="9235800" cy="16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When to Use PyPDF Loader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You should use PyPDF Loader when you have PDFs with mostly textual data and you want to load text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But PyPDF Loader doesn't work well in many scenarios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Like if you have scanned images PDFs, PyPDF Loader won't work that well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For such use cases, you have some other PDF loaders present in LangChain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2026-02-10T12:04:31Z</dcterms:created>
  <dc:creator>PptxGenJS</dc:creator>
  <dc:description/>
  <dc:language>en-IN</dc:language>
  <cp:lastModifiedBy/>
  <dcterms:modified xsi:type="dcterms:W3CDTF">2026-02-24T10:52:54Z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