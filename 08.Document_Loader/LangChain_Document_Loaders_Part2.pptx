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29CF1DB9-31E8-4CB9-A6B2-3147B9DD23D2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C9BE26D-2A49-4D64-924C-0C0C75772FD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7916E71-9402-44C8-BBFA-7482CB1C231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94B8617-43F2-496D-B412-B3068175388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61C8798-706E-41F5-A101-8BE1147DD0D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F6EDE13-D8EF-443D-8C99-DB35E6AEAC91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IN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 0"/>
          <p:cNvSpPr/>
          <p:nvPr/>
        </p:nvSpPr>
        <p:spPr>
          <a:xfrm>
            <a:off x="457200" y="3657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065a82"/>
                </a:solidFill>
                <a:latin typeface="Calibri"/>
              </a:rPr>
              <a:t>What Are Document Loaders?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45" name="Shape 1"/>
          <p:cNvSpPr/>
          <p:nvPr/>
        </p:nvSpPr>
        <p:spPr>
          <a:xfrm>
            <a:off x="457200" y="1188720"/>
            <a:ext cx="8229240" cy="118836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Text 2"/>
          <p:cNvSpPr/>
          <p:nvPr/>
        </p:nvSpPr>
        <p:spPr>
          <a:xfrm>
            <a:off x="640080" y="1463040"/>
            <a:ext cx="78634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</a:rPr>
              <a:t>Components that load data from various sources into a standardized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7" name="Text 3"/>
          <p:cNvSpPr/>
          <p:nvPr/>
        </p:nvSpPr>
        <p:spPr>
          <a:xfrm>
            <a:off x="457200" y="2560320"/>
            <a:ext cx="384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</a:rPr>
              <a:t>Data Sources: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8" name="Text 4"/>
          <p:cNvSpPr/>
          <p:nvPr/>
        </p:nvSpPr>
        <p:spPr>
          <a:xfrm>
            <a:off x="640080" y="3017520"/>
            <a:ext cx="338292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0" lang="en-US" sz="1500" spc="-1" strike="noStrike">
                <a:solidFill>
                  <a:srgbClr val="212121"/>
                </a:solidFill>
                <a:latin typeface="Calibri"/>
              </a:rPr>
              <a:t>✓ </a:t>
            </a:r>
            <a:r>
              <a:rPr b="0" lang="en-US" sz="1500" spc="-1" strike="noStrike">
                <a:solidFill>
                  <a:srgbClr val="212121"/>
                </a:solidFill>
                <a:latin typeface="Calibri"/>
              </a:rPr>
              <a:t>PDF Files</a:t>
            </a:r>
            <a:endParaRPr b="0" lang="en-IN" sz="1500" spc="-1" strike="noStrike">
              <a:latin typeface="Arial"/>
            </a:endParaRPr>
          </a:p>
          <a:p>
            <a:r>
              <a:rPr b="0" lang="en-US" sz="1500" spc="-1" strike="noStrike">
                <a:solidFill>
                  <a:srgbClr val="212121"/>
                </a:solidFill>
                <a:latin typeface="Calibri"/>
              </a:rPr>
              <a:t>✓ </a:t>
            </a:r>
            <a:r>
              <a:rPr b="0" lang="en-US" sz="1500" spc="-1" strike="noStrike">
                <a:solidFill>
                  <a:srgbClr val="212121"/>
                </a:solidFill>
                <a:latin typeface="Calibri"/>
              </a:rPr>
              <a:t>Text Documents</a:t>
            </a:r>
            <a:endParaRPr b="0" lang="en-IN" sz="1500" spc="-1" strike="noStrike">
              <a:latin typeface="Arial"/>
            </a:endParaRPr>
          </a:p>
          <a:p>
            <a:r>
              <a:rPr b="0" lang="en-US" sz="1500" spc="-1" strike="noStrike">
                <a:solidFill>
                  <a:srgbClr val="212121"/>
                </a:solidFill>
                <a:latin typeface="Calibri"/>
              </a:rPr>
              <a:t>✓ </a:t>
            </a:r>
            <a:r>
              <a:rPr b="0" lang="en-US" sz="1500" spc="-1" strike="noStrike">
                <a:solidFill>
                  <a:srgbClr val="212121"/>
                </a:solidFill>
                <a:latin typeface="Calibri"/>
              </a:rPr>
              <a:t>Web Pages</a:t>
            </a:r>
            <a:endParaRPr b="0" lang="en-IN" sz="1500" spc="-1" strike="noStrike">
              <a:latin typeface="Arial"/>
            </a:endParaRPr>
          </a:p>
          <a:p>
            <a:r>
              <a:rPr b="0" lang="en-US" sz="1500" spc="-1" strike="noStrike">
                <a:solidFill>
                  <a:srgbClr val="212121"/>
                </a:solidFill>
                <a:latin typeface="Calibri"/>
              </a:rPr>
              <a:t>✓ </a:t>
            </a:r>
            <a:r>
              <a:rPr b="0" lang="en-US" sz="1500" spc="-1" strike="noStrike">
                <a:solidFill>
                  <a:srgbClr val="212121"/>
                </a:solidFill>
                <a:latin typeface="Calibri"/>
              </a:rPr>
              <a:t>Databases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212121"/>
                </a:solidFill>
                <a:latin typeface="Calibri"/>
              </a:rPr>
              <a:t>✓ </a:t>
            </a:r>
            <a:r>
              <a:rPr b="0" lang="en-US" sz="1500" spc="-1" strike="noStrike">
                <a:solidFill>
                  <a:srgbClr val="212121"/>
                </a:solidFill>
                <a:latin typeface="Calibri"/>
              </a:rPr>
              <a:t>Cloud Storage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49" name="Text 5"/>
          <p:cNvSpPr/>
          <p:nvPr/>
        </p:nvSpPr>
        <p:spPr>
          <a:xfrm>
            <a:off x="4846320" y="2560320"/>
            <a:ext cx="384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</a:rPr>
              <a:t>Output Format: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50" name="Shape 6"/>
          <p:cNvSpPr/>
          <p:nvPr/>
        </p:nvSpPr>
        <p:spPr>
          <a:xfrm>
            <a:off x="5029200" y="3017520"/>
            <a:ext cx="3474360" cy="2011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1" name="Text 7"/>
          <p:cNvSpPr/>
          <p:nvPr/>
        </p:nvSpPr>
        <p:spPr>
          <a:xfrm>
            <a:off x="5212080" y="3200400"/>
            <a:ext cx="3108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0a896"/>
                </a:solidFill>
                <a:latin typeface="Calibri"/>
              </a:rPr>
              <a:t>Document Object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52" name="Text 8"/>
          <p:cNvSpPr/>
          <p:nvPr/>
        </p:nvSpPr>
        <p:spPr>
          <a:xfrm>
            <a:off x="5212080" y="3657600"/>
            <a:ext cx="310860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1" lang="en-US" sz="1400" spc="-1" strike="noStrike">
                <a:solidFill>
                  <a:srgbClr val="212121"/>
                </a:solidFill>
                <a:latin typeface="Calibri"/>
              </a:rPr>
              <a:t>1. Page Content</a:t>
            </a:r>
            <a:endParaRPr b="0" lang="en-IN" sz="1400" spc="-1" strike="noStrike">
              <a:latin typeface="Arial"/>
            </a:endParaRPr>
          </a:p>
          <a:p>
            <a:r>
              <a:rPr b="0" lang="en-US" sz="1300" spc="-1" strike="noStrike">
                <a:solidFill>
                  <a:srgbClr val="212121"/>
                </a:solidFill>
                <a:latin typeface="Calibri"/>
              </a:rPr>
              <a:t>   </a:t>
            </a:r>
            <a:r>
              <a:rPr b="0" lang="en-US" sz="1300" spc="-1" strike="noStrike">
                <a:solidFill>
                  <a:srgbClr val="212121"/>
                </a:solidFill>
                <a:latin typeface="Calibri"/>
              </a:rPr>
              <a:t>Actual text/data</a:t>
            </a:r>
            <a:endParaRPr b="0" lang="en-IN" sz="1300" spc="-1" strike="noStrike">
              <a:latin typeface="Arial"/>
            </a:endParaRPr>
          </a:p>
          <a:p>
            <a:endParaRPr b="0" lang="en-IN" sz="1300" spc="-1" strike="noStrike">
              <a:latin typeface="Arial"/>
            </a:endParaRPr>
          </a:p>
          <a:p>
            <a:r>
              <a:rPr b="1" lang="en-US" sz="1400" spc="-1" strike="noStrike">
                <a:solidFill>
                  <a:srgbClr val="212121"/>
                </a:solidFill>
                <a:latin typeface="Calibri"/>
              </a:rPr>
              <a:t>2. Metadata</a:t>
            </a:r>
            <a:endParaRPr b="0" lang="en-IN" sz="1400" spc="-1" strike="noStrike">
              <a:latin typeface="Arial"/>
            </a:endParaRPr>
          </a:p>
          <a:p>
            <a:r>
              <a:rPr b="0" lang="en-US" sz="1300" spc="-1" strike="noStrike">
                <a:solidFill>
                  <a:srgbClr val="212121"/>
                </a:solidFill>
                <a:latin typeface="Calibri"/>
              </a:rPr>
              <a:t>   </a:t>
            </a:r>
            <a:r>
              <a:rPr b="0" lang="en-US" sz="1300" spc="-1" strike="noStrike">
                <a:solidFill>
                  <a:srgbClr val="212121"/>
                </a:solidFill>
                <a:latin typeface="Calibri"/>
              </a:rPr>
              <a:t>Source, dates, author,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12121"/>
                </a:solidFill>
                <a:latin typeface="Calibri"/>
              </a:rPr>
              <a:t>   </a:t>
            </a:r>
            <a:r>
              <a:rPr b="0" lang="en-US" sz="1300" spc="-1" strike="noStrike">
                <a:solidFill>
                  <a:srgbClr val="212121"/>
                </a:solidFill>
                <a:latin typeface="Calibri"/>
              </a:rPr>
              <a:t>page numbers, etc.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" descr=""/>
          <p:cNvPicPr/>
          <p:nvPr/>
        </p:nvPicPr>
        <p:blipFill>
          <a:blip r:embed="rId1"/>
          <a:stretch/>
        </p:blipFill>
        <p:spPr>
          <a:xfrm>
            <a:off x="-1440" y="1150200"/>
            <a:ext cx="9143640" cy="3606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"/>
          <p:cNvSpPr txBox="1"/>
          <p:nvPr/>
        </p:nvSpPr>
        <p:spPr>
          <a:xfrm>
            <a:off x="-54360" y="2396160"/>
            <a:ext cx="9249840" cy="111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IN" sz="1800" spc="-1" strike="noStrike">
                <a:latin typeface="Arial"/>
              </a:rPr>
              <a:t>Purpose of Document Loaders:</a:t>
            </a:r>
            <a:endParaRPr b="0" lang="en-IN" sz="1800" spc="-1" strike="noStrike">
              <a:latin typeface="Arial"/>
            </a:endParaRPr>
          </a:p>
          <a:p>
            <a:r>
              <a:rPr b="0" lang="en-IN" sz="1800" spc="-1" strike="noStrike">
                <a:latin typeface="Arial"/>
              </a:rPr>
              <a:t>    • </a:t>
            </a:r>
            <a:r>
              <a:rPr b="0" lang="en-IN" sz="1800" spc="-1" strike="noStrike">
                <a:latin typeface="Arial"/>
              </a:rPr>
              <a:t>These utilities in LangChain whose job is to bring data from different </a:t>
            </a:r>
            <a:r>
              <a:rPr b="0" lang="en-IN" sz="1800" spc="-1" strike="noStrike">
                <a:latin typeface="Arial"/>
              </a:rPr>
              <a:t>data sources and convert it into a standardized format</a:t>
            </a:r>
            <a:endParaRPr b="0" lang="en-IN" sz="1800" spc="-1" strike="noStrike">
              <a:latin typeface="Arial"/>
            </a:endParaRPr>
          </a:p>
          <a:p>
            <a:r>
              <a:rPr b="0" lang="en-IN" sz="1800" spc="-1" strike="noStrike">
                <a:latin typeface="Arial"/>
              </a:rPr>
              <a:t>    • </a:t>
            </a:r>
            <a:r>
              <a:rPr b="0" lang="en-IN" sz="1800" spc="-1" strike="noStrike">
                <a:latin typeface="Arial"/>
              </a:rPr>
              <a:t>That standardized format is the Document Object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 0"/>
          <p:cNvSpPr/>
          <p:nvPr/>
        </p:nvSpPr>
        <p:spPr>
          <a:xfrm>
            <a:off x="457200" y="3657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065a82"/>
                </a:solidFill>
                <a:latin typeface="Calibri"/>
              </a:rPr>
              <a:t>Today's Focus: Four Essential Loaders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56" name="Text 1"/>
          <p:cNvSpPr/>
          <p:nvPr/>
        </p:nvSpPr>
        <p:spPr>
          <a:xfrm>
            <a:off x="457200" y="100584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212121"/>
                </a:solidFill>
                <a:latin typeface="Calibri"/>
              </a:rPr>
              <a:t>LangChain offers 100+ loaders - we'll cover the most commonly used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7" name="Shape 2"/>
          <p:cNvSpPr/>
          <p:nvPr/>
        </p:nvSpPr>
        <p:spPr>
          <a:xfrm>
            <a:off x="457200" y="1645920"/>
            <a:ext cx="3931560" cy="1645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8" name="Text 3"/>
          <p:cNvSpPr/>
          <p:nvPr/>
        </p:nvSpPr>
        <p:spPr>
          <a:xfrm>
            <a:off x="640080" y="178308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000000"/>
                </a:solidFill>
                <a:latin typeface="Calibri"/>
              </a:rPr>
              <a:t>📝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59" name="Text 4"/>
          <p:cNvSpPr/>
          <p:nvPr/>
        </p:nvSpPr>
        <p:spPr>
          <a:xfrm>
            <a:off x="1463040" y="182880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28090"/>
                </a:solidFill>
                <a:latin typeface="Calibri"/>
              </a:rPr>
              <a:t>Text Loader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0" name="Text 5"/>
          <p:cNvSpPr/>
          <p:nvPr/>
        </p:nvSpPr>
        <p:spPr>
          <a:xfrm>
            <a:off x="1463040" y="2286000"/>
            <a:ext cx="27428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12121"/>
                </a:solidFill>
                <a:latin typeface="Calibri"/>
              </a:rPr>
              <a:t>Log files, code snippets, transcripts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1" name="Shape 6"/>
          <p:cNvSpPr/>
          <p:nvPr/>
        </p:nvSpPr>
        <p:spPr>
          <a:xfrm>
            <a:off x="4800600" y="1645920"/>
            <a:ext cx="3931560" cy="1645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2" name="Text 7"/>
          <p:cNvSpPr/>
          <p:nvPr/>
        </p:nvSpPr>
        <p:spPr>
          <a:xfrm>
            <a:off x="4983480" y="178308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000000"/>
                </a:solidFill>
                <a:latin typeface="Calibri"/>
              </a:rPr>
              <a:t>📄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63" name="Text 8"/>
          <p:cNvSpPr/>
          <p:nvPr/>
        </p:nvSpPr>
        <p:spPr>
          <a:xfrm>
            <a:off x="5806440" y="182880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0a896"/>
                </a:solidFill>
                <a:latin typeface="Calibri"/>
              </a:rPr>
              <a:t>PDF Loader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4" name="Text 9"/>
          <p:cNvSpPr/>
          <p:nvPr/>
        </p:nvSpPr>
        <p:spPr>
          <a:xfrm>
            <a:off x="5806440" y="2286000"/>
            <a:ext cx="27428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12121"/>
                </a:solidFill>
                <a:latin typeface="Calibri"/>
              </a:rPr>
              <a:t>Academic papers, reports, documentation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5" name="Shape 10"/>
          <p:cNvSpPr/>
          <p:nvPr/>
        </p:nvSpPr>
        <p:spPr>
          <a:xfrm>
            <a:off x="457200" y="3657600"/>
            <a:ext cx="3931560" cy="1645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6" name="Text 11"/>
          <p:cNvSpPr/>
          <p:nvPr/>
        </p:nvSpPr>
        <p:spPr>
          <a:xfrm>
            <a:off x="640080" y="379476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000000"/>
                </a:solidFill>
                <a:latin typeface="Calibri"/>
              </a:rPr>
              <a:t>🌐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67" name="Text 12"/>
          <p:cNvSpPr/>
          <p:nvPr/>
        </p:nvSpPr>
        <p:spPr>
          <a:xfrm>
            <a:off x="1463040" y="384048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2c39a"/>
                </a:solidFill>
                <a:latin typeface="Calibri"/>
              </a:rPr>
              <a:t>Web Loader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68" name="Text 13"/>
          <p:cNvSpPr/>
          <p:nvPr/>
        </p:nvSpPr>
        <p:spPr>
          <a:xfrm>
            <a:off x="1463040" y="4297680"/>
            <a:ext cx="27428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12121"/>
                </a:solidFill>
                <a:latin typeface="Calibri"/>
              </a:rPr>
              <a:t>Articles, blog posts, public websites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9" name="Shape 14"/>
          <p:cNvSpPr/>
          <p:nvPr/>
        </p:nvSpPr>
        <p:spPr>
          <a:xfrm>
            <a:off x="4800600" y="3657600"/>
            <a:ext cx="3931560" cy="1645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0" name="Text 15"/>
          <p:cNvSpPr/>
          <p:nvPr/>
        </p:nvSpPr>
        <p:spPr>
          <a:xfrm>
            <a:off x="4983480" y="3794760"/>
            <a:ext cx="731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000000"/>
                </a:solidFill>
                <a:latin typeface="Calibri"/>
              </a:rPr>
              <a:t>📊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71" name="Text 16"/>
          <p:cNvSpPr/>
          <p:nvPr/>
        </p:nvSpPr>
        <p:spPr>
          <a:xfrm>
            <a:off x="5806440" y="3840480"/>
            <a:ext cx="2742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</a:rPr>
              <a:t>CSV Loader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2" name="Text 17"/>
          <p:cNvSpPr/>
          <p:nvPr/>
        </p:nvSpPr>
        <p:spPr>
          <a:xfrm>
            <a:off x="5806440" y="4297680"/>
            <a:ext cx="27428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212121"/>
                </a:solidFill>
                <a:latin typeface="Calibri"/>
              </a:rPr>
              <a:t>Spreadsheets, tabular data, datasets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3" name="Text 18"/>
          <p:cNvSpPr/>
          <p:nvPr/>
        </p:nvSpPr>
        <p:spPr>
          <a:xfrm>
            <a:off x="457200" y="54864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028090"/>
                </a:solidFill>
                <a:latin typeface="Calibri"/>
              </a:rPr>
              <a:t>All loaders share the same foundation - easy to learn one, use them all!</a:t>
            </a:r>
            <a:endParaRPr b="0" lang="en-IN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 0"/>
          <p:cNvSpPr/>
          <p:nvPr/>
        </p:nvSpPr>
        <p:spPr>
          <a:xfrm>
            <a:off x="457200" y="3657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065a82"/>
                </a:solidFill>
                <a:latin typeface="Calibri"/>
              </a:rPr>
              <a:t>1. Text Loader - The Simplest Loader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75" name="Shape 1"/>
          <p:cNvSpPr/>
          <p:nvPr/>
        </p:nvSpPr>
        <p:spPr>
          <a:xfrm>
            <a:off x="457200" y="1188720"/>
            <a:ext cx="3840120" cy="1371240"/>
          </a:xfrm>
          <a:prstGeom prst="roundRect">
            <a:avLst>
              <a:gd name="adj" fmla="val 16667"/>
            </a:avLst>
          </a:prstGeom>
          <a:solidFill>
            <a:srgbClr val="028090"/>
          </a:solidFill>
          <a:ln w="127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6" name="Text 2"/>
          <p:cNvSpPr/>
          <p:nvPr/>
        </p:nvSpPr>
        <p:spPr>
          <a:xfrm>
            <a:off x="640080" y="1371600"/>
            <a:ext cx="3474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Purpose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7" name="Text 3"/>
          <p:cNvSpPr/>
          <p:nvPr/>
        </p:nvSpPr>
        <p:spPr>
          <a:xfrm>
            <a:off x="640080" y="1737360"/>
            <a:ext cx="3474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Loads plain text (.txt) files and converts them into Document objects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8" name="Text 4"/>
          <p:cNvSpPr/>
          <p:nvPr/>
        </p:nvSpPr>
        <p:spPr>
          <a:xfrm>
            <a:off x="4846320" y="1188720"/>
            <a:ext cx="384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</a:rPr>
              <a:t>Best Use Cases: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79" name="Text 5"/>
          <p:cNvSpPr/>
          <p:nvPr/>
        </p:nvSpPr>
        <p:spPr>
          <a:xfrm>
            <a:off x="5029200" y="1645920"/>
            <a:ext cx="34743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0" lang="en-US" sz="1400" spc="-1" strike="noStrike">
                <a:solidFill>
                  <a:srgbClr val="212121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212121"/>
                </a:solidFill>
                <a:latin typeface="Calibri"/>
              </a:rPr>
              <a:t>Processing log files</a:t>
            </a:r>
            <a:endParaRPr b="0" lang="en-IN" sz="1400" spc="-1" strike="noStrike">
              <a:latin typeface="Arial"/>
            </a:endParaRPr>
          </a:p>
          <a:p>
            <a:r>
              <a:rPr b="0" lang="en-US" sz="1400" spc="-1" strike="noStrike">
                <a:solidFill>
                  <a:srgbClr val="212121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212121"/>
                </a:solidFill>
                <a:latin typeface="Calibri"/>
              </a:rPr>
              <a:t>Loading code snippets</a:t>
            </a:r>
            <a:endParaRPr b="0" lang="en-IN" sz="1400" spc="-1" strike="noStrike">
              <a:latin typeface="Arial"/>
            </a:endParaRPr>
          </a:p>
          <a:p>
            <a:r>
              <a:rPr b="0" lang="en-US" sz="1400" spc="-1" strike="noStrike">
                <a:solidFill>
                  <a:srgbClr val="212121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212121"/>
                </a:solidFill>
                <a:latin typeface="Calibri"/>
              </a:rPr>
              <a:t>Reading transcripts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12121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212121"/>
                </a:solidFill>
                <a:latin typeface="Calibri"/>
              </a:rPr>
              <a:t>Any plain text data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0" name="Text 6"/>
          <p:cNvSpPr/>
          <p:nvPr/>
        </p:nvSpPr>
        <p:spPr>
          <a:xfrm>
            <a:off x="457200" y="292608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</a:rPr>
              <a:t>Limitation: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1" name="Shape 7"/>
          <p:cNvSpPr/>
          <p:nvPr/>
        </p:nvSpPr>
        <p:spPr>
          <a:xfrm>
            <a:off x="457200" y="3383280"/>
            <a:ext cx="8229240" cy="548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2" name="Text 8"/>
          <p:cNvSpPr/>
          <p:nvPr/>
        </p:nvSpPr>
        <p:spPr>
          <a:xfrm>
            <a:off x="640080" y="3520440"/>
            <a:ext cx="7863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12121"/>
                </a:solidFill>
                <a:latin typeface="Calibri"/>
              </a:rPr>
              <a:t>⚠️  </a:t>
            </a:r>
            <a:r>
              <a:rPr b="0" lang="en-US" sz="1400" spc="-1" strike="noStrike">
                <a:solidFill>
                  <a:srgbClr val="212121"/>
                </a:solidFill>
                <a:latin typeface="Calibri"/>
              </a:rPr>
              <a:t>Works only with .txt files - won't process PDFs, Word docs, or other formats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" descr=""/>
          <p:cNvPicPr/>
          <p:nvPr/>
        </p:nvPicPr>
        <p:blipFill>
          <a:blip r:embed="rId1"/>
          <a:stretch/>
        </p:blipFill>
        <p:spPr>
          <a:xfrm>
            <a:off x="-1440" y="803520"/>
            <a:ext cx="9143640" cy="3533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" descr=""/>
          <p:cNvPicPr/>
          <p:nvPr/>
        </p:nvPicPr>
        <p:blipFill>
          <a:blip r:embed="rId1"/>
          <a:stretch/>
        </p:blipFill>
        <p:spPr>
          <a:xfrm>
            <a:off x="-1440" y="1607760"/>
            <a:ext cx="9143640" cy="192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"/>
          <p:cNvSpPr txBox="1"/>
          <p:nvPr/>
        </p:nvSpPr>
        <p:spPr>
          <a:xfrm>
            <a:off x="1512000" y="325440"/>
            <a:ext cx="4428000" cy="111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IN" sz="1800" spc="-1" strike="noStrike">
                <a:latin typeface="Arial"/>
              </a:rPr>
              <a:t>Document structure (as explained earlier):</a:t>
            </a:r>
            <a:endParaRPr b="0" lang="en-IN" sz="1800" spc="-1" strike="noStrike">
              <a:latin typeface="Arial"/>
            </a:endParaRPr>
          </a:p>
          <a:p>
            <a:r>
              <a:rPr b="0" lang="en-IN" sz="1800" spc="-1" strike="noStrike">
                <a:latin typeface="Arial"/>
              </a:rPr>
              <a:t>    • </a:t>
            </a:r>
            <a:r>
              <a:rPr b="0" lang="en-IN" sz="1800" spc="-1" strike="noStrike">
                <a:latin typeface="Arial"/>
              </a:rPr>
              <a:t>Has two things: </a:t>
            </a:r>
            <a:endParaRPr b="0" lang="en-IN" sz="1800" spc="-1" strike="noStrike">
              <a:latin typeface="Arial"/>
            </a:endParaRPr>
          </a:p>
          <a:p>
            <a:r>
              <a:rPr b="0" lang="en-IN" sz="1800" spc="-1" strike="noStrike">
                <a:latin typeface="Arial"/>
              </a:rPr>
              <a:t>        ◦ </a:t>
            </a:r>
            <a:r>
              <a:rPr b="0" lang="en-IN" sz="1800" spc="-1" strike="noStrike">
                <a:latin typeface="Arial"/>
              </a:rPr>
              <a:t>Page Content</a:t>
            </a:r>
            <a:endParaRPr b="0" lang="en-IN" sz="1800" spc="-1" strike="noStrike">
              <a:latin typeface="Arial"/>
            </a:endParaRPr>
          </a:p>
          <a:p>
            <a:r>
              <a:rPr b="0" lang="en-IN" sz="1800" spc="-1" strike="noStrike">
                <a:latin typeface="Arial"/>
              </a:rPr>
              <a:t>        ◦ </a:t>
            </a:r>
            <a:r>
              <a:rPr b="0" lang="en-IN" sz="1800" spc="-1" strike="noStrike">
                <a:latin typeface="Arial"/>
              </a:rPr>
              <a:t>Metadata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155160" y="1756800"/>
            <a:ext cx="8830800" cy="1626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IN" sz="1800" spc="-1" strike="noStrike">
                <a:latin typeface="Arial"/>
              </a:rPr>
              <a:t>Output characteristics:</a:t>
            </a:r>
            <a:endParaRPr b="0" lang="en-IN" sz="1800" spc="-1" strike="noStrike">
              <a:latin typeface="Arial"/>
            </a:endParaRPr>
          </a:p>
          <a:p>
            <a:r>
              <a:rPr b="0" lang="en-IN" sz="1800" spc="-1" strike="noStrike">
                <a:latin typeface="Arial"/>
              </a:rPr>
              <a:t>    • </a:t>
            </a:r>
            <a:r>
              <a:rPr b="0" lang="en-IN" sz="1800" spc="-1" strike="noStrike">
                <a:latin typeface="Arial"/>
              </a:rPr>
              <a:t>You get a Python list as output</a:t>
            </a:r>
            <a:endParaRPr b="0" lang="en-IN" sz="1800" spc="-1" strike="noStrike">
              <a:latin typeface="Arial"/>
            </a:endParaRPr>
          </a:p>
          <a:p>
            <a:r>
              <a:rPr b="0" lang="en-IN" sz="1800" spc="-1" strike="noStrike">
                <a:latin typeface="Arial"/>
              </a:rPr>
              <a:t>    • </a:t>
            </a:r>
            <a:r>
              <a:rPr b="0" lang="en-IN" sz="1800" spc="-1" strike="noStrike">
                <a:latin typeface="Arial"/>
              </a:rPr>
              <a:t>What's happening is any document loader you use, when it loads the document, it loads it as a list of documents</a:t>
            </a:r>
            <a:endParaRPr b="0" lang="en-IN" sz="1800" spc="-1" strike="noStrike">
              <a:latin typeface="Arial"/>
            </a:endParaRPr>
          </a:p>
          <a:p>
            <a:r>
              <a:rPr b="0" lang="en-IN" sz="1800" spc="-1" strike="noStrike">
                <a:latin typeface="Arial"/>
              </a:rPr>
              <a:t>    • </a:t>
            </a:r>
            <a:r>
              <a:rPr b="0" lang="en-IN" sz="1800" spc="-1" strike="noStrike">
                <a:latin typeface="Arial"/>
              </a:rPr>
              <a:t>You'll notice going forward that whatever document loaders we cover, each one's output will be a list of documents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" descr=""/>
          <p:cNvPicPr/>
          <p:nvPr/>
        </p:nvPicPr>
        <p:blipFill>
          <a:blip r:embed="rId1"/>
          <a:stretch/>
        </p:blipFill>
        <p:spPr>
          <a:xfrm>
            <a:off x="227160" y="-1800"/>
            <a:ext cx="8686800" cy="5143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" descr=""/>
          <p:cNvPicPr/>
          <p:nvPr/>
        </p:nvPicPr>
        <p:blipFill>
          <a:blip r:embed="rId1"/>
          <a:stretch/>
        </p:blipFill>
        <p:spPr>
          <a:xfrm>
            <a:off x="-1440" y="2188800"/>
            <a:ext cx="9143640" cy="762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 0"/>
          <p:cNvSpPr/>
          <p:nvPr/>
        </p:nvSpPr>
        <p:spPr>
          <a:xfrm>
            <a:off x="457200" y="3657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065a82"/>
                </a:solidFill>
                <a:latin typeface="Calibri"/>
              </a:rPr>
              <a:t>Text Loader - Code Implementation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90" name="Shape 1"/>
          <p:cNvSpPr/>
          <p:nvPr/>
        </p:nvSpPr>
        <p:spPr>
          <a:xfrm>
            <a:off x="360000" y="1260000"/>
            <a:ext cx="8640000" cy="3060000"/>
          </a:xfrm>
          <a:prstGeom prst="roundRect">
            <a:avLst>
              <a:gd name="adj" fmla="val 16667"/>
            </a:avLst>
          </a:prstGeom>
          <a:solidFill>
            <a:srgbClr val="263238"/>
          </a:solidFill>
          <a:ln w="25400">
            <a:solidFill>
              <a:srgbClr val="028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r>
              <a:rPr b="0" lang="en-IN" sz="1800" spc="-1" strike="noStrike">
                <a:latin typeface="Arial"/>
              </a:rPr>
              <a:t>from langchain_community.document_loaders import TextLoader</a:t>
            </a:r>
            <a:endParaRPr b="0" lang="en-IN" sz="1800" spc="-1" strike="noStrike">
              <a:latin typeface="Arial"/>
            </a:endParaRPr>
          </a:p>
          <a:p>
            <a:r>
              <a:rPr b="0" lang="en-IN" sz="1800" spc="-1" strike="noStrike">
                <a:latin typeface="Arial"/>
              </a:rPr>
              <a:t># Create loader instance</a:t>
            </a:r>
            <a:endParaRPr b="0" lang="en-IN" sz="1800" spc="-1" strike="noStrike">
              <a:latin typeface="Arial"/>
            </a:endParaRPr>
          </a:p>
          <a:p>
            <a:r>
              <a:rPr b="0" lang="en-IN" sz="1800" spc="-1" strike="noStrike">
                <a:latin typeface="Arial"/>
              </a:rPr>
              <a:t>loader = TextLoader(</a:t>
            </a:r>
            <a:endParaRPr b="0" lang="en-IN" sz="1800" spc="-1" strike="noStrike">
              <a:latin typeface="Arial"/>
            </a:endParaRPr>
          </a:p>
          <a:p>
            <a:r>
              <a:rPr b="0" lang="en-IN" sz="1800" spc="-1" strike="noStrike">
                <a:latin typeface="Arial"/>
              </a:rPr>
              <a:t>    </a:t>
            </a:r>
            <a:r>
              <a:rPr b="0" lang="en-IN" sz="1800" spc="-1" strike="noStrike">
                <a:latin typeface="Arial"/>
              </a:rPr>
              <a:t>file_path="sports_article.txt",</a:t>
            </a:r>
            <a:endParaRPr b="0" lang="en-IN" sz="1800" spc="-1" strike="noStrike">
              <a:latin typeface="Arial"/>
            </a:endParaRPr>
          </a:p>
          <a:p>
            <a:r>
              <a:rPr b="0" lang="en-IN" sz="1800" spc="-1" strike="noStrike">
                <a:latin typeface="Arial"/>
              </a:rPr>
              <a:t>    </a:t>
            </a:r>
            <a:r>
              <a:rPr b="0" lang="en-IN" sz="1800" spc="-1" strike="noStrike">
                <a:latin typeface="Arial"/>
              </a:rPr>
              <a:t>encoding="UTF-8"</a:t>
            </a:r>
            <a:endParaRPr b="0" lang="en-IN" sz="1800" spc="-1" strike="noStrike">
              <a:latin typeface="Arial"/>
            </a:endParaRPr>
          </a:p>
          <a:p>
            <a:r>
              <a:rPr b="0" lang="en-IN" sz="1800" spc="-1" strike="noStrike">
                <a:latin typeface="Arial"/>
              </a:rPr>
              <a:t>)</a:t>
            </a:r>
            <a:endParaRPr b="0" lang="en-IN" sz="1800" spc="-1" strike="noStrike">
              <a:latin typeface="Arial"/>
            </a:endParaRPr>
          </a:p>
          <a:p>
            <a:r>
              <a:rPr b="0" lang="en-IN" sz="1800" spc="-1" strike="noStrike">
                <a:latin typeface="Arial"/>
              </a:rPr>
              <a:t># Load the document</a:t>
            </a:r>
            <a:endParaRPr b="0" lang="en-IN" sz="1800" spc="-1" strike="noStrike">
              <a:latin typeface="Arial"/>
            </a:endParaRPr>
          </a:p>
          <a:p>
            <a:r>
              <a:rPr b="0" lang="en-IN" sz="1800" spc="-1" strike="noStrike">
                <a:latin typeface="Arial"/>
              </a:rPr>
              <a:t>documents = loader.load()</a:t>
            </a:r>
            <a:endParaRPr b="0" lang="en-IN" sz="1800" spc="-1" strike="noStrike">
              <a:latin typeface="Arial"/>
            </a:endParaRPr>
          </a:p>
          <a:p>
            <a:endParaRPr b="0" lang="en-IN" sz="1800" spc="-1" strike="noStrike">
              <a:latin typeface="Arial"/>
            </a:endParaRPr>
          </a:p>
          <a:p>
            <a:r>
              <a:rPr b="0" lang="en-IN" sz="1800" spc="-1" strike="noStrike">
                <a:latin typeface="Arial"/>
              </a:rPr>
              <a:t># View results</a:t>
            </a:r>
            <a:endParaRPr b="0" lang="en-IN" sz="1800" spc="-1" strike="noStrike">
              <a:latin typeface="Arial"/>
            </a:endParaRPr>
          </a:p>
          <a:p>
            <a:r>
              <a:rPr b="0" lang="en-IN" sz="1800" spc="-1" strike="noStrike">
                <a:latin typeface="Arial"/>
              </a:rPr>
              <a:t>print(documents)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1" name="Text 2"/>
          <p:cNvSpPr/>
          <p:nvPr/>
        </p:nvSpPr>
        <p:spPr>
          <a:xfrm>
            <a:off x="540000" y="720000"/>
            <a:ext cx="786348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2" name="Text 3"/>
          <p:cNvSpPr/>
          <p:nvPr/>
        </p:nvSpPr>
        <p:spPr>
          <a:xfrm>
            <a:off x="5630760" y="449460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</a:rPr>
              <a:t>Output Structure: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3" name="Shape 4"/>
          <p:cNvSpPr/>
          <p:nvPr/>
        </p:nvSpPr>
        <p:spPr>
          <a:xfrm>
            <a:off x="360000" y="4383000"/>
            <a:ext cx="8229240" cy="1737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4" name="Text 5"/>
          <p:cNvSpPr/>
          <p:nvPr/>
        </p:nvSpPr>
        <p:spPr>
          <a:xfrm>
            <a:off x="640080" y="4477320"/>
            <a:ext cx="786348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0" lang="en-US" sz="1400" spc="-1" strike="noStrike">
                <a:solidFill>
                  <a:srgbClr val="212121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212121"/>
                </a:solidFill>
                <a:latin typeface="Calibri"/>
              </a:rPr>
              <a:t>Returns a Python list of Document objects</a:t>
            </a:r>
            <a:endParaRPr b="0" lang="en-IN" sz="1400" spc="-1" strike="noStrike">
              <a:latin typeface="Arial"/>
            </a:endParaRPr>
          </a:p>
          <a:p>
            <a:r>
              <a:rPr b="0" lang="en-US" sz="1400" spc="-1" strike="noStrike">
                <a:solidFill>
                  <a:srgbClr val="212121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212121"/>
                </a:solidFill>
                <a:latin typeface="Calibri"/>
              </a:rPr>
              <a:t>Each Document contains:</a:t>
            </a:r>
            <a:endParaRPr b="0" lang="en-IN" sz="1400" spc="-1" strike="noStrike">
              <a:latin typeface="Arial"/>
            </a:endParaRPr>
          </a:p>
          <a:p>
            <a:r>
              <a:rPr b="0" lang="en-US" sz="1300" spc="-1" strike="noStrike">
                <a:solidFill>
                  <a:srgbClr val="212121"/>
                </a:solidFill>
                <a:latin typeface="Calibri"/>
              </a:rPr>
              <a:t>   </a:t>
            </a:r>
            <a:r>
              <a:rPr b="0" lang="en-US" sz="1300" spc="-1" strike="noStrike">
                <a:solidFill>
                  <a:srgbClr val="212121"/>
                </a:solidFill>
                <a:latin typeface="Calibri"/>
              </a:rPr>
              <a:t>- page_content: The actual text from the file</a:t>
            </a:r>
            <a:endParaRPr b="0" lang="en-IN" sz="1300" spc="-1" strike="noStrike">
              <a:latin typeface="Arial"/>
            </a:endParaRPr>
          </a:p>
          <a:p>
            <a:r>
              <a:rPr b="0" lang="en-US" sz="1300" spc="-1" strike="noStrike">
                <a:solidFill>
                  <a:srgbClr val="212121"/>
                </a:solidFill>
                <a:latin typeface="Calibri"/>
              </a:rPr>
              <a:t>   </a:t>
            </a:r>
            <a:r>
              <a:rPr b="0" lang="en-US" sz="1300" spc="-1" strike="noStrike">
                <a:solidFill>
                  <a:srgbClr val="212121"/>
                </a:solidFill>
                <a:latin typeface="Calibri"/>
              </a:rPr>
              <a:t>- metadata: {'source': 'sports_article.txt'}</a:t>
            </a:r>
            <a:endParaRPr b="0" lang="en-IN" sz="1300" spc="-1" strike="noStrike">
              <a:latin typeface="Arial"/>
            </a:endParaRPr>
          </a:p>
          <a:p>
            <a:endParaRPr b="0" lang="en-IN" sz="1300" spc="-1" strike="noStrike">
              <a:latin typeface="Arial"/>
            </a:endParaRPr>
          </a:p>
          <a:p>
            <a:r>
              <a:rPr b="0" lang="en-US" sz="1400" spc="-1" strike="noStrike">
                <a:solidFill>
                  <a:srgbClr val="212121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212121"/>
                </a:solidFill>
                <a:latin typeface="Calibri"/>
              </a:rPr>
              <a:t>Access content: </a:t>
            </a:r>
            <a:r>
              <a:rPr b="0" lang="en-US" sz="1300" spc="-1" strike="noStrike">
                <a:solidFill>
                  <a:srgbClr val="028090"/>
                </a:solidFill>
                <a:latin typeface="Consolas"/>
                <a:ea typeface="Consolas"/>
              </a:rPr>
              <a:t>documents[0].page_content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12121"/>
                </a:solidFill>
                <a:latin typeface="Calibri"/>
                <a:ea typeface="Consolas"/>
              </a:rPr>
              <a:t>• </a:t>
            </a:r>
            <a:r>
              <a:rPr b="0" lang="en-US" sz="1400" spc="-1" strike="noStrike">
                <a:solidFill>
                  <a:srgbClr val="212121"/>
                </a:solidFill>
                <a:latin typeface="Calibri"/>
                <a:ea typeface="Consolas"/>
              </a:rPr>
              <a:t>Access metadata: </a:t>
            </a:r>
            <a:r>
              <a:rPr b="0" lang="en-US" sz="1300" spc="-1" strike="noStrike">
                <a:solidFill>
                  <a:srgbClr val="028090"/>
                </a:solidFill>
                <a:latin typeface="Consolas"/>
                <a:ea typeface="Consolas"/>
              </a:rPr>
              <a:t>documents[0].metadata</a:t>
            </a:r>
            <a:endParaRPr b="0" lang="en-IN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 0"/>
          <p:cNvSpPr/>
          <p:nvPr/>
        </p:nvSpPr>
        <p:spPr>
          <a:xfrm>
            <a:off x="410760" y="-7200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600" spc="-1" strike="noStrike">
                <a:solidFill>
                  <a:srgbClr val="065a82"/>
                </a:solidFill>
                <a:latin typeface="Calibri"/>
              </a:rPr>
              <a:t>2. PDF Loader (PyPDF Loader)</a:t>
            </a:r>
            <a:endParaRPr b="0" lang="en-IN" sz="3600" spc="-1" strike="noStrike">
              <a:latin typeface="Arial"/>
            </a:endParaRPr>
          </a:p>
        </p:txBody>
      </p:sp>
      <p:sp>
        <p:nvSpPr>
          <p:cNvPr id="96" name="Shape 1"/>
          <p:cNvSpPr/>
          <p:nvPr/>
        </p:nvSpPr>
        <p:spPr>
          <a:xfrm>
            <a:off x="410760" y="102960"/>
            <a:ext cx="3840120" cy="1371240"/>
          </a:xfrm>
          <a:prstGeom prst="roundRect">
            <a:avLst>
              <a:gd name="adj" fmla="val 16667"/>
            </a:avLst>
          </a:prstGeom>
          <a:solidFill>
            <a:srgbClr val="00a896"/>
          </a:solidFill>
          <a:ln w="127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7" name="Text 2"/>
          <p:cNvSpPr/>
          <p:nvPr/>
        </p:nvSpPr>
        <p:spPr>
          <a:xfrm>
            <a:off x="593640" y="285840"/>
            <a:ext cx="3474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</a:rPr>
              <a:t>Purpose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8" name="Text 3"/>
          <p:cNvSpPr/>
          <p:nvPr/>
        </p:nvSpPr>
        <p:spPr>
          <a:xfrm>
            <a:off x="593640" y="651600"/>
            <a:ext cx="3474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Calibri"/>
              </a:rPr>
              <a:t>Extracts text from PDF files - processes each page separately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99" name="Text 4"/>
          <p:cNvSpPr/>
          <p:nvPr/>
        </p:nvSpPr>
        <p:spPr>
          <a:xfrm>
            <a:off x="4799880" y="102960"/>
            <a:ext cx="384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</a:rPr>
              <a:t>Key Feature: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0" name="Shape 5"/>
          <p:cNvSpPr/>
          <p:nvPr/>
        </p:nvSpPr>
        <p:spPr>
          <a:xfrm>
            <a:off x="4982760" y="560160"/>
            <a:ext cx="3474360" cy="914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54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1" name="Text 6"/>
          <p:cNvSpPr/>
          <p:nvPr/>
        </p:nvSpPr>
        <p:spPr>
          <a:xfrm>
            <a:off x="5165640" y="697320"/>
            <a:ext cx="31086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12121"/>
                </a:solidFill>
                <a:latin typeface="Calibri"/>
              </a:rPr>
              <a:t>Page-by-page processing:</a:t>
            </a:r>
            <a:endParaRPr b="0" lang="en-IN" sz="1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12121"/>
                </a:solidFill>
                <a:latin typeface="Calibri"/>
              </a:rPr>
              <a:t>25-page PDF → 25 Document objects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02" name="Text 7"/>
          <p:cNvSpPr/>
          <p:nvPr/>
        </p:nvSpPr>
        <p:spPr>
          <a:xfrm>
            <a:off x="410760" y="184032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</a:rPr>
              <a:t>When to Use PyPDF Loader: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3" name="Text 8"/>
          <p:cNvSpPr/>
          <p:nvPr/>
        </p:nvSpPr>
        <p:spPr>
          <a:xfrm>
            <a:off x="593640" y="2297520"/>
            <a:ext cx="78634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0" lang="en-US" sz="1400" spc="-1" strike="noStrike">
                <a:solidFill>
                  <a:srgbClr val="212121"/>
                </a:solidFill>
                <a:latin typeface="Calibri"/>
              </a:rPr>
              <a:t>✓ </a:t>
            </a:r>
            <a:r>
              <a:rPr b="0" lang="en-US" sz="1400" spc="-1" strike="noStrike">
                <a:solidFill>
                  <a:srgbClr val="212121"/>
                </a:solidFill>
                <a:latin typeface="Calibri"/>
              </a:rPr>
              <a:t>Text-based PDFs (reports, papers, documentation)</a:t>
            </a:r>
            <a:endParaRPr b="0" lang="en-IN" sz="1400" spc="-1" strike="noStrike">
              <a:latin typeface="Arial"/>
            </a:endParaRPr>
          </a:p>
          <a:p>
            <a:r>
              <a:rPr b="0" lang="en-US" sz="1400" spc="-1" strike="noStrike">
                <a:solidFill>
                  <a:srgbClr val="212121"/>
                </a:solidFill>
                <a:latin typeface="Calibri"/>
              </a:rPr>
              <a:t>✓ </a:t>
            </a:r>
            <a:r>
              <a:rPr b="0" lang="en-US" sz="1400" spc="-1" strike="noStrike">
                <a:solidFill>
                  <a:srgbClr val="212121"/>
                </a:solidFill>
                <a:latin typeface="Calibri"/>
              </a:rPr>
              <a:t>Digital documents with searchable text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12121"/>
                </a:solidFill>
                <a:latin typeface="Calibri"/>
              </a:rPr>
              <a:t>✓ </a:t>
            </a:r>
            <a:r>
              <a:rPr b="0" lang="en-US" sz="1400" spc="-1" strike="noStrike">
                <a:solidFill>
                  <a:srgbClr val="212121"/>
                </a:solidFill>
                <a:latin typeface="Calibri"/>
              </a:rPr>
              <a:t>Simple, straightforward PDF extraction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04" name="Text 9"/>
          <p:cNvSpPr/>
          <p:nvPr/>
        </p:nvSpPr>
        <p:spPr>
          <a:xfrm>
            <a:off x="410760" y="339480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</a:rPr>
              <a:t>Limitations: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05" name="Text 10"/>
          <p:cNvSpPr/>
          <p:nvPr/>
        </p:nvSpPr>
        <p:spPr>
          <a:xfrm>
            <a:off x="593640" y="3852000"/>
            <a:ext cx="7863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r>
              <a:rPr b="0" lang="en-US" sz="1400" spc="-1" strike="noStrike">
                <a:solidFill>
                  <a:srgbClr val="212121"/>
                </a:solidFill>
                <a:latin typeface="Calibri"/>
              </a:rPr>
              <a:t>✗ </a:t>
            </a:r>
            <a:r>
              <a:rPr b="0" lang="en-US" sz="1400" spc="-1" strike="noStrike">
                <a:solidFill>
                  <a:srgbClr val="212121"/>
                </a:solidFill>
                <a:latin typeface="Calibri"/>
              </a:rPr>
              <a:t>Scanned image PDFs (use UnstructuredPDFLoader instead)</a:t>
            </a:r>
            <a:endParaRPr b="0" lang="en-IN" sz="1400" spc="-1" strike="noStrike">
              <a:latin typeface="Arial"/>
            </a:endParaRPr>
          </a:p>
          <a:p>
            <a:r>
              <a:rPr b="0" lang="en-US" sz="1400" spc="-1" strike="noStrike">
                <a:solidFill>
                  <a:srgbClr val="212121"/>
                </a:solidFill>
                <a:latin typeface="Calibri"/>
              </a:rPr>
              <a:t>✗ </a:t>
            </a:r>
            <a:r>
              <a:rPr b="0" lang="en-US" sz="1400" spc="-1" strike="noStrike">
                <a:solidFill>
                  <a:srgbClr val="212121"/>
                </a:solidFill>
                <a:latin typeface="Calibri"/>
              </a:rPr>
              <a:t>Complex layouts with tables (use PDFPlumberLoader)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12121"/>
                </a:solidFill>
                <a:latin typeface="Calibri"/>
              </a:rPr>
              <a:t>✗ </a:t>
            </a:r>
            <a:r>
              <a:rPr b="0" lang="en-US" sz="1400" spc="-1" strike="noStrike">
                <a:solidFill>
                  <a:srgbClr val="212121"/>
                </a:solidFill>
                <a:latin typeface="Calibri"/>
              </a:rPr>
              <a:t>PDFs requiring layout preservation (use PyMuPDFLoader)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" descr=""/>
          <p:cNvPicPr/>
          <p:nvPr/>
        </p:nvPicPr>
        <p:blipFill>
          <a:blip r:embed="rId1"/>
          <a:stretch/>
        </p:blipFill>
        <p:spPr>
          <a:xfrm>
            <a:off x="-1440" y="844560"/>
            <a:ext cx="9143640" cy="3450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2026-02-10T12:03:11Z</dcterms:created>
  <dc:creator>PptxGenJS</dc:creator>
  <dc:description/>
  <dc:language>en-IN</dc:language>
  <cp:lastModifiedBy/>
  <dcterms:modified xsi:type="dcterms:W3CDTF">2026-02-24T08:48:09Z</dcterms:modified>
  <cp:revision>5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5</vt:i4>
  </property>
  <property fmtid="{D5CDD505-2E9C-101B-9397-08002B2CF9AE}" pid="3" name="PresentationFormat">
    <vt:lpwstr>On-screen Show (16:9)</vt:lpwstr>
  </property>
  <property fmtid="{D5CDD505-2E9C-101B-9397-08002B2CF9AE}" pid="4" name="Slides">
    <vt:i4>5</vt:i4>
  </property>
</Properties>
</file>