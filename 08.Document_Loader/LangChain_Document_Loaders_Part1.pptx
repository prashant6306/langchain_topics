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2.xml.rels" ContentType="application/vnd.openxmlformats-package.relationships+xml"/>
  <Override PartName="/ppt/notesSlides/_rels/notesSlide7.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IN" sz="1800" spc="-1" strike="noStrike">
                <a:solidFill>
                  <a:srgbClr val="000000"/>
                </a:solidFill>
                <a:latin typeface="Calibri"/>
              </a:rPr>
              <a:t>Click to move the slide</a:t>
            </a:r>
            <a:endParaRPr b="0" lang="en-IN" sz="1800" spc="-1" strike="noStrike">
              <a:solidFill>
                <a:srgbClr val="000000"/>
              </a:solidFill>
              <a:latin typeface="Calibri"/>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IN" sz="2000" spc="-1" strike="noStrike">
                <a:latin typeface="Arial"/>
              </a:rPr>
              <a:t>Click to edit the notes format</a:t>
            </a:r>
            <a:endParaRPr b="0" lang="en-IN"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IN" sz="1400" spc="-1" strike="noStrike">
                <a:latin typeface="Times New Roman"/>
              </a:rPr>
              <a:t>&lt;header&gt;</a:t>
            </a:r>
            <a:endParaRPr b="0" lang="en-IN"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IN" sz="1400" spc="-1" strike="noStrike">
                <a:latin typeface="Times New Roman"/>
              </a:defRPr>
            </a:lvl1pPr>
          </a:lstStyle>
          <a:p>
            <a:pPr algn="r">
              <a:buNone/>
            </a:pPr>
            <a:r>
              <a:rPr b="0" lang="en-IN" sz="1400" spc="-1" strike="noStrike">
                <a:latin typeface="Times New Roman"/>
              </a:rPr>
              <a:t>&lt;date/time&gt;</a:t>
            </a:r>
            <a:endParaRPr b="0" lang="en-IN"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IN" sz="1400" spc="-1" strike="noStrike">
                <a:latin typeface="Times New Roman"/>
              </a:defRPr>
            </a:lvl1pPr>
          </a:lstStyle>
          <a:p>
            <a:r>
              <a:rPr b="0" lang="en-IN" sz="1400" spc="-1" strike="noStrike">
                <a:latin typeface="Times New Roman"/>
              </a:rPr>
              <a:t>&lt;footer&gt;</a:t>
            </a:r>
            <a:endParaRPr b="0" lang="en-IN"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IN" sz="1400" spc="-1" strike="noStrike">
                <a:latin typeface="Times New Roman"/>
              </a:defRPr>
            </a:lvl1pPr>
          </a:lstStyle>
          <a:p>
            <a:pPr algn="r">
              <a:buNone/>
            </a:pPr>
            <a:fld id="{4E9910BB-FCEE-4D36-9137-C99C4E9B769C}"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sldImg"/>
          </p:nvPr>
        </p:nvSpPr>
        <p:spPr>
          <a:xfrm>
            <a:off x="685800" y="1143000"/>
            <a:ext cx="5486040" cy="3085920"/>
          </a:xfrm>
          <a:prstGeom prst="rect">
            <a:avLst/>
          </a:prstGeom>
          <a:ln w="0">
            <a:noFill/>
          </a:ln>
        </p:spPr>
      </p:sp>
      <p:sp>
        <p:nvSpPr>
          <p:cNvPr id="9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99"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77725ED-7DBD-43A1-AD5C-3EB113CFAFCA}"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sldImg"/>
          </p:nvPr>
        </p:nvSpPr>
        <p:spPr>
          <a:xfrm>
            <a:off x="685800" y="1143000"/>
            <a:ext cx="5486040" cy="3085920"/>
          </a:xfrm>
          <a:prstGeom prst="rect">
            <a:avLst/>
          </a:prstGeom>
          <a:ln w="0">
            <a:noFill/>
          </a:ln>
        </p:spPr>
      </p:sp>
      <p:sp>
        <p:nvSpPr>
          <p:cNvPr id="10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102"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A82F708-681F-4EFF-979F-18CE09C2EDF6}"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sldImg"/>
          </p:nvPr>
        </p:nvSpPr>
        <p:spPr>
          <a:xfrm>
            <a:off x="685800" y="1143000"/>
            <a:ext cx="5486040" cy="3085920"/>
          </a:xfrm>
          <a:prstGeom prst="rect">
            <a:avLst/>
          </a:prstGeom>
          <a:ln w="0">
            <a:noFill/>
          </a:ln>
        </p:spPr>
      </p:sp>
      <p:sp>
        <p:nvSpPr>
          <p:cNvPr id="10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105"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03D27B3-8EBD-43A7-ACDD-98C40A41A7F8}"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sldImg"/>
          </p:nvPr>
        </p:nvSpPr>
        <p:spPr>
          <a:xfrm>
            <a:off x="685800" y="1143000"/>
            <a:ext cx="5486040" cy="3085920"/>
          </a:xfrm>
          <a:prstGeom prst="rect">
            <a:avLst/>
          </a:prstGeom>
          <a:ln w="0">
            <a:noFill/>
          </a:ln>
        </p:spPr>
      </p:sp>
      <p:sp>
        <p:nvSpPr>
          <p:cNvPr id="10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108"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B3CACBE-66AB-43BA-8571-9AF7EDD28F61}"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sldImg"/>
          </p:nvPr>
        </p:nvSpPr>
        <p:spPr>
          <a:xfrm>
            <a:off x="685800" y="1143000"/>
            <a:ext cx="5486040" cy="3085920"/>
          </a:xfrm>
          <a:prstGeom prst="rect">
            <a:avLst/>
          </a:prstGeom>
          <a:ln w="0">
            <a:noFill/>
          </a:ln>
        </p:spPr>
      </p:sp>
      <p:sp>
        <p:nvSpPr>
          <p:cNvPr id="11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111"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91F4935-2839-4EAD-83F2-628D1443F124}"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1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1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3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IN" sz="1800" spc="-1" strike="noStrike">
                <a:solidFill>
                  <a:srgbClr val="000000"/>
                </a:solidFill>
                <a:latin typeface="Calibri"/>
              </a:rPr>
              <a:t>Click to edit the title text format</a:t>
            </a:r>
            <a:endParaRPr b="0" lang="en-IN" sz="1800" spc="-1" strike="noStrike">
              <a:solidFill>
                <a:srgbClr val="000000"/>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5a82"/>
        </a:solidFill>
      </p:bgPr>
    </p:bg>
    <p:spTree>
      <p:nvGrpSpPr>
        <p:cNvPr id="1" name=""/>
        <p:cNvGrpSpPr/>
        <p:nvPr/>
      </p:nvGrpSpPr>
      <p:grpSpPr>
        <a:xfrm>
          <a:off x="0" y="0"/>
          <a:ext cx="0" cy="0"/>
          <a:chOff x="0" y="0"/>
          <a:chExt cx="0" cy="0"/>
        </a:xfrm>
      </p:grpSpPr>
      <p:sp>
        <p:nvSpPr>
          <p:cNvPr id="44" name="Text 0"/>
          <p:cNvSpPr/>
          <p:nvPr/>
        </p:nvSpPr>
        <p:spPr>
          <a:xfrm>
            <a:off x="457200" y="1828800"/>
            <a:ext cx="8229240" cy="13712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4800" spc="-1" strike="noStrike">
                <a:solidFill>
                  <a:srgbClr val="ffffff"/>
                </a:solidFill>
                <a:latin typeface="Calibri"/>
              </a:rPr>
              <a:t>Document Loaders in LangChain</a:t>
            </a:r>
            <a:endParaRPr b="0" lang="en-IN" sz="4800" spc="-1" strike="noStrike">
              <a:latin typeface="Arial"/>
            </a:endParaRPr>
          </a:p>
        </p:txBody>
      </p:sp>
      <p:sp>
        <p:nvSpPr>
          <p:cNvPr id="45" name="Text 1"/>
          <p:cNvSpPr/>
          <p:nvPr/>
        </p:nvSpPr>
        <p:spPr>
          <a:xfrm>
            <a:off x="457200" y="3291840"/>
            <a:ext cx="8229240" cy="4568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i="1" lang="en-US" sz="2000" spc="-1" strike="noStrike">
                <a:solidFill>
                  <a:srgbClr val="02c39a"/>
                </a:solidFill>
                <a:latin typeface="Calibri"/>
              </a:rPr>
              <a:t>Complete Guide to Loading Data from Various Sources</a:t>
            </a:r>
            <a:endParaRPr b="0" lang="en-IN" sz="2000" spc="-1" strike="noStrike">
              <a:latin typeface="Arial"/>
            </a:endParaRPr>
          </a:p>
        </p:txBody>
      </p:sp>
      <p:sp>
        <p:nvSpPr>
          <p:cNvPr id="46" name="Text 2"/>
          <p:cNvSpPr/>
          <p:nvPr/>
        </p:nvSpPr>
        <p:spPr>
          <a:xfrm>
            <a:off x="457200" y="3840480"/>
            <a:ext cx="822924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1400" spc="-1" strike="noStrike">
                <a:solidFill>
                  <a:srgbClr val="f2f2f2"/>
                </a:solidFill>
                <a:latin typeface="Calibri"/>
              </a:rPr>
              <a:t>A comprehensive overview of RAG components and data loading</a:t>
            </a:r>
            <a:endParaRPr b="0" lang="en-IN" sz="14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47" name="Text 0"/>
          <p:cNvSpPr/>
          <p:nvPr/>
        </p:nvSpPr>
        <p:spPr>
          <a:xfrm>
            <a:off x="457200" y="365760"/>
            <a:ext cx="8229240" cy="5482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65a82"/>
                </a:solidFill>
                <a:latin typeface="Calibri"/>
              </a:rPr>
              <a:t>Course Overview: What We've Covered</a:t>
            </a:r>
            <a:endParaRPr b="0" lang="en-IN" sz="3600" spc="-1" strike="noStrike">
              <a:latin typeface="Arial"/>
            </a:endParaRPr>
          </a:p>
        </p:txBody>
      </p:sp>
      <p:sp>
        <p:nvSpPr>
          <p:cNvPr id="48" name="Shape 1"/>
          <p:cNvSpPr/>
          <p:nvPr/>
        </p:nvSpPr>
        <p:spPr>
          <a:xfrm>
            <a:off x="457200" y="1097280"/>
            <a:ext cx="3840120" cy="2285640"/>
          </a:xfrm>
          <a:prstGeom prst="roundRect">
            <a:avLst>
              <a:gd name="adj" fmla="val 16667"/>
            </a:avLst>
          </a:prstGeom>
          <a:solidFill>
            <a:srgbClr val="ffffff"/>
          </a:solidFill>
          <a:ln w="38100">
            <a:solidFill>
              <a:srgbClr val="028090"/>
            </a:solidFill>
            <a:round/>
          </a:ln>
        </p:spPr>
        <p:style>
          <a:lnRef idx="0"/>
          <a:fillRef idx="0"/>
          <a:effectRef idx="0"/>
          <a:fontRef idx="minor"/>
        </p:style>
      </p:sp>
      <p:sp>
        <p:nvSpPr>
          <p:cNvPr id="49" name="Text 2"/>
          <p:cNvSpPr/>
          <p:nvPr/>
        </p:nvSpPr>
        <p:spPr>
          <a:xfrm>
            <a:off x="640080" y="1280160"/>
            <a:ext cx="347436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800" spc="-1" strike="noStrike">
                <a:solidFill>
                  <a:srgbClr val="028090"/>
                </a:solidFill>
                <a:latin typeface="Calibri"/>
              </a:rPr>
              <a:t>Key LangChain Components</a:t>
            </a:r>
            <a:endParaRPr b="0" lang="en-IN" sz="1800" spc="-1" strike="noStrike">
              <a:latin typeface="Arial"/>
            </a:endParaRPr>
          </a:p>
        </p:txBody>
      </p:sp>
      <p:sp>
        <p:nvSpPr>
          <p:cNvPr id="50" name="Text 3"/>
          <p:cNvSpPr/>
          <p:nvPr/>
        </p:nvSpPr>
        <p:spPr>
          <a:xfrm>
            <a:off x="640080" y="1737360"/>
            <a:ext cx="3474360" cy="1462680"/>
          </a:xfrm>
          <a:prstGeom prst="rect">
            <a:avLst/>
          </a:prstGeom>
          <a:noFill/>
          <a:ln w="0">
            <a:noFill/>
          </a:ln>
        </p:spPr>
        <p:style>
          <a:lnRef idx="0"/>
          <a:fillRef idx="0"/>
          <a:effectRef idx="0"/>
          <a:fontRef idx="minor"/>
        </p:style>
        <p:txBody>
          <a:bodyPr lIns="90000" rIns="90000" tIns="45000" bIns="45000" anchor="ctr">
            <a:noAutofit/>
          </a:bodyPr>
          <a:p>
            <a:r>
              <a:rPr b="0" lang="en-US" sz="1400" spc="-1" strike="noStrike">
                <a:solidFill>
                  <a:srgbClr val="212121"/>
                </a:solidFill>
                <a:latin typeface="Calibri"/>
              </a:rPr>
              <a:t>• </a:t>
            </a:r>
            <a:r>
              <a:rPr b="0" lang="en-US" sz="1400" spc="-1" strike="noStrike">
                <a:solidFill>
                  <a:srgbClr val="212121"/>
                </a:solidFill>
                <a:latin typeface="Calibri"/>
              </a:rPr>
              <a:t>Models &amp; Prompts</a:t>
            </a:r>
            <a:endParaRPr b="0" lang="en-IN" sz="1400" spc="-1" strike="noStrike">
              <a:latin typeface="Arial"/>
            </a:endParaRPr>
          </a:p>
          <a:p>
            <a:r>
              <a:rPr b="0" lang="en-US" sz="1400" spc="-1" strike="noStrike">
                <a:solidFill>
                  <a:srgbClr val="212121"/>
                </a:solidFill>
                <a:latin typeface="Calibri"/>
              </a:rPr>
              <a:t>• </a:t>
            </a:r>
            <a:r>
              <a:rPr b="0" lang="en-US" sz="1400" spc="-1" strike="noStrike">
                <a:solidFill>
                  <a:srgbClr val="212121"/>
                </a:solidFill>
                <a:latin typeface="Calibri"/>
              </a:rPr>
              <a:t>Chains &amp; Runnables</a:t>
            </a:r>
            <a:endParaRPr b="0" lang="en-IN" sz="1400" spc="-1" strike="noStrike">
              <a:latin typeface="Arial"/>
            </a:endParaRPr>
          </a:p>
          <a:p>
            <a:r>
              <a:rPr b="0" lang="en-US" sz="1400" spc="-1" strike="noStrike">
                <a:solidFill>
                  <a:srgbClr val="212121"/>
                </a:solidFill>
                <a:latin typeface="Calibri"/>
              </a:rPr>
              <a:t>• </a:t>
            </a:r>
            <a:r>
              <a:rPr b="0" lang="en-US" sz="1400" spc="-1" strike="noStrike">
                <a:solidFill>
                  <a:srgbClr val="212121"/>
                </a:solidFill>
                <a:latin typeface="Calibri"/>
              </a:rPr>
              <a:t>Core Concepts</a:t>
            </a:r>
            <a:endParaRPr b="0" lang="en-IN" sz="1400" spc="-1" strike="noStrike">
              <a:latin typeface="Arial"/>
            </a:endParaRPr>
          </a:p>
          <a:p>
            <a:pPr>
              <a:lnSpc>
                <a:spcPct val="100000"/>
              </a:lnSpc>
              <a:buNone/>
              <a:tabLst>
                <a:tab algn="l" pos="0"/>
              </a:tabLst>
            </a:pPr>
            <a:r>
              <a:rPr b="0" lang="en-US" sz="1400" spc="-1" strike="noStrike">
                <a:solidFill>
                  <a:srgbClr val="212121"/>
                </a:solidFill>
                <a:latin typeface="Calibri"/>
              </a:rPr>
              <a:t>• </a:t>
            </a:r>
            <a:r>
              <a:rPr b="0" lang="en-US" sz="1400" spc="-1" strike="noStrike">
                <a:solidFill>
                  <a:srgbClr val="212121"/>
                </a:solidFill>
                <a:latin typeface="Calibri"/>
              </a:rPr>
              <a:t>Hands-on Code Examples</a:t>
            </a:r>
            <a:endParaRPr b="0" lang="en-IN" sz="1400" spc="-1" strike="noStrike">
              <a:latin typeface="Arial"/>
            </a:endParaRPr>
          </a:p>
        </p:txBody>
      </p:sp>
      <p:sp>
        <p:nvSpPr>
          <p:cNvPr id="51" name="Shape 4"/>
          <p:cNvSpPr/>
          <p:nvPr/>
        </p:nvSpPr>
        <p:spPr>
          <a:xfrm>
            <a:off x="4846320" y="1097280"/>
            <a:ext cx="3840120" cy="2285640"/>
          </a:xfrm>
          <a:prstGeom prst="roundRect">
            <a:avLst>
              <a:gd name="adj" fmla="val 16667"/>
            </a:avLst>
          </a:prstGeom>
          <a:solidFill>
            <a:srgbClr val="ffffff"/>
          </a:solidFill>
          <a:ln w="38100">
            <a:solidFill>
              <a:srgbClr val="00a896"/>
            </a:solidFill>
            <a:round/>
          </a:ln>
        </p:spPr>
        <p:style>
          <a:lnRef idx="0"/>
          <a:fillRef idx="0"/>
          <a:effectRef idx="0"/>
          <a:fontRef idx="minor"/>
        </p:style>
      </p:sp>
      <p:sp>
        <p:nvSpPr>
          <p:cNvPr id="52" name="Text 5"/>
          <p:cNvSpPr/>
          <p:nvPr/>
        </p:nvSpPr>
        <p:spPr>
          <a:xfrm>
            <a:off x="5029200" y="1280160"/>
            <a:ext cx="347436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800" spc="-1" strike="noStrike">
                <a:solidFill>
                  <a:srgbClr val="00a896"/>
                </a:solidFill>
                <a:latin typeface="Calibri"/>
              </a:rPr>
              <a:t>Next Steps</a:t>
            </a:r>
            <a:endParaRPr b="0" lang="en-IN" sz="1800" spc="-1" strike="noStrike">
              <a:latin typeface="Arial"/>
            </a:endParaRPr>
          </a:p>
        </p:txBody>
      </p:sp>
      <p:sp>
        <p:nvSpPr>
          <p:cNvPr id="53" name="Text 6"/>
          <p:cNvSpPr/>
          <p:nvPr/>
        </p:nvSpPr>
        <p:spPr>
          <a:xfrm>
            <a:off x="5029200" y="1737360"/>
            <a:ext cx="3474360" cy="1462680"/>
          </a:xfrm>
          <a:prstGeom prst="rect">
            <a:avLst/>
          </a:prstGeom>
          <a:noFill/>
          <a:ln w="0">
            <a:noFill/>
          </a:ln>
        </p:spPr>
        <p:style>
          <a:lnRef idx="0"/>
          <a:fillRef idx="0"/>
          <a:effectRef idx="0"/>
          <a:fontRef idx="minor"/>
        </p:style>
        <p:txBody>
          <a:bodyPr lIns="90000" rIns="90000" tIns="45000" bIns="45000" anchor="ctr">
            <a:noAutofit/>
          </a:bodyPr>
          <a:p>
            <a:r>
              <a:rPr b="0" lang="en-US" sz="1400" spc="-1" strike="noStrike">
                <a:solidFill>
                  <a:srgbClr val="212121"/>
                </a:solidFill>
                <a:latin typeface="Calibri"/>
              </a:rPr>
              <a:t>✓ </a:t>
            </a:r>
            <a:r>
              <a:rPr b="0" lang="en-US" sz="1400" spc="-1" strike="noStrike">
                <a:solidFill>
                  <a:srgbClr val="212121"/>
                </a:solidFill>
                <a:latin typeface="Calibri"/>
              </a:rPr>
              <a:t>Fundamentals Complete</a:t>
            </a:r>
            <a:endParaRPr b="0" lang="en-IN" sz="1400" spc="-1" strike="noStrike">
              <a:latin typeface="Arial"/>
            </a:endParaRPr>
          </a:p>
          <a:p>
            <a:r>
              <a:rPr b="0" lang="en-US" sz="1400" spc="-1" strike="noStrike">
                <a:solidFill>
                  <a:srgbClr val="212121"/>
                </a:solidFill>
                <a:latin typeface="Calibri"/>
              </a:rPr>
              <a:t>✓ </a:t>
            </a:r>
            <a:r>
              <a:rPr b="0" lang="en-US" sz="1400" spc="-1" strike="noStrike">
                <a:solidFill>
                  <a:srgbClr val="212121"/>
                </a:solidFill>
                <a:latin typeface="Calibri"/>
              </a:rPr>
              <a:t>Ready for RAG Applications</a:t>
            </a:r>
            <a:endParaRPr b="0" lang="en-IN" sz="1400" spc="-1" strike="noStrike">
              <a:latin typeface="Arial"/>
            </a:endParaRPr>
          </a:p>
          <a:p>
            <a:r>
              <a:rPr b="0" lang="en-US" sz="1400" spc="-1" strike="noStrike">
                <a:solidFill>
                  <a:srgbClr val="212121"/>
                </a:solidFill>
                <a:latin typeface="Calibri"/>
              </a:rPr>
              <a:t>→ </a:t>
            </a:r>
            <a:r>
              <a:rPr b="0" lang="en-US" sz="1400" spc="-1" strike="noStrike">
                <a:solidFill>
                  <a:srgbClr val="212121"/>
                </a:solidFill>
                <a:latin typeface="Calibri"/>
              </a:rPr>
              <a:t>Building Advanced Systems</a:t>
            </a:r>
            <a:endParaRPr b="0" lang="en-IN" sz="1400" spc="-1" strike="noStrike">
              <a:latin typeface="Arial"/>
            </a:endParaRPr>
          </a:p>
          <a:p>
            <a:pPr>
              <a:lnSpc>
                <a:spcPct val="100000"/>
              </a:lnSpc>
              <a:buNone/>
              <a:tabLst>
                <a:tab algn="l" pos="0"/>
              </a:tabLst>
            </a:pPr>
            <a:r>
              <a:rPr b="0" lang="en-US" sz="1400" spc="-1" strike="noStrike">
                <a:solidFill>
                  <a:srgbClr val="212121"/>
                </a:solidFill>
                <a:latin typeface="Calibri"/>
              </a:rPr>
              <a:t>→ </a:t>
            </a:r>
            <a:r>
              <a:rPr b="0" lang="en-US" sz="1400" spc="-1" strike="noStrike">
                <a:solidFill>
                  <a:srgbClr val="212121"/>
                </a:solidFill>
                <a:latin typeface="Calibri"/>
              </a:rPr>
              <a:t>Production Deployments</a:t>
            </a:r>
            <a:endParaRPr b="0" lang="en-IN" sz="1400" spc="-1" strike="noStrike">
              <a:latin typeface="Arial"/>
            </a:endParaRPr>
          </a:p>
        </p:txBody>
      </p:sp>
      <p:sp>
        <p:nvSpPr>
          <p:cNvPr id="54" name="Text 7"/>
          <p:cNvSpPr/>
          <p:nvPr/>
        </p:nvSpPr>
        <p:spPr>
          <a:xfrm>
            <a:off x="457200" y="3657600"/>
            <a:ext cx="8229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i="1" lang="en-US" sz="1600" spc="-1" strike="noStrike">
                <a:solidFill>
                  <a:srgbClr val="028090"/>
                </a:solidFill>
                <a:latin typeface="Calibri"/>
              </a:rPr>
              <a:t>Four upcoming videos focus on RAG-based application development</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
          <p:cNvSpPr txBox="1"/>
          <p:nvPr/>
        </p:nvSpPr>
        <p:spPr>
          <a:xfrm>
            <a:off x="-52920" y="349200"/>
            <a:ext cx="9246960" cy="4442040"/>
          </a:xfrm>
          <a:prstGeom prst="rect">
            <a:avLst/>
          </a:prstGeom>
          <a:noFill/>
          <a:ln w="0">
            <a:noFill/>
          </a:ln>
        </p:spPr>
        <p:txBody>
          <a:bodyPr lIns="90000" rIns="90000" tIns="45000" bIns="45000" anchor="t">
            <a:noAutofit/>
          </a:bodyPr>
          <a:p>
            <a:r>
              <a:rPr b="0" lang="en-IN" sz="1800" spc="-1" strike="noStrike">
                <a:latin typeface="Arial"/>
              </a:rPr>
              <a:t>Limitations of ChatGPT</a:t>
            </a:r>
            <a:endParaRPr b="0" lang="en-IN" sz="1800" spc="-1" strike="noStrike">
              <a:latin typeface="Arial"/>
            </a:endParaRPr>
          </a:p>
          <a:p>
            <a:r>
              <a:rPr b="0" lang="en-IN" sz="1800" spc="-1" strike="noStrike">
                <a:latin typeface="Arial"/>
              </a:rPr>
              <a:t>Two main scenarios where ChatGPT cannot help:</a:t>
            </a:r>
            <a:endParaRPr b="0" lang="en-IN" sz="1800" spc="-1" strike="noStrike">
              <a:latin typeface="Arial"/>
            </a:endParaRPr>
          </a:p>
          <a:p>
            <a:r>
              <a:rPr b="0" lang="en-IN" sz="1800" spc="-1" strike="noStrike">
                <a:latin typeface="Arial"/>
              </a:rPr>
              <a:t>    </a:t>
            </a:r>
            <a:r>
              <a:rPr b="0" lang="en-IN" sz="1800" spc="-1" strike="noStrike">
                <a:latin typeface="Arial"/>
              </a:rPr>
              <a:t>1. Current Affairs/Recent Events </a:t>
            </a:r>
            <a:endParaRPr b="0" lang="en-IN" sz="1800" spc="-1" strike="noStrike">
              <a:latin typeface="Arial"/>
            </a:endParaRPr>
          </a:p>
          <a:p>
            <a:r>
              <a:rPr b="0" lang="en-IN" sz="1800" spc="-1" strike="noStrike">
                <a:latin typeface="Arial"/>
              </a:rPr>
              <a:t>        </a:t>
            </a:r>
            <a:r>
              <a:rPr b="0" lang="en-IN" sz="1800" spc="-1" strike="noStrike">
                <a:latin typeface="Arial"/>
              </a:rPr>
              <a:t>a. If you go to ChatGPT and ask about current affairs</a:t>
            </a:r>
            <a:endParaRPr b="0" lang="en-IN" sz="1800" spc="-1" strike="noStrike">
              <a:latin typeface="Arial"/>
            </a:endParaRPr>
          </a:p>
          <a:p>
            <a:r>
              <a:rPr b="0" lang="en-IN" sz="1800" spc="-1" strike="noStrike">
                <a:latin typeface="Arial"/>
              </a:rPr>
              <a:t>        </a:t>
            </a:r>
            <a:r>
              <a:rPr b="0" lang="en-IN" sz="1800" spc="-1" strike="noStrike">
                <a:latin typeface="Arial"/>
              </a:rPr>
              <a:t>b. There's a good chance that ChatGPT was trained on past data</a:t>
            </a:r>
            <a:endParaRPr b="0" lang="en-IN" sz="1800" spc="-1" strike="noStrike">
              <a:latin typeface="Arial"/>
            </a:endParaRPr>
          </a:p>
          <a:p>
            <a:r>
              <a:rPr b="0" lang="en-IN" sz="1800" spc="-1" strike="noStrike">
                <a:latin typeface="Arial"/>
              </a:rPr>
              <a:t>        </a:t>
            </a:r>
            <a:r>
              <a:rPr b="0" lang="en-IN" sz="1800" spc="-1" strike="noStrike">
                <a:latin typeface="Arial"/>
              </a:rPr>
              <a:t>c. It doesn't have information about what's happening today, yesterday, or day-to-day life</a:t>
            </a:r>
            <a:endParaRPr b="0" lang="en-IN" sz="1800" spc="-1" strike="noStrike">
              <a:latin typeface="Arial"/>
            </a:endParaRPr>
          </a:p>
          <a:p>
            <a:r>
              <a:rPr b="0" lang="en-IN" sz="1800" spc="-1" strike="noStrike">
                <a:latin typeface="Arial"/>
              </a:rPr>
              <a:t>        </a:t>
            </a:r>
            <a:r>
              <a:rPr b="0" lang="en-IN" sz="1800" spc="-1" strike="noStrike">
                <a:latin typeface="Arial"/>
              </a:rPr>
              <a:t>d. In such situations, you won't get your answer</a:t>
            </a:r>
            <a:endParaRPr b="0" lang="en-IN" sz="1800" spc="-1" strike="noStrike">
              <a:latin typeface="Arial"/>
            </a:endParaRPr>
          </a:p>
          <a:p>
            <a:r>
              <a:rPr b="0" lang="en-IN" sz="1800" spc="-1" strike="noStrike">
                <a:latin typeface="Arial"/>
              </a:rPr>
              <a:t>    </a:t>
            </a:r>
            <a:r>
              <a:rPr b="0" lang="en-IN" sz="1800" spc="-1" strike="noStrike">
                <a:latin typeface="Arial"/>
              </a:rPr>
              <a:t>2. Personal Data </a:t>
            </a:r>
            <a:endParaRPr b="0" lang="en-IN" sz="1800" spc="-1" strike="noStrike">
              <a:latin typeface="Arial"/>
            </a:endParaRPr>
          </a:p>
          <a:p>
            <a:r>
              <a:rPr b="0" lang="en-IN" sz="1800" spc="-1" strike="noStrike">
                <a:latin typeface="Arial"/>
              </a:rPr>
              <a:t>        </a:t>
            </a:r>
            <a:r>
              <a:rPr b="0" lang="en-IN" sz="1800" spc="-1" strike="noStrike">
                <a:latin typeface="Arial"/>
              </a:rPr>
              <a:t>a. If you ask questions about your personal data</a:t>
            </a:r>
            <a:endParaRPr b="0" lang="en-IN" sz="1800" spc="-1" strike="noStrike">
              <a:latin typeface="Arial"/>
            </a:endParaRPr>
          </a:p>
          <a:p>
            <a:r>
              <a:rPr b="0" lang="en-IN" sz="1800" spc="-1" strike="noStrike">
                <a:latin typeface="Arial"/>
              </a:rPr>
              <a:t>        </a:t>
            </a:r>
            <a:r>
              <a:rPr b="0" lang="en-IN" sz="1800" spc="-1" strike="noStrike">
                <a:latin typeface="Arial"/>
              </a:rPr>
              <a:t>b. Like asking about your personal email - the emails you received in the last week</a:t>
            </a:r>
            <a:endParaRPr b="0" lang="en-IN" sz="1800" spc="-1" strike="noStrike">
              <a:latin typeface="Arial"/>
            </a:endParaRPr>
          </a:p>
          <a:p>
            <a:r>
              <a:rPr b="0" lang="en-IN" sz="1800" spc="-1" strike="noStrike">
                <a:latin typeface="Arial"/>
              </a:rPr>
              <a:t>        </a:t>
            </a:r>
            <a:r>
              <a:rPr b="0" lang="en-IN" sz="1800" spc="-1" strike="noStrike">
                <a:latin typeface="Arial"/>
              </a:rPr>
              <a:t>c. Obviously ChatGPT won't be able to answer because ChatGPT hasn't seen that data</a:t>
            </a:r>
            <a:endParaRPr b="0" lang="en-IN" sz="1800" spc="-1" strike="noStrike">
              <a:latin typeface="Arial"/>
            </a:endParaRPr>
          </a:p>
          <a:p>
            <a:r>
              <a:rPr b="0" lang="en-IN" sz="1800" spc="-1" strike="noStrike">
                <a:latin typeface="Arial"/>
              </a:rPr>
              <a:t>        </a:t>
            </a:r>
            <a:r>
              <a:rPr b="0" lang="en-IN" sz="1800" spc="-1" strike="noStrike">
                <a:latin typeface="Arial"/>
              </a:rPr>
              <a:t>d. Similarly, if you're a programmer and ask a question about your company's documentation to ChatGPT</a:t>
            </a:r>
            <a:endParaRPr b="0" lang="en-IN" sz="1800" spc="-1" strike="noStrike">
              <a:latin typeface="Arial"/>
            </a:endParaRPr>
          </a:p>
          <a:p>
            <a:r>
              <a:rPr b="0" lang="en-IN" sz="1800" spc="-1" strike="noStrike">
                <a:latin typeface="Arial"/>
              </a:rPr>
              <a:t>        </a:t>
            </a:r>
            <a:r>
              <a:rPr b="0" lang="en-IN" sz="1800" spc="-1" strike="noStrike">
                <a:latin typeface="Arial"/>
              </a:rPr>
              <a:t>e. Obviously ChatGPT won't be able to answer because ChatGPT hasn't seen that data</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
          <p:cNvSpPr txBox="1"/>
          <p:nvPr/>
        </p:nvSpPr>
        <p:spPr>
          <a:xfrm>
            <a:off x="-22320" y="605160"/>
            <a:ext cx="9186120" cy="3930120"/>
          </a:xfrm>
          <a:prstGeom prst="rect">
            <a:avLst/>
          </a:prstGeom>
          <a:noFill/>
          <a:ln w="0">
            <a:noFill/>
          </a:ln>
        </p:spPr>
        <p:txBody>
          <a:bodyPr lIns="90000" rIns="90000" tIns="45000" bIns="45000" anchor="t">
            <a:noAutofit/>
          </a:bodyPr>
          <a:p>
            <a:r>
              <a:rPr b="0" lang="en-IN" sz="1800" spc="-1" strike="noStrike">
                <a:latin typeface="Arial"/>
              </a:rPr>
              <a:t>Solution: RAG-Based Applications</a:t>
            </a:r>
            <a:endParaRPr b="0" lang="en-IN" sz="1800" spc="-1" strike="noStrike">
              <a:latin typeface="Arial"/>
            </a:endParaRPr>
          </a:p>
          <a:p>
            <a:r>
              <a:rPr b="0" lang="en-IN" sz="1800" spc="-1" strike="noStrike">
                <a:latin typeface="Arial"/>
              </a:rPr>
              <a:t>    • </a:t>
            </a:r>
            <a:r>
              <a:rPr b="0" lang="en-IN" sz="1800" spc="-1" strike="noStrike">
                <a:latin typeface="Arial"/>
              </a:rPr>
              <a:t>In all those situations where ChatGPT doesn't have data to answer you, RAG-based applications help</a:t>
            </a:r>
            <a:endParaRPr b="0" lang="en-IN" sz="1800" spc="-1" strike="noStrike">
              <a:latin typeface="Arial"/>
            </a:endParaRPr>
          </a:p>
          <a:p>
            <a:r>
              <a:rPr b="0" lang="en-IN" sz="1800" spc="-1" strike="noStrike">
                <a:latin typeface="Arial"/>
              </a:rPr>
              <a:t>    • </a:t>
            </a:r>
            <a:r>
              <a:rPr b="0" lang="en-IN" sz="1800" spc="-1" strike="noStrike">
                <a:latin typeface="Arial"/>
              </a:rPr>
              <a:t>What do you essentially do in RAG-based applications? </a:t>
            </a:r>
            <a:endParaRPr b="0" lang="en-IN" sz="1800" spc="-1" strike="noStrike">
              <a:latin typeface="Arial"/>
            </a:endParaRPr>
          </a:p>
          <a:p>
            <a:r>
              <a:rPr b="0" lang="en-IN" sz="1800" spc="-1" strike="noStrike">
                <a:latin typeface="Arial"/>
              </a:rPr>
              <a:t>        ◦ </a:t>
            </a:r>
            <a:r>
              <a:rPr b="0" lang="en-IN" sz="1800" spc="-1" strike="noStrike">
                <a:latin typeface="Arial"/>
              </a:rPr>
              <a:t>You provide your LLM with an external knowledge base</a:t>
            </a:r>
            <a:endParaRPr b="0" lang="en-IN" sz="1800" spc="-1" strike="noStrike">
              <a:latin typeface="Arial"/>
            </a:endParaRPr>
          </a:p>
          <a:p>
            <a:r>
              <a:rPr b="0" lang="en-IN" sz="1800" spc="-1" strike="noStrike">
                <a:latin typeface="Arial"/>
              </a:rPr>
              <a:t>        ◦ </a:t>
            </a:r>
            <a:r>
              <a:rPr b="0" lang="en-IN" sz="1800" spc="-1" strike="noStrike">
                <a:latin typeface="Arial"/>
              </a:rPr>
              <a:t>This external knowledge base can be anything: </a:t>
            </a:r>
            <a:endParaRPr b="0" lang="en-IN" sz="1800" spc="-1" strike="noStrike">
              <a:latin typeface="Arial"/>
            </a:endParaRPr>
          </a:p>
          <a:p>
            <a:r>
              <a:rPr b="0" lang="en-IN" sz="1800" spc="-1" strike="noStrike">
                <a:latin typeface="Arial"/>
              </a:rPr>
              <a:t>            ▪ </a:t>
            </a:r>
            <a:r>
              <a:rPr b="0" lang="en-IN" sz="1800" spc="-1" strike="noStrike">
                <a:latin typeface="Arial"/>
              </a:rPr>
              <a:t>Your company's database</a:t>
            </a:r>
            <a:endParaRPr b="0" lang="en-IN" sz="1800" spc="-1" strike="noStrike">
              <a:latin typeface="Arial"/>
            </a:endParaRPr>
          </a:p>
          <a:p>
            <a:r>
              <a:rPr b="0" lang="en-IN" sz="1800" spc="-1" strike="noStrike">
                <a:latin typeface="Arial"/>
              </a:rPr>
              <a:t>            ▪ </a:t>
            </a:r>
            <a:r>
              <a:rPr b="0" lang="en-IN" sz="1800" spc="-1" strike="noStrike">
                <a:latin typeface="Arial"/>
              </a:rPr>
              <a:t>Multiple PDFs</a:t>
            </a:r>
            <a:endParaRPr b="0" lang="en-IN" sz="1800" spc="-1" strike="noStrike">
              <a:latin typeface="Arial"/>
            </a:endParaRPr>
          </a:p>
          <a:p>
            <a:r>
              <a:rPr b="0" lang="en-IN" sz="1800" spc="-1" strike="noStrike">
                <a:latin typeface="Arial"/>
              </a:rPr>
              <a:t>            ▪ </a:t>
            </a:r>
            <a:r>
              <a:rPr b="0" lang="en-IN" sz="1800" spc="-1" strike="noStrike">
                <a:latin typeface="Arial"/>
              </a:rPr>
              <a:t>Your personal documents</a:t>
            </a:r>
            <a:endParaRPr b="0" lang="en-IN" sz="1800" spc="-1" strike="noStrike">
              <a:latin typeface="Arial"/>
            </a:endParaRPr>
          </a:p>
          <a:p>
            <a:r>
              <a:rPr b="0" lang="en-IN" sz="1800" spc="-1" strike="noStrike">
                <a:latin typeface="Arial"/>
              </a:rPr>
              <a:t>            ▪ </a:t>
            </a:r>
            <a:r>
              <a:rPr b="0" lang="en-IN" sz="1800" spc="-1" strike="noStrike">
                <a:latin typeface="Arial"/>
              </a:rPr>
              <a:t>You somehow connect this external knowledge base with this LLM</a:t>
            </a:r>
            <a:endParaRPr b="0" lang="en-IN" sz="1800" spc="-1" strike="noStrike">
              <a:latin typeface="Arial"/>
            </a:endParaRPr>
          </a:p>
          <a:p>
            <a:r>
              <a:rPr b="0" lang="en-IN" sz="1800" spc="-1" strike="noStrike">
                <a:latin typeface="Arial"/>
              </a:rPr>
              <a:t>        ◦ </a:t>
            </a:r>
            <a:r>
              <a:rPr b="0" lang="en-IN" sz="1800" spc="-1" strike="noStrike">
                <a:latin typeface="Arial"/>
              </a:rPr>
              <a:t>Now when a user comes and asks a question that this LLM doesn't know</a:t>
            </a:r>
            <a:endParaRPr b="0" lang="en-IN" sz="1800" spc="-1" strike="noStrike">
              <a:latin typeface="Arial"/>
            </a:endParaRPr>
          </a:p>
          <a:p>
            <a:r>
              <a:rPr b="0" lang="en-IN" sz="1800" spc="-1" strike="noStrike">
                <a:latin typeface="Arial"/>
              </a:rPr>
              <a:t>        ◦ </a:t>
            </a:r>
            <a:r>
              <a:rPr b="0" lang="en-IN" sz="1800" spc="-1" strike="noStrike">
                <a:latin typeface="Arial"/>
              </a:rPr>
              <a:t>This LLM can quickly go to this knowledge base, find out what the answer to this question will be</a:t>
            </a:r>
            <a:endParaRPr b="0" lang="en-IN" sz="1800" spc="-1" strike="noStrike">
              <a:latin typeface="Arial"/>
            </a:endParaRPr>
          </a:p>
          <a:p>
            <a:r>
              <a:rPr b="0" lang="en-IN" sz="1800" spc="-1" strike="noStrike">
                <a:latin typeface="Arial"/>
              </a:rPr>
              <a:t>        ◦ </a:t>
            </a:r>
            <a:r>
              <a:rPr b="0" lang="en-IN" sz="1800" spc="-1" strike="noStrike">
                <a:latin typeface="Arial"/>
              </a:rPr>
              <a:t>With the help of this external knowledge base, it extracts the answer and gives it to you</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
          <p:cNvSpPr txBox="1"/>
          <p:nvPr/>
        </p:nvSpPr>
        <p:spPr>
          <a:xfrm>
            <a:off x="50760" y="1629000"/>
            <a:ext cx="9039600" cy="1882440"/>
          </a:xfrm>
          <a:prstGeom prst="rect">
            <a:avLst/>
          </a:prstGeom>
          <a:noFill/>
          <a:ln w="0">
            <a:noFill/>
          </a:ln>
        </p:spPr>
        <p:txBody>
          <a:bodyPr lIns="90000" rIns="90000" tIns="45000" bIns="45000" anchor="t">
            <a:noAutofit/>
          </a:bodyPr>
          <a:p>
            <a:r>
              <a:rPr b="0" lang="en-IN" sz="1800" spc="-1" strike="noStrike">
                <a:latin typeface="Arial"/>
              </a:rPr>
              <a:t>Benefits of RAG</a:t>
            </a:r>
            <a:endParaRPr b="0" lang="en-IN" sz="1800" spc="-1" strike="noStrike">
              <a:latin typeface="Arial"/>
            </a:endParaRPr>
          </a:p>
          <a:p>
            <a:r>
              <a:rPr b="0" lang="en-IN" sz="1800" spc="-1" strike="noStrike">
                <a:latin typeface="Arial"/>
              </a:rPr>
              <a:t>    • </a:t>
            </a:r>
            <a:r>
              <a:rPr b="0" lang="en-IN" sz="1800" spc="-1" strike="noStrike">
                <a:latin typeface="Arial"/>
              </a:rPr>
              <a:t>Exactly this is written here: RAG is a technique that combines information retrieval with language generation</a:t>
            </a:r>
            <a:endParaRPr b="0" lang="en-IN" sz="1800" spc="-1" strike="noStrike">
              <a:latin typeface="Arial"/>
            </a:endParaRPr>
          </a:p>
          <a:p>
            <a:r>
              <a:rPr b="0" lang="en-IN" sz="1800" spc="-1" strike="noStrike">
                <a:latin typeface="Arial"/>
              </a:rPr>
              <a:t>    • </a:t>
            </a:r>
            <a:r>
              <a:rPr b="0" lang="en-IN" sz="1800" spc="-1" strike="noStrike">
                <a:latin typeface="Arial"/>
              </a:rPr>
              <a:t>Information retrieval is happening from this external knowledge base</a:t>
            </a:r>
            <a:endParaRPr b="0" lang="en-IN" sz="1800" spc="-1" strike="noStrike">
              <a:latin typeface="Arial"/>
            </a:endParaRPr>
          </a:p>
          <a:p>
            <a:r>
              <a:rPr b="0" lang="en-IN" sz="1800" spc="-1" strike="noStrike">
                <a:latin typeface="Arial"/>
              </a:rPr>
              <a:t>    • </a:t>
            </a:r>
            <a:r>
              <a:rPr b="0" lang="en-IN" sz="1800" spc="-1" strike="noStrike">
                <a:latin typeface="Arial"/>
              </a:rPr>
              <a:t>Language generation is happening with the help of this LLM</a:t>
            </a:r>
            <a:endParaRPr b="0" lang="en-IN" sz="1800" spc="-1" strike="noStrike">
              <a:latin typeface="Arial"/>
            </a:endParaRPr>
          </a:p>
          <a:p>
            <a:r>
              <a:rPr b="0" lang="en-IN" sz="1800" spc="-1" strike="noStrike">
                <a:latin typeface="Arial"/>
              </a:rPr>
              <a:t>    • </a:t>
            </a:r>
            <a:r>
              <a:rPr b="0" lang="en-IN" sz="1800" spc="-1" strike="noStrike">
                <a:latin typeface="Arial"/>
              </a:rPr>
              <a:t>Where a model retrieves relevant documents from a knowledge base and then uses them as context to generate accurate and grounded responses</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
          <p:cNvSpPr txBox="1"/>
          <p:nvPr/>
        </p:nvSpPr>
        <p:spPr>
          <a:xfrm>
            <a:off x="-80280" y="605160"/>
            <a:ext cx="9302040" cy="3930120"/>
          </a:xfrm>
          <a:prstGeom prst="rect">
            <a:avLst/>
          </a:prstGeom>
          <a:noFill/>
          <a:ln w="0">
            <a:noFill/>
          </a:ln>
        </p:spPr>
        <p:txBody>
          <a:bodyPr lIns="90000" rIns="90000" tIns="45000" bIns="45000" anchor="t">
            <a:noAutofit/>
          </a:bodyPr>
          <a:p>
            <a:r>
              <a:rPr b="0" lang="en-IN" sz="1800" spc="-1" strike="noStrike">
                <a:latin typeface="Arial"/>
              </a:rPr>
              <a:t>Biggest benefits of using RAG:</a:t>
            </a:r>
            <a:endParaRPr b="0" lang="en-IN" sz="1800" spc="-1" strike="noStrike">
              <a:latin typeface="Arial"/>
            </a:endParaRPr>
          </a:p>
          <a:p>
            <a:r>
              <a:rPr b="0" lang="en-IN" sz="1800" spc="-1" strike="noStrike">
                <a:latin typeface="Arial"/>
              </a:rPr>
              <a:t>    </a:t>
            </a:r>
            <a:r>
              <a:rPr b="0" lang="en-IN" sz="1800" spc="-1" strike="noStrike">
                <a:latin typeface="Arial"/>
              </a:rPr>
              <a:t>1. Up-to-date information - You can extract up-to-date information from any LLM</a:t>
            </a:r>
            <a:endParaRPr b="0" lang="en-IN" sz="1800" spc="-1" strike="noStrike">
              <a:latin typeface="Arial"/>
            </a:endParaRPr>
          </a:p>
          <a:p>
            <a:r>
              <a:rPr b="0" lang="en-IN" sz="1800" spc="-1" strike="noStrike">
                <a:latin typeface="Arial"/>
              </a:rPr>
              <a:t>    </a:t>
            </a:r>
            <a:r>
              <a:rPr b="0" lang="en-IN" sz="1800" spc="-1" strike="noStrike">
                <a:latin typeface="Arial"/>
              </a:rPr>
              <a:t>2. Greater privacy - Imagine you want to ask questions about your personal documents. One option is to upload that document to ChatGPT. If it's a very confidential information, it's not good to upload it to ChatGPT. In RAG, what will you do? Without uploading, you can ask questions about your documents. There's no limit on the document size. Suppose the document you have is 1GB and you upload the entire thing to ChatGPT. Obviously ChatGPT's context length won't allow it to read the entire document and answer you. Even in that case, RAG-based application can help you. In RAG, you can divide that entire document into chunks very easily and process it</a:t>
            </a:r>
            <a:endParaRPr b="0" lang="en-IN" sz="1800" spc="-1" strike="noStrike">
              <a:latin typeface="Arial"/>
            </a:endParaRPr>
          </a:p>
          <a:p>
            <a:r>
              <a:rPr b="0" lang="en-IN" sz="1800" spc="-1" strike="noStrike">
                <a:latin typeface="Arial"/>
              </a:rPr>
              <a:t>    • </a:t>
            </a:r>
            <a:r>
              <a:rPr b="0" lang="en-IN" sz="1800" spc="-1" strike="noStrike">
                <a:latin typeface="Arial"/>
              </a:rPr>
              <a:t>These are all the benefits you get after building RAG-based applications</a:t>
            </a:r>
            <a:endParaRPr b="0" lang="en-IN" sz="1800" spc="-1" strike="noStrike">
              <a:latin typeface="Arial"/>
            </a:endParaRPr>
          </a:p>
          <a:p>
            <a:r>
              <a:rPr b="0" lang="en-IN" sz="1800" spc="-1" strike="noStrike">
                <a:latin typeface="Arial"/>
              </a:rPr>
              <a:t>    • </a:t>
            </a:r>
            <a:r>
              <a:rPr b="0" lang="en-IN" sz="1800" spc="-1" strike="noStrike">
                <a:latin typeface="Arial"/>
              </a:rPr>
              <a:t>That's why RAG-based applications have become a very powerful trend in the industry right now</a:t>
            </a:r>
            <a:endParaRPr b="0" lang="en-IN" sz="1800" spc="-1" strike="noStrike">
              <a:latin typeface="Arial"/>
            </a:endParaRPr>
          </a:p>
          <a:p>
            <a:r>
              <a:rPr b="0" lang="en-IN" sz="1800" spc="-1" strike="noStrike">
                <a:latin typeface="Arial"/>
              </a:rPr>
              <a:t>    • </a:t>
            </a:r>
            <a:r>
              <a:rPr b="0" lang="en-IN" sz="1800" spc="-1" strike="noStrike">
                <a:latin typeface="Arial"/>
              </a:rPr>
              <a:t>Hopefully you roughly got the idea of what RAG-based applications are and what RAG is in general</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59" name="Text 0"/>
          <p:cNvSpPr/>
          <p:nvPr/>
        </p:nvSpPr>
        <p:spPr>
          <a:xfrm>
            <a:off x="457200" y="365760"/>
            <a:ext cx="8182800" cy="5306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65a82"/>
                </a:solidFill>
                <a:latin typeface="Calibri"/>
              </a:rPr>
              <a:t>Understanding RAG (Retrieval-Augmented Generation)</a:t>
            </a:r>
            <a:endParaRPr b="0" lang="en-IN" sz="3600" spc="-1" strike="noStrike">
              <a:latin typeface="Arial"/>
            </a:endParaRPr>
          </a:p>
        </p:txBody>
      </p:sp>
      <p:sp>
        <p:nvSpPr>
          <p:cNvPr id="60" name="Shape 1"/>
          <p:cNvSpPr/>
          <p:nvPr/>
        </p:nvSpPr>
        <p:spPr>
          <a:xfrm>
            <a:off x="457200" y="1162080"/>
            <a:ext cx="8182800" cy="1061640"/>
          </a:xfrm>
          <a:prstGeom prst="roundRect">
            <a:avLst>
              <a:gd name="adj" fmla="val 16667"/>
            </a:avLst>
          </a:prstGeom>
          <a:solidFill>
            <a:srgbClr val="028090"/>
          </a:solidFill>
          <a:ln w="12700">
            <a:solidFill>
              <a:srgbClr val="028090"/>
            </a:solidFill>
            <a:round/>
          </a:ln>
        </p:spPr>
        <p:style>
          <a:lnRef idx="0"/>
          <a:fillRef idx="0"/>
          <a:effectRef idx="0"/>
          <a:fontRef idx="minor"/>
        </p:style>
      </p:sp>
      <p:sp>
        <p:nvSpPr>
          <p:cNvPr id="61" name="Text 2"/>
          <p:cNvSpPr/>
          <p:nvPr/>
        </p:nvSpPr>
        <p:spPr>
          <a:xfrm>
            <a:off x="639000" y="1339200"/>
            <a:ext cx="7819200" cy="707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2000" spc="-1" strike="noStrike">
                <a:solidFill>
                  <a:srgbClr val="ffffff"/>
                </a:solidFill>
                <a:latin typeface="Calibri"/>
              </a:rPr>
              <a:t>RAG combines information retrieval with language generation</a:t>
            </a:r>
            <a:endParaRPr b="0" lang="en-IN" sz="2000" spc="-1" strike="noStrike">
              <a:latin typeface="Arial"/>
            </a:endParaRPr>
          </a:p>
        </p:txBody>
      </p:sp>
      <p:sp>
        <p:nvSpPr>
          <p:cNvPr id="62" name="Text 3"/>
          <p:cNvSpPr/>
          <p:nvPr/>
        </p:nvSpPr>
        <p:spPr>
          <a:xfrm>
            <a:off x="457200" y="2400840"/>
            <a:ext cx="8182800" cy="3538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800" spc="-1" strike="noStrike">
                <a:solidFill>
                  <a:srgbClr val="065a82"/>
                </a:solidFill>
                <a:latin typeface="Calibri"/>
              </a:rPr>
              <a:t>The Problem:</a:t>
            </a:r>
            <a:endParaRPr b="0" lang="en-IN" sz="1800" spc="-1" strike="noStrike">
              <a:latin typeface="Arial"/>
            </a:endParaRPr>
          </a:p>
        </p:txBody>
      </p:sp>
      <p:sp>
        <p:nvSpPr>
          <p:cNvPr id="63" name="Text 4"/>
          <p:cNvSpPr/>
          <p:nvPr/>
        </p:nvSpPr>
        <p:spPr>
          <a:xfrm>
            <a:off x="639000" y="2843280"/>
            <a:ext cx="7819200" cy="884520"/>
          </a:xfrm>
          <a:prstGeom prst="rect">
            <a:avLst/>
          </a:prstGeom>
          <a:noFill/>
          <a:ln w="0">
            <a:noFill/>
          </a:ln>
        </p:spPr>
        <p:style>
          <a:lnRef idx="0"/>
          <a:fillRef idx="0"/>
          <a:effectRef idx="0"/>
          <a:fontRef idx="minor"/>
        </p:style>
        <p:txBody>
          <a:bodyPr lIns="90000" rIns="90000" tIns="45000" bIns="45000" anchor="ctr">
            <a:noAutofit/>
          </a:bodyPr>
          <a:p>
            <a:r>
              <a:rPr b="0" lang="en-US" sz="1400" spc="-1" strike="noStrike">
                <a:solidFill>
                  <a:srgbClr val="212121"/>
                </a:solidFill>
                <a:latin typeface="Calibri"/>
              </a:rPr>
              <a:t>• </a:t>
            </a:r>
            <a:r>
              <a:rPr b="0" lang="en-US" sz="1400" spc="-1" strike="noStrike">
                <a:solidFill>
                  <a:srgbClr val="212121"/>
                </a:solidFill>
                <a:latin typeface="Calibri"/>
              </a:rPr>
              <a:t>ChatGPT lacks current information (training data cutoff)</a:t>
            </a:r>
            <a:endParaRPr b="0" lang="en-IN" sz="1400" spc="-1" strike="noStrike">
              <a:latin typeface="Arial"/>
            </a:endParaRPr>
          </a:p>
          <a:p>
            <a:r>
              <a:rPr b="0" lang="en-US" sz="1400" spc="-1" strike="noStrike">
                <a:solidFill>
                  <a:srgbClr val="212121"/>
                </a:solidFill>
                <a:latin typeface="Calibri"/>
              </a:rPr>
              <a:t>• </a:t>
            </a:r>
            <a:r>
              <a:rPr b="0" lang="en-US" sz="1400" spc="-1" strike="noStrike">
                <a:solidFill>
                  <a:srgbClr val="212121"/>
                </a:solidFill>
                <a:latin typeface="Calibri"/>
              </a:rPr>
              <a:t>Cannot access personal or proprietary data</a:t>
            </a:r>
            <a:endParaRPr b="0" lang="en-IN" sz="1400" spc="-1" strike="noStrike">
              <a:latin typeface="Arial"/>
            </a:endParaRPr>
          </a:p>
          <a:p>
            <a:pPr>
              <a:lnSpc>
                <a:spcPct val="100000"/>
              </a:lnSpc>
              <a:buNone/>
              <a:tabLst>
                <a:tab algn="l" pos="0"/>
              </a:tabLst>
            </a:pPr>
            <a:r>
              <a:rPr b="0" lang="en-US" sz="1400" spc="-1" strike="noStrike">
                <a:solidFill>
                  <a:srgbClr val="212121"/>
                </a:solidFill>
                <a:latin typeface="Calibri"/>
              </a:rPr>
              <a:t>• </a:t>
            </a:r>
            <a:r>
              <a:rPr b="0" lang="en-US" sz="1400" spc="-1" strike="noStrike">
                <a:solidFill>
                  <a:srgbClr val="212121"/>
                </a:solidFill>
                <a:latin typeface="Calibri"/>
              </a:rPr>
              <a:t>Limited context window prevents processing large documents</a:t>
            </a:r>
            <a:endParaRPr b="0" lang="en-IN" sz="1400" spc="-1" strike="noStrike">
              <a:latin typeface="Arial"/>
            </a:endParaRPr>
          </a:p>
        </p:txBody>
      </p:sp>
      <p:sp>
        <p:nvSpPr>
          <p:cNvPr id="64" name="Text 5"/>
          <p:cNvSpPr/>
          <p:nvPr/>
        </p:nvSpPr>
        <p:spPr>
          <a:xfrm>
            <a:off x="457200" y="3905280"/>
            <a:ext cx="8182800" cy="3535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800" spc="-1" strike="noStrike">
                <a:solidFill>
                  <a:srgbClr val="065a82"/>
                </a:solidFill>
                <a:latin typeface="Calibri"/>
              </a:rPr>
              <a:t>The Solution:</a:t>
            </a:r>
            <a:endParaRPr b="0" lang="en-IN" sz="1800" spc="-1" strike="noStrike">
              <a:latin typeface="Arial"/>
            </a:endParaRPr>
          </a:p>
        </p:txBody>
      </p:sp>
      <p:sp>
        <p:nvSpPr>
          <p:cNvPr id="65" name="Text 6"/>
          <p:cNvSpPr/>
          <p:nvPr/>
        </p:nvSpPr>
        <p:spPr>
          <a:xfrm>
            <a:off x="639000" y="4347720"/>
            <a:ext cx="7819200" cy="795960"/>
          </a:xfrm>
          <a:prstGeom prst="rect">
            <a:avLst/>
          </a:prstGeom>
          <a:noFill/>
          <a:ln w="0">
            <a:noFill/>
          </a:ln>
        </p:spPr>
        <p:style>
          <a:lnRef idx="0"/>
          <a:fillRef idx="0"/>
          <a:effectRef idx="0"/>
          <a:fontRef idx="minor"/>
        </p:style>
        <p:txBody>
          <a:bodyPr lIns="90000" rIns="90000" tIns="45000" bIns="45000" anchor="ctr">
            <a:noAutofit/>
          </a:bodyPr>
          <a:p>
            <a:r>
              <a:rPr b="0" lang="en-US" sz="1400" spc="-1" strike="noStrike">
                <a:solidFill>
                  <a:srgbClr val="212121"/>
                </a:solidFill>
                <a:latin typeface="Calibri"/>
              </a:rPr>
              <a:t>• </a:t>
            </a:r>
            <a:r>
              <a:rPr b="0" lang="en-US" sz="1400" spc="-1" strike="noStrike">
                <a:solidFill>
                  <a:srgbClr val="212121"/>
                </a:solidFill>
                <a:latin typeface="Calibri"/>
              </a:rPr>
              <a:t>Connect LLM to external knowledge bases</a:t>
            </a:r>
            <a:endParaRPr b="0" lang="en-IN" sz="1400" spc="-1" strike="noStrike">
              <a:latin typeface="Arial"/>
            </a:endParaRPr>
          </a:p>
          <a:p>
            <a:r>
              <a:rPr b="0" lang="en-US" sz="1400" spc="-1" strike="noStrike">
                <a:solidFill>
                  <a:srgbClr val="212121"/>
                </a:solidFill>
                <a:latin typeface="Calibri"/>
              </a:rPr>
              <a:t>• </a:t>
            </a:r>
            <a:r>
              <a:rPr b="0" lang="en-US" sz="1400" spc="-1" strike="noStrike">
                <a:solidFill>
                  <a:srgbClr val="212121"/>
                </a:solidFill>
                <a:latin typeface="Calibri"/>
              </a:rPr>
              <a:t>Retrieve relevant information on-demand</a:t>
            </a:r>
            <a:endParaRPr b="0" lang="en-IN" sz="1400" spc="-1" strike="noStrike">
              <a:latin typeface="Arial"/>
            </a:endParaRPr>
          </a:p>
          <a:p>
            <a:pPr>
              <a:lnSpc>
                <a:spcPct val="100000"/>
              </a:lnSpc>
              <a:buNone/>
              <a:tabLst>
                <a:tab algn="l" pos="0"/>
              </a:tabLst>
            </a:pPr>
            <a:r>
              <a:rPr b="0" lang="en-US" sz="1400" spc="-1" strike="noStrike">
                <a:solidFill>
                  <a:srgbClr val="212121"/>
                </a:solidFill>
                <a:latin typeface="Calibri"/>
              </a:rPr>
              <a:t>• </a:t>
            </a:r>
            <a:r>
              <a:rPr b="0" lang="en-US" sz="1400" spc="-1" strike="noStrike">
                <a:solidFill>
                  <a:srgbClr val="212121"/>
                </a:solidFill>
                <a:latin typeface="Calibri"/>
              </a:rPr>
              <a:t>Generate accurate, grounded responses</a:t>
            </a:r>
            <a:endParaRPr b="0" lang="en-IN" sz="14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66" name="Text 0"/>
          <p:cNvSpPr/>
          <p:nvPr/>
        </p:nvSpPr>
        <p:spPr>
          <a:xfrm>
            <a:off x="457200" y="365760"/>
            <a:ext cx="8229240" cy="5482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65a82"/>
                </a:solidFill>
                <a:latin typeface="Calibri"/>
              </a:rPr>
              <a:t>Key Benefits of RAG Systems</a:t>
            </a:r>
            <a:endParaRPr b="0" lang="en-IN" sz="3600" spc="-1" strike="noStrike">
              <a:latin typeface="Arial"/>
            </a:endParaRPr>
          </a:p>
        </p:txBody>
      </p:sp>
      <p:sp>
        <p:nvSpPr>
          <p:cNvPr id="67" name="Shape 1"/>
          <p:cNvSpPr/>
          <p:nvPr/>
        </p:nvSpPr>
        <p:spPr>
          <a:xfrm>
            <a:off x="457200" y="1188720"/>
            <a:ext cx="2559960" cy="3657240"/>
          </a:xfrm>
          <a:prstGeom prst="rect">
            <a:avLst/>
          </a:prstGeom>
          <a:solidFill>
            <a:srgbClr val="ffffff"/>
          </a:solidFill>
          <a:ln w="25400">
            <a:solidFill>
              <a:srgbClr val="028090"/>
            </a:solidFill>
            <a:round/>
          </a:ln>
        </p:spPr>
        <p:style>
          <a:lnRef idx="0"/>
          <a:fillRef idx="0"/>
          <a:effectRef idx="0"/>
          <a:fontRef idx="minor"/>
        </p:style>
      </p:sp>
      <p:sp>
        <p:nvSpPr>
          <p:cNvPr id="68" name="Text 2"/>
          <p:cNvSpPr/>
          <p:nvPr/>
        </p:nvSpPr>
        <p:spPr>
          <a:xfrm>
            <a:off x="457200" y="1371600"/>
            <a:ext cx="255996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4000" spc="-1" strike="noStrike">
                <a:solidFill>
                  <a:srgbClr val="000000"/>
                </a:solidFill>
                <a:latin typeface="Calibri"/>
              </a:rPr>
              <a:t>📅</a:t>
            </a:r>
            <a:endParaRPr b="0" lang="en-IN" sz="4000" spc="-1" strike="noStrike">
              <a:latin typeface="Arial"/>
            </a:endParaRPr>
          </a:p>
        </p:txBody>
      </p:sp>
      <p:sp>
        <p:nvSpPr>
          <p:cNvPr id="69" name="Text 3"/>
          <p:cNvSpPr/>
          <p:nvPr/>
        </p:nvSpPr>
        <p:spPr>
          <a:xfrm>
            <a:off x="548640" y="2011680"/>
            <a:ext cx="237708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600" spc="-1" strike="noStrike">
                <a:solidFill>
                  <a:srgbClr val="028090"/>
                </a:solidFill>
                <a:latin typeface="Calibri"/>
              </a:rPr>
              <a:t>Up-to-Date Information</a:t>
            </a:r>
            <a:endParaRPr b="0" lang="en-IN" sz="1600" spc="-1" strike="noStrike">
              <a:latin typeface="Arial"/>
            </a:endParaRPr>
          </a:p>
        </p:txBody>
      </p:sp>
      <p:sp>
        <p:nvSpPr>
          <p:cNvPr id="70" name="Text 4"/>
          <p:cNvSpPr/>
          <p:nvPr/>
        </p:nvSpPr>
        <p:spPr>
          <a:xfrm>
            <a:off x="548640" y="2468880"/>
            <a:ext cx="2377080" cy="12798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1300" spc="-1" strike="noStrike">
                <a:solidFill>
                  <a:srgbClr val="212121"/>
                </a:solidFill>
                <a:latin typeface="Calibri"/>
              </a:rPr>
              <a:t>Access current data without retraining the model</a:t>
            </a:r>
            <a:endParaRPr b="0" lang="en-IN" sz="1300" spc="-1" strike="noStrike">
              <a:latin typeface="Arial"/>
            </a:endParaRPr>
          </a:p>
        </p:txBody>
      </p:sp>
      <p:sp>
        <p:nvSpPr>
          <p:cNvPr id="71" name="Shape 5"/>
          <p:cNvSpPr/>
          <p:nvPr/>
        </p:nvSpPr>
        <p:spPr>
          <a:xfrm>
            <a:off x="3291840" y="1188720"/>
            <a:ext cx="2559960" cy="3657240"/>
          </a:xfrm>
          <a:prstGeom prst="rect">
            <a:avLst/>
          </a:prstGeom>
          <a:solidFill>
            <a:srgbClr val="ffffff"/>
          </a:solidFill>
          <a:ln w="25400">
            <a:solidFill>
              <a:srgbClr val="00a896"/>
            </a:solidFill>
            <a:round/>
          </a:ln>
        </p:spPr>
        <p:style>
          <a:lnRef idx="0"/>
          <a:fillRef idx="0"/>
          <a:effectRef idx="0"/>
          <a:fontRef idx="minor"/>
        </p:style>
      </p:sp>
      <p:sp>
        <p:nvSpPr>
          <p:cNvPr id="72" name="Text 6"/>
          <p:cNvSpPr/>
          <p:nvPr/>
        </p:nvSpPr>
        <p:spPr>
          <a:xfrm>
            <a:off x="3291840" y="1371600"/>
            <a:ext cx="255996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4000" spc="-1" strike="noStrike">
                <a:solidFill>
                  <a:srgbClr val="000000"/>
                </a:solidFill>
                <a:latin typeface="Calibri"/>
              </a:rPr>
              <a:t>🔒</a:t>
            </a:r>
            <a:endParaRPr b="0" lang="en-IN" sz="4000" spc="-1" strike="noStrike">
              <a:latin typeface="Arial"/>
            </a:endParaRPr>
          </a:p>
        </p:txBody>
      </p:sp>
      <p:sp>
        <p:nvSpPr>
          <p:cNvPr id="73" name="Text 7"/>
          <p:cNvSpPr/>
          <p:nvPr/>
        </p:nvSpPr>
        <p:spPr>
          <a:xfrm>
            <a:off x="3383280" y="2011680"/>
            <a:ext cx="237708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600" spc="-1" strike="noStrike">
                <a:solidFill>
                  <a:srgbClr val="00a896"/>
                </a:solidFill>
                <a:latin typeface="Calibri"/>
              </a:rPr>
              <a:t>Enhanced Privacy</a:t>
            </a:r>
            <a:endParaRPr b="0" lang="en-IN" sz="1600" spc="-1" strike="noStrike">
              <a:latin typeface="Arial"/>
            </a:endParaRPr>
          </a:p>
        </p:txBody>
      </p:sp>
      <p:sp>
        <p:nvSpPr>
          <p:cNvPr id="74" name="Text 8"/>
          <p:cNvSpPr/>
          <p:nvPr/>
        </p:nvSpPr>
        <p:spPr>
          <a:xfrm>
            <a:off x="3383280" y="2468880"/>
            <a:ext cx="2377080" cy="12798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1300" spc="-1" strike="noStrike">
                <a:solidFill>
                  <a:srgbClr val="212121"/>
                </a:solidFill>
                <a:latin typeface="Calibri"/>
              </a:rPr>
              <a:t>Query private documents without uploading to third parties</a:t>
            </a:r>
            <a:endParaRPr b="0" lang="en-IN" sz="1300" spc="-1" strike="noStrike">
              <a:latin typeface="Arial"/>
            </a:endParaRPr>
          </a:p>
        </p:txBody>
      </p:sp>
      <p:sp>
        <p:nvSpPr>
          <p:cNvPr id="75" name="Shape 9"/>
          <p:cNvSpPr/>
          <p:nvPr/>
        </p:nvSpPr>
        <p:spPr>
          <a:xfrm>
            <a:off x="6126480" y="1188720"/>
            <a:ext cx="2559960" cy="3657240"/>
          </a:xfrm>
          <a:prstGeom prst="rect">
            <a:avLst/>
          </a:prstGeom>
          <a:solidFill>
            <a:srgbClr val="ffffff"/>
          </a:solidFill>
          <a:ln w="25400">
            <a:solidFill>
              <a:srgbClr val="02c39a"/>
            </a:solidFill>
            <a:round/>
          </a:ln>
        </p:spPr>
        <p:style>
          <a:lnRef idx="0"/>
          <a:fillRef idx="0"/>
          <a:effectRef idx="0"/>
          <a:fontRef idx="minor"/>
        </p:style>
      </p:sp>
      <p:sp>
        <p:nvSpPr>
          <p:cNvPr id="76" name="Text 10"/>
          <p:cNvSpPr/>
          <p:nvPr/>
        </p:nvSpPr>
        <p:spPr>
          <a:xfrm>
            <a:off x="6126480" y="1371600"/>
            <a:ext cx="255996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4000" spc="-1" strike="noStrike">
                <a:solidFill>
                  <a:srgbClr val="000000"/>
                </a:solidFill>
                <a:latin typeface="Calibri"/>
              </a:rPr>
              <a:t>📄</a:t>
            </a:r>
            <a:endParaRPr b="0" lang="en-IN" sz="4000" spc="-1" strike="noStrike">
              <a:latin typeface="Arial"/>
            </a:endParaRPr>
          </a:p>
        </p:txBody>
      </p:sp>
      <p:sp>
        <p:nvSpPr>
          <p:cNvPr id="77" name="Text 11"/>
          <p:cNvSpPr/>
          <p:nvPr/>
        </p:nvSpPr>
        <p:spPr>
          <a:xfrm>
            <a:off x="6217920" y="2011680"/>
            <a:ext cx="237708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600" spc="-1" strike="noStrike">
                <a:solidFill>
                  <a:srgbClr val="02c39a"/>
                </a:solidFill>
                <a:latin typeface="Calibri"/>
              </a:rPr>
              <a:t>Unlimited Scale</a:t>
            </a:r>
            <a:endParaRPr b="0" lang="en-IN" sz="1600" spc="-1" strike="noStrike">
              <a:latin typeface="Arial"/>
            </a:endParaRPr>
          </a:p>
        </p:txBody>
      </p:sp>
      <p:sp>
        <p:nvSpPr>
          <p:cNvPr id="78" name="Text 12"/>
          <p:cNvSpPr/>
          <p:nvPr/>
        </p:nvSpPr>
        <p:spPr>
          <a:xfrm>
            <a:off x="6217920" y="2468880"/>
            <a:ext cx="2377080" cy="12798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1300" spc="-1" strike="noStrike">
                <a:solidFill>
                  <a:srgbClr val="212121"/>
                </a:solidFill>
                <a:latin typeface="Calibri"/>
              </a:rPr>
              <a:t>Process documents of any size by chunking and streaming</a:t>
            </a:r>
            <a:endParaRPr b="0" lang="en-IN" sz="13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2f2"/>
        </a:solidFill>
      </p:bgPr>
    </p:bg>
    <p:spTree>
      <p:nvGrpSpPr>
        <p:cNvPr id="1" name=""/>
        <p:cNvGrpSpPr/>
        <p:nvPr/>
      </p:nvGrpSpPr>
      <p:grpSpPr>
        <a:xfrm>
          <a:off x="0" y="0"/>
          <a:ext cx="0" cy="0"/>
          <a:chOff x="0" y="0"/>
          <a:chExt cx="0" cy="0"/>
        </a:xfrm>
      </p:grpSpPr>
      <p:sp>
        <p:nvSpPr>
          <p:cNvPr id="79" name="Text 0"/>
          <p:cNvSpPr/>
          <p:nvPr/>
        </p:nvSpPr>
        <p:spPr>
          <a:xfrm>
            <a:off x="457200" y="365760"/>
            <a:ext cx="8229240" cy="5482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65a82"/>
                </a:solidFill>
                <a:latin typeface="Calibri"/>
              </a:rPr>
              <a:t>Four Essential RAG Components</a:t>
            </a:r>
            <a:endParaRPr b="0" lang="en-IN" sz="3600" spc="-1" strike="noStrike">
              <a:latin typeface="Arial"/>
            </a:endParaRPr>
          </a:p>
        </p:txBody>
      </p:sp>
      <p:sp>
        <p:nvSpPr>
          <p:cNvPr id="80" name="Shape 1"/>
          <p:cNvSpPr/>
          <p:nvPr/>
        </p:nvSpPr>
        <p:spPr>
          <a:xfrm>
            <a:off x="457200" y="1280160"/>
            <a:ext cx="8229240" cy="822600"/>
          </a:xfrm>
          <a:prstGeom prst="roundRect">
            <a:avLst>
              <a:gd name="adj" fmla="val 16667"/>
            </a:avLst>
          </a:prstGeom>
          <a:solidFill>
            <a:srgbClr val="028090"/>
          </a:solidFill>
          <a:ln w="25400">
            <a:solidFill>
              <a:srgbClr val="028090"/>
            </a:solidFill>
            <a:round/>
          </a:ln>
        </p:spPr>
        <p:style>
          <a:lnRef idx="0"/>
          <a:fillRef idx="0"/>
          <a:effectRef idx="0"/>
          <a:fontRef idx="minor"/>
        </p:style>
      </p:sp>
      <p:sp>
        <p:nvSpPr>
          <p:cNvPr id="81" name="Text 2"/>
          <p:cNvSpPr/>
          <p:nvPr/>
        </p:nvSpPr>
        <p:spPr>
          <a:xfrm>
            <a:off x="640080" y="141732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2400" spc="-1" strike="noStrike">
                <a:solidFill>
                  <a:srgbClr val="02c39a"/>
                </a:solidFill>
                <a:latin typeface="Calibri"/>
              </a:rPr>
              <a:t>1</a:t>
            </a:r>
            <a:endParaRPr b="0" lang="en-IN" sz="2400" spc="-1" strike="noStrike">
              <a:latin typeface="Arial"/>
            </a:endParaRPr>
          </a:p>
        </p:txBody>
      </p:sp>
      <p:sp>
        <p:nvSpPr>
          <p:cNvPr id="82" name="Text 3"/>
          <p:cNvSpPr/>
          <p:nvPr/>
        </p:nvSpPr>
        <p:spPr>
          <a:xfrm>
            <a:off x="1371600" y="1371600"/>
            <a:ext cx="27428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800" spc="-1" strike="noStrike">
                <a:solidFill>
                  <a:srgbClr val="ffffff"/>
                </a:solidFill>
                <a:latin typeface="Calibri"/>
              </a:rPr>
              <a:t>Document Loaders</a:t>
            </a:r>
            <a:endParaRPr b="0" lang="en-IN" sz="1800" spc="-1" strike="noStrike">
              <a:latin typeface="Arial"/>
            </a:endParaRPr>
          </a:p>
        </p:txBody>
      </p:sp>
      <p:sp>
        <p:nvSpPr>
          <p:cNvPr id="83" name="Text 4"/>
          <p:cNvSpPr/>
          <p:nvPr/>
        </p:nvSpPr>
        <p:spPr>
          <a:xfrm>
            <a:off x="1371600" y="1737360"/>
            <a:ext cx="713196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i="1" lang="en-US" sz="1400" spc="-1" strike="noStrike">
                <a:solidFill>
                  <a:srgbClr val="ffffff"/>
                </a:solidFill>
                <a:latin typeface="Calibri"/>
              </a:rPr>
              <a:t>Load data from PDFs, text, web, databases</a:t>
            </a:r>
            <a:endParaRPr b="0" lang="en-IN" sz="1400" spc="-1" strike="noStrike">
              <a:latin typeface="Arial"/>
            </a:endParaRPr>
          </a:p>
        </p:txBody>
      </p:sp>
      <p:sp>
        <p:nvSpPr>
          <p:cNvPr id="84" name="Shape 5"/>
          <p:cNvSpPr/>
          <p:nvPr/>
        </p:nvSpPr>
        <p:spPr>
          <a:xfrm>
            <a:off x="457200" y="2377440"/>
            <a:ext cx="8229240" cy="822600"/>
          </a:xfrm>
          <a:prstGeom prst="roundRect">
            <a:avLst>
              <a:gd name="adj" fmla="val 16667"/>
            </a:avLst>
          </a:prstGeom>
          <a:solidFill>
            <a:srgbClr val="ffffff"/>
          </a:solidFill>
          <a:ln w="25400">
            <a:solidFill>
              <a:srgbClr val="00a896"/>
            </a:solidFill>
            <a:round/>
          </a:ln>
        </p:spPr>
        <p:style>
          <a:lnRef idx="0"/>
          <a:fillRef idx="0"/>
          <a:effectRef idx="0"/>
          <a:fontRef idx="minor"/>
        </p:style>
      </p:sp>
      <p:sp>
        <p:nvSpPr>
          <p:cNvPr id="85" name="Text 6"/>
          <p:cNvSpPr/>
          <p:nvPr/>
        </p:nvSpPr>
        <p:spPr>
          <a:xfrm>
            <a:off x="640080" y="251460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2400" spc="-1" strike="noStrike">
                <a:solidFill>
                  <a:srgbClr val="028090"/>
                </a:solidFill>
                <a:latin typeface="Calibri"/>
              </a:rPr>
              <a:t>2</a:t>
            </a:r>
            <a:endParaRPr b="0" lang="en-IN" sz="2400" spc="-1" strike="noStrike">
              <a:latin typeface="Arial"/>
            </a:endParaRPr>
          </a:p>
        </p:txBody>
      </p:sp>
      <p:sp>
        <p:nvSpPr>
          <p:cNvPr id="86" name="Text 7"/>
          <p:cNvSpPr/>
          <p:nvPr/>
        </p:nvSpPr>
        <p:spPr>
          <a:xfrm>
            <a:off x="1371600" y="2468880"/>
            <a:ext cx="27428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800" spc="-1" strike="noStrike">
                <a:solidFill>
                  <a:srgbClr val="212121"/>
                </a:solidFill>
                <a:latin typeface="Calibri"/>
              </a:rPr>
              <a:t>Text Splitters</a:t>
            </a:r>
            <a:endParaRPr b="0" lang="en-IN" sz="1800" spc="-1" strike="noStrike">
              <a:latin typeface="Arial"/>
            </a:endParaRPr>
          </a:p>
        </p:txBody>
      </p:sp>
      <p:sp>
        <p:nvSpPr>
          <p:cNvPr id="87" name="Text 8"/>
          <p:cNvSpPr/>
          <p:nvPr/>
        </p:nvSpPr>
        <p:spPr>
          <a:xfrm>
            <a:off x="1371600" y="2834640"/>
            <a:ext cx="713196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i="1" lang="en-US" sz="1400" spc="-1" strike="noStrike">
                <a:solidFill>
                  <a:srgbClr val="212121"/>
                </a:solidFill>
                <a:latin typeface="Calibri"/>
              </a:rPr>
              <a:t>Break documents into manageable chunks</a:t>
            </a:r>
            <a:endParaRPr b="0" lang="en-IN" sz="1400" spc="-1" strike="noStrike">
              <a:latin typeface="Arial"/>
            </a:endParaRPr>
          </a:p>
        </p:txBody>
      </p:sp>
      <p:sp>
        <p:nvSpPr>
          <p:cNvPr id="88" name="Shape 9"/>
          <p:cNvSpPr/>
          <p:nvPr/>
        </p:nvSpPr>
        <p:spPr>
          <a:xfrm>
            <a:off x="457200" y="3474720"/>
            <a:ext cx="8229240" cy="822600"/>
          </a:xfrm>
          <a:prstGeom prst="roundRect">
            <a:avLst>
              <a:gd name="adj" fmla="val 16667"/>
            </a:avLst>
          </a:prstGeom>
          <a:solidFill>
            <a:srgbClr val="ffffff"/>
          </a:solidFill>
          <a:ln w="25400">
            <a:solidFill>
              <a:srgbClr val="00a896"/>
            </a:solidFill>
            <a:round/>
          </a:ln>
        </p:spPr>
        <p:style>
          <a:lnRef idx="0"/>
          <a:fillRef idx="0"/>
          <a:effectRef idx="0"/>
          <a:fontRef idx="minor"/>
        </p:style>
      </p:sp>
      <p:sp>
        <p:nvSpPr>
          <p:cNvPr id="89" name="Text 10"/>
          <p:cNvSpPr/>
          <p:nvPr/>
        </p:nvSpPr>
        <p:spPr>
          <a:xfrm>
            <a:off x="640080" y="361188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2400" spc="-1" strike="noStrike">
                <a:solidFill>
                  <a:srgbClr val="028090"/>
                </a:solidFill>
                <a:latin typeface="Calibri"/>
              </a:rPr>
              <a:t>3</a:t>
            </a:r>
            <a:endParaRPr b="0" lang="en-IN" sz="2400" spc="-1" strike="noStrike">
              <a:latin typeface="Arial"/>
            </a:endParaRPr>
          </a:p>
        </p:txBody>
      </p:sp>
      <p:sp>
        <p:nvSpPr>
          <p:cNvPr id="90" name="Text 11"/>
          <p:cNvSpPr/>
          <p:nvPr/>
        </p:nvSpPr>
        <p:spPr>
          <a:xfrm>
            <a:off x="1371600" y="3566160"/>
            <a:ext cx="27428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800" spc="-1" strike="noStrike">
                <a:solidFill>
                  <a:srgbClr val="212121"/>
                </a:solidFill>
                <a:latin typeface="Calibri"/>
              </a:rPr>
              <a:t>Vector Databases</a:t>
            </a:r>
            <a:endParaRPr b="0" lang="en-IN" sz="1800" spc="-1" strike="noStrike">
              <a:latin typeface="Arial"/>
            </a:endParaRPr>
          </a:p>
        </p:txBody>
      </p:sp>
      <p:sp>
        <p:nvSpPr>
          <p:cNvPr id="91" name="Text 12"/>
          <p:cNvSpPr/>
          <p:nvPr/>
        </p:nvSpPr>
        <p:spPr>
          <a:xfrm>
            <a:off x="1371600" y="3931920"/>
            <a:ext cx="713196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i="1" lang="en-US" sz="1400" spc="-1" strike="noStrike">
                <a:solidFill>
                  <a:srgbClr val="212121"/>
                </a:solidFill>
                <a:latin typeface="Calibri"/>
              </a:rPr>
              <a:t>Store and retrieve embeddings efficiently</a:t>
            </a:r>
            <a:endParaRPr b="0" lang="en-IN" sz="1400" spc="-1" strike="noStrike">
              <a:latin typeface="Arial"/>
            </a:endParaRPr>
          </a:p>
        </p:txBody>
      </p:sp>
      <p:sp>
        <p:nvSpPr>
          <p:cNvPr id="92" name="Shape 13"/>
          <p:cNvSpPr/>
          <p:nvPr/>
        </p:nvSpPr>
        <p:spPr>
          <a:xfrm>
            <a:off x="457200" y="4572000"/>
            <a:ext cx="8229240" cy="822600"/>
          </a:xfrm>
          <a:prstGeom prst="roundRect">
            <a:avLst>
              <a:gd name="adj" fmla="val 16667"/>
            </a:avLst>
          </a:prstGeom>
          <a:solidFill>
            <a:srgbClr val="ffffff"/>
          </a:solidFill>
          <a:ln w="25400">
            <a:solidFill>
              <a:srgbClr val="00a896"/>
            </a:solidFill>
            <a:round/>
          </a:ln>
        </p:spPr>
        <p:style>
          <a:lnRef idx="0"/>
          <a:fillRef idx="0"/>
          <a:effectRef idx="0"/>
          <a:fontRef idx="minor"/>
        </p:style>
      </p:sp>
      <p:sp>
        <p:nvSpPr>
          <p:cNvPr id="93" name="Text 14"/>
          <p:cNvSpPr/>
          <p:nvPr/>
        </p:nvSpPr>
        <p:spPr>
          <a:xfrm>
            <a:off x="640080" y="470916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2400" spc="-1" strike="noStrike">
                <a:solidFill>
                  <a:srgbClr val="028090"/>
                </a:solidFill>
                <a:latin typeface="Calibri"/>
              </a:rPr>
              <a:t>4</a:t>
            </a:r>
            <a:endParaRPr b="0" lang="en-IN" sz="2400" spc="-1" strike="noStrike">
              <a:latin typeface="Arial"/>
            </a:endParaRPr>
          </a:p>
        </p:txBody>
      </p:sp>
      <p:sp>
        <p:nvSpPr>
          <p:cNvPr id="94" name="Text 15"/>
          <p:cNvSpPr/>
          <p:nvPr/>
        </p:nvSpPr>
        <p:spPr>
          <a:xfrm>
            <a:off x="1371600" y="4663440"/>
            <a:ext cx="27428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800" spc="-1" strike="noStrike">
                <a:solidFill>
                  <a:srgbClr val="212121"/>
                </a:solidFill>
                <a:latin typeface="Calibri"/>
              </a:rPr>
              <a:t>Retrievers</a:t>
            </a:r>
            <a:endParaRPr b="0" lang="en-IN" sz="1800" spc="-1" strike="noStrike">
              <a:latin typeface="Arial"/>
            </a:endParaRPr>
          </a:p>
        </p:txBody>
      </p:sp>
      <p:sp>
        <p:nvSpPr>
          <p:cNvPr id="95" name="Text 16"/>
          <p:cNvSpPr/>
          <p:nvPr/>
        </p:nvSpPr>
        <p:spPr>
          <a:xfrm>
            <a:off x="1371600" y="5029200"/>
            <a:ext cx="713196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i="1" lang="en-US" sz="1400" spc="-1" strike="noStrike">
                <a:solidFill>
                  <a:srgbClr val="212121"/>
                </a:solidFill>
                <a:latin typeface="Calibri"/>
              </a:rPr>
              <a:t>Find relevant context for queries</a:t>
            </a:r>
            <a:endParaRPr b="0" lang="en-IN" sz="1400" spc="-1" strike="noStrike">
              <a:latin typeface="Arial"/>
            </a:endParaRPr>
          </a:p>
        </p:txBody>
      </p:sp>
      <p:sp>
        <p:nvSpPr>
          <p:cNvPr id="96" name="Text 17"/>
          <p:cNvSpPr/>
          <p:nvPr/>
        </p:nvSpPr>
        <p:spPr>
          <a:xfrm>
            <a:off x="457200" y="5577840"/>
            <a:ext cx="822924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600" spc="-1" strike="noStrike">
                <a:solidFill>
                  <a:srgbClr val="028090"/>
                </a:solidFill>
                <a:latin typeface="Calibri"/>
              </a:rPr>
              <a:t>Today's focus: Document Loaders (Component #1)</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10</TotalTime>
  <Application>LibreOffice/7.3.7.2$Linux_X86_64 LibreOffice_project/30$Build-2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2026-02-10T12:02:13Z</dcterms:created>
  <dc:creator>PptxGenJS</dc:creator>
  <dc:description/>
  <dc:language>en-IN</dc:language>
  <cp:lastModifiedBy/>
  <dcterms:modified xsi:type="dcterms:W3CDTF">2026-02-24T08:05:59Z</dcterms:modified>
  <cp:revision>3</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On-screen Show (16:9)</vt:lpwstr>
  </property>
  <property fmtid="{D5CDD505-2E9C-101B-9397-08002B2CF9AE}" pid="4" name="Slides">
    <vt:i4>5</vt:i4>
  </property>
</Properties>
</file>