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28.png" ContentType="image/png"/>
  <Override PartName="/ppt/media/image4.png" ContentType="image/png"/>
  <Override PartName="/ppt/media/image27.png" ContentType="image/png"/>
  <Override PartName="/ppt/media/image3.png" ContentType="image/png"/>
  <Override PartName="/ppt/media/image26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4.png" ContentType="image/png"/>
  <Override PartName="/ppt/media/image2.png" ContentType="image/png"/>
  <Override PartName="/ppt/media/image25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6FC1CAB-4912-4938-94C0-0EDFF004B317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43440BE-0C48-4D87-A2BE-5E3BE89ADE0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7712AAB-B444-4DCB-AFBB-026BEEB3900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323F370-AB30-414F-8E39-BEC89C39935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8895EF3-65B4-4537-8ECC-281B32146E0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06709DF-E5E3-444A-8459-3A8D9E11F33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397AC8C-64FA-4B30-B38F-4945BA40B59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E0F001E-81C7-4F17-A8F3-8133FEC5328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A9AEA95-0FC4-4C05-BF86-6FEA229E494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501DA41-BEEE-4BD2-8013-36A7845B31E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AC335B4-37CF-4B3A-BCC2-B4F31FAE067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D68313E-10FE-41F5-894E-31DDB525800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7132320" y="-1097280"/>
            <a:ext cx="3474360" cy="3474360"/>
          </a:xfrm>
          <a:prstGeom prst="ellipse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7498080" y="-822960"/>
            <a:ext cx="2742840" cy="2742840"/>
          </a:xfrm>
          <a:prstGeom prst="ellipse">
            <a:avLst/>
          </a:prstGeom>
          <a:solidFill>
            <a:srgbClr val="0096c7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Shape 3"/>
          <p:cNvSpPr/>
          <p:nvPr/>
        </p:nvSpPr>
        <p:spPr>
          <a:xfrm>
            <a:off x="0" y="4754880"/>
            <a:ext cx="9143640" cy="38376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Shape 4"/>
          <p:cNvSpPr/>
          <p:nvPr/>
        </p:nvSpPr>
        <p:spPr>
          <a:xfrm>
            <a:off x="164520" y="4754880"/>
            <a:ext cx="3200040" cy="3837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9" name="Image 0" descr="preencoded.png"/>
          <p:cNvPicPr/>
          <p:nvPr/>
        </p:nvPicPr>
        <p:blipFill>
          <a:blip r:embed="rId1"/>
          <a:stretch/>
        </p:blipFill>
        <p:spPr>
          <a:xfrm>
            <a:off x="502920" y="1005840"/>
            <a:ext cx="639720" cy="639720"/>
          </a:xfrm>
          <a:prstGeom prst="rect">
            <a:avLst/>
          </a:prstGeom>
          <a:ln w="0">
            <a:noFill/>
          </a:ln>
        </p:spPr>
      </p:pic>
      <p:sp>
        <p:nvSpPr>
          <p:cNvPr id="50" name="Text 5"/>
          <p:cNvSpPr/>
          <p:nvPr/>
        </p:nvSpPr>
        <p:spPr>
          <a:xfrm>
            <a:off x="365760" y="1737360"/>
            <a:ext cx="8412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Structured Output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365760" y="2514600"/>
            <a:ext cx="84121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48cae4"/>
                </a:solidFill>
                <a:latin typeface="Calibri"/>
                <a:ea typeface="Calibri"/>
              </a:rPr>
              <a:t>in LangChain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52" name="Shape 7"/>
          <p:cNvSpPr/>
          <p:nvPr/>
        </p:nvSpPr>
        <p:spPr>
          <a:xfrm>
            <a:off x="365760" y="3337560"/>
            <a:ext cx="4114440" cy="4021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8"/>
          <p:cNvSpPr/>
          <p:nvPr/>
        </p:nvSpPr>
        <p:spPr>
          <a:xfrm>
            <a:off x="365760" y="3337560"/>
            <a:ext cx="41144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Part 3A: Pydantic — Data Validation Powerhouse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365760" y="477324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LangChain  •  Generative AI  •  Structured Output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Shape 1"/>
          <p:cNvSpPr/>
          <p:nvPr/>
        </p:nvSpPr>
        <p:spPr>
          <a:xfrm>
            <a:off x="-1371600" y="-1371600"/>
            <a:ext cx="4571640" cy="45716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Shape 2"/>
          <p:cNvSpPr/>
          <p:nvPr/>
        </p:nvSpPr>
        <p:spPr>
          <a:xfrm>
            <a:off x="5943600" y="2286000"/>
            <a:ext cx="4114440" cy="41144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Shape 3"/>
          <p:cNvSpPr/>
          <p:nvPr/>
        </p:nvSpPr>
        <p:spPr>
          <a:xfrm>
            <a:off x="4023360" y="2103120"/>
            <a:ext cx="109692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4"/>
          <p:cNvSpPr/>
          <p:nvPr/>
        </p:nvSpPr>
        <p:spPr>
          <a:xfrm>
            <a:off x="4023360" y="155448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599" strike="noStrike">
                <a:solidFill>
                  <a:srgbClr val="48cae4"/>
                </a:solidFill>
                <a:latin typeface="Calibri"/>
                <a:ea typeface="Calibri"/>
              </a:rPr>
              <a:t>METHOD 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4023360" y="2194560"/>
            <a:ext cx="4754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Pydantic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4023360" y="345636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0c4de"/>
                </a:solidFill>
                <a:latin typeface="Calibri"/>
                <a:ea typeface="Calibri"/>
              </a:rPr>
              <a:t>Data validation and parsing library — the industry standard for Python data handling.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62" name="Image 0" descr="preencoded.png"/>
          <p:cNvPicPr/>
          <p:nvPr/>
        </p:nvPicPr>
        <p:blipFill>
          <a:blip r:embed="rId1"/>
          <a:stretch/>
        </p:blipFill>
        <p:spPr>
          <a:xfrm>
            <a:off x="1005840" y="1463040"/>
            <a:ext cx="1462680" cy="1462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65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66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What is Pydantic?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67" name="Shape 3"/>
          <p:cNvSpPr/>
          <p:nvPr/>
        </p:nvSpPr>
        <p:spPr>
          <a:xfrm>
            <a:off x="320040" y="1115640"/>
            <a:ext cx="8503560" cy="658080"/>
          </a:xfrm>
          <a:prstGeom prst="rect">
            <a:avLst/>
          </a:prstGeom>
          <a:solidFill>
            <a:srgbClr val="00b4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Shape 4"/>
          <p:cNvSpPr/>
          <p:nvPr/>
        </p:nvSpPr>
        <p:spPr>
          <a:xfrm>
            <a:off x="320040" y="1115640"/>
            <a:ext cx="63720" cy="65808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5"/>
          <p:cNvSpPr/>
          <p:nvPr/>
        </p:nvSpPr>
        <p:spPr>
          <a:xfrm>
            <a:off x="475560" y="115200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Definition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0" name="Text 6"/>
          <p:cNvSpPr/>
          <p:nvPr/>
        </p:nvSpPr>
        <p:spPr>
          <a:xfrm>
            <a:off x="475560" y="137160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Pydantic is a data validation and data parsing library for Python — validates, coerces, and enforces types at runtime.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1" name="Shape 7"/>
          <p:cNvSpPr/>
          <p:nvPr/>
        </p:nvSpPr>
        <p:spPr>
          <a:xfrm>
            <a:off x="320040" y="1920240"/>
            <a:ext cx="4160160" cy="2742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2" name="Shape 8"/>
          <p:cNvSpPr/>
          <p:nvPr/>
        </p:nvSpPr>
        <p:spPr>
          <a:xfrm>
            <a:off x="320040" y="1920240"/>
            <a:ext cx="4160160" cy="4568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73" name="Image 1" descr="preencoded.png"/>
          <p:cNvPicPr/>
          <p:nvPr/>
        </p:nvPicPr>
        <p:blipFill>
          <a:blip r:embed="rId2"/>
          <a:stretch/>
        </p:blipFill>
        <p:spPr>
          <a:xfrm>
            <a:off x="429840" y="199332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74" name="Text 9"/>
          <p:cNvSpPr/>
          <p:nvPr/>
        </p:nvSpPr>
        <p:spPr>
          <a:xfrm>
            <a:off x="813960" y="1974960"/>
            <a:ext cx="3611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Purpose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75" name="Image 2" descr="preencoded.png"/>
          <p:cNvPicPr/>
          <p:nvPr/>
        </p:nvPicPr>
        <p:blipFill>
          <a:blip r:embed="rId3"/>
          <a:stretch/>
        </p:blipFill>
        <p:spPr>
          <a:xfrm>
            <a:off x="484560" y="24962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76" name="Text 10"/>
          <p:cNvSpPr/>
          <p:nvPr/>
        </p:nvSpPr>
        <p:spPr>
          <a:xfrm>
            <a:off x="795600" y="2487240"/>
            <a:ext cx="3611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a2e42"/>
                </a:solidFill>
                <a:latin typeface="Calibri"/>
                <a:ea typeface="Calibri"/>
              </a:rPr>
              <a:t>Apply checks on incoming data</a:t>
            </a:r>
            <a:endParaRPr b="0" lang="en-IN" sz="1250" spc="-1" strike="noStrike">
              <a:latin typeface="Arial"/>
            </a:endParaRPr>
          </a:p>
        </p:txBody>
      </p:sp>
      <p:pic>
        <p:nvPicPr>
          <p:cNvPr id="77" name="Image 3" descr="preencoded.png"/>
          <p:cNvPicPr/>
          <p:nvPr/>
        </p:nvPicPr>
        <p:blipFill>
          <a:blip r:embed="rId4"/>
          <a:stretch/>
        </p:blipFill>
        <p:spPr>
          <a:xfrm>
            <a:off x="484560" y="29534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78" name="Text 11"/>
          <p:cNvSpPr/>
          <p:nvPr/>
        </p:nvSpPr>
        <p:spPr>
          <a:xfrm>
            <a:off x="795600" y="2944440"/>
            <a:ext cx="3611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a2e42"/>
                </a:solidFill>
                <a:latin typeface="Calibri"/>
                <a:ea typeface="Calibri"/>
              </a:rPr>
              <a:t>Ensure data fulfills criteria</a:t>
            </a:r>
            <a:endParaRPr b="0" lang="en-IN" sz="1250" spc="-1" strike="noStrike">
              <a:latin typeface="Arial"/>
            </a:endParaRPr>
          </a:p>
        </p:txBody>
      </p:sp>
      <p:pic>
        <p:nvPicPr>
          <p:cNvPr id="79" name="Image 4" descr="preencoded.png"/>
          <p:cNvPicPr/>
          <p:nvPr/>
        </p:nvPicPr>
        <p:blipFill>
          <a:blip r:embed="rId5"/>
          <a:stretch/>
        </p:blipFill>
        <p:spPr>
          <a:xfrm>
            <a:off x="484560" y="34106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80" name="Text 12"/>
          <p:cNvSpPr/>
          <p:nvPr/>
        </p:nvSpPr>
        <p:spPr>
          <a:xfrm>
            <a:off x="795600" y="3401640"/>
            <a:ext cx="3611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a2e42"/>
                </a:solidFill>
                <a:latin typeface="Calibri"/>
                <a:ea typeface="Calibri"/>
              </a:rPr>
              <a:t>Validate data types and values</a:t>
            </a:r>
            <a:endParaRPr b="0" lang="en-IN" sz="1250" spc="-1" strike="noStrike">
              <a:latin typeface="Arial"/>
            </a:endParaRPr>
          </a:p>
        </p:txBody>
      </p:sp>
      <p:pic>
        <p:nvPicPr>
          <p:cNvPr id="81" name="Image 5" descr="preencoded.png"/>
          <p:cNvPicPr/>
          <p:nvPr/>
        </p:nvPicPr>
        <p:blipFill>
          <a:blip r:embed="rId6"/>
          <a:stretch/>
        </p:blipFill>
        <p:spPr>
          <a:xfrm>
            <a:off x="484560" y="38678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82" name="Text 13"/>
          <p:cNvSpPr/>
          <p:nvPr/>
        </p:nvSpPr>
        <p:spPr>
          <a:xfrm>
            <a:off x="795600" y="3858840"/>
            <a:ext cx="3611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a2e42"/>
                </a:solidFill>
                <a:latin typeface="Calibri"/>
                <a:ea typeface="Calibri"/>
              </a:rPr>
              <a:t>Provide default values</a:t>
            </a:r>
            <a:endParaRPr b="0" lang="en-IN" sz="1250" spc="-1" strike="noStrike">
              <a:latin typeface="Arial"/>
            </a:endParaRPr>
          </a:p>
        </p:txBody>
      </p:sp>
      <p:pic>
        <p:nvPicPr>
          <p:cNvPr id="83" name="Image 6" descr="preencoded.png"/>
          <p:cNvPicPr/>
          <p:nvPr/>
        </p:nvPicPr>
        <p:blipFill>
          <a:blip r:embed="rId7"/>
          <a:stretch/>
        </p:blipFill>
        <p:spPr>
          <a:xfrm>
            <a:off x="484560" y="43250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84" name="Text 14"/>
          <p:cNvSpPr/>
          <p:nvPr/>
        </p:nvSpPr>
        <p:spPr>
          <a:xfrm>
            <a:off x="795600" y="4316040"/>
            <a:ext cx="3611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a2e42"/>
                </a:solidFill>
                <a:latin typeface="Calibri"/>
                <a:ea typeface="Calibri"/>
              </a:rPr>
              <a:t>Convert types automatically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85" name="Shape 15"/>
          <p:cNvSpPr/>
          <p:nvPr/>
        </p:nvSpPr>
        <p:spPr>
          <a:xfrm>
            <a:off x="4754880" y="1920240"/>
            <a:ext cx="4160160" cy="27428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6" name="Shape 16"/>
          <p:cNvSpPr/>
          <p:nvPr/>
        </p:nvSpPr>
        <p:spPr>
          <a:xfrm>
            <a:off x="4754880" y="1920240"/>
            <a:ext cx="4160160" cy="45684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7" name="Image 7" descr="preencoded.png"/>
          <p:cNvPicPr/>
          <p:nvPr/>
        </p:nvPicPr>
        <p:blipFill>
          <a:blip r:embed="rId8"/>
          <a:stretch/>
        </p:blipFill>
        <p:spPr>
          <a:xfrm>
            <a:off x="4864680" y="1993320"/>
            <a:ext cx="292320" cy="292320"/>
          </a:xfrm>
          <a:prstGeom prst="rect">
            <a:avLst/>
          </a:prstGeom>
          <a:ln w="0">
            <a:noFill/>
          </a:ln>
        </p:spPr>
      </p:pic>
      <p:sp>
        <p:nvSpPr>
          <p:cNvPr id="88" name="Text 17"/>
          <p:cNvSpPr/>
          <p:nvPr/>
        </p:nvSpPr>
        <p:spPr>
          <a:xfrm>
            <a:off x="5248800" y="1974960"/>
            <a:ext cx="36115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Why Use Pydantic?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89" name="Image 8" descr="preencoded.png"/>
          <p:cNvPicPr/>
          <p:nvPr/>
        </p:nvPicPr>
        <p:blipFill>
          <a:blip r:embed="rId9"/>
          <a:stretch/>
        </p:blipFill>
        <p:spPr>
          <a:xfrm>
            <a:off x="4919400" y="24962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90" name="Text 18"/>
          <p:cNvSpPr/>
          <p:nvPr/>
        </p:nvSpPr>
        <p:spPr>
          <a:xfrm>
            <a:off x="5230440" y="2487240"/>
            <a:ext cx="3611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a2e42"/>
                </a:solidFill>
                <a:latin typeface="Calibri"/>
                <a:ea typeface="Calibri"/>
              </a:rPr>
              <a:t>Critical for API development (FastAPI)</a:t>
            </a:r>
            <a:endParaRPr b="0" lang="en-IN" sz="1250" spc="-1" strike="noStrike">
              <a:latin typeface="Arial"/>
            </a:endParaRPr>
          </a:p>
        </p:txBody>
      </p:sp>
      <p:pic>
        <p:nvPicPr>
          <p:cNvPr id="91" name="Image 9" descr="preencoded.png"/>
          <p:cNvPicPr/>
          <p:nvPr/>
        </p:nvPicPr>
        <p:blipFill>
          <a:blip r:embed="rId10"/>
          <a:stretch/>
        </p:blipFill>
        <p:spPr>
          <a:xfrm>
            <a:off x="4919400" y="29534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92" name="Text 19"/>
          <p:cNvSpPr/>
          <p:nvPr/>
        </p:nvSpPr>
        <p:spPr>
          <a:xfrm>
            <a:off x="5230440" y="2944440"/>
            <a:ext cx="3611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a2e42"/>
                </a:solidFill>
                <a:latin typeface="Calibri"/>
                <a:ea typeface="Calibri"/>
              </a:rPr>
              <a:t>Security matters during data handling</a:t>
            </a:r>
            <a:endParaRPr b="0" lang="en-IN" sz="1250" spc="-1" strike="noStrike">
              <a:latin typeface="Arial"/>
            </a:endParaRPr>
          </a:p>
        </p:txBody>
      </p:sp>
      <p:pic>
        <p:nvPicPr>
          <p:cNvPr id="93" name="Image 10" descr="preencoded.png"/>
          <p:cNvPicPr/>
          <p:nvPr/>
        </p:nvPicPr>
        <p:blipFill>
          <a:blip r:embed="rId11"/>
          <a:stretch/>
        </p:blipFill>
        <p:spPr>
          <a:xfrm>
            <a:off x="4919400" y="34106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94" name="Text 20"/>
          <p:cNvSpPr/>
          <p:nvPr/>
        </p:nvSpPr>
        <p:spPr>
          <a:xfrm>
            <a:off x="5230440" y="3401640"/>
            <a:ext cx="3611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a2e42"/>
                </a:solidFill>
                <a:latin typeface="Calibri"/>
                <a:ea typeface="Calibri"/>
              </a:rPr>
              <a:t>More powerful than TypedDict</a:t>
            </a:r>
            <a:endParaRPr b="0" lang="en-IN" sz="1250" spc="-1" strike="noStrike">
              <a:latin typeface="Arial"/>
            </a:endParaRPr>
          </a:p>
        </p:txBody>
      </p:sp>
      <p:pic>
        <p:nvPicPr>
          <p:cNvPr id="95" name="Image 11" descr="preencoded.png"/>
          <p:cNvPicPr/>
          <p:nvPr/>
        </p:nvPicPr>
        <p:blipFill>
          <a:blip r:embed="rId12"/>
          <a:stretch/>
        </p:blipFill>
        <p:spPr>
          <a:xfrm>
            <a:off x="4919400" y="386784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96" name="Text 21"/>
          <p:cNvSpPr/>
          <p:nvPr/>
        </p:nvSpPr>
        <p:spPr>
          <a:xfrm>
            <a:off x="5230440" y="3858840"/>
            <a:ext cx="3611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1a2e42"/>
                </a:solidFill>
                <a:latin typeface="Calibri"/>
                <a:ea typeface="Calibri"/>
              </a:rPr>
              <a:t>Industry standard for data validation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97" name="Shape 22"/>
          <p:cNvSpPr/>
          <p:nvPr/>
        </p:nvSpPr>
        <p:spPr>
          <a:xfrm>
            <a:off x="320040" y="4773240"/>
            <a:ext cx="8503560" cy="273960"/>
          </a:xfrm>
          <a:prstGeom prst="rect">
            <a:avLst/>
          </a:prstGeom>
          <a:solidFill>
            <a:srgbClr val="ffd166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98" name="Image 12" descr="preencoded.png"/>
          <p:cNvPicPr/>
          <p:nvPr/>
        </p:nvPicPr>
        <p:blipFill>
          <a:blip r:embed="rId13"/>
          <a:stretch/>
        </p:blipFill>
        <p:spPr>
          <a:xfrm>
            <a:off x="402480" y="4818960"/>
            <a:ext cx="200880" cy="200880"/>
          </a:xfrm>
          <a:prstGeom prst="rect">
            <a:avLst/>
          </a:prstGeom>
          <a:ln w="0">
            <a:noFill/>
          </a:ln>
        </p:spPr>
      </p:pic>
      <p:sp>
        <p:nvSpPr>
          <p:cNvPr id="99" name="Text 23"/>
          <p:cNvSpPr/>
          <p:nvPr/>
        </p:nvSpPr>
        <p:spPr>
          <a:xfrm>
            <a:off x="658440" y="4818960"/>
            <a:ext cx="8046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2e42"/>
                </a:solidFill>
                <a:latin typeface="Calibri"/>
                <a:ea typeface="Calibri"/>
              </a:rPr>
              <a:t>Similar syntax to TypedDict, but with superpowers — validation, coercion, constraints, and more!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2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03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Basic Pydantic Example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04" name="Shape 3"/>
          <p:cNvSpPr/>
          <p:nvPr/>
        </p:nvSpPr>
        <p:spPr>
          <a:xfrm>
            <a:off x="320040" y="1097280"/>
            <a:ext cx="4937400" cy="292572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5" name="Text 4"/>
          <p:cNvSpPr/>
          <p:nvPr/>
        </p:nvSpPr>
        <p:spPr>
          <a:xfrm>
            <a:off x="457200" y="1170360"/>
            <a:ext cx="4754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basic_pydantic.py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457200" y="1444680"/>
            <a:ext cx="473616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class StudentInfo(BaseModel):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Create a dictionary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student_data = {'name': 'Alice'}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Create Pydantic object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student_obj = StudentInfo(**student_data)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print(student_obj)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print(type(student_obj))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07" name="Shape 6"/>
          <p:cNvSpPr/>
          <p:nvPr/>
        </p:nvSpPr>
        <p:spPr>
          <a:xfrm>
            <a:off x="320040" y="4114800"/>
            <a:ext cx="4937400" cy="74952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7"/>
          <p:cNvSpPr/>
          <p:nvPr/>
        </p:nvSpPr>
        <p:spPr>
          <a:xfrm>
            <a:off x="457200" y="416952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457200" y="4407480"/>
            <a:ext cx="4736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name='Alice'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&lt;class '__main__.StudentInfo'&gt;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0" name="Shape 9"/>
          <p:cNvSpPr/>
          <p:nvPr/>
        </p:nvSpPr>
        <p:spPr>
          <a:xfrm>
            <a:off x="5440680" y="1097280"/>
            <a:ext cx="3382920" cy="37670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1" name="Shape 10"/>
          <p:cNvSpPr/>
          <p:nvPr/>
        </p:nvSpPr>
        <p:spPr>
          <a:xfrm>
            <a:off x="5440680" y="1097280"/>
            <a:ext cx="3382920" cy="4568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11"/>
          <p:cNvSpPr/>
          <p:nvPr/>
        </p:nvSpPr>
        <p:spPr>
          <a:xfrm>
            <a:off x="5577840" y="11520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Key Differences from TypedDict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3" name="Shape 12"/>
          <p:cNvSpPr/>
          <p:nvPr/>
        </p:nvSpPr>
        <p:spPr>
          <a:xfrm>
            <a:off x="5532120" y="1682640"/>
            <a:ext cx="3200040" cy="5299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Shape 13"/>
          <p:cNvSpPr/>
          <p:nvPr/>
        </p:nvSpPr>
        <p:spPr>
          <a:xfrm>
            <a:off x="5532120" y="1682640"/>
            <a:ext cx="54360" cy="5299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14"/>
          <p:cNvSpPr/>
          <p:nvPr/>
        </p:nvSpPr>
        <p:spPr>
          <a:xfrm>
            <a:off x="5650920" y="171900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Import: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5650920" y="189288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from pydantic import BaseModel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7" name="Shape 16"/>
          <p:cNvSpPr/>
          <p:nvPr/>
        </p:nvSpPr>
        <p:spPr>
          <a:xfrm>
            <a:off x="5532120" y="2295000"/>
            <a:ext cx="3200040" cy="5299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Shape 17"/>
          <p:cNvSpPr/>
          <p:nvPr/>
        </p:nvSpPr>
        <p:spPr>
          <a:xfrm>
            <a:off x="5532120" y="2295000"/>
            <a:ext cx="54360" cy="5299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18"/>
          <p:cNvSpPr/>
          <p:nvPr/>
        </p:nvSpPr>
        <p:spPr>
          <a:xfrm>
            <a:off x="5650920" y="233172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Inheritance: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0" name="Text 19"/>
          <p:cNvSpPr/>
          <p:nvPr/>
        </p:nvSpPr>
        <p:spPr>
          <a:xfrm>
            <a:off x="5650920" y="250560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class Name(BaseModel), not (TypedDict)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1" name="Shape 20"/>
          <p:cNvSpPr/>
          <p:nvPr/>
        </p:nvSpPr>
        <p:spPr>
          <a:xfrm>
            <a:off x="5532120" y="2907720"/>
            <a:ext cx="3200040" cy="5299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Shape 21"/>
          <p:cNvSpPr/>
          <p:nvPr/>
        </p:nvSpPr>
        <p:spPr>
          <a:xfrm>
            <a:off x="5532120" y="2907720"/>
            <a:ext cx="54360" cy="5299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22"/>
          <p:cNvSpPr/>
          <p:nvPr/>
        </p:nvSpPr>
        <p:spPr>
          <a:xfrm>
            <a:off x="5650920" y="294444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Instantiation: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4" name="Text 23"/>
          <p:cNvSpPr/>
          <p:nvPr/>
        </p:nvSpPr>
        <p:spPr>
          <a:xfrm>
            <a:off x="5650920" y="311796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StudentInfo(**data) not a plain dict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5" name="Shape 24"/>
          <p:cNvSpPr/>
          <p:nvPr/>
        </p:nvSpPr>
        <p:spPr>
          <a:xfrm>
            <a:off x="5532120" y="3520440"/>
            <a:ext cx="3200040" cy="5299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Shape 25"/>
          <p:cNvSpPr/>
          <p:nvPr/>
        </p:nvSpPr>
        <p:spPr>
          <a:xfrm>
            <a:off x="5532120" y="3520440"/>
            <a:ext cx="54360" cy="5299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26"/>
          <p:cNvSpPr/>
          <p:nvPr/>
        </p:nvSpPr>
        <p:spPr>
          <a:xfrm>
            <a:off x="5650920" y="355716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Output type: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8" name="Text 27"/>
          <p:cNvSpPr/>
          <p:nvPr/>
        </p:nvSpPr>
        <p:spPr>
          <a:xfrm>
            <a:off x="5650920" y="373068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&lt;class '__main__.StudentInfo'&gt;, not dict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9" name="Shape 28"/>
          <p:cNvSpPr/>
          <p:nvPr/>
        </p:nvSpPr>
        <p:spPr>
          <a:xfrm>
            <a:off x="5532120" y="4133160"/>
            <a:ext cx="3200040" cy="5299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Shape 29"/>
          <p:cNvSpPr/>
          <p:nvPr/>
        </p:nvSpPr>
        <p:spPr>
          <a:xfrm>
            <a:off x="5532120" y="4133160"/>
            <a:ext cx="54360" cy="5299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30"/>
          <p:cNvSpPr/>
          <p:nvPr/>
        </p:nvSpPr>
        <p:spPr>
          <a:xfrm>
            <a:off x="5650920" y="416952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Access style: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2" name="Text 31"/>
          <p:cNvSpPr/>
          <p:nvPr/>
        </p:nvSpPr>
        <p:spPr>
          <a:xfrm>
            <a:off x="5650920" y="4343400"/>
            <a:ext cx="301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2e42"/>
                </a:solidFill>
                <a:latin typeface="Consolas"/>
                <a:ea typeface="Consolas"/>
              </a:rPr>
              <a:t>student.name (dot notation), not student['name']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5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36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Pydantic Validation — The Magic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37" name="Shape 3"/>
          <p:cNvSpPr/>
          <p:nvPr/>
        </p:nvSpPr>
        <p:spPr>
          <a:xfrm>
            <a:off x="320040" y="1115640"/>
            <a:ext cx="8503560" cy="548280"/>
          </a:xfrm>
          <a:prstGeom prst="rect">
            <a:avLst/>
          </a:prstGeom>
          <a:solidFill>
            <a:srgbClr val="ef476f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Shape 4"/>
          <p:cNvSpPr/>
          <p:nvPr/>
        </p:nvSpPr>
        <p:spPr>
          <a:xfrm>
            <a:off x="320040" y="1115640"/>
            <a:ext cx="63720" cy="54828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5"/>
          <p:cNvSpPr/>
          <p:nvPr/>
        </p:nvSpPr>
        <p:spPr>
          <a:xfrm>
            <a:off x="475560" y="122544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f476f"/>
                </a:solidFill>
                <a:latin typeface="Calibri"/>
                <a:ea typeface="Calibri"/>
              </a:rPr>
              <a:t>Passing a string '30' when age expects an int — TypedDict ignores it, Pydantic catches it immediately!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0" name="Shape 6"/>
          <p:cNvSpPr/>
          <p:nvPr/>
        </p:nvSpPr>
        <p:spPr>
          <a:xfrm>
            <a:off x="320040" y="1810440"/>
            <a:ext cx="5028840" cy="255996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1" name="Text 7"/>
          <p:cNvSpPr/>
          <p:nvPr/>
        </p:nvSpPr>
        <p:spPr>
          <a:xfrm>
            <a:off x="457200" y="1883520"/>
            <a:ext cx="48459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validation_demo.py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2" name="Text 8"/>
          <p:cNvSpPr/>
          <p:nvPr/>
        </p:nvSpPr>
        <p:spPr>
          <a:xfrm>
            <a:off x="457200" y="2157840"/>
            <a:ext cx="48276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class StudentInfo(BaseModel):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age: int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This WILL throw a validation error!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student_data = {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'name': 'Alice',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'age': '30'  # ← String, not int!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try: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student_obj = StudentInfo(**student_data)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except Exception as error: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print("Error:", error)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43" name="Shape 9"/>
          <p:cNvSpPr/>
          <p:nvPr/>
        </p:nvSpPr>
        <p:spPr>
          <a:xfrm>
            <a:off x="320040" y="4480560"/>
            <a:ext cx="5028840" cy="5940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Shape 10"/>
          <p:cNvSpPr/>
          <p:nvPr/>
        </p:nvSpPr>
        <p:spPr>
          <a:xfrm>
            <a:off x="320040" y="4480560"/>
            <a:ext cx="5028840" cy="255600"/>
          </a:xfrm>
          <a:prstGeom prst="rect">
            <a:avLst/>
          </a:prstGeom>
          <a:solidFill>
            <a:srgbClr val="ef476f">
              <a:alpha val="7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11"/>
          <p:cNvSpPr/>
          <p:nvPr/>
        </p:nvSpPr>
        <p:spPr>
          <a:xfrm>
            <a:off x="457200" y="4507920"/>
            <a:ext cx="4571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Validation Error 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6" name="Text 12"/>
          <p:cNvSpPr/>
          <p:nvPr/>
        </p:nvSpPr>
        <p:spPr>
          <a:xfrm>
            <a:off x="457200" y="4727520"/>
            <a:ext cx="4754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f476f"/>
                </a:solidFill>
                <a:latin typeface="Consolas"/>
                <a:ea typeface="Consolas"/>
              </a:rPr>
              <a:t>1 validation error for StudentInfo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f476f"/>
                </a:solidFill>
                <a:latin typeface="Consolas"/>
                <a:ea typeface="Consolas"/>
              </a:rPr>
              <a:t>age: Input should be a valid integer [input_value='30']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7" name="Shape 13"/>
          <p:cNvSpPr/>
          <p:nvPr/>
        </p:nvSpPr>
        <p:spPr>
          <a:xfrm>
            <a:off x="5486400" y="1810440"/>
            <a:ext cx="3337200" cy="3264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8" name="Shape 14"/>
          <p:cNvSpPr/>
          <p:nvPr/>
        </p:nvSpPr>
        <p:spPr>
          <a:xfrm>
            <a:off x="5486400" y="1810440"/>
            <a:ext cx="3337200" cy="456840"/>
          </a:xfrm>
          <a:prstGeom prst="rect">
            <a:avLst/>
          </a:prstGeom>
          <a:solidFill>
            <a:srgbClr val="ef476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5"/>
          <p:cNvSpPr/>
          <p:nvPr/>
        </p:nvSpPr>
        <p:spPr>
          <a:xfrm>
            <a:off x="5623560" y="186552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What Pydantic Validates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150" name="Image 1" descr="preencoded.png"/>
          <p:cNvPicPr/>
          <p:nvPr/>
        </p:nvPicPr>
        <p:blipFill>
          <a:blip r:embed="rId2"/>
          <a:stretch/>
        </p:blipFill>
        <p:spPr>
          <a:xfrm>
            <a:off x="5577840" y="235908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51" name="Text 16"/>
          <p:cNvSpPr/>
          <p:nvPr/>
        </p:nvSpPr>
        <p:spPr>
          <a:xfrm>
            <a:off x="5870520" y="235908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f476f"/>
                </a:solidFill>
                <a:latin typeface="Calibri"/>
                <a:ea typeface="Calibri"/>
              </a:rPr>
              <a:t>Type checking: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2" name="Text 17"/>
          <p:cNvSpPr/>
          <p:nvPr/>
        </p:nvSpPr>
        <p:spPr>
          <a:xfrm>
            <a:off x="5870520" y="256032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a5a78"/>
                </a:solidFill>
                <a:latin typeface="Calibri"/>
                <a:ea typeface="Calibri"/>
              </a:rPr>
              <a:t>str, int, float, bool, list, etc.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153" name="Image 2" descr="preencoded.png"/>
          <p:cNvPicPr/>
          <p:nvPr/>
        </p:nvPicPr>
        <p:blipFill>
          <a:blip r:embed="rId3"/>
          <a:stretch/>
        </p:blipFill>
        <p:spPr>
          <a:xfrm>
            <a:off x="5577840" y="287136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54" name="Text 18"/>
          <p:cNvSpPr/>
          <p:nvPr/>
        </p:nvSpPr>
        <p:spPr>
          <a:xfrm>
            <a:off x="5870520" y="287136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f476f"/>
                </a:solidFill>
                <a:latin typeface="Calibri"/>
                <a:ea typeface="Calibri"/>
              </a:rPr>
              <a:t>Required fields: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5" name="Text 19"/>
          <p:cNvSpPr/>
          <p:nvPr/>
        </p:nvSpPr>
        <p:spPr>
          <a:xfrm>
            <a:off x="5870520" y="307224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a5a78"/>
                </a:solidFill>
                <a:latin typeface="Calibri"/>
                <a:ea typeface="Calibri"/>
              </a:rPr>
              <a:t>All fields without defaults must be present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156" name="Image 3" descr="preencoded.png"/>
          <p:cNvPicPr/>
          <p:nvPr/>
        </p:nvPicPr>
        <p:blipFill>
          <a:blip r:embed="rId4"/>
          <a:stretch/>
        </p:blipFill>
        <p:spPr>
          <a:xfrm>
            <a:off x="5577840" y="338328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57" name="Text 20"/>
          <p:cNvSpPr/>
          <p:nvPr/>
        </p:nvSpPr>
        <p:spPr>
          <a:xfrm>
            <a:off x="5870520" y="338328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f476f"/>
                </a:solidFill>
                <a:latin typeface="Calibri"/>
                <a:ea typeface="Calibri"/>
              </a:rPr>
              <a:t>Field constraints: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8" name="Text 21"/>
          <p:cNvSpPr/>
          <p:nvPr/>
        </p:nvSpPr>
        <p:spPr>
          <a:xfrm>
            <a:off x="5870520" y="358452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a5a78"/>
                </a:solidFill>
                <a:latin typeface="Calibri"/>
                <a:ea typeface="Calibri"/>
              </a:rPr>
              <a:t>ge, le, min_length, regex, etc.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159" name="Image 4" descr="preencoded.png"/>
          <p:cNvPicPr/>
          <p:nvPr/>
        </p:nvPicPr>
        <p:blipFill>
          <a:blip r:embed="rId5"/>
          <a:stretch/>
        </p:blipFill>
        <p:spPr>
          <a:xfrm>
            <a:off x="5577840" y="389520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60" name="Text 22"/>
          <p:cNvSpPr/>
          <p:nvPr/>
        </p:nvSpPr>
        <p:spPr>
          <a:xfrm>
            <a:off x="5870520" y="389520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f476f"/>
                </a:solidFill>
                <a:latin typeface="Calibri"/>
                <a:ea typeface="Calibri"/>
              </a:rPr>
              <a:t>Email format: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1" name="Text 23"/>
          <p:cNvSpPr/>
          <p:nvPr/>
        </p:nvSpPr>
        <p:spPr>
          <a:xfrm>
            <a:off x="5870520" y="409644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a5a78"/>
                </a:solidFill>
                <a:latin typeface="Calibri"/>
                <a:ea typeface="Calibri"/>
              </a:rPr>
              <a:t>EmailStr validates email addresses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162" name="Image 5" descr="preencoded.png"/>
          <p:cNvPicPr/>
          <p:nvPr/>
        </p:nvPicPr>
        <p:blipFill>
          <a:blip r:embed="rId6"/>
          <a:stretch/>
        </p:blipFill>
        <p:spPr>
          <a:xfrm>
            <a:off x="5577840" y="4407480"/>
            <a:ext cx="219240" cy="219240"/>
          </a:xfrm>
          <a:prstGeom prst="rect">
            <a:avLst/>
          </a:prstGeom>
          <a:ln w="0">
            <a:noFill/>
          </a:ln>
        </p:spPr>
      </p:pic>
      <p:sp>
        <p:nvSpPr>
          <p:cNvPr id="163" name="Text 24"/>
          <p:cNvSpPr/>
          <p:nvPr/>
        </p:nvSpPr>
        <p:spPr>
          <a:xfrm>
            <a:off x="5870520" y="440748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f476f"/>
                </a:solidFill>
                <a:latin typeface="Calibri"/>
                <a:ea typeface="Calibri"/>
              </a:rPr>
              <a:t>Custom validators: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4" name="Text 25"/>
          <p:cNvSpPr/>
          <p:nvPr/>
        </p:nvSpPr>
        <p:spPr>
          <a:xfrm>
            <a:off x="5870520" y="460872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a5a78"/>
                </a:solidFill>
                <a:latin typeface="Calibri"/>
                <a:ea typeface="Calibri"/>
              </a:rPr>
              <a:t>Write your own validation logic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7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68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TypedDict vs Pydantic — Side by Side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69" name="Shape 3"/>
          <p:cNvSpPr/>
          <p:nvPr/>
        </p:nvSpPr>
        <p:spPr>
          <a:xfrm>
            <a:off x="320040" y="1115640"/>
            <a:ext cx="8503560" cy="365400"/>
          </a:xfrm>
          <a:prstGeom prst="rect">
            <a:avLst/>
          </a:prstGeom>
          <a:solidFill>
            <a:srgbClr val="3a5a7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4"/>
          <p:cNvSpPr/>
          <p:nvPr/>
        </p:nvSpPr>
        <p:spPr>
          <a:xfrm>
            <a:off x="457200" y="11703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Same wrong input — age = '30' (string) when int is expected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1" name="Shape 5"/>
          <p:cNvSpPr/>
          <p:nvPr/>
        </p:nvSpPr>
        <p:spPr>
          <a:xfrm>
            <a:off x="320040" y="1572840"/>
            <a:ext cx="3931560" cy="324576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2" name="Shape 6"/>
          <p:cNvSpPr/>
          <p:nvPr/>
        </p:nvSpPr>
        <p:spPr>
          <a:xfrm>
            <a:off x="320040" y="1572840"/>
            <a:ext cx="3931560" cy="347040"/>
          </a:xfrm>
          <a:prstGeom prst="rect">
            <a:avLst/>
          </a:prstGeom>
          <a:solidFill>
            <a:srgbClr val="ef476f">
              <a:alpha val="8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7"/>
          <p:cNvSpPr/>
          <p:nvPr/>
        </p:nvSpPr>
        <p:spPr>
          <a:xfrm>
            <a:off x="457200" y="16092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❌  </a:t>
            </a: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TypedDict — No Validation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4" name="Text 8"/>
          <p:cNvSpPr/>
          <p:nvPr/>
        </p:nvSpPr>
        <p:spPr>
          <a:xfrm>
            <a:off x="457200" y="1956960"/>
            <a:ext cx="3657240" cy="272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typing import TypedDict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class Person(TypedDict):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age: int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Wrong type - NO ERROR!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 = {"name": "Alice", "age": "30"}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person: Person = p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print(person)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{'name': 'Alice', 'age': '30'}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75" name="Shape 9"/>
          <p:cNvSpPr/>
          <p:nvPr/>
        </p:nvSpPr>
        <p:spPr>
          <a:xfrm>
            <a:off x="320040" y="4892040"/>
            <a:ext cx="3931560" cy="228240"/>
          </a:xfrm>
          <a:prstGeom prst="rect">
            <a:avLst/>
          </a:prstGeom>
          <a:solidFill>
            <a:srgbClr val="ef476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10"/>
          <p:cNvSpPr/>
          <p:nvPr/>
        </p:nvSpPr>
        <p:spPr>
          <a:xfrm>
            <a:off x="384120" y="4901040"/>
            <a:ext cx="3748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f476f"/>
                </a:solidFill>
                <a:latin typeface="Calibri"/>
                <a:ea typeface="Calibri"/>
              </a:rPr>
              <a:t>❌ </a:t>
            </a:r>
            <a:r>
              <a:rPr b="0" lang="en-US" sz="1000" spc="-1" strike="noStrike">
                <a:solidFill>
                  <a:srgbClr val="ef476f"/>
                </a:solidFill>
                <a:latin typeface="Calibri"/>
                <a:ea typeface="Calibri"/>
              </a:rPr>
              <a:t>Accepts wrong types   ❌ No validation   ❌ Only type hints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77" name="Shape 11"/>
          <p:cNvSpPr/>
          <p:nvPr/>
        </p:nvSpPr>
        <p:spPr>
          <a:xfrm>
            <a:off x="4892040" y="1572840"/>
            <a:ext cx="3931560" cy="324576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8" name="Shape 12"/>
          <p:cNvSpPr/>
          <p:nvPr/>
        </p:nvSpPr>
        <p:spPr>
          <a:xfrm>
            <a:off x="4892040" y="1572840"/>
            <a:ext cx="3931560" cy="347040"/>
          </a:xfrm>
          <a:prstGeom prst="rect">
            <a:avLst/>
          </a:prstGeom>
          <a:solidFill>
            <a:srgbClr val="06d6a0">
              <a:alpha val="7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13"/>
          <p:cNvSpPr/>
          <p:nvPr/>
        </p:nvSpPr>
        <p:spPr>
          <a:xfrm>
            <a:off x="5029200" y="16092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✓  </a:t>
            </a: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Pydantic — With Validation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0" name="Text 14"/>
          <p:cNvSpPr/>
          <p:nvPr/>
        </p:nvSpPr>
        <p:spPr>
          <a:xfrm>
            <a:off x="5029200" y="1956960"/>
            <a:ext cx="3657240" cy="272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class Person(BaseModel):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age: int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Wrong type - VALIDATION ERROR!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try: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person = Person(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name="Alice", age="thirty"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except Exception as e: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print("Error:", e)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1" name="Shape 15"/>
          <p:cNvSpPr/>
          <p:nvPr/>
        </p:nvSpPr>
        <p:spPr>
          <a:xfrm>
            <a:off x="4892040" y="4892040"/>
            <a:ext cx="3931560" cy="228240"/>
          </a:xfrm>
          <a:prstGeom prst="rect">
            <a:avLst/>
          </a:prstGeom>
          <a:solidFill>
            <a:srgbClr val="06d6a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16"/>
          <p:cNvSpPr/>
          <p:nvPr/>
        </p:nvSpPr>
        <p:spPr>
          <a:xfrm>
            <a:off x="4956120" y="4919400"/>
            <a:ext cx="3748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06d6a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06d6a0"/>
                </a:solidFill>
                <a:latin typeface="Calibri"/>
                <a:ea typeface="Calibri"/>
              </a:rPr>
              <a:t>Validates data types   ✓ Catches errors early   ✓ Type coercion available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3" name="Shape 17"/>
          <p:cNvSpPr/>
          <p:nvPr/>
        </p:nvSpPr>
        <p:spPr>
          <a:xfrm>
            <a:off x="4325040" y="2834640"/>
            <a:ext cx="475200" cy="47520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18"/>
          <p:cNvSpPr/>
          <p:nvPr/>
        </p:nvSpPr>
        <p:spPr>
          <a:xfrm>
            <a:off x="4325040" y="28346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</a:rPr>
              <a:t>VS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Shape 1"/>
          <p:cNvSpPr/>
          <p:nvPr/>
        </p:nvSpPr>
        <p:spPr>
          <a:xfrm>
            <a:off x="-1371600" y="-1371600"/>
            <a:ext cx="4571640" cy="45716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Shape 2"/>
          <p:cNvSpPr/>
          <p:nvPr/>
        </p:nvSpPr>
        <p:spPr>
          <a:xfrm>
            <a:off x="5943600" y="2286000"/>
            <a:ext cx="4114440" cy="4114440"/>
          </a:xfrm>
          <a:prstGeom prst="ellipse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Shape 3"/>
          <p:cNvSpPr/>
          <p:nvPr/>
        </p:nvSpPr>
        <p:spPr>
          <a:xfrm>
            <a:off x="4023360" y="2103120"/>
            <a:ext cx="109692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4"/>
          <p:cNvSpPr/>
          <p:nvPr/>
        </p:nvSpPr>
        <p:spPr>
          <a:xfrm>
            <a:off x="4023360" y="155448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599" strike="noStrike">
                <a:solidFill>
                  <a:srgbClr val="48cae4"/>
                </a:solidFill>
                <a:latin typeface="Calibri"/>
                <a:ea typeface="Calibri"/>
              </a:rPr>
              <a:t>PYDANTIC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0" name="Text 5"/>
          <p:cNvSpPr/>
          <p:nvPr/>
        </p:nvSpPr>
        <p:spPr>
          <a:xfrm>
            <a:off x="4023360" y="2194560"/>
            <a:ext cx="4754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Key Features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191" name="Text 6"/>
          <p:cNvSpPr/>
          <p:nvPr/>
        </p:nvSpPr>
        <p:spPr>
          <a:xfrm>
            <a:off x="4023360" y="345636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b0c4de"/>
                </a:solidFill>
                <a:latin typeface="Calibri"/>
                <a:ea typeface="Calibri"/>
              </a:rPr>
              <a:t>Default values, optional fields, type coercion, email validation &amp; field constraints.</a:t>
            </a:r>
            <a:endParaRPr b="0" lang="en-IN" sz="1400" spc="-1" strike="noStrike">
              <a:latin typeface="Arial"/>
            </a:endParaRPr>
          </a:p>
        </p:txBody>
      </p:sp>
      <p:pic>
        <p:nvPicPr>
          <p:cNvPr id="192" name="Image 0" descr="preencoded.png"/>
          <p:cNvPicPr/>
          <p:nvPr/>
        </p:nvPicPr>
        <p:blipFill>
          <a:blip r:embed="rId1"/>
          <a:stretch/>
        </p:blipFill>
        <p:spPr>
          <a:xfrm>
            <a:off x="1005840" y="1463040"/>
            <a:ext cx="1462680" cy="1462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95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196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Feature 1 — Default Values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97" name="Shape 3"/>
          <p:cNvSpPr/>
          <p:nvPr/>
        </p:nvSpPr>
        <p:spPr>
          <a:xfrm>
            <a:off x="320040" y="1115640"/>
            <a:ext cx="8503560" cy="529920"/>
          </a:xfrm>
          <a:prstGeom prst="rect">
            <a:avLst/>
          </a:prstGeom>
          <a:solidFill>
            <a:srgbClr val="00b4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Shape 4"/>
          <p:cNvSpPr/>
          <p:nvPr/>
        </p:nvSpPr>
        <p:spPr>
          <a:xfrm>
            <a:off x="320040" y="1115640"/>
            <a:ext cx="63720" cy="5299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5"/>
          <p:cNvSpPr/>
          <p:nvPr/>
        </p:nvSpPr>
        <p:spPr>
          <a:xfrm>
            <a:off x="475560" y="12070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Set default values for fields — if LLM skips a field or user doesn't provide it, the default is used automatically.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0" name="Shape 6"/>
          <p:cNvSpPr/>
          <p:nvPr/>
        </p:nvSpPr>
        <p:spPr>
          <a:xfrm>
            <a:off x="320040" y="1783080"/>
            <a:ext cx="4937400" cy="251424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1" name="Text 7"/>
          <p:cNvSpPr/>
          <p:nvPr/>
        </p:nvSpPr>
        <p:spPr>
          <a:xfrm>
            <a:off x="457200" y="1856160"/>
            <a:ext cx="4754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default_values.py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2" name="Text 8"/>
          <p:cNvSpPr/>
          <p:nvPr/>
        </p:nvSpPr>
        <p:spPr>
          <a:xfrm>
            <a:off x="457200" y="2130480"/>
            <a:ext cx="473616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class StudentInfo(BaseModel):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name: str = 'Anonymous'  # Default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age: int = 18            # Default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Create without ANY values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 = StudentInfo()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print(student)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print("Name:", student.name)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print("Age:", student.age)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03" name="Shape 9"/>
          <p:cNvSpPr/>
          <p:nvPr/>
        </p:nvSpPr>
        <p:spPr>
          <a:xfrm>
            <a:off x="320040" y="4389120"/>
            <a:ext cx="4937400" cy="65808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10"/>
          <p:cNvSpPr/>
          <p:nvPr/>
        </p:nvSpPr>
        <p:spPr>
          <a:xfrm>
            <a:off x="457200" y="444384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5" name="Text 11"/>
          <p:cNvSpPr/>
          <p:nvPr/>
        </p:nvSpPr>
        <p:spPr>
          <a:xfrm>
            <a:off x="457200" y="4681800"/>
            <a:ext cx="4736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name='Anonymous' age=18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Name: Anonymous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Age: 18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06" name="Shape 12"/>
          <p:cNvSpPr/>
          <p:nvPr/>
        </p:nvSpPr>
        <p:spPr>
          <a:xfrm>
            <a:off x="5440680" y="1783080"/>
            <a:ext cx="3382920" cy="71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7" name="Shape 13"/>
          <p:cNvSpPr/>
          <p:nvPr/>
        </p:nvSpPr>
        <p:spPr>
          <a:xfrm>
            <a:off x="5440680" y="1783080"/>
            <a:ext cx="54360" cy="71280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14"/>
          <p:cNvSpPr/>
          <p:nvPr/>
        </p:nvSpPr>
        <p:spPr>
          <a:xfrm>
            <a:off x="5559480" y="181980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96c7"/>
                </a:solidFill>
                <a:latin typeface="Calibri"/>
                <a:ea typeface="Calibri"/>
              </a:rPr>
              <a:t>Syntax: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9" name="Text 15"/>
          <p:cNvSpPr/>
          <p:nvPr/>
        </p:nvSpPr>
        <p:spPr>
          <a:xfrm>
            <a:off x="5559480" y="203904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field: type = default_value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0" name="Shape 16"/>
          <p:cNvSpPr/>
          <p:nvPr/>
        </p:nvSpPr>
        <p:spPr>
          <a:xfrm>
            <a:off x="5440680" y="2606040"/>
            <a:ext cx="3382920" cy="71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1" name="Shape 17"/>
          <p:cNvSpPr/>
          <p:nvPr/>
        </p:nvSpPr>
        <p:spPr>
          <a:xfrm>
            <a:off x="5440680" y="2606040"/>
            <a:ext cx="54360" cy="7128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18"/>
          <p:cNvSpPr/>
          <p:nvPr/>
        </p:nvSpPr>
        <p:spPr>
          <a:xfrm>
            <a:off x="5559480" y="264276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When Used: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3" name="Text 19"/>
          <p:cNvSpPr/>
          <p:nvPr/>
        </p:nvSpPr>
        <p:spPr>
          <a:xfrm>
            <a:off x="5559480" y="286200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Field not provided at creation time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4" name="Shape 20"/>
          <p:cNvSpPr/>
          <p:nvPr/>
        </p:nvSpPr>
        <p:spPr>
          <a:xfrm>
            <a:off x="5440680" y="3429000"/>
            <a:ext cx="3382920" cy="71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5" name="Shape 21"/>
          <p:cNvSpPr/>
          <p:nvPr/>
        </p:nvSpPr>
        <p:spPr>
          <a:xfrm>
            <a:off x="5440680" y="3429000"/>
            <a:ext cx="54360" cy="71280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22"/>
          <p:cNvSpPr/>
          <p:nvPr/>
        </p:nvSpPr>
        <p:spPr>
          <a:xfrm>
            <a:off x="5559480" y="346572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6d6a0"/>
                </a:solidFill>
                <a:latin typeface="Calibri"/>
                <a:ea typeface="Calibri"/>
              </a:rPr>
              <a:t>LLM Use Case: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7" name="Text 23"/>
          <p:cNvSpPr/>
          <p:nvPr/>
        </p:nvSpPr>
        <p:spPr>
          <a:xfrm>
            <a:off x="5559480" y="368496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LLM may skip optional fields — defaults ensure the object is always valid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18" name="Shape 24"/>
          <p:cNvSpPr/>
          <p:nvPr/>
        </p:nvSpPr>
        <p:spPr>
          <a:xfrm>
            <a:off x="5440680" y="4251960"/>
            <a:ext cx="3382920" cy="7128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50760" dir="8100000" dist="12218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9" name="Shape 25"/>
          <p:cNvSpPr/>
          <p:nvPr/>
        </p:nvSpPr>
        <p:spPr>
          <a:xfrm>
            <a:off x="5440680" y="4251960"/>
            <a:ext cx="54360" cy="71280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26"/>
          <p:cNvSpPr/>
          <p:nvPr/>
        </p:nvSpPr>
        <p:spPr>
          <a:xfrm>
            <a:off x="5559480" y="4288680"/>
            <a:ext cx="3200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4a261"/>
                </a:solidFill>
                <a:latin typeface="Calibri"/>
                <a:ea typeface="Calibri"/>
              </a:rPr>
              <a:t>Note: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1" name="Text 27"/>
          <p:cNvSpPr/>
          <p:nvPr/>
        </p:nvSpPr>
        <p:spPr>
          <a:xfrm>
            <a:off x="5559480" y="4507920"/>
            <a:ext cx="3200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2e42"/>
                </a:solidFill>
                <a:latin typeface="Calibri"/>
                <a:ea typeface="Calibri"/>
              </a:rPr>
              <a:t>Fields without defaults are still required!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24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25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Feature 2 — Optional Fields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26" name="Shape 3"/>
          <p:cNvSpPr/>
          <p:nvPr/>
        </p:nvSpPr>
        <p:spPr>
          <a:xfrm>
            <a:off x="320040" y="1115640"/>
            <a:ext cx="8503560" cy="529920"/>
          </a:xfrm>
          <a:prstGeom prst="rect">
            <a:avLst/>
          </a:prstGeom>
          <a:solidFill>
            <a:srgbClr val="00b4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Shape 4"/>
          <p:cNvSpPr/>
          <p:nvPr/>
        </p:nvSpPr>
        <p:spPr>
          <a:xfrm>
            <a:off x="320040" y="1115640"/>
            <a:ext cx="63720" cy="5299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5"/>
          <p:cNvSpPr/>
          <p:nvPr/>
        </p:nvSpPr>
        <p:spPr>
          <a:xfrm>
            <a:off x="475560" y="12070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Optional[T] means the field can be None — useful when some data may not be present in the source text.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9" name="Shape 6"/>
          <p:cNvSpPr/>
          <p:nvPr/>
        </p:nvSpPr>
        <p:spPr>
          <a:xfrm>
            <a:off x="320040" y="1783080"/>
            <a:ext cx="4937400" cy="251424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0" name="Text 7"/>
          <p:cNvSpPr/>
          <p:nvPr/>
        </p:nvSpPr>
        <p:spPr>
          <a:xfrm>
            <a:off x="457200" y="1856160"/>
            <a:ext cx="4754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optional_fields.py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1" name="Text 8"/>
          <p:cNvSpPr/>
          <p:nvPr/>
        </p:nvSpPr>
        <p:spPr>
          <a:xfrm>
            <a:off x="457200" y="2130480"/>
            <a:ext cx="473616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typing import Optional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class StudentInfo(BaseModel):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name: str = 'Anonymous'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age: Optional[int] = None  # Optional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Create without age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 = StudentInfo(name='Alice')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print(student)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print("Age is:", student.age)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32" name="Shape 9"/>
          <p:cNvSpPr/>
          <p:nvPr/>
        </p:nvSpPr>
        <p:spPr>
          <a:xfrm>
            <a:off x="320040" y="4389120"/>
            <a:ext cx="4937400" cy="65808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Text 10"/>
          <p:cNvSpPr/>
          <p:nvPr/>
        </p:nvSpPr>
        <p:spPr>
          <a:xfrm>
            <a:off x="457200" y="444384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4" name="Text 11"/>
          <p:cNvSpPr/>
          <p:nvPr/>
        </p:nvSpPr>
        <p:spPr>
          <a:xfrm>
            <a:off x="457200" y="4681800"/>
            <a:ext cx="4736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name='Alice' age=None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Age is: None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35" name="Shape 12"/>
          <p:cNvSpPr/>
          <p:nvPr/>
        </p:nvSpPr>
        <p:spPr>
          <a:xfrm>
            <a:off x="5440680" y="1783080"/>
            <a:ext cx="3382920" cy="3264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6" name="Shape 13"/>
          <p:cNvSpPr/>
          <p:nvPr/>
        </p:nvSpPr>
        <p:spPr>
          <a:xfrm>
            <a:off x="5440680" y="1783080"/>
            <a:ext cx="3382920" cy="4568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14"/>
          <p:cNvSpPr/>
          <p:nvPr/>
        </p:nvSpPr>
        <p:spPr>
          <a:xfrm>
            <a:off x="5577840" y="18378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Required vs Optional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8" name="Shape 15"/>
          <p:cNvSpPr/>
          <p:nvPr/>
        </p:nvSpPr>
        <p:spPr>
          <a:xfrm>
            <a:off x="5532120" y="2359080"/>
            <a:ext cx="3200040" cy="5666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Shape 16"/>
          <p:cNvSpPr/>
          <p:nvPr/>
        </p:nvSpPr>
        <p:spPr>
          <a:xfrm>
            <a:off x="5532120" y="2359080"/>
            <a:ext cx="54360" cy="566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Text 17"/>
          <p:cNvSpPr/>
          <p:nvPr/>
        </p:nvSpPr>
        <p:spPr>
          <a:xfrm>
            <a:off x="5650920" y="239580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Required field: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1" name="Text 18"/>
          <p:cNvSpPr/>
          <p:nvPr/>
        </p:nvSpPr>
        <p:spPr>
          <a:xfrm>
            <a:off x="5650920" y="2587680"/>
            <a:ext cx="2925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onsolas"/>
                <a:ea typeface="Consolas"/>
              </a:rPr>
              <a:t>name: str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2" name="Text 19"/>
          <p:cNvSpPr/>
          <p:nvPr/>
        </p:nvSpPr>
        <p:spPr>
          <a:xfrm>
            <a:off x="5650920" y="27432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3a5a78"/>
                </a:solidFill>
                <a:latin typeface="Calibri"/>
                <a:ea typeface="Calibri"/>
              </a:rPr>
              <a:t>Must always be provided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43" name="Shape 20"/>
          <p:cNvSpPr/>
          <p:nvPr/>
        </p:nvSpPr>
        <p:spPr>
          <a:xfrm>
            <a:off x="5532120" y="3017520"/>
            <a:ext cx="3200040" cy="5666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Shape 21"/>
          <p:cNvSpPr/>
          <p:nvPr/>
        </p:nvSpPr>
        <p:spPr>
          <a:xfrm>
            <a:off x="5532120" y="3017520"/>
            <a:ext cx="54360" cy="566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 22"/>
          <p:cNvSpPr/>
          <p:nvPr/>
        </p:nvSpPr>
        <p:spPr>
          <a:xfrm>
            <a:off x="5650920" y="305424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With default: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6" name="Text 23"/>
          <p:cNvSpPr/>
          <p:nvPr/>
        </p:nvSpPr>
        <p:spPr>
          <a:xfrm>
            <a:off x="5650920" y="3246120"/>
            <a:ext cx="2925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onsolas"/>
                <a:ea typeface="Consolas"/>
              </a:rPr>
              <a:t>name: str = 'X'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7" name="Text 24"/>
          <p:cNvSpPr/>
          <p:nvPr/>
        </p:nvSpPr>
        <p:spPr>
          <a:xfrm>
            <a:off x="5650920" y="340164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3a5a78"/>
                </a:solidFill>
                <a:latin typeface="Calibri"/>
                <a:ea typeface="Calibri"/>
              </a:rPr>
              <a:t>Uses default if missing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48" name="Shape 25"/>
          <p:cNvSpPr/>
          <p:nvPr/>
        </p:nvSpPr>
        <p:spPr>
          <a:xfrm>
            <a:off x="5532120" y="3675960"/>
            <a:ext cx="3200040" cy="5666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Shape 26"/>
          <p:cNvSpPr/>
          <p:nvPr/>
        </p:nvSpPr>
        <p:spPr>
          <a:xfrm>
            <a:off x="5532120" y="3675960"/>
            <a:ext cx="54360" cy="566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27"/>
          <p:cNvSpPr/>
          <p:nvPr/>
        </p:nvSpPr>
        <p:spPr>
          <a:xfrm>
            <a:off x="5650920" y="371232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Optional: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1" name="Text 28"/>
          <p:cNvSpPr/>
          <p:nvPr/>
        </p:nvSpPr>
        <p:spPr>
          <a:xfrm>
            <a:off x="5650920" y="3904560"/>
            <a:ext cx="2925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onsolas"/>
                <a:ea typeface="Consolas"/>
              </a:rPr>
              <a:t>age: Optional[int] = None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2" name="Text 29"/>
          <p:cNvSpPr/>
          <p:nvPr/>
        </p:nvSpPr>
        <p:spPr>
          <a:xfrm>
            <a:off x="5650920" y="406008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3a5a78"/>
                </a:solidFill>
                <a:latin typeface="Calibri"/>
                <a:ea typeface="Calibri"/>
              </a:rPr>
              <a:t>Can be None / absent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53" name="Shape 30"/>
          <p:cNvSpPr/>
          <p:nvPr/>
        </p:nvSpPr>
        <p:spPr>
          <a:xfrm>
            <a:off x="5532120" y="4334400"/>
            <a:ext cx="3200040" cy="5666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Shape 31"/>
          <p:cNvSpPr/>
          <p:nvPr/>
        </p:nvSpPr>
        <p:spPr>
          <a:xfrm>
            <a:off x="5532120" y="4334400"/>
            <a:ext cx="54360" cy="5666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32"/>
          <p:cNvSpPr/>
          <p:nvPr/>
        </p:nvSpPr>
        <p:spPr>
          <a:xfrm>
            <a:off x="5650920" y="4370760"/>
            <a:ext cx="2925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0096c7"/>
                </a:solidFill>
                <a:latin typeface="Calibri"/>
                <a:ea typeface="Calibri"/>
              </a:rPr>
              <a:t>Optional + default: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6" name="Text 33"/>
          <p:cNvSpPr/>
          <p:nvPr/>
        </p:nvSpPr>
        <p:spPr>
          <a:xfrm>
            <a:off x="5650920" y="4563000"/>
            <a:ext cx="2925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a2e42"/>
                </a:solidFill>
                <a:latin typeface="Consolas"/>
                <a:ea typeface="Consolas"/>
              </a:rPr>
              <a:t>age: Optional[int] = 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7" name="Text 34"/>
          <p:cNvSpPr/>
          <p:nvPr/>
        </p:nvSpPr>
        <p:spPr>
          <a:xfrm>
            <a:off x="5650920" y="471816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3a5a78"/>
                </a:solidFill>
                <a:latin typeface="Calibri"/>
                <a:ea typeface="Calibri"/>
              </a:rPr>
              <a:t>None or specific default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60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261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Feature 3 — Automatic Type Correction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62" name="Shape 3"/>
          <p:cNvSpPr/>
          <p:nvPr/>
        </p:nvSpPr>
        <p:spPr>
          <a:xfrm>
            <a:off x="320040" y="1115640"/>
            <a:ext cx="8503560" cy="529920"/>
          </a:xfrm>
          <a:prstGeom prst="rect">
            <a:avLst/>
          </a:prstGeom>
          <a:solidFill>
            <a:srgbClr val="06d6a0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Shape 4"/>
          <p:cNvSpPr/>
          <p:nvPr/>
        </p:nvSpPr>
        <p:spPr>
          <a:xfrm>
            <a:off x="320040" y="1115640"/>
            <a:ext cx="63720" cy="52992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Text 5"/>
          <p:cNvSpPr/>
          <p:nvPr/>
        </p:nvSpPr>
        <p:spPr>
          <a:xfrm>
            <a:off x="475560" y="12070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Pydantic automatically converts compatible types — e.g. the string '30' becomes the integer 30. No manual casting needed!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5" name="Shape 6"/>
          <p:cNvSpPr/>
          <p:nvPr/>
        </p:nvSpPr>
        <p:spPr>
          <a:xfrm>
            <a:off x="320040" y="1783080"/>
            <a:ext cx="4937400" cy="251424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6" name="Text 7"/>
          <p:cNvSpPr/>
          <p:nvPr/>
        </p:nvSpPr>
        <p:spPr>
          <a:xfrm>
            <a:off x="457200" y="1856160"/>
            <a:ext cx="4754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type_coercion.py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7" name="Text 8"/>
          <p:cNvSpPr/>
          <p:nvPr/>
        </p:nvSpPr>
        <p:spPr>
          <a:xfrm>
            <a:off x="457200" y="2130480"/>
            <a:ext cx="4736160" cy="20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class StudentInfo(BaseModel):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age: int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age is a string, but represents a number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student_data = {'name': 'Alice', 'age': '30'}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# Pydantic converts '30' → 30 automatically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student = StudentInfo(**student_data)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print(student)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8cae4"/>
                </a:solidFill>
                <a:latin typeface="Consolas"/>
                <a:ea typeface="Consolas"/>
              </a:rPr>
              <a:t>print(type(student.age))  # int, not str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68" name="Shape 9"/>
          <p:cNvSpPr/>
          <p:nvPr/>
        </p:nvSpPr>
        <p:spPr>
          <a:xfrm>
            <a:off x="320040" y="4389120"/>
            <a:ext cx="4937400" cy="658080"/>
          </a:xfrm>
          <a:prstGeom prst="rect">
            <a:avLst/>
          </a:prstGeom>
          <a:solidFill>
            <a:srgbClr val="1a2e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10"/>
          <p:cNvSpPr/>
          <p:nvPr/>
        </p:nvSpPr>
        <p:spPr>
          <a:xfrm>
            <a:off x="457200" y="444384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0" name="Text 11"/>
          <p:cNvSpPr/>
          <p:nvPr/>
        </p:nvSpPr>
        <p:spPr>
          <a:xfrm>
            <a:off x="457200" y="4681800"/>
            <a:ext cx="4736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name='Alice' age=30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6d6a0"/>
                </a:solidFill>
                <a:latin typeface="Consolas"/>
                <a:ea typeface="Consolas"/>
              </a:rPr>
              <a:t>&lt;class 'int'&gt;  # ← Automatically converted!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71" name="Shape 12"/>
          <p:cNvSpPr/>
          <p:nvPr/>
        </p:nvSpPr>
        <p:spPr>
          <a:xfrm>
            <a:off x="5440680" y="1783080"/>
            <a:ext cx="3382920" cy="3264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2" name="Shape 13"/>
          <p:cNvSpPr/>
          <p:nvPr/>
        </p:nvSpPr>
        <p:spPr>
          <a:xfrm>
            <a:off x="5440680" y="1783080"/>
            <a:ext cx="3382920" cy="45684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Text 14"/>
          <p:cNvSpPr/>
          <p:nvPr/>
        </p:nvSpPr>
        <p:spPr>
          <a:xfrm>
            <a:off x="5577840" y="18378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Common Coercions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4" name="Shape 15"/>
          <p:cNvSpPr/>
          <p:nvPr/>
        </p:nvSpPr>
        <p:spPr>
          <a:xfrm>
            <a:off x="5532120" y="2359080"/>
            <a:ext cx="3200040" cy="4568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Shape 16"/>
          <p:cNvSpPr/>
          <p:nvPr/>
        </p:nvSpPr>
        <p:spPr>
          <a:xfrm>
            <a:off x="5532120" y="2359080"/>
            <a:ext cx="54360" cy="4568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Text 17"/>
          <p:cNvSpPr/>
          <p:nvPr/>
        </p:nvSpPr>
        <p:spPr>
          <a:xfrm>
            <a:off x="5650920" y="239580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f476f"/>
                </a:solidFill>
                <a:latin typeface="Consolas"/>
                <a:ea typeface="Consolas"/>
              </a:rPr>
              <a:t>'30'  (str)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7" name="Text 18"/>
          <p:cNvSpPr/>
          <p:nvPr/>
        </p:nvSpPr>
        <p:spPr>
          <a:xfrm>
            <a:off x="7040880" y="239580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→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8" name="Text 19"/>
          <p:cNvSpPr/>
          <p:nvPr/>
        </p:nvSpPr>
        <p:spPr>
          <a:xfrm>
            <a:off x="7315200" y="2395800"/>
            <a:ext cx="129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6d6a0"/>
                </a:solidFill>
                <a:latin typeface="Consolas"/>
                <a:ea typeface="Consolas"/>
              </a:rPr>
              <a:t>30  (int)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79" name="Text 20"/>
          <p:cNvSpPr/>
          <p:nvPr/>
        </p:nvSpPr>
        <p:spPr>
          <a:xfrm>
            <a:off x="5650920" y="259704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3a5a78"/>
                </a:solidFill>
                <a:latin typeface="Calibri"/>
                <a:ea typeface="Calibri"/>
              </a:rPr>
              <a:t>type coercion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80" name="Shape 21"/>
          <p:cNvSpPr/>
          <p:nvPr/>
        </p:nvSpPr>
        <p:spPr>
          <a:xfrm>
            <a:off x="5532120" y="2907720"/>
            <a:ext cx="3200040" cy="4568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Shape 22"/>
          <p:cNvSpPr/>
          <p:nvPr/>
        </p:nvSpPr>
        <p:spPr>
          <a:xfrm>
            <a:off x="5532120" y="2907720"/>
            <a:ext cx="54360" cy="456840"/>
          </a:xfrm>
          <a:prstGeom prst="rect">
            <a:avLst/>
          </a:prstGeom>
          <a:solidFill>
            <a:srgbClr val="06d6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Text 23"/>
          <p:cNvSpPr/>
          <p:nvPr/>
        </p:nvSpPr>
        <p:spPr>
          <a:xfrm>
            <a:off x="5650920" y="294444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f476f"/>
                </a:solidFill>
                <a:latin typeface="Consolas"/>
                <a:ea typeface="Consolas"/>
              </a:rPr>
              <a:t>'3.14'  (str)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3" name="Text 24"/>
          <p:cNvSpPr/>
          <p:nvPr/>
        </p:nvSpPr>
        <p:spPr>
          <a:xfrm>
            <a:off x="7040880" y="294444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→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4" name="Text 25"/>
          <p:cNvSpPr/>
          <p:nvPr/>
        </p:nvSpPr>
        <p:spPr>
          <a:xfrm>
            <a:off x="7315200" y="2944440"/>
            <a:ext cx="129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6d6a0"/>
                </a:solidFill>
                <a:latin typeface="Consolas"/>
                <a:ea typeface="Consolas"/>
              </a:rPr>
              <a:t>3.14  (float)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5" name="Text 26"/>
          <p:cNvSpPr/>
          <p:nvPr/>
        </p:nvSpPr>
        <p:spPr>
          <a:xfrm>
            <a:off x="5650920" y="314568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3a5a78"/>
                </a:solidFill>
                <a:latin typeface="Calibri"/>
                <a:ea typeface="Calibri"/>
              </a:rPr>
              <a:t>type coercion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86" name="Shape 27"/>
          <p:cNvSpPr/>
          <p:nvPr/>
        </p:nvSpPr>
        <p:spPr>
          <a:xfrm>
            <a:off x="5532120" y="3456360"/>
            <a:ext cx="3200040" cy="4568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Shape 28"/>
          <p:cNvSpPr/>
          <p:nvPr/>
        </p:nvSpPr>
        <p:spPr>
          <a:xfrm>
            <a:off x="5532120" y="3456360"/>
            <a:ext cx="54360" cy="4568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Text 29"/>
          <p:cNvSpPr/>
          <p:nvPr/>
        </p:nvSpPr>
        <p:spPr>
          <a:xfrm>
            <a:off x="5650920" y="349308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f476f"/>
                </a:solidFill>
                <a:latin typeface="Consolas"/>
                <a:ea typeface="Consolas"/>
              </a:rPr>
              <a:t>1  (int)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89" name="Text 30"/>
          <p:cNvSpPr/>
          <p:nvPr/>
        </p:nvSpPr>
        <p:spPr>
          <a:xfrm>
            <a:off x="7040880" y="349308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→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0" name="Text 31"/>
          <p:cNvSpPr/>
          <p:nvPr/>
        </p:nvSpPr>
        <p:spPr>
          <a:xfrm>
            <a:off x="7315200" y="3493080"/>
            <a:ext cx="129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6d6a0"/>
                </a:solidFill>
                <a:latin typeface="Consolas"/>
                <a:ea typeface="Consolas"/>
              </a:rPr>
              <a:t>True  (bool)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91" name="Text 32"/>
          <p:cNvSpPr/>
          <p:nvPr/>
        </p:nvSpPr>
        <p:spPr>
          <a:xfrm>
            <a:off x="5650920" y="369432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3a5a78"/>
                </a:solidFill>
                <a:latin typeface="Calibri"/>
                <a:ea typeface="Calibri"/>
              </a:rPr>
              <a:t>type coercion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92" name="Shape 33"/>
          <p:cNvSpPr/>
          <p:nvPr/>
        </p:nvSpPr>
        <p:spPr>
          <a:xfrm>
            <a:off x="5532120" y="4005000"/>
            <a:ext cx="3200040" cy="4568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Shape 34"/>
          <p:cNvSpPr/>
          <p:nvPr/>
        </p:nvSpPr>
        <p:spPr>
          <a:xfrm>
            <a:off x="5532120" y="4005000"/>
            <a:ext cx="54360" cy="456840"/>
          </a:xfrm>
          <a:prstGeom prst="rect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Text 35"/>
          <p:cNvSpPr/>
          <p:nvPr/>
        </p:nvSpPr>
        <p:spPr>
          <a:xfrm>
            <a:off x="5650920" y="404172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f476f"/>
                </a:solidFill>
                <a:latin typeface="Consolas"/>
                <a:ea typeface="Consolas"/>
              </a:rPr>
              <a:t>'true'  (str)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95" name="Text 36"/>
          <p:cNvSpPr/>
          <p:nvPr/>
        </p:nvSpPr>
        <p:spPr>
          <a:xfrm>
            <a:off x="7040880" y="404172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→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6" name="Text 37"/>
          <p:cNvSpPr/>
          <p:nvPr/>
        </p:nvSpPr>
        <p:spPr>
          <a:xfrm>
            <a:off x="7315200" y="4041720"/>
            <a:ext cx="129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6d6a0"/>
                </a:solidFill>
                <a:latin typeface="Consolas"/>
                <a:ea typeface="Consolas"/>
              </a:rPr>
              <a:t>True  (bool)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97" name="Text 38"/>
          <p:cNvSpPr/>
          <p:nvPr/>
        </p:nvSpPr>
        <p:spPr>
          <a:xfrm>
            <a:off x="5650920" y="424296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3a5a78"/>
                </a:solidFill>
                <a:latin typeface="Calibri"/>
                <a:ea typeface="Calibri"/>
              </a:rPr>
              <a:t>type coercion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98" name="Shape 39"/>
          <p:cNvSpPr/>
          <p:nvPr/>
        </p:nvSpPr>
        <p:spPr>
          <a:xfrm>
            <a:off x="5532120" y="4553640"/>
            <a:ext cx="3200040" cy="45684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Shape 40"/>
          <p:cNvSpPr/>
          <p:nvPr/>
        </p:nvSpPr>
        <p:spPr>
          <a:xfrm>
            <a:off x="5532120" y="4553640"/>
            <a:ext cx="54360" cy="4568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Text 41"/>
          <p:cNvSpPr/>
          <p:nvPr/>
        </p:nvSpPr>
        <p:spPr>
          <a:xfrm>
            <a:off x="5650920" y="459036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f476f"/>
                </a:solidFill>
                <a:latin typeface="Consolas"/>
                <a:ea typeface="Consolas"/>
              </a:rPr>
              <a:t>['a','b']  (list)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1" name="Text 42"/>
          <p:cNvSpPr/>
          <p:nvPr/>
        </p:nvSpPr>
        <p:spPr>
          <a:xfrm>
            <a:off x="7040880" y="4590360"/>
            <a:ext cx="273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→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2" name="Text 43"/>
          <p:cNvSpPr/>
          <p:nvPr/>
        </p:nvSpPr>
        <p:spPr>
          <a:xfrm>
            <a:off x="7315200" y="4590360"/>
            <a:ext cx="1298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6d6a0"/>
                </a:solidFill>
                <a:latin typeface="Consolas"/>
                <a:ea typeface="Consolas"/>
              </a:rPr>
              <a:t>['a','b']  (preserved)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03" name="Text 44"/>
          <p:cNvSpPr/>
          <p:nvPr/>
        </p:nvSpPr>
        <p:spPr>
          <a:xfrm>
            <a:off x="5650920" y="4791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3a5a78"/>
                </a:solidFill>
                <a:latin typeface="Calibri"/>
                <a:ea typeface="Calibri"/>
              </a:rPr>
              <a:t>type coercion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Shape 1"/>
          <p:cNvSpPr/>
          <p:nvPr/>
        </p:nvSpPr>
        <p:spPr>
          <a:xfrm>
            <a:off x="0" y="960120"/>
            <a:ext cx="9143640" cy="54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06" name="Image 0" descr="preencoded.png"/>
          <p:cNvPicPr/>
          <p:nvPr/>
        </p:nvPicPr>
        <p:blipFill>
          <a:blip r:embed="rId1"/>
          <a:stretch/>
        </p:blipFill>
        <p:spPr>
          <a:xfrm>
            <a:off x="320040" y="182880"/>
            <a:ext cx="548280" cy="548280"/>
          </a:xfrm>
          <a:prstGeom prst="rect">
            <a:avLst/>
          </a:prstGeom>
          <a:ln w="0">
            <a:noFill/>
          </a:ln>
        </p:spPr>
      </p:pic>
      <p:sp>
        <p:nvSpPr>
          <p:cNvPr id="307" name="Text 2"/>
          <p:cNvSpPr/>
          <p:nvPr/>
        </p:nvSpPr>
        <p:spPr>
          <a:xfrm>
            <a:off x="1005840" y="18288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Feature 4 — Email Validation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308" name="Shape 3"/>
          <p:cNvSpPr/>
          <p:nvPr/>
        </p:nvSpPr>
        <p:spPr>
          <a:xfrm>
            <a:off x="320040" y="1115640"/>
            <a:ext cx="8503560" cy="529920"/>
          </a:xfrm>
          <a:prstGeom prst="rect">
            <a:avLst/>
          </a:prstGeom>
          <a:solidFill>
            <a:srgbClr val="00b4d8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Shape 4"/>
          <p:cNvSpPr/>
          <p:nvPr/>
        </p:nvSpPr>
        <p:spPr>
          <a:xfrm>
            <a:off x="320040" y="1115640"/>
            <a:ext cx="63720" cy="5299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Text 5"/>
          <p:cNvSpPr/>
          <p:nvPr/>
        </p:nvSpPr>
        <p:spPr>
          <a:xfrm>
            <a:off x="475560" y="120708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42"/>
                </a:solidFill>
                <a:latin typeface="Calibri"/>
                <a:ea typeface="Calibri"/>
              </a:rPr>
              <a:t>Pydantic's EmailStr type validates email format automatically — no regex needed. Install: pip install pydantic[email]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1" name="Shape 6"/>
          <p:cNvSpPr/>
          <p:nvPr/>
        </p:nvSpPr>
        <p:spPr>
          <a:xfrm>
            <a:off x="320040" y="1783080"/>
            <a:ext cx="4937400" cy="283428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2" name="Text 7"/>
          <p:cNvSpPr/>
          <p:nvPr/>
        </p:nvSpPr>
        <p:spPr>
          <a:xfrm>
            <a:off x="457200" y="1856160"/>
            <a:ext cx="4754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b0c4de"/>
                </a:solidFill>
                <a:latin typeface="Consolas"/>
                <a:ea typeface="Consolas"/>
              </a:rPr>
              <a:t>email_validation.py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3" name="Text 8"/>
          <p:cNvSpPr/>
          <p:nvPr/>
        </p:nvSpPr>
        <p:spPr>
          <a:xfrm>
            <a:off x="457200" y="2130480"/>
            <a:ext cx="47361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from pydantic import BaseModel, EmailStr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class StudentInfo(BaseModel):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name: str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email: EmailStr  # Special email type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Invalid email → validation error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try: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student = StudentInfo(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name='Alice',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email='abc'  # ← Invalid!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except Exception as 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print("Error:", str(e)[:80])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# Valid email → works!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student = StudentInfo(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name='Alice',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email='alice@example.com'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8cae4"/>
                </a:solidFill>
                <a:latin typeface="Consolas"/>
                <a:ea typeface="Consolas"/>
              </a:rPr>
              <a:t>print(student)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4" name="Shape 9"/>
          <p:cNvSpPr/>
          <p:nvPr/>
        </p:nvSpPr>
        <p:spPr>
          <a:xfrm>
            <a:off x="320040" y="4709160"/>
            <a:ext cx="4937400" cy="3837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 10"/>
          <p:cNvSpPr/>
          <p:nvPr/>
        </p:nvSpPr>
        <p:spPr>
          <a:xfrm>
            <a:off x="457200" y="4736520"/>
            <a:ext cx="4754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f476f"/>
                </a:solidFill>
                <a:latin typeface="Consolas"/>
                <a:ea typeface="Consolas"/>
              </a:rPr>
              <a:t>Error: 1 validation error... email: value is not a valid email address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6" name="Shape 11"/>
          <p:cNvSpPr/>
          <p:nvPr/>
        </p:nvSpPr>
        <p:spPr>
          <a:xfrm>
            <a:off x="320040" y="5093280"/>
            <a:ext cx="4937400" cy="27396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Text 12"/>
          <p:cNvSpPr/>
          <p:nvPr/>
        </p:nvSpPr>
        <p:spPr>
          <a:xfrm>
            <a:off x="457200" y="5120640"/>
            <a:ext cx="4754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06d6a0"/>
                </a:solidFill>
                <a:latin typeface="Consolas"/>
                <a:ea typeface="Consolas"/>
              </a:rPr>
              <a:t>name='Alice' email='alice@example.com'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8" name="Shape 13"/>
          <p:cNvSpPr/>
          <p:nvPr/>
        </p:nvSpPr>
        <p:spPr>
          <a:xfrm>
            <a:off x="5440680" y="1783080"/>
            <a:ext cx="3382920" cy="3584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63360" dir="8100000" dist="25455" kx="0" ky="0" rotWithShape="0" sx="100000" sy="100000">
              <a:srgbClr val="000000">
                <a:alpha val="9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9" name="Shape 14"/>
          <p:cNvSpPr/>
          <p:nvPr/>
        </p:nvSpPr>
        <p:spPr>
          <a:xfrm>
            <a:off x="5440680" y="1783080"/>
            <a:ext cx="3382920" cy="45684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15"/>
          <p:cNvSpPr/>
          <p:nvPr/>
        </p:nvSpPr>
        <p:spPr>
          <a:xfrm>
            <a:off x="5577840" y="1837800"/>
            <a:ext cx="3108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Pydantic Special Types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1" name="Shape 16"/>
          <p:cNvSpPr/>
          <p:nvPr/>
        </p:nvSpPr>
        <p:spPr>
          <a:xfrm>
            <a:off x="5532120" y="2340720"/>
            <a:ext cx="3200040" cy="4201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Shape 17"/>
          <p:cNvSpPr/>
          <p:nvPr/>
        </p:nvSpPr>
        <p:spPr>
          <a:xfrm>
            <a:off x="5532120" y="2340720"/>
            <a:ext cx="54360" cy="4201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Text 18"/>
          <p:cNvSpPr/>
          <p:nvPr/>
        </p:nvSpPr>
        <p:spPr>
          <a:xfrm>
            <a:off x="5650920" y="236844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96c7"/>
                </a:solidFill>
                <a:latin typeface="Consolas"/>
                <a:ea typeface="Consolas"/>
              </a:rPr>
              <a:t>EmailStr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4" name="Text 19"/>
          <p:cNvSpPr/>
          <p:nvPr/>
        </p:nvSpPr>
        <p:spPr>
          <a:xfrm>
            <a:off x="5650920" y="2551320"/>
            <a:ext cx="3017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a5a78"/>
                </a:solidFill>
                <a:latin typeface="Calibri"/>
                <a:ea typeface="Calibri"/>
              </a:rPr>
              <a:t>Validates email format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5" name="Shape 20"/>
          <p:cNvSpPr/>
          <p:nvPr/>
        </p:nvSpPr>
        <p:spPr>
          <a:xfrm>
            <a:off x="5532120" y="2834640"/>
            <a:ext cx="3200040" cy="4201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Shape 21"/>
          <p:cNvSpPr/>
          <p:nvPr/>
        </p:nvSpPr>
        <p:spPr>
          <a:xfrm>
            <a:off x="5532120" y="2834640"/>
            <a:ext cx="54360" cy="4201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Text 22"/>
          <p:cNvSpPr/>
          <p:nvPr/>
        </p:nvSpPr>
        <p:spPr>
          <a:xfrm>
            <a:off x="5650920" y="286200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96c7"/>
                </a:solidFill>
                <a:latin typeface="Consolas"/>
                <a:ea typeface="Consolas"/>
              </a:rPr>
              <a:t>HttpUrl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8" name="Text 23"/>
          <p:cNvSpPr/>
          <p:nvPr/>
        </p:nvSpPr>
        <p:spPr>
          <a:xfrm>
            <a:off x="5650920" y="3044880"/>
            <a:ext cx="3017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a5a78"/>
                </a:solidFill>
                <a:latin typeface="Calibri"/>
                <a:ea typeface="Calibri"/>
              </a:rPr>
              <a:t>Validates URLs (http/https)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9" name="Shape 24"/>
          <p:cNvSpPr/>
          <p:nvPr/>
        </p:nvSpPr>
        <p:spPr>
          <a:xfrm>
            <a:off x="5532120" y="3328560"/>
            <a:ext cx="3200040" cy="4201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Shape 25"/>
          <p:cNvSpPr/>
          <p:nvPr/>
        </p:nvSpPr>
        <p:spPr>
          <a:xfrm>
            <a:off x="5532120" y="3328560"/>
            <a:ext cx="54360" cy="4201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Text 26"/>
          <p:cNvSpPr/>
          <p:nvPr/>
        </p:nvSpPr>
        <p:spPr>
          <a:xfrm>
            <a:off x="5650920" y="335592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96c7"/>
                </a:solidFill>
                <a:latin typeface="Consolas"/>
                <a:ea typeface="Consolas"/>
              </a:rPr>
              <a:t>IPvAnyAddress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32" name="Text 27"/>
          <p:cNvSpPr/>
          <p:nvPr/>
        </p:nvSpPr>
        <p:spPr>
          <a:xfrm>
            <a:off x="5650920" y="3538800"/>
            <a:ext cx="3017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a5a78"/>
                </a:solidFill>
                <a:latin typeface="Calibri"/>
                <a:ea typeface="Calibri"/>
              </a:rPr>
              <a:t>Validates IPv4/IPv6 addresses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33" name="Shape 28"/>
          <p:cNvSpPr/>
          <p:nvPr/>
        </p:nvSpPr>
        <p:spPr>
          <a:xfrm>
            <a:off x="5532120" y="3822120"/>
            <a:ext cx="3200040" cy="4201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Shape 29"/>
          <p:cNvSpPr/>
          <p:nvPr/>
        </p:nvSpPr>
        <p:spPr>
          <a:xfrm>
            <a:off x="5532120" y="3822120"/>
            <a:ext cx="54360" cy="4201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5" name="Text 30"/>
          <p:cNvSpPr/>
          <p:nvPr/>
        </p:nvSpPr>
        <p:spPr>
          <a:xfrm>
            <a:off x="5650920" y="384948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96c7"/>
                </a:solidFill>
                <a:latin typeface="Consolas"/>
                <a:ea typeface="Consolas"/>
              </a:rPr>
              <a:t>PositiveInt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36" name="Text 31"/>
          <p:cNvSpPr/>
          <p:nvPr/>
        </p:nvSpPr>
        <p:spPr>
          <a:xfrm>
            <a:off x="5650920" y="4032360"/>
            <a:ext cx="3017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a5a78"/>
                </a:solidFill>
                <a:latin typeface="Calibri"/>
                <a:ea typeface="Calibri"/>
              </a:rPr>
              <a:t>Integer &gt; 0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37" name="Shape 32"/>
          <p:cNvSpPr/>
          <p:nvPr/>
        </p:nvSpPr>
        <p:spPr>
          <a:xfrm>
            <a:off x="5532120" y="4316040"/>
            <a:ext cx="3200040" cy="4201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Shape 33"/>
          <p:cNvSpPr/>
          <p:nvPr/>
        </p:nvSpPr>
        <p:spPr>
          <a:xfrm>
            <a:off x="5532120" y="4316040"/>
            <a:ext cx="54360" cy="4201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Text 34"/>
          <p:cNvSpPr/>
          <p:nvPr/>
        </p:nvSpPr>
        <p:spPr>
          <a:xfrm>
            <a:off x="5650920" y="434340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96c7"/>
                </a:solidFill>
                <a:latin typeface="Consolas"/>
                <a:ea typeface="Consolas"/>
              </a:rPr>
              <a:t>NegativeFloat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40" name="Text 35"/>
          <p:cNvSpPr/>
          <p:nvPr/>
        </p:nvSpPr>
        <p:spPr>
          <a:xfrm>
            <a:off x="5650920" y="4526280"/>
            <a:ext cx="3017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a5a78"/>
                </a:solidFill>
                <a:latin typeface="Calibri"/>
                <a:ea typeface="Calibri"/>
              </a:rPr>
              <a:t>Float &lt; 0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41" name="Shape 36"/>
          <p:cNvSpPr/>
          <p:nvPr/>
        </p:nvSpPr>
        <p:spPr>
          <a:xfrm>
            <a:off x="5532120" y="4809600"/>
            <a:ext cx="3200040" cy="420120"/>
          </a:xfrm>
          <a:prstGeom prst="rect">
            <a:avLst/>
          </a:prstGeom>
          <a:solidFill>
            <a:srgbClr val="eaf4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2" name="Shape 37"/>
          <p:cNvSpPr/>
          <p:nvPr/>
        </p:nvSpPr>
        <p:spPr>
          <a:xfrm>
            <a:off x="5532120" y="4809600"/>
            <a:ext cx="54360" cy="4201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Text 38"/>
          <p:cNvSpPr/>
          <p:nvPr/>
        </p:nvSpPr>
        <p:spPr>
          <a:xfrm>
            <a:off x="5650920" y="483732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96c7"/>
                </a:solidFill>
                <a:latin typeface="Consolas"/>
                <a:ea typeface="Consolas"/>
              </a:rPr>
              <a:t>constr(min_length=3)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44" name="Text 39"/>
          <p:cNvSpPr/>
          <p:nvPr/>
        </p:nvSpPr>
        <p:spPr>
          <a:xfrm>
            <a:off x="5650920" y="5020200"/>
            <a:ext cx="30171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3a5a78"/>
                </a:solidFill>
                <a:latin typeface="Calibri"/>
                <a:ea typeface="Calibri"/>
              </a:rPr>
              <a:t>String with min length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2026-03-21T03:18:53Z</dcterms:created>
  <dc:creator>PptxGenJS</dc:creator>
  <dc:description/>
  <dc:language>en-IN</dc:language>
  <cp:lastModifiedBy/>
  <dcterms:modified xsi:type="dcterms:W3CDTF">2026-03-21T21:57:14Z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