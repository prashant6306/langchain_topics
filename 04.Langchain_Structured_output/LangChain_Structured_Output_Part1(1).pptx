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28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6FDFE93-C595-45A1-8772-8C959C77DEC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ECD855-565F-4677-AE2C-2A2C4F9B8F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0A268B-711B-41D4-87EB-D3AC33BB6F3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704315-3720-4942-8C5C-F47CD1AE35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677E6E-6115-4D88-B7FD-12E36DB96F4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49B9F8-BEF1-480A-A355-F3DBB25290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DA7933-56E3-4182-8B5B-3793E31017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53655E-BCCE-4447-84EA-0D3CB8AF4A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02F3EB-CB94-416F-A731-242A0E5090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EF0BC6-E01F-46B8-AB41-F72B30DBB5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E8A11C-6DE1-4931-B514-8AB8E3817C2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6A3F2D-D148-4D92-9D9B-244D74DBC74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3A9B67-812E-4213-95EB-0F30BA9511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68FD79-0491-4473-950F-765EC7082B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840" cy="274284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64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20004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384012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19200"/>
            <a:ext cx="3840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Part 1: Introduction and Core Concepts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20124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96012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We'll Learn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8872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4"/>
          <p:cNvSpPr/>
          <p:nvPr/>
        </p:nvSpPr>
        <p:spPr>
          <a:xfrm>
            <a:off x="429840" y="134424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5"/>
          <p:cNvSpPr/>
          <p:nvPr/>
        </p:nvSpPr>
        <p:spPr>
          <a:xfrm>
            <a:off x="429840" y="13442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914400" y="128916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Understanding Unstructured vs Structured 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20040" y="212148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8"/>
          <p:cNvSpPr/>
          <p:nvPr/>
        </p:nvSpPr>
        <p:spPr>
          <a:xfrm>
            <a:off x="429840" y="227700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29840" y="22770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914400" y="222192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Why Structured Output Matters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320040" y="305424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2"/>
          <p:cNvSpPr/>
          <p:nvPr/>
        </p:nvSpPr>
        <p:spPr>
          <a:xfrm>
            <a:off x="429840" y="320940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3"/>
          <p:cNvSpPr/>
          <p:nvPr/>
        </p:nvSpPr>
        <p:spPr>
          <a:xfrm>
            <a:off x="429840" y="32094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914400" y="315468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Use Cases: Data Extraction, APIs &amp; Agents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320040" y="398664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6"/>
          <p:cNvSpPr/>
          <p:nvPr/>
        </p:nvSpPr>
        <p:spPr>
          <a:xfrm>
            <a:off x="429840" y="414216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7"/>
          <p:cNvSpPr/>
          <p:nvPr/>
        </p:nvSpPr>
        <p:spPr>
          <a:xfrm>
            <a:off x="429840" y="41421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914400" y="408744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TypedDict for Schema Definition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4754880" y="118872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20"/>
          <p:cNvSpPr/>
          <p:nvPr/>
        </p:nvSpPr>
        <p:spPr>
          <a:xfrm>
            <a:off x="4864680" y="134424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1"/>
          <p:cNvSpPr/>
          <p:nvPr/>
        </p:nvSpPr>
        <p:spPr>
          <a:xfrm>
            <a:off x="4864680" y="13442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5349240" y="128916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for Data Validation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4754880" y="212148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Shape 24"/>
          <p:cNvSpPr/>
          <p:nvPr/>
        </p:nvSpPr>
        <p:spPr>
          <a:xfrm>
            <a:off x="4864680" y="227700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5"/>
          <p:cNvSpPr/>
          <p:nvPr/>
        </p:nvSpPr>
        <p:spPr>
          <a:xfrm>
            <a:off x="4864680" y="22770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5349240" y="222192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JSON Schema for Cross-Language Support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4754880" y="305424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28"/>
          <p:cNvSpPr/>
          <p:nvPr/>
        </p:nvSpPr>
        <p:spPr>
          <a:xfrm>
            <a:off x="4864680" y="320940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9"/>
          <p:cNvSpPr/>
          <p:nvPr/>
        </p:nvSpPr>
        <p:spPr>
          <a:xfrm>
            <a:off x="4864680" y="32094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7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5349240" y="315468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The with_structured_output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4754880" y="398664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32"/>
          <p:cNvSpPr/>
          <p:nvPr/>
        </p:nvSpPr>
        <p:spPr>
          <a:xfrm>
            <a:off x="4864680" y="4142160"/>
            <a:ext cx="402120" cy="4021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3"/>
          <p:cNvSpPr/>
          <p:nvPr/>
        </p:nvSpPr>
        <p:spPr>
          <a:xfrm>
            <a:off x="4864680" y="41421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</a:rPr>
              <a:t>8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34"/>
          <p:cNvSpPr/>
          <p:nvPr/>
        </p:nvSpPr>
        <p:spPr>
          <a:xfrm>
            <a:off x="5349240" y="4087440"/>
            <a:ext cx="3410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Practical Code Examples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3"/>
          <p:cNvSpPr/>
          <p:nvPr/>
        </p:nvSpPr>
        <p:spPr>
          <a:xfrm>
            <a:off x="3474720" y="0"/>
            <a:ext cx="36360" cy="5143320"/>
          </a:xfrm>
          <a:prstGeom prst="rect">
            <a:avLst/>
          </a:prstGeom>
          <a:solidFill>
            <a:srgbClr val="00b4d8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PART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023360" y="219456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The Challenge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4023360" y="324612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b0c4de"/>
                </a:solidFill>
                <a:latin typeface="Calibri"/>
                <a:ea typeface="Calibri"/>
              </a:rPr>
              <a:t>Understanding why LLMs need to communicate with machines, not just humans.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2"/>
          <p:cNvSpPr/>
          <p:nvPr/>
        </p:nvSpPr>
        <p:spPr>
          <a:xfrm>
            <a:off x="41148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Current State of LLMs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320040" y="1188720"/>
            <a:ext cx="384012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4"/>
          <p:cNvSpPr/>
          <p:nvPr/>
        </p:nvSpPr>
        <p:spPr>
          <a:xfrm>
            <a:off x="320040" y="1188720"/>
            <a:ext cx="3840120" cy="47520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502920" y="1261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06" name="Text 5"/>
          <p:cNvSpPr/>
          <p:nvPr/>
        </p:nvSpPr>
        <p:spPr>
          <a:xfrm>
            <a:off x="868680" y="1234440"/>
            <a:ext cx="3181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TODAY: LLMs Can Talk to Humans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 r:embed="rId2"/>
          <a:stretch/>
        </p:blipFill>
        <p:spPr>
          <a:xfrm>
            <a:off x="457200" y="18288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8" name="Text 6"/>
          <p:cNvSpPr/>
          <p:nvPr/>
        </p:nvSpPr>
        <p:spPr>
          <a:xfrm>
            <a:off x="822960" y="179208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Conversation-based interaction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9" name="Image 2" descr="preencoded.png"/>
          <p:cNvPicPr/>
          <p:nvPr/>
        </p:nvPicPr>
        <p:blipFill>
          <a:blip r:embed="rId3"/>
          <a:stretch/>
        </p:blipFill>
        <p:spPr>
          <a:xfrm>
            <a:off x="457200" y="24688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0" name="Text 7"/>
          <p:cNvSpPr/>
          <p:nvPr/>
        </p:nvSpPr>
        <p:spPr>
          <a:xfrm>
            <a:off x="822960" y="24321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Natural language responses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11" name="Image 3" descr="preencoded.png"/>
          <p:cNvPicPr/>
          <p:nvPr/>
        </p:nvPicPr>
        <p:blipFill>
          <a:blip r:embed="rId4"/>
          <a:stretch/>
        </p:blipFill>
        <p:spPr>
          <a:xfrm>
            <a:off x="457200" y="31089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2" name="Text 8"/>
          <p:cNvSpPr/>
          <p:nvPr/>
        </p:nvSpPr>
        <p:spPr>
          <a:xfrm>
            <a:off x="822960" y="30722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Great for Q&amp;A and chat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13" name="Image 4" descr="preencoded.png"/>
          <p:cNvPicPr/>
          <p:nvPr/>
        </p:nvPicPr>
        <p:blipFill>
          <a:blip r:embed="rId5"/>
          <a:stretch/>
        </p:blipFill>
        <p:spPr>
          <a:xfrm>
            <a:off x="4251960" y="22860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14" name="Shape 9"/>
          <p:cNvSpPr/>
          <p:nvPr/>
        </p:nvSpPr>
        <p:spPr>
          <a:xfrm>
            <a:off x="4800600" y="1188720"/>
            <a:ext cx="397728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0"/>
          <p:cNvSpPr/>
          <p:nvPr/>
        </p:nvSpPr>
        <p:spPr>
          <a:xfrm>
            <a:off x="4800600" y="1188720"/>
            <a:ext cx="3977280" cy="4752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6" name="Image 5" descr="preencoded.png"/>
          <p:cNvPicPr/>
          <p:nvPr/>
        </p:nvPicPr>
        <p:blipFill>
          <a:blip r:embed="rId6"/>
          <a:stretch/>
        </p:blipFill>
        <p:spPr>
          <a:xfrm>
            <a:off x="4956120" y="1261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17" name="Text 11"/>
          <p:cNvSpPr/>
          <p:nvPr/>
        </p:nvSpPr>
        <p:spPr>
          <a:xfrm>
            <a:off x="5321880" y="1234440"/>
            <a:ext cx="334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THE GOAL: Enable LLMs to Talk to Machines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18" name="Image 6" descr="preencoded.png"/>
          <p:cNvPicPr/>
          <p:nvPr/>
        </p:nvPicPr>
        <p:blipFill>
          <a:blip r:embed="rId7"/>
          <a:stretch/>
        </p:blipFill>
        <p:spPr>
          <a:xfrm>
            <a:off x="4937760" y="18288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9" name="Text 12"/>
          <p:cNvSpPr/>
          <p:nvPr/>
        </p:nvSpPr>
        <p:spPr>
          <a:xfrm>
            <a:off x="5303520" y="179208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Connect with databases directly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0" name="Image 7" descr="preencoded.png"/>
          <p:cNvPicPr/>
          <p:nvPr/>
        </p:nvPicPr>
        <p:blipFill>
          <a:blip r:embed="rId8"/>
          <a:stretch/>
        </p:blipFill>
        <p:spPr>
          <a:xfrm>
            <a:off x="4937760" y="24688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1" name="Text 13"/>
          <p:cNvSpPr/>
          <p:nvPr/>
        </p:nvSpPr>
        <p:spPr>
          <a:xfrm>
            <a:off x="5303520" y="243216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Integrate with APIs seamlessly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2" name="Image 8" descr="preencoded.png"/>
          <p:cNvPicPr/>
          <p:nvPr/>
        </p:nvPicPr>
        <p:blipFill>
          <a:blip r:embed="rId9"/>
          <a:stretch/>
        </p:blipFill>
        <p:spPr>
          <a:xfrm>
            <a:off x="4937760" y="31089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3" name="Text 14"/>
          <p:cNvSpPr/>
          <p:nvPr/>
        </p:nvSpPr>
        <p:spPr>
          <a:xfrm>
            <a:off x="5303520" y="307224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Power intelligent agents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4" name="Image 9" descr="preencoded.png"/>
          <p:cNvPicPr/>
          <p:nvPr/>
        </p:nvPicPr>
        <p:blipFill>
          <a:blip r:embed="rId10"/>
          <a:stretch/>
        </p:blipFill>
        <p:spPr>
          <a:xfrm>
            <a:off x="4937760" y="37490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5" name="Text 15"/>
          <p:cNvSpPr/>
          <p:nvPr/>
        </p:nvSpPr>
        <p:spPr>
          <a:xfrm>
            <a:off x="5303520" y="371232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Enable system-to-system communication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2"/>
          <p:cNvSpPr/>
          <p:nvPr/>
        </p:nvSpPr>
        <p:spPr>
          <a:xfrm>
            <a:off x="41148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Unstructured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320040" y="1188720"/>
            <a:ext cx="27428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Shape 4"/>
          <p:cNvSpPr/>
          <p:nvPr/>
        </p:nvSpPr>
        <p:spPr>
          <a:xfrm>
            <a:off x="320040" y="1188720"/>
            <a:ext cx="2742840" cy="5025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1" name="Image 0" descr="preencoded.png"/>
          <p:cNvPicPr/>
          <p:nvPr/>
        </p:nvPicPr>
        <p:blipFill>
          <a:blip r:embed="rId1"/>
          <a:stretch/>
        </p:blipFill>
        <p:spPr>
          <a:xfrm>
            <a:off x="429840" y="1261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32" name="Text 5"/>
          <p:cNvSpPr/>
          <p:nvPr/>
        </p:nvSpPr>
        <p:spPr>
          <a:xfrm>
            <a:off x="822960" y="123444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Normal LLM Interaction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02920" y="1892880"/>
            <a:ext cx="109440" cy="1094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7"/>
          <p:cNvSpPr/>
          <p:nvPr/>
        </p:nvSpPr>
        <p:spPr>
          <a:xfrm>
            <a:off x="685800" y="18288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User sends a text prompt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502920" y="2606040"/>
            <a:ext cx="109440" cy="1094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9"/>
          <p:cNvSpPr/>
          <p:nvPr/>
        </p:nvSpPr>
        <p:spPr>
          <a:xfrm>
            <a:off x="685800" y="2541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processes and generates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502920" y="3319200"/>
            <a:ext cx="109440" cy="1094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1"/>
          <p:cNvSpPr/>
          <p:nvPr/>
        </p:nvSpPr>
        <p:spPr>
          <a:xfrm>
            <a:off x="685800" y="32551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Response is in plain text format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3264480" y="1188720"/>
            <a:ext cx="27428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13"/>
          <p:cNvSpPr/>
          <p:nvPr/>
        </p:nvSpPr>
        <p:spPr>
          <a:xfrm>
            <a:off x="3264480" y="1188720"/>
            <a:ext cx="2742840" cy="5025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1" name="Image 1" descr="preencoded.png"/>
          <p:cNvPicPr/>
          <p:nvPr/>
        </p:nvPicPr>
        <p:blipFill>
          <a:blip r:embed="rId2"/>
          <a:stretch/>
        </p:blipFill>
        <p:spPr>
          <a:xfrm>
            <a:off x="3374280" y="1261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42" name="Text 14"/>
          <p:cNvSpPr/>
          <p:nvPr/>
        </p:nvSpPr>
        <p:spPr>
          <a:xfrm>
            <a:off x="3767400" y="123444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Example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3447360" y="1892880"/>
            <a:ext cx="109440" cy="1094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6"/>
          <p:cNvSpPr/>
          <p:nvPr/>
        </p:nvSpPr>
        <p:spPr>
          <a:xfrm>
            <a:off x="3630240" y="18288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Question: "What is the capital of India?"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Shape 17"/>
          <p:cNvSpPr/>
          <p:nvPr/>
        </p:nvSpPr>
        <p:spPr>
          <a:xfrm>
            <a:off x="3447360" y="2606040"/>
            <a:ext cx="109440" cy="1094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8"/>
          <p:cNvSpPr/>
          <p:nvPr/>
        </p:nvSpPr>
        <p:spPr>
          <a:xfrm>
            <a:off x="3630240" y="2541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Response: "New Delhi is the capital of India."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6208920" y="1188720"/>
            <a:ext cx="2742840" cy="3565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20"/>
          <p:cNvSpPr/>
          <p:nvPr/>
        </p:nvSpPr>
        <p:spPr>
          <a:xfrm>
            <a:off x="6208920" y="1188720"/>
            <a:ext cx="2742840" cy="50256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9" name="Image 2" descr="preencoded.png"/>
          <p:cNvPicPr/>
          <p:nvPr/>
        </p:nvPicPr>
        <p:blipFill>
          <a:blip r:embed="rId3"/>
          <a:stretch/>
        </p:blipFill>
        <p:spPr>
          <a:xfrm>
            <a:off x="6318360" y="12618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50" name="Text 21"/>
          <p:cNvSpPr/>
          <p:nvPr/>
        </p:nvSpPr>
        <p:spPr>
          <a:xfrm>
            <a:off x="6711840" y="123444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Why "Unstructured"?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Shape 22"/>
          <p:cNvSpPr/>
          <p:nvPr/>
        </p:nvSpPr>
        <p:spPr>
          <a:xfrm>
            <a:off x="6391800" y="1892880"/>
            <a:ext cx="109440" cy="109440"/>
          </a:xfrm>
          <a:prstGeom prst="ellipse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23"/>
          <p:cNvSpPr/>
          <p:nvPr/>
        </p:nvSpPr>
        <p:spPr>
          <a:xfrm>
            <a:off x="6574680" y="18288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Text has no predefined structure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6391800" y="2606040"/>
            <a:ext cx="109440" cy="109440"/>
          </a:xfrm>
          <a:prstGeom prst="ellipse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5"/>
          <p:cNvSpPr/>
          <p:nvPr/>
        </p:nvSpPr>
        <p:spPr>
          <a:xfrm>
            <a:off x="6574680" y="2541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Difficult for machines to parse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Shape 26"/>
          <p:cNvSpPr/>
          <p:nvPr/>
        </p:nvSpPr>
        <p:spPr>
          <a:xfrm>
            <a:off x="6391800" y="3319200"/>
            <a:ext cx="109440" cy="109440"/>
          </a:xfrm>
          <a:prstGeom prst="ellipse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7"/>
          <p:cNvSpPr/>
          <p:nvPr/>
        </p:nvSpPr>
        <p:spPr>
          <a:xfrm>
            <a:off x="6574680" y="32551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Cannot integrate with databases/APIs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PART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4023360" y="219456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4023360" y="324612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b0c4de"/>
                </a:solidFill>
                <a:latin typeface="Calibri"/>
                <a:ea typeface="Calibri"/>
              </a:rPr>
              <a:t>Returning well-defined, machine-readable data instead of free-form text.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"/>
          <p:cNvSpPr/>
          <p:nvPr/>
        </p:nvSpPr>
        <p:spPr>
          <a:xfrm>
            <a:off x="41148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is Structured Output?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320040" y="1143000"/>
            <a:ext cx="8503560" cy="100548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4"/>
          <p:cNvSpPr/>
          <p:nvPr/>
        </p:nvSpPr>
        <p:spPr>
          <a:xfrm>
            <a:off x="320040" y="1143000"/>
            <a:ext cx="72720" cy="1005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5"/>
          <p:cNvSpPr/>
          <p:nvPr/>
        </p:nvSpPr>
        <p:spPr>
          <a:xfrm>
            <a:off x="502920" y="11887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02920" y="1463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Structured output refers to having language models return responses in a well-defined data format (like JSON) rather than free-form text.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320040" y="2331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2e42"/>
                </a:solidFill>
                <a:latin typeface="Calibri"/>
                <a:ea typeface="Calibri"/>
              </a:rPr>
              <a:t>Key Benefits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365760" y="2743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74" name="Text 8"/>
          <p:cNvSpPr/>
          <p:nvPr/>
        </p:nvSpPr>
        <p:spPr>
          <a:xfrm>
            <a:off x="713160" y="2715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Easier to parse programmatically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75" name="Image 1" descr="preencoded.png"/>
          <p:cNvPicPr/>
          <p:nvPr/>
        </p:nvPicPr>
        <p:blipFill>
          <a:blip r:embed="rId2"/>
          <a:stretch/>
        </p:blipFill>
        <p:spPr>
          <a:xfrm>
            <a:off x="365760" y="32004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76" name="Text 9"/>
          <p:cNvSpPr/>
          <p:nvPr/>
        </p:nvSpPr>
        <p:spPr>
          <a:xfrm>
            <a:off x="713160" y="31730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Can integrate with databases and APIs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77" name="Image 2" descr="preencoded.png"/>
          <p:cNvPicPr/>
          <p:nvPr/>
        </p:nvPicPr>
        <p:blipFill>
          <a:blip r:embed="rId3"/>
          <a:stretch/>
        </p:blipFill>
        <p:spPr>
          <a:xfrm>
            <a:off x="365760" y="36576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78" name="Text 10"/>
          <p:cNvSpPr/>
          <p:nvPr/>
        </p:nvSpPr>
        <p:spPr>
          <a:xfrm>
            <a:off x="713160" y="36302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Enables machine-to-machine communication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79" name="Image 3" descr="preencoded.png"/>
          <p:cNvPicPr/>
          <p:nvPr/>
        </p:nvPicPr>
        <p:blipFill>
          <a:blip r:embed="rId4"/>
          <a:stretch/>
        </p:blipFill>
        <p:spPr>
          <a:xfrm>
            <a:off x="365760" y="4114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80" name="Text 11"/>
          <p:cNvSpPr/>
          <p:nvPr/>
        </p:nvSpPr>
        <p:spPr>
          <a:xfrm>
            <a:off x="713160" y="40874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Makes LLMs work with other systems seamlessly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4754880" y="2286000"/>
            <a:ext cx="4068720" cy="24685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Text 13"/>
          <p:cNvSpPr/>
          <p:nvPr/>
        </p:nvSpPr>
        <p:spPr>
          <a:xfrm>
            <a:off x="4892040" y="23774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Example JSON 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4892040" y="2761560"/>
            <a:ext cx="3840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[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"time": "Morning",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"activity": "Visit Eiffel Tower"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},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"time": "Evening",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"activity": "Dinner at Seine café"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"/>
          <p:cNvSpPr/>
          <p:nvPr/>
        </p:nvSpPr>
        <p:spPr>
          <a:xfrm>
            <a:off x="41148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Unstructured vs Structured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20040" y="1170360"/>
            <a:ext cx="8503560" cy="4568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457200" y="120708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Prompt: "Create a one-day travel itinerary for Pune"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320040" y="1719000"/>
            <a:ext cx="3931560" cy="3017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Shape 6"/>
          <p:cNvSpPr/>
          <p:nvPr/>
        </p:nvSpPr>
        <p:spPr>
          <a:xfrm>
            <a:off x="320040" y="1719000"/>
            <a:ext cx="3931560" cy="4384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7"/>
          <p:cNvSpPr/>
          <p:nvPr/>
        </p:nvSpPr>
        <p:spPr>
          <a:xfrm>
            <a:off x="457200" y="176472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Unstructured (Plain Text)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457200" y="2240280"/>
            <a:ext cx="3657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"Here is a suggested itinerary: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Morning - visit Shanivar wada,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Afternoon - visit a </a:t>
            </a: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Dagadusheth temple</a:t>
            </a: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Evening - have dinner."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457200" y="33375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4" name="Text 9"/>
          <p:cNvSpPr/>
          <p:nvPr/>
        </p:nvSpPr>
        <p:spPr>
          <a:xfrm>
            <a:off x="777240" y="33102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Hard to parse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95" name="Image 1" descr="preencoded.png"/>
          <p:cNvPicPr/>
          <p:nvPr/>
        </p:nvPicPr>
        <p:blipFill>
          <a:blip r:embed="rId2"/>
          <a:stretch/>
        </p:blipFill>
        <p:spPr>
          <a:xfrm>
            <a:off x="457200" y="37764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6" name="Text 10"/>
          <p:cNvSpPr/>
          <p:nvPr/>
        </p:nvSpPr>
        <p:spPr>
          <a:xfrm>
            <a:off x="777240" y="37490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No consistent format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97" name="Image 2" descr="preencoded.png"/>
          <p:cNvPicPr/>
          <p:nvPr/>
        </p:nvPicPr>
        <p:blipFill>
          <a:blip r:embed="rId3"/>
          <a:stretch/>
        </p:blipFill>
        <p:spPr>
          <a:xfrm>
            <a:off x="457200" y="42152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8" name="Text 11"/>
          <p:cNvSpPr/>
          <p:nvPr/>
        </p:nvSpPr>
        <p:spPr>
          <a:xfrm>
            <a:off x="777240" y="418788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Cannot use with APIs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4343400" y="2651760"/>
            <a:ext cx="456840" cy="4568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3"/>
          <p:cNvSpPr/>
          <p:nvPr/>
        </p:nvSpPr>
        <p:spPr>
          <a:xfrm>
            <a:off x="4343400" y="2651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VS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4892040" y="1719000"/>
            <a:ext cx="3931560" cy="3017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5"/>
          <p:cNvSpPr/>
          <p:nvPr/>
        </p:nvSpPr>
        <p:spPr>
          <a:xfrm>
            <a:off x="4892040" y="1719000"/>
            <a:ext cx="3931560" cy="4384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5029200" y="176472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✓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Structured (JSON)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4937760" y="2231280"/>
            <a:ext cx="3794400" cy="11152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8"/>
          <p:cNvSpPr/>
          <p:nvPr/>
        </p:nvSpPr>
        <p:spPr>
          <a:xfrm>
            <a:off x="5010840" y="228600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[{"time":"Morning","activity":"shanivar wada</a:t>
            </a: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"},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{"time":"Afternoon","activity":"Dagadusheth temple"},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{"time":"Evening","activity":"Dinner at hotel"}]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06" name="Image 3" descr="preencoded.png"/>
          <p:cNvPicPr/>
          <p:nvPr/>
        </p:nvPicPr>
        <p:blipFill>
          <a:blip r:embed="rId4"/>
          <a:stretch/>
        </p:blipFill>
        <p:spPr>
          <a:xfrm>
            <a:off x="4983480" y="33375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7" name="Text 19"/>
          <p:cNvSpPr/>
          <p:nvPr/>
        </p:nvSpPr>
        <p:spPr>
          <a:xfrm>
            <a:off x="5303520" y="33102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Easy to parse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208" name="Image 4" descr="preencoded.png"/>
          <p:cNvPicPr/>
          <p:nvPr/>
        </p:nvPicPr>
        <p:blipFill>
          <a:blip r:embed="rId5"/>
          <a:stretch/>
        </p:blipFill>
        <p:spPr>
          <a:xfrm>
            <a:off x="4983480" y="37764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9" name="Text 20"/>
          <p:cNvSpPr/>
          <p:nvPr/>
        </p:nvSpPr>
        <p:spPr>
          <a:xfrm>
            <a:off x="5303520" y="374904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Consistent structure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210" name="Image 5" descr="preencoded.png"/>
          <p:cNvPicPr/>
          <p:nvPr/>
        </p:nvPicPr>
        <p:blipFill>
          <a:blip r:embed="rId6"/>
          <a:stretch/>
        </p:blipFill>
        <p:spPr>
          <a:xfrm>
            <a:off x="4983480" y="42152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11" name="Text 21"/>
          <p:cNvSpPr/>
          <p:nvPr/>
        </p:nvSpPr>
        <p:spPr>
          <a:xfrm>
            <a:off x="5303520" y="418788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Ready for database/API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PART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4023360" y="2194560"/>
            <a:ext cx="4754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Use Cases for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4023360" y="370332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b0c4de"/>
                </a:solidFill>
                <a:latin typeface="Calibri"/>
                <a:ea typeface="Calibri"/>
              </a:rPr>
              <a:t>Real-world applications across data extraction, APIs, and AI agents.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1: Data Extraction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320040" y="1152000"/>
            <a:ext cx="8503560" cy="420120"/>
          </a:xfrm>
          <a:prstGeom prst="rect">
            <a:avLst/>
          </a:prstGeom>
          <a:solidFill>
            <a:srgbClr val="0096c7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4"/>
          <p:cNvSpPr/>
          <p:nvPr/>
        </p:nvSpPr>
        <p:spPr>
          <a:xfrm>
            <a:off x="457200" y="11887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📌  </a:t>
            </a: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Scenario: Job Portal Resume Processing — Building a system like Naukri.com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320040" y="173736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Workflow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320040" y="2148840"/>
            <a:ext cx="328680" cy="328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7"/>
          <p:cNvSpPr/>
          <p:nvPr/>
        </p:nvSpPr>
        <p:spPr>
          <a:xfrm>
            <a:off x="320040" y="2148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70880" y="2477880"/>
            <a:ext cx="18000" cy="21924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9"/>
          <p:cNvSpPr/>
          <p:nvPr/>
        </p:nvSpPr>
        <p:spPr>
          <a:xfrm>
            <a:off x="749880" y="21488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Candidate uploads resume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320040" y="2697480"/>
            <a:ext cx="328680" cy="328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1"/>
          <p:cNvSpPr/>
          <p:nvPr/>
        </p:nvSpPr>
        <p:spPr>
          <a:xfrm>
            <a:off x="320040" y="26974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470880" y="3026520"/>
            <a:ext cx="18000" cy="21924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3"/>
          <p:cNvSpPr/>
          <p:nvPr/>
        </p:nvSpPr>
        <p:spPr>
          <a:xfrm>
            <a:off x="749880" y="26974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Extract text from resume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320040" y="3246120"/>
            <a:ext cx="328680" cy="328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5"/>
          <p:cNvSpPr/>
          <p:nvPr/>
        </p:nvSpPr>
        <p:spPr>
          <a:xfrm>
            <a:off x="320040" y="3246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470880" y="3575160"/>
            <a:ext cx="18000" cy="21924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7"/>
          <p:cNvSpPr/>
          <p:nvPr/>
        </p:nvSpPr>
        <p:spPr>
          <a:xfrm>
            <a:off x="749880" y="324612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Send to LLM with structured output schema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320040" y="3794760"/>
            <a:ext cx="328680" cy="328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9"/>
          <p:cNvSpPr/>
          <p:nvPr/>
        </p:nvSpPr>
        <p:spPr>
          <a:xfrm>
            <a:off x="320040" y="37947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470880" y="4123800"/>
            <a:ext cx="18000" cy="21924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1"/>
          <p:cNvSpPr/>
          <p:nvPr/>
        </p:nvSpPr>
        <p:spPr>
          <a:xfrm>
            <a:off x="749880" y="37947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 returns JSON with required fields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320040" y="4343400"/>
            <a:ext cx="328680" cy="328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3"/>
          <p:cNvSpPr/>
          <p:nvPr/>
        </p:nvSpPr>
        <p:spPr>
          <a:xfrm>
            <a:off x="320040" y="43434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749880" y="43434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Insert data into database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937760" y="1737360"/>
            <a:ext cx="3885840" cy="3062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Shape 26"/>
          <p:cNvSpPr/>
          <p:nvPr/>
        </p:nvSpPr>
        <p:spPr>
          <a:xfrm>
            <a:off x="4937760" y="1737360"/>
            <a:ext cx="3885840" cy="42012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27"/>
          <p:cNvSpPr/>
          <p:nvPr/>
        </p:nvSpPr>
        <p:spPr>
          <a:xfrm>
            <a:off x="5074920" y="178308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📋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 to Extract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5029200" y="2286000"/>
            <a:ext cx="36572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29"/>
          <p:cNvSpPr/>
          <p:nvPr/>
        </p:nvSpPr>
        <p:spPr>
          <a:xfrm>
            <a:off x="5029200" y="2286000"/>
            <a:ext cx="5436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30"/>
          <p:cNvSpPr/>
          <p:nvPr/>
        </p:nvSpPr>
        <p:spPr>
          <a:xfrm>
            <a:off x="5184720" y="23317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Candidate 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2" name="Shape 31"/>
          <p:cNvSpPr/>
          <p:nvPr/>
        </p:nvSpPr>
        <p:spPr>
          <a:xfrm>
            <a:off x="5029200" y="2880360"/>
            <a:ext cx="36572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32"/>
          <p:cNvSpPr/>
          <p:nvPr/>
        </p:nvSpPr>
        <p:spPr>
          <a:xfrm>
            <a:off x="5029200" y="2880360"/>
            <a:ext cx="5436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3"/>
          <p:cNvSpPr/>
          <p:nvPr/>
        </p:nvSpPr>
        <p:spPr>
          <a:xfrm>
            <a:off x="5184720" y="29260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Last company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5" name="Shape 34"/>
          <p:cNvSpPr/>
          <p:nvPr/>
        </p:nvSpPr>
        <p:spPr>
          <a:xfrm>
            <a:off x="5029200" y="3474720"/>
            <a:ext cx="36572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Shape 35"/>
          <p:cNvSpPr/>
          <p:nvPr/>
        </p:nvSpPr>
        <p:spPr>
          <a:xfrm>
            <a:off x="5029200" y="3474720"/>
            <a:ext cx="5436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36"/>
          <p:cNvSpPr/>
          <p:nvPr/>
        </p:nvSpPr>
        <p:spPr>
          <a:xfrm>
            <a:off x="5184720" y="35204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Education: 10th, 12th, College marks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Shape 37"/>
          <p:cNvSpPr/>
          <p:nvPr/>
        </p:nvSpPr>
        <p:spPr>
          <a:xfrm>
            <a:off x="5029200" y="4069080"/>
            <a:ext cx="36572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38"/>
          <p:cNvSpPr/>
          <p:nvPr/>
        </p:nvSpPr>
        <p:spPr>
          <a:xfrm>
            <a:off x="5029200" y="4069080"/>
            <a:ext cx="5436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39"/>
          <p:cNvSpPr/>
          <p:nvPr/>
        </p:nvSpPr>
        <p:spPr>
          <a:xfrm>
            <a:off x="5184720" y="41148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Skills and certifications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"/>
          <p:cNvSpPr/>
          <p:nvPr/>
        </p:nvSpPr>
        <p:spPr>
          <a:xfrm>
            <a:off x="41148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1: How It Works End-to-End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320040" y="118872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4"/>
          <p:cNvSpPr/>
          <p:nvPr/>
        </p:nvSpPr>
        <p:spPr>
          <a:xfrm>
            <a:off x="320040" y="1188720"/>
            <a:ext cx="54360" cy="8226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5"/>
          <p:cNvSpPr/>
          <p:nvPr/>
        </p:nvSpPr>
        <p:spPr>
          <a:xfrm>
            <a:off x="475560" y="125280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The Problem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475560" y="15361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People upload their resumes to a job portal, but extracting specific structured information manually is time-consuming and error-prone.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8" name="Shape 7"/>
          <p:cNvSpPr/>
          <p:nvPr/>
        </p:nvSpPr>
        <p:spPr>
          <a:xfrm>
            <a:off x="320040" y="214884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8"/>
          <p:cNvSpPr/>
          <p:nvPr/>
        </p:nvSpPr>
        <p:spPr>
          <a:xfrm>
            <a:off x="320040" y="2148840"/>
            <a:ext cx="54360" cy="8226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9"/>
          <p:cNvSpPr/>
          <p:nvPr/>
        </p:nvSpPr>
        <p:spPr>
          <a:xfrm>
            <a:off x="475560" y="22129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Information Needed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1" name="Text 10"/>
          <p:cNvSpPr/>
          <p:nvPr/>
        </p:nvSpPr>
        <p:spPr>
          <a:xfrm>
            <a:off x="475560" y="249624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Candidate's name, last company, 12th grade marks, 10th grade marks, college marks — all need to go into a database.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320040" y="310896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12"/>
          <p:cNvSpPr/>
          <p:nvPr/>
        </p:nvSpPr>
        <p:spPr>
          <a:xfrm>
            <a:off x="320040" y="3108960"/>
            <a:ext cx="54360" cy="8226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3"/>
          <p:cNvSpPr/>
          <p:nvPr/>
        </p:nvSpPr>
        <p:spPr>
          <a:xfrm>
            <a:off x="475560" y="317304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Solution with Structured Output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Text 14"/>
          <p:cNvSpPr/>
          <p:nvPr/>
        </p:nvSpPr>
        <p:spPr>
          <a:xfrm>
            <a:off x="475560" y="34563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The candidate uploads their resume. You extract all text from the resume file, then send this text to the LLM with a defined output schema.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320040" y="406908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16"/>
          <p:cNvSpPr/>
          <p:nvPr/>
        </p:nvSpPr>
        <p:spPr>
          <a:xfrm>
            <a:off x="320040" y="4069080"/>
            <a:ext cx="54360" cy="8226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7"/>
          <p:cNvSpPr/>
          <p:nvPr/>
        </p:nvSpPr>
        <p:spPr>
          <a:xfrm>
            <a:off x="475560" y="41331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Result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9" name="Text 18"/>
          <p:cNvSpPr/>
          <p:nvPr/>
        </p:nvSpPr>
        <p:spPr>
          <a:xfrm>
            <a:off x="475560" y="44164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The LLM returns all information in JSON format. You then write code to insert this data into a database. Scalable for all candidates.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83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2: Building APIs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320040" y="1152000"/>
            <a:ext cx="8503560" cy="420120"/>
          </a:xfrm>
          <a:prstGeom prst="rect">
            <a:avLst/>
          </a:prstGeom>
          <a:solidFill>
            <a:srgbClr val="0096c7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4"/>
          <p:cNvSpPr/>
          <p:nvPr/>
        </p:nvSpPr>
        <p:spPr>
          <a:xfrm>
            <a:off x="457200" y="11887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📌  </a:t>
            </a: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Scenario: Product Review Analysis API — Extract structured insights from lengthy reviews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320040" y="173736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What to Extract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320040" y="2194560"/>
            <a:ext cx="196560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Shape 7"/>
          <p:cNvSpPr/>
          <p:nvPr/>
        </p:nvSpPr>
        <p:spPr>
          <a:xfrm>
            <a:off x="320040" y="2194560"/>
            <a:ext cx="1965600" cy="4021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8"/>
          <p:cNvSpPr/>
          <p:nvPr/>
        </p:nvSpPr>
        <p:spPr>
          <a:xfrm>
            <a:off x="411480" y="22312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🔍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Topics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429840" y="2697480"/>
            <a:ext cx="1755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battery, display, processor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1" name="Shape 10"/>
          <p:cNvSpPr/>
          <p:nvPr/>
        </p:nvSpPr>
        <p:spPr>
          <a:xfrm>
            <a:off x="2468880" y="2194560"/>
            <a:ext cx="196560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Shape 11"/>
          <p:cNvSpPr/>
          <p:nvPr/>
        </p:nvSpPr>
        <p:spPr>
          <a:xfrm>
            <a:off x="2468880" y="2194560"/>
            <a:ext cx="1965600" cy="4021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12"/>
          <p:cNvSpPr/>
          <p:nvPr/>
        </p:nvSpPr>
        <p:spPr>
          <a:xfrm>
            <a:off x="2560320" y="22312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👍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2578680" y="2697480"/>
            <a:ext cx="1755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Positive aspects mentioned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4617720" y="2194560"/>
            <a:ext cx="196560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Shape 15"/>
          <p:cNvSpPr/>
          <p:nvPr/>
        </p:nvSpPr>
        <p:spPr>
          <a:xfrm>
            <a:off x="4617720" y="2194560"/>
            <a:ext cx="1965600" cy="4021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6"/>
          <p:cNvSpPr/>
          <p:nvPr/>
        </p:nvSpPr>
        <p:spPr>
          <a:xfrm>
            <a:off x="4709160" y="22312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👎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4727520" y="2697480"/>
            <a:ext cx="1755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Negative aspects mentioned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9" name="Shape 18"/>
          <p:cNvSpPr/>
          <p:nvPr/>
        </p:nvSpPr>
        <p:spPr>
          <a:xfrm>
            <a:off x="6766560" y="2194560"/>
            <a:ext cx="196560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19"/>
          <p:cNvSpPr/>
          <p:nvPr/>
        </p:nvSpPr>
        <p:spPr>
          <a:xfrm>
            <a:off x="6766560" y="2194560"/>
            <a:ext cx="1965600" cy="4021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20"/>
          <p:cNvSpPr/>
          <p:nvPr/>
        </p:nvSpPr>
        <p:spPr>
          <a:xfrm>
            <a:off x="6858000" y="22312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💬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Sentiment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2" name="Text 21"/>
          <p:cNvSpPr/>
          <p:nvPr/>
        </p:nvSpPr>
        <p:spPr>
          <a:xfrm>
            <a:off x="6876360" y="2697480"/>
            <a:ext cx="1755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positive / negative / neutral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320040" y="370332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Benefits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304" name="Image 1" descr="preencoded.png"/>
          <p:cNvPicPr/>
          <p:nvPr/>
        </p:nvPicPr>
        <p:blipFill>
          <a:blip r:embed="rId2"/>
          <a:stretch/>
        </p:blipFill>
        <p:spPr>
          <a:xfrm>
            <a:off x="320040" y="4114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5" name="Text 23"/>
          <p:cNvSpPr/>
          <p:nvPr/>
        </p:nvSpPr>
        <p:spPr>
          <a:xfrm>
            <a:off x="640080" y="40874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Provide structured data via Flask/FastAPI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06" name="Image 2" descr="preencoded.png"/>
          <p:cNvPicPr/>
          <p:nvPr/>
        </p:nvPicPr>
        <p:blipFill>
          <a:blip r:embed="rId3"/>
          <a:stretch/>
        </p:blipFill>
        <p:spPr>
          <a:xfrm>
            <a:off x="2496240" y="4114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7" name="Text 24"/>
          <p:cNvSpPr/>
          <p:nvPr/>
        </p:nvSpPr>
        <p:spPr>
          <a:xfrm>
            <a:off x="2816280" y="40874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Anyone can consume via API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08" name="Image 3" descr="preencoded.png"/>
          <p:cNvPicPr/>
          <p:nvPr/>
        </p:nvPicPr>
        <p:blipFill>
          <a:blip r:embed="rId4"/>
          <a:stretch/>
        </p:blipFill>
        <p:spPr>
          <a:xfrm>
            <a:off x="4672440" y="4114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9" name="Text 25"/>
          <p:cNvSpPr/>
          <p:nvPr/>
        </p:nvSpPr>
        <p:spPr>
          <a:xfrm>
            <a:off x="4992480" y="40874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Easy integration with other systems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10" name="Image 4" descr="preencoded.png"/>
          <p:cNvPicPr/>
          <p:nvPr/>
        </p:nvPicPr>
        <p:blipFill>
          <a:blip r:embed="rId5"/>
          <a:stretch/>
        </p:blipFill>
        <p:spPr>
          <a:xfrm>
            <a:off x="6849000" y="4114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11" name="Text 26"/>
          <p:cNvSpPr/>
          <p:nvPr/>
        </p:nvSpPr>
        <p:spPr>
          <a:xfrm>
            <a:off x="7169040" y="40874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Real-time review analysis at scale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1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3: Building Agents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320040" y="1143000"/>
            <a:ext cx="393156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7" name="Shape 4"/>
          <p:cNvSpPr/>
          <p:nvPr/>
        </p:nvSpPr>
        <p:spPr>
          <a:xfrm>
            <a:off x="320040" y="1143000"/>
            <a:ext cx="39315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5"/>
          <p:cNvSpPr/>
          <p:nvPr/>
        </p:nvSpPr>
        <p:spPr>
          <a:xfrm>
            <a:off x="457200" y="1188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🤖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What are Agents?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457200" y="17100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96c7"/>
                </a:solidFill>
                <a:latin typeface="Calibri"/>
                <a:ea typeface="Calibri"/>
              </a:rPr>
              <a:t>Agents = Chatbots on Steroids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457200" y="203004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Chatbots can only talk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Agents can perform tasks using tools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1" name="Shape 8"/>
          <p:cNvSpPr/>
          <p:nvPr/>
        </p:nvSpPr>
        <p:spPr>
          <a:xfrm>
            <a:off x="4572000" y="1143000"/>
            <a:ext cx="4251600" cy="3657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2" name="Shape 9"/>
          <p:cNvSpPr/>
          <p:nvPr/>
        </p:nvSpPr>
        <p:spPr>
          <a:xfrm>
            <a:off x="4572000" y="1143000"/>
            <a:ext cx="4251600" cy="4568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0"/>
          <p:cNvSpPr/>
          <p:nvPr/>
        </p:nvSpPr>
        <p:spPr>
          <a:xfrm>
            <a:off x="4681800" y="11887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📐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Example: Math Agent with Calculator Tool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4" name="Shape 11"/>
          <p:cNvSpPr/>
          <p:nvPr/>
        </p:nvSpPr>
        <p:spPr>
          <a:xfrm>
            <a:off x="4709160" y="1737360"/>
            <a:ext cx="397728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12"/>
          <p:cNvSpPr/>
          <p:nvPr/>
        </p:nvSpPr>
        <p:spPr>
          <a:xfrm>
            <a:off x="4709160" y="1737360"/>
            <a:ext cx="54360" cy="5666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3"/>
          <p:cNvSpPr/>
          <p:nvPr/>
        </p:nvSpPr>
        <p:spPr>
          <a:xfrm>
            <a:off x="4827960" y="17740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a5a78"/>
                </a:solidFill>
                <a:latin typeface="Calibri"/>
                <a:ea typeface="Calibri"/>
              </a:rPr>
              <a:t>User Query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4827960" y="20116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"Find the square root of 2"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15"/>
          <p:cNvSpPr/>
          <p:nvPr/>
        </p:nvSpPr>
        <p:spPr>
          <a:xfrm>
            <a:off x="4709160" y="2414160"/>
            <a:ext cx="397728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16"/>
          <p:cNvSpPr/>
          <p:nvPr/>
        </p:nvSpPr>
        <p:spPr>
          <a:xfrm>
            <a:off x="4709160" y="2414160"/>
            <a:ext cx="54360" cy="5666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17"/>
          <p:cNvSpPr/>
          <p:nvPr/>
        </p:nvSpPr>
        <p:spPr>
          <a:xfrm>
            <a:off x="4827960" y="24505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Problem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18"/>
          <p:cNvSpPr/>
          <p:nvPr/>
        </p:nvSpPr>
        <p:spPr>
          <a:xfrm>
            <a:off x="4827960" y="26884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Cannot send text directly to calculator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2" name="Shape 19"/>
          <p:cNvSpPr/>
          <p:nvPr/>
        </p:nvSpPr>
        <p:spPr>
          <a:xfrm>
            <a:off x="4709160" y="3090600"/>
            <a:ext cx="397728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20"/>
          <p:cNvSpPr/>
          <p:nvPr/>
        </p:nvSpPr>
        <p:spPr>
          <a:xfrm>
            <a:off x="4709160" y="3090600"/>
            <a:ext cx="54360" cy="5666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1"/>
          <p:cNvSpPr/>
          <p:nvPr/>
        </p:nvSpPr>
        <p:spPr>
          <a:xfrm>
            <a:off x="4827960" y="31273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Solution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4827960" y="33649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Use structured output to extract parameters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Shape 23"/>
          <p:cNvSpPr/>
          <p:nvPr/>
        </p:nvSpPr>
        <p:spPr>
          <a:xfrm>
            <a:off x="4709160" y="3767400"/>
            <a:ext cx="397728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Shape 24"/>
          <p:cNvSpPr/>
          <p:nvPr/>
        </p:nvSpPr>
        <p:spPr>
          <a:xfrm>
            <a:off x="4709160" y="3767400"/>
            <a:ext cx="54360" cy="5666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25"/>
          <p:cNvSpPr/>
          <p:nvPr/>
        </p:nvSpPr>
        <p:spPr>
          <a:xfrm>
            <a:off x="4827960" y="3803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Result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9" name="Text 26"/>
          <p:cNvSpPr/>
          <p:nvPr/>
        </p:nvSpPr>
        <p:spPr>
          <a:xfrm>
            <a:off x="4827960" y="40417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{ "operation": "sqrt", "number": 2 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0" name="Shape 27"/>
          <p:cNvSpPr/>
          <p:nvPr/>
        </p:nvSpPr>
        <p:spPr>
          <a:xfrm>
            <a:off x="320040" y="2971800"/>
            <a:ext cx="3931560" cy="822600"/>
          </a:xfrm>
          <a:prstGeom prst="rect">
            <a:avLst/>
          </a:prstGeom>
          <a:solidFill>
            <a:srgbClr val="ffd16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Shape 28"/>
          <p:cNvSpPr/>
          <p:nvPr/>
        </p:nvSpPr>
        <p:spPr>
          <a:xfrm>
            <a:off x="320040" y="2971800"/>
            <a:ext cx="54360" cy="8226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29"/>
          <p:cNvSpPr/>
          <p:nvPr/>
        </p:nvSpPr>
        <p:spPr>
          <a:xfrm>
            <a:off x="475560" y="30175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⚠️  </a:t>
            </a:r>
            <a:r>
              <a:rPr b="1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Key Insight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Text 30"/>
          <p:cNvSpPr/>
          <p:nvPr/>
        </p:nvSpPr>
        <p:spPr>
          <a:xfrm>
            <a:off x="475560" y="32918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All agent tools require structured output to function!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2026-03-19T15:29:02Z</dcterms:created>
  <dc:creator>PptxGenJS</dc:creator>
  <dc:description/>
  <dc:language>en-IN</dc:language>
  <cp:lastModifiedBy/>
  <dcterms:modified xsi:type="dcterms:W3CDTF">2026-03-19T21:23:57Z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