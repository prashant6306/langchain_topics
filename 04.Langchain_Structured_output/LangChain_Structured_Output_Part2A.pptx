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notesSlides/_rels/notesSlide13.xml.rels" ContentType="application/vnd.openxmlformats-package.relationships+xml"/>
  <Override PartName="/ppt/notesSlides/_rels/notesSlide9.xml.rels" ContentType="application/vnd.openxmlformats-package.relationships+xml"/>
  <Override PartName="/ppt/notesSlides/_rels/notesSlide8.xml.rels" ContentType="application/vnd.openxmlformats-package.relationships+xml"/>
  <Override PartName="/ppt/notesSlides/_rels/notesSlide14.xml.rels" ContentType="application/vnd.openxmlformats-package.relationships+xml"/>
  <Override PartName="/ppt/notesSlides/_rels/notesSlide7.xml.rels" ContentType="application/vnd.openxmlformats-package.relationships+xml"/>
  <Override PartName="/ppt/notesSlides/_rels/notesSlide1.xml.rels" ContentType="application/vnd.openxmlformats-package.relationships+xml"/>
  <Override PartName="/ppt/notesSlides/_rels/notesSlide10.xml.rels" ContentType="application/vnd.openxmlformats-package.relationships+xml"/>
  <Override PartName="/ppt/notesSlides/_rels/notesSlide3.xml.rels" ContentType="application/vnd.openxmlformats-package.relationships+xml"/>
  <Override PartName="/ppt/notesSlides/_rels/notesSlide5.xml.rels" ContentType="application/vnd.openxmlformats-package.relationships+xml"/>
  <Override PartName="/ppt/notesSlides/_rels/notesSlide12.xml.rels" ContentType="application/vnd.openxmlformats-package.relationships+xml"/>
  <Override PartName="/ppt/notesSlides/_rels/notesSlide2.xml.rels" ContentType="application/vnd.openxmlformats-package.relationships+xml"/>
  <Override PartName="/ppt/notesSlides/_rels/notesSlide11.xml.rels" ContentType="application/vnd.openxmlformats-package.relationships+xml"/>
  <Override PartName="/ppt/notesSlides/_rels/notesSlide4.xml.rels" ContentType="application/vnd.openxmlformats-package.relationships+xml"/>
  <Override PartName="/ppt/notesSlides/_rels/notesSlide6.xml.rels" ContentType="application/vnd.openxmlformats-package.relationships+xml"/>
  <Override PartName="/ppt/notesSlides/_rels/notesSlide15.xml.rels" ContentType="application/vnd.openxmlformats-package.relationships+xml"/>
  <Override PartName="/ppt/notesSlides/notesSlide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13.xml" ContentType="application/vnd.openxmlformats-officedocument.presentationml.notesSlid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media/image23.png" ContentType="image/png"/>
  <Override PartName="/ppt/media/image22.png" ContentType="image/png"/>
  <Override PartName="/ppt/media/image21.png" ContentType="image/png"/>
  <Override PartName="/ppt/media/image19.png" ContentType="image/png"/>
  <Override PartName="/ppt/media/image20.png" ContentType="image/png"/>
  <Override PartName="/ppt/media/image18.png" ContentType="image/png"/>
  <Override PartName="/ppt/media/image17.png" ContentType="image/png"/>
  <Override PartName="/ppt/media/image16.png" ContentType="image/png"/>
  <Override PartName="/ppt/media/image15.png" ContentType="image/png"/>
  <Override PartName="/ppt/media/image14.png" ContentType="image/png"/>
  <Override PartName="/ppt/media/image24.png" ContentType="image/png"/>
  <Override PartName="/ppt/media/image1.png" ContentType="image/png"/>
  <Override PartName="/ppt/media/image31.png" ContentType="image/png"/>
  <Override PartName="/ppt/media/image25.png" ContentType="image/png"/>
  <Override PartName="/ppt/media/image2.png" ContentType="image/png"/>
  <Override PartName="/ppt/media/image32.png" ContentType="image/png"/>
  <Override PartName="/ppt/media/image26.png" ContentType="image/png"/>
  <Override PartName="/ppt/media/image3.png" ContentType="image/png"/>
  <Override PartName="/ppt/media/image33.png" ContentType="image/png"/>
  <Override PartName="/ppt/media/image27.png" ContentType="image/png"/>
  <Override PartName="/ppt/media/image4.png" ContentType="image/png"/>
  <Override PartName="/ppt/media/image34.png" ContentType="image/png"/>
  <Override PartName="/ppt/media/image28.png" ContentType="image/png"/>
  <Override PartName="/ppt/media/image5.png" ContentType="image/png"/>
  <Override PartName="/ppt/media/image35.png" ContentType="image/png"/>
  <Override PartName="/ppt/media/image44.png" ContentType="image/png"/>
  <Override PartName="/ppt/media/image45.png" ContentType="image/png"/>
  <Override PartName="/ppt/media/image46.png" ContentType="image/png"/>
  <Override PartName="/ppt/media/image50.png" ContentType="image/png"/>
  <Override PartName="/ppt/media/image13.png" ContentType="image/png"/>
  <Override PartName="/ppt/media/image11.png" ContentType="image/png"/>
  <Override PartName="/ppt/media/image48.png" ContentType="image/png"/>
  <Override PartName="/ppt/media/image51.png" ContentType="image/png"/>
  <Override PartName="/ppt/media/image40.png" ContentType="image/png"/>
  <Override PartName="/ppt/media/image52.png" ContentType="image/png"/>
  <Override PartName="/ppt/media/image41.png" ContentType="image/png"/>
  <Override PartName="/ppt/media/image53.png" ContentType="image/png"/>
  <Override PartName="/ppt/media/image42.png" ContentType="image/png"/>
  <Override PartName="/ppt/media/image54.png" ContentType="image/png"/>
  <Override PartName="/ppt/media/image43.png" ContentType="image/png"/>
  <Override PartName="/ppt/media/image55.png" ContentType="image/png"/>
  <Override PartName="/ppt/media/image30.png" ContentType="image/png"/>
  <Override PartName="/ppt/media/image39.png" ContentType="image/png"/>
  <Override PartName="/ppt/media/image9.png" ContentType="image/png"/>
  <Override PartName="/ppt/media/image38.png" ContentType="image/png"/>
  <Override PartName="/ppt/media/image8.png" ContentType="image/png"/>
  <Override PartName="/ppt/media/image49.png" ContentType="image/png"/>
  <Override PartName="/ppt/media/image12.png" ContentType="image/png"/>
  <Override PartName="/ppt/media/image10.png" ContentType="image/png"/>
  <Override PartName="/ppt/media/image47.png" ContentType="image/png"/>
  <Override PartName="/ppt/media/image37.png" ContentType="image/png"/>
  <Override PartName="/ppt/media/image7.png" ContentType="image/png"/>
  <Override PartName="/ppt/media/image36.png" ContentType="image/png"/>
  <Override PartName="/ppt/media/image6.png" ContentType="image/png"/>
  <Override PartName="/ppt/media/image29.png" ContentType="image/png"/>
  <Override PartName="/ppt/presProps.xml" ContentType="application/vnd.openxmlformats-officedocument.presentationml.presPro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s/_rels/slide8.xml.rels" ContentType="application/vnd.openxmlformats-package.relationships+xml"/>
  <Override PartName="/ppt/slides/_rels/slide9.xml.rels" ContentType="application/vnd.openxmlformats-package.relationships+xml"/>
  <Override PartName="/ppt/slides/_rels/slide13.xml.rels" ContentType="application/vnd.openxmlformats-package.relationships+xml"/>
  <Override PartName="/ppt/slides/_rels/slide12.xml.rels" ContentType="application/vnd.openxmlformats-package.relationships+xml"/>
  <Override PartName="/ppt/slides/_rels/slide15.xml.rels" ContentType="application/vnd.openxmlformats-package.relationships+xml"/>
  <Override PartName="/ppt/slides/_rels/slide14.xml.rels" ContentType="application/vnd.openxmlformats-package.relationships+xml"/>
  <Override PartName="/ppt/slides/_rels/slide11.xml.rels" ContentType="application/vnd.openxmlformats-package.relationships+xml"/>
  <Override PartName="/ppt/slides/_rels/slide1.xml.rels" ContentType="application/vnd.openxmlformats-package.relationships+xml"/>
  <Override PartName="/ppt/slides/_rels/slide4.xml.rels" ContentType="application/vnd.openxmlformats-package.relationships+xml"/>
  <Override PartName="/ppt/slides/_rels/slide2.xml.rels" ContentType="application/vnd.openxmlformats-package.relationships+xml"/>
  <Override PartName="/ppt/slides/_rels/slide5.xml.rels" ContentType="application/vnd.openxmlformats-package.relationships+xml"/>
  <Override PartName="/ppt/slides/_rels/slide3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10.xml.rels" ContentType="application/vnd.openxmlformats-package.relationships+xml"/>
  <Override PartName="/ppt/slides/slide13.xml" ContentType="application/vnd.openxmlformats-officedocument.presentationml.slide+xml"/>
  <Override PartName="/ppt/slides/slide15.xml" ContentType="application/vnd.openxmlformats-officedocument.presentationml.slide+xml"/>
  <Override PartName="/ppt/slides/slide14.xml" ContentType="application/vnd.openxmlformats-officedocument.presentationml.slid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</p:sldIdLst>
  <p:sldSz cx="9144000" cy="5143500"/>
  <p:notesSz cx="51435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IN" sz="4400" spc="-1" strike="noStrike">
                <a:latin typeface="Arial"/>
              </a:rPr>
              <a:t>Click to </a:t>
            </a:r>
            <a:r>
              <a:rPr b="0" lang="en-IN" sz="4400" spc="-1" strike="noStrike">
                <a:latin typeface="Arial"/>
              </a:rPr>
              <a:t>move </a:t>
            </a:r>
            <a:r>
              <a:rPr b="0" lang="en-IN" sz="4400" spc="-1" strike="noStrike">
                <a:latin typeface="Arial"/>
              </a:rPr>
              <a:t>the slide</a:t>
            </a:r>
            <a:endParaRPr b="0" lang="en-IN" sz="4400" spc="-1" strike="noStrike">
              <a:latin typeface="Arial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IN" sz="2000" spc="-1" strike="noStrike">
                <a:latin typeface="Arial"/>
              </a:rPr>
              <a:t>Click to edit the </a:t>
            </a:r>
            <a:r>
              <a:rPr b="0" lang="en-IN" sz="2000" spc="-1" strike="noStrike">
                <a:latin typeface="Arial"/>
              </a:rPr>
              <a:t>notes format</a:t>
            </a:r>
            <a:endParaRPr b="0" lang="en-IN" sz="2000" spc="-1" strike="noStrike">
              <a:latin typeface="Arial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IN" sz="1400" spc="-1" strike="noStrike">
                <a:latin typeface="Times New Roman"/>
              </a:rPr>
              <a:t>&lt;header&gt;</a:t>
            </a:r>
            <a:endParaRPr b="0" lang="en-IN" sz="1400" spc="-1" strike="noStrike">
              <a:latin typeface="Times New Roman"/>
            </a:endParaRPr>
          </a:p>
        </p:txBody>
      </p:sp>
      <p:sp>
        <p:nvSpPr>
          <p:cNvPr id="41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algn="r">
              <a:buNone/>
              <a:defRPr b="0" lang="en-IN" sz="1400" spc="-1" strike="noStrike">
                <a:latin typeface="Times New Roman"/>
              </a:defRPr>
            </a:lvl1pPr>
          </a:lstStyle>
          <a:p>
            <a:pPr algn="r">
              <a:buNone/>
            </a:pPr>
            <a:r>
              <a:rPr b="0" lang="en-IN" sz="1400" spc="-1" strike="noStrike">
                <a:latin typeface="Times New Roman"/>
              </a:rPr>
              <a:t>&lt;date/time&gt;</a:t>
            </a:r>
            <a:endParaRPr b="0" lang="en-IN" sz="1400" spc="-1" strike="noStrike">
              <a:latin typeface="Times New Roman"/>
            </a:endParaRPr>
          </a:p>
        </p:txBody>
      </p:sp>
      <p:sp>
        <p:nvSpPr>
          <p:cNvPr id="42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>
              <a:defRPr b="0" lang="en-IN" sz="1400" spc="-1" strike="noStrike">
                <a:latin typeface="Times New Roman"/>
              </a:defRPr>
            </a:lvl1pPr>
          </a:lstStyle>
          <a:p>
            <a:r>
              <a:rPr b="0" lang="en-IN" sz="1400" spc="-1" strike="noStrike">
                <a:latin typeface="Times New Roman"/>
              </a:rPr>
              <a:t>&lt;footer&gt;</a:t>
            </a:r>
            <a:endParaRPr b="0" lang="en-IN" sz="1400" spc="-1" strike="noStrike">
              <a:latin typeface="Times New Roman"/>
            </a:endParaRPr>
          </a:p>
        </p:txBody>
      </p:sp>
      <p:sp>
        <p:nvSpPr>
          <p:cNvPr id="43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buNone/>
              <a:defRPr b="0" lang="en-IN" sz="1400" spc="-1" strike="noStrike">
                <a:latin typeface="Times New Roman"/>
              </a:defRPr>
            </a:lvl1pPr>
          </a:lstStyle>
          <a:p>
            <a:pPr algn="r">
              <a:buNone/>
            </a:pPr>
            <a:fld id="{DB7B614F-AA9C-4D34-98CB-7FA994D4E66C}" type="slidenum">
              <a:rPr b="0" lang="en-IN" sz="1400" spc="-1" strike="noStrike">
                <a:latin typeface="Times New Roman"/>
              </a:rPr>
              <a:t>&lt;number&gt;</a:t>
            </a:fld>
            <a:endParaRPr b="0" lang="en-IN" sz="1400" spc="-1" strike="noStrike"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38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IN" sz="2000" spc="-1" strike="noStrike">
              <a:latin typeface="Arial"/>
            </a:endParaRPr>
          </a:p>
        </p:txBody>
      </p:sp>
      <p:sp>
        <p:nvSpPr>
          <p:cNvPr id="390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B633122E-DF7D-4ACF-B60F-F948988C8119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IN" sz="1200" spc="-1" strike="noStrike"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39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IN" sz="2000" spc="-1" strike="noStrike">
              <a:latin typeface="Arial"/>
            </a:endParaRPr>
          </a:p>
        </p:txBody>
      </p:sp>
      <p:sp>
        <p:nvSpPr>
          <p:cNvPr id="393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2B386728-626C-43FB-B400-7A695F1CA8E7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IN" sz="1200" spc="-1" strike="noStrike"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39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IN" sz="2000" spc="-1" strike="noStrike">
              <a:latin typeface="Arial"/>
            </a:endParaRPr>
          </a:p>
        </p:txBody>
      </p:sp>
      <p:sp>
        <p:nvSpPr>
          <p:cNvPr id="396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5E89013F-E55D-4AC0-95F1-EC83CCE70EA1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IN" sz="1200" spc="-1" strike="noStrike"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39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IN" sz="2000" spc="-1" strike="noStrike">
              <a:latin typeface="Arial"/>
            </a:endParaRPr>
          </a:p>
        </p:txBody>
      </p:sp>
      <p:sp>
        <p:nvSpPr>
          <p:cNvPr id="399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416B6425-6217-423F-9D07-EA0CCB9D8455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IN" sz="1200" spc="-1" strike="noStrike"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40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IN" sz="2000" spc="-1" strike="noStrike">
              <a:latin typeface="Arial"/>
            </a:endParaRPr>
          </a:p>
        </p:txBody>
      </p:sp>
      <p:sp>
        <p:nvSpPr>
          <p:cNvPr id="402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64F113DF-A3B0-4AE4-AD53-C929993DF635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IN" sz="1200" spc="-1" strike="noStrike"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40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IN" sz="2000" spc="-1" strike="noStrike">
              <a:latin typeface="Arial"/>
            </a:endParaRPr>
          </a:p>
        </p:txBody>
      </p:sp>
      <p:sp>
        <p:nvSpPr>
          <p:cNvPr id="405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FA070908-6356-4C94-A554-9B9ED3967423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IN" sz="1200" spc="-1" strike="noStrike"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40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IN" sz="2000" spc="-1" strike="noStrike">
              <a:latin typeface="Arial"/>
            </a:endParaRPr>
          </a:p>
        </p:txBody>
      </p:sp>
      <p:sp>
        <p:nvSpPr>
          <p:cNvPr id="408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1BA61F09-E749-4C22-A294-626BC7C70561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IN" sz="1200" spc="-1" strike="noStrike"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41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IN" sz="2000" spc="-1" strike="noStrike">
              <a:latin typeface="Arial"/>
            </a:endParaRPr>
          </a:p>
        </p:txBody>
      </p:sp>
      <p:sp>
        <p:nvSpPr>
          <p:cNvPr id="411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3B47C8A7-1F06-4604-9EBB-B2BE79593A81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IN" sz="1200" spc="-1" strike="noStrike"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41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IN" sz="2000" spc="-1" strike="noStrike">
              <a:latin typeface="Arial"/>
            </a:endParaRPr>
          </a:p>
        </p:txBody>
      </p:sp>
      <p:sp>
        <p:nvSpPr>
          <p:cNvPr id="414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8B3DEAA6-D099-42C2-86C2-FA23684DA704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IN" sz="1200" spc="-1" strike="noStrike"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41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IN" sz="2000" spc="-1" strike="noStrike">
              <a:latin typeface="Arial"/>
            </a:endParaRPr>
          </a:p>
        </p:txBody>
      </p:sp>
      <p:sp>
        <p:nvSpPr>
          <p:cNvPr id="417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1B9F978B-E1E9-424D-8737-604FD30C999C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IN" sz="1200" spc="-1" strike="noStrike"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41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IN" sz="2000" spc="-1" strike="noStrike">
              <a:latin typeface="Arial"/>
            </a:endParaRPr>
          </a:p>
        </p:txBody>
      </p:sp>
      <p:sp>
        <p:nvSpPr>
          <p:cNvPr id="420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57E91990-E3EA-4517-B2D7-BDF98EDDB2C5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IN" sz="1200" spc="-1" strike="noStrike"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42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IN" sz="2000" spc="-1" strike="noStrike">
              <a:latin typeface="Arial"/>
            </a:endParaRPr>
          </a:p>
        </p:txBody>
      </p:sp>
      <p:sp>
        <p:nvSpPr>
          <p:cNvPr id="423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9DCFB594-819A-408E-A908-E511423E6DB8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IN" sz="1200" spc="-1" strike="noStrike"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42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IN" sz="2000" spc="-1" strike="noStrike">
              <a:latin typeface="Arial"/>
            </a:endParaRPr>
          </a:p>
        </p:txBody>
      </p:sp>
      <p:sp>
        <p:nvSpPr>
          <p:cNvPr id="426" name="PlaceHolder 3"/>
          <p:cNvSpPr>
            <a:spLocks noGrp="1"/>
          </p:cNvSpPr>
          <p:nvPr>
            <p:ph type="sldNum" idx="16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771EFC68-01AF-4206-982A-B67B629C3264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IN" sz="1200" spc="-1" strike="noStrike"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42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IN" sz="2000" spc="-1" strike="noStrike">
              <a:latin typeface="Arial"/>
            </a:endParaRPr>
          </a:p>
        </p:txBody>
      </p:sp>
      <p:sp>
        <p:nvSpPr>
          <p:cNvPr id="429" name="PlaceHolder 3"/>
          <p:cNvSpPr>
            <a:spLocks noGrp="1"/>
          </p:cNvSpPr>
          <p:nvPr>
            <p:ph type="sldNum" idx="17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AF1A41D3-611E-4B93-BFB7-2A72516B9982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IN" sz="1200" spc="-1" strike="noStrike"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43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IN" sz="2000" spc="-1" strike="noStrike">
              <a:latin typeface="Arial"/>
            </a:endParaRPr>
          </a:p>
        </p:txBody>
      </p:sp>
      <p:sp>
        <p:nvSpPr>
          <p:cNvPr id="432" name="PlaceHolder 3"/>
          <p:cNvSpPr>
            <a:spLocks noGrp="1"/>
          </p:cNvSpPr>
          <p:nvPr>
            <p:ph type="sldNum" idx="18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0DA84420-C5E3-4201-B917-420CFBDD4FB0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IN" sz="1200" spc="-1" strike="noStrike"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IN" sz="44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IN" sz="3200" spc="-1" strike="noStrike"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IN" sz="4400" spc="-1" strike="noStrike"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IN" sz="4400" spc="-1" strike="noStrike"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IN" sz="4400" spc="-1" strike="noStrike">
              <a:latin typeface="Arial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457200" y="205200"/>
            <a:ext cx="8229240" cy="3981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IN" sz="3200" spc="-1" strike="noStrike"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IN" sz="4400" spc="-1" strike="noStrike"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IN" sz="4400" spc="-1" strike="noStrike"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IN" sz="4400" spc="-1" strike="noStrike">
              <a:latin typeface="Arial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IN" sz="4400" spc="-1" strike="noStrike"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IN" sz="4400" spc="-1" strike="noStrike"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IN" sz="4400" spc="-1" strike="noStrike"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/>
          </p:nvPr>
        </p:nvSpPr>
        <p:spPr>
          <a:xfrm>
            <a:off x="323964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/>
          </p:nvPr>
        </p:nvSpPr>
        <p:spPr>
          <a:xfrm>
            <a:off x="602208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/>
          </p:nvPr>
        </p:nvSpPr>
        <p:spPr>
          <a:xfrm>
            <a:off x="45720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/>
          </p:nvPr>
        </p:nvSpPr>
        <p:spPr>
          <a:xfrm>
            <a:off x="323964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/>
          </p:nvPr>
        </p:nvSpPr>
        <p:spPr>
          <a:xfrm>
            <a:off x="602208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IN" sz="4400" spc="-1" strike="noStrike">
                <a:latin typeface="Arial"/>
              </a:rPr>
              <a:t>Click to </a:t>
            </a:r>
            <a:r>
              <a:rPr b="0" lang="en-IN" sz="4400" spc="-1" strike="noStrike">
                <a:latin typeface="Arial"/>
              </a:rPr>
              <a:t>edit the </a:t>
            </a:r>
            <a:r>
              <a:rPr b="0" lang="en-IN" sz="4400" spc="-1" strike="noStrike">
                <a:latin typeface="Arial"/>
              </a:rPr>
              <a:t>title text </a:t>
            </a:r>
            <a:r>
              <a:rPr b="0" lang="en-IN" sz="4400" spc="-1" strike="noStrike">
                <a:latin typeface="Arial"/>
              </a:rPr>
              <a:t>format</a:t>
            </a:r>
            <a:endParaRPr b="0" lang="en-IN" sz="4400" spc="-1" strike="noStrike"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3200" spc="-1" strike="noStrike">
                <a:latin typeface="Arial"/>
              </a:rPr>
              <a:t>Click to edit the outline text format</a:t>
            </a:r>
            <a:endParaRPr b="0" lang="en-IN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IN" sz="2800" spc="-1" strike="noStrike">
                <a:latin typeface="Arial"/>
              </a:rPr>
              <a:t>Second Outline Level</a:t>
            </a:r>
            <a:endParaRPr b="0" lang="en-IN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2400" spc="-1" strike="noStrike">
                <a:latin typeface="Arial"/>
              </a:rPr>
              <a:t>Third Outline Level</a:t>
            </a:r>
            <a:endParaRPr b="0" lang="en-IN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IN" sz="2000" spc="-1" strike="noStrike">
                <a:latin typeface="Arial"/>
              </a:rPr>
              <a:t>Fourth Outline Level</a:t>
            </a:r>
            <a:endParaRPr b="0" lang="en-IN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2000" spc="-1" strike="noStrike">
                <a:latin typeface="Arial"/>
              </a:rPr>
              <a:t>Fifth Outline Level</a:t>
            </a:r>
            <a:endParaRPr b="0" lang="en-IN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2000" spc="-1" strike="noStrike">
                <a:latin typeface="Arial"/>
              </a:rPr>
              <a:t>Sixth Outline Level</a:t>
            </a:r>
            <a:endParaRPr b="0" lang="en-IN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2000" spc="-1" strike="noStrike">
                <a:latin typeface="Arial"/>
              </a:rPr>
              <a:t>Seventh Outline Level</a:t>
            </a:r>
            <a:endParaRPr b="0" lang="en-IN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Relationship Id="rId9" Type="http://schemas.openxmlformats.org/officeDocument/2006/relationships/image" Target="../media/image10.png"/><Relationship Id="rId10" Type="http://schemas.openxmlformats.org/officeDocument/2006/relationships/image" Target="../media/image11.png"/><Relationship Id="rId11" Type="http://schemas.openxmlformats.org/officeDocument/2006/relationships/image" Target="../media/image12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image" Target="../media/image18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9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20.png"/><Relationship Id="rId2" Type="http://schemas.openxmlformats.org/officeDocument/2006/relationships/image" Target="../media/image21.png"/><Relationship Id="rId3" Type="http://schemas.openxmlformats.org/officeDocument/2006/relationships/image" Target="../media/image22.png"/><Relationship Id="rId4" Type="http://schemas.openxmlformats.org/officeDocument/2006/relationships/image" Target="../media/image23.png"/><Relationship Id="rId5" Type="http://schemas.openxmlformats.org/officeDocument/2006/relationships/image" Target="../media/image24.png"/><Relationship Id="rId6" Type="http://schemas.openxmlformats.org/officeDocument/2006/relationships/image" Target="../media/image25.png"/><Relationship Id="rId7" Type="http://schemas.openxmlformats.org/officeDocument/2006/relationships/image" Target="../media/image26.png"/><Relationship Id="rId8" Type="http://schemas.openxmlformats.org/officeDocument/2006/relationships/image" Target="../media/image27.png"/><Relationship Id="rId9" Type="http://schemas.openxmlformats.org/officeDocument/2006/relationships/image" Target="../media/image28.png"/><Relationship Id="rId10" Type="http://schemas.openxmlformats.org/officeDocument/2006/relationships/image" Target="../media/image29.png"/><Relationship Id="rId11" Type="http://schemas.openxmlformats.org/officeDocument/2006/relationships/image" Target="../media/image30.png"/><Relationship Id="rId12" Type="http://schemas.openxmlformats.org/officeDocument/2006/relationships/image" Target="../media/image31.png"/><Relationship Id="rId13" Type="http://schemas.openxmlformats.org/officeDocument/2006/relationships/image" Target="../media/image32.png"/><Relationship Id="rId14" Type="http://schemas.openxmlformats.org/officeDocument/2006/relationships/image" Target="../media/image33.png"/><Relationship Id="rId15" Type="http://schemas.openxmlformats.org/officeDocument/2006/relationships/image" Target="../media/image34.png"/><Relationship Id="rId16" Type="http://schemas.openxmlformats.org/officeDocument/2006/relationships/slideLayout" Target="../slideLayouts/slideLayout1.xml"/><Relationship Id="rId17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35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36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37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38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39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40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4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42.png"/><Relationship Id="rId2" Type="http://schemas.openxmlformats.org/officeDocument/2006/relationships/image" Target="../media/image43.png"/><Relationship Id="rId3" Type="http://schemas.openxmlformats.org/officeDocument/2006/relationships/image" Target="../media/image44.png"/><Relationship Id="rId4" Type="http://schemas.openxmlformats.org/officeDocument/2006/relationships/image" Target="../media/image45.png"/><Relationship Id="rId5" Type="http://schemas.openxmlformats.org/officeDocument/2006/relationships/image" Target="../media/image46.png"/><Relationship Id="rId6" Type="http://schemas.openxmlformats.org/officeDocument/2006/relationships/image" Target="../media/image47.png"/><Relationship Id="rId7" Type="http://schemas.openxmlformats.org/officeDocument/2006/relationships/image" Target="../media/image48.png"/><Relationship Id="rId8" Type="http://schemas.openxmlformats.org/officeDocument/2006/relationships/image" Target="../media/image49.png"/><Relationship Id="rId9" Type="http://schemas.openxmlformats.org/officeDocument/2006/relationships/image" Target="../media/image50.png"/><Relationship Id="rId10" Type="http://schemas.openxmlformats.org/officeDocument/2006/relationships/image" Target="../media/image51.png"/><Relationship Id="rId11" Type="http://schemas.openxmlformats.org/officeDocument/2006/relationships/image" Target="../media/image52.png"/><Relationship Id="rId12" Type="http://schemas.openxmlformats.org/officeDocument/2006/relationships/image" Target="../media/image53.png"/><Relationship Id="rId13" Type="http://schemas.openxmlformats.org/officeDocument/2006/relationships/image" Target="../media/image54.png"/><Relationship Id="rId14" Type="http://schemas.openxmlformats.org/officeDocument/2006/relationships/image" Target="../media/image55.png"/><Relationship Id="rId15" Type="http://schemas.openxmlformats.org/officeDocument/2006/relationships/slideLayout" Target="../slideLayouts/slideLayout1.xml"/><Relationship Id="rId16" Type="http://schemas.openxmlformats.org/officeDocument/2006/relationships/notesSlide" Target="../notesSlides/notesSlide15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Shape 0"/>
          <p:cNvSpPr/>
          <p:nvPr/>
        </p:nvSpPr>
        <p:spPr>
          <a:xfrm>
            <a:off x="0" y="0"/>
            <a:ext cx="163800" cy="5142960"/>
          </a:xfrm>
          <a:prstGeom prst="rect">
            <a:avLst/>
          </a:prstGeom>
          <a:solidFill>
            <a:srgbClr val="00b4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5" name="Shape 1"/>
          <p:cNvSpPr/>
          <p:nvPr/>
        </p:nvSpPr>
        <p:spPr>
          <a:xfrm>
            <a:off x="7132320" y="-1097280"/>
            <a:ext cx="3474000" cy="3474000"/>
          </a:xfrm>
          <a:prstGeom prst="ellipse">
            <a:avLst/>
          </a:prstGeom>
          <a:solidFill>
            <a:srgbClr val="1a2e4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6" name="Shape 2"/>
          <p:cNvSpPr/>
          <p:nvPr/>
        </p:nvSpPr>
        <p:spPr>
          <a:xfrm>
            <a:off x="7498080" y="-822960"/>
            <a:ext cx="2742480" cy="2742480"/>
          </a:xfrm>
          <a:prstGeom prst="ellipse">
            <a:avLst/>
          </a:prstGeom>
          <a:solidFill>
            <a:srgbClr val="0096c7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7" name="Shape 3"/>
          <p:cNvSpPr/>
          <p:nvPr/>
        </p:nvSpPr>
        <p:spPr>
          <a:xfrm>
            <a:off x="0" y="4754880"/>
            <a:ext cx="9143280" cy="383400"/>
          </a:xfrm>
          <a:prstGeom prst="rect">
            <a:avLst/>
          </a:prstGeom>
          <a:solidFill>
            <a:srgbClr val="1a2e4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8" name="Shape 4"/>
          <p:cNvSpPr/>
          <p:nvPr/>
        </p:nvSpPr>
        <p:spPr>
          <a:xfrm>
            <a:off x="164520" y="4754880"/>
            <a:ext cx="3199680" cy="383400"/>
          </a:xfrm>
          <a:prstGeom prst="rect">
            <a:avLst/>
          </a:prstGeom>
          <a:solidFill>
            <a:srgbClr val="00b4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pic>
        <p:nvPicPr>
          <p:cNvPr id="49" name="Image 0" descr="preencoded.png"/>
          <p:cNvPicPr/>
          <p:nvPr/>
        </p:nvPicPr>
        <p:blipFill>
          <a:blip r:embed="rId1"/>
          <a:stretch/>
        </p:blipFill>
        <p:spPr>
          <a:xfrm>
            <a:off x="502920" y="1005840"/>
            <a:ext cx="639360" cy="639360"/>
          </a:xfrm>
          <a:prstGeom prst="rect">
            <a:avLst/>
          </a:prstGeom>
          <a:ln w="0">
            <a:noFill/>
          </a:ln>
        </p:spPr>
      </p:pic>
      <p:sp>
        <p:nvSpPr>
          <p:cNvPr id="50" name="Text 5"/>
          <p:cNvSpPr/>
          <p:nvPr/>
        </p:nvSpPr>
        <p:spPr>
          <a:xfrm>
            <a:off x="365760" y="1737360"/>
            <a:ext cx="8411760" cy="82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4400" spc="-1" strike="noStrike">
                <a:solidFill>
                  <a:srgbClr val="ffffff"/>
                </a:solidFill>
                <a:latin typeface="Calibri"/>
                <a:ea typeface="Calibri"/>
              </a:rPr>
              <a:t>Structured Output</a:t>
            </a:r>
            <a:endParaRPr b="0" lang="en-IN" sz="4400" spc="-1" strike="noStrike">
              <a:latin typeface="Arial"/>
            </a:endParaRPr>
          </a:p>
        </p:txBody>
      </p:sp>
      <p:sp>
        <p:nvSpPr>
          <p:cNvPr id="51" name="Text 6"/>
          <p:cNvSpPr/>
          <p:nvPr/>
        </p:nvSpPr>
        <p:spPr>
          <a:xfrm>
            <a:off x="365760" y="2514600"/>
            <a:ext cx="841176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pc="-1" strike="noStrike">
                <a:solidFill>
                  <a:srgbClr val="48cae4"/>
                </a:solidFill>
                <a:latin typeface="Calibri"/>
                <a:ea typeface="Calibri"/>
              </a:rPr>
              <a:t>in LangChain</a:t>
            </a:r>
            <a:endParaRPr b="0" lang="en-IN" sz="3600" spc="-1" strike="noStrike">
              <a:latin typeface="Arial"/>
            </a:endParaRPr>
          </a:p>
        </p:txBody>
      </p:sp>
      <p:sp>
        <p:nvSpPr>
          <p:cNvPr id="52" name="Shape 7"/>
          <p:cNvSpPr/>
          <p:nvPr/>
        </p:nvSpPr>
        <p:spPr>
          <a:xfrm>
            <a:off x="365760" y="3337560"/>
            <a:ext cx="3474000" cy="401760"/>
          </a:xfrm>
          <a:prstGeom prst="rect">
            <a:avLst/>
          </a:prstGeom>
          <a:solidFill>
            <a:srgbClr val="00b4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3" name="Text 8"/>
          <p:cNvSpPr/>
          <p:nvPr/>
        </p:nvSpPr>
        <p:spPr>
          <a:xfrm>
            <a:off x="365760" y="3337560"/>
            <a:ext cx="3474000" cy="40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300" spc="-1" strike="noStrike">
                <a:solidFill>
                  <a:srgbClr val="0d1b2a"/>
                </a:solidFill>
                <a:latin typeface="Calibri"/>
                <a:ea typeface="Calibri"/>
              </a:rPr>
              <a:t>Part 2A: Schema Definition Methods</a:t>
            </a:r>
            <a:endParaRPr b="0" lang="en-IN" sz="1300" spc="-1" strike="noStrike">
              <a:latin typeface="Arial"/>
            </a:endParaRPr>
          </a:p>
        </p:txBody>
      </p:sp>
      <p:sp>
        <p:nvSpPr>
          <p:cNvPr id="54" name="Text 9"/>
          <p:cNvSpPr/>
          <p:nvPr/>
        </p:nvSpPr>
        <p:spPr>
          <a:xfrm>
            <a:off x="365760" y="4773240"/>
            <a:ext cx="457128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ffffff"/>
                </a:solidFill>
                <a:latin typeface="Calibri"/>
                <a:ea typeface="Calibri"/>
              </a:rPr>
              <a:t>LangChain  •  Generative AI  •  Structured Output</a:t>
            </a:r>
            <a:endParaRPr b="0" lang="en-IN" sz="1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Shape 0"/>
          <p:cNvSpPr/>
          <p:nvPr/>
        </p:nvSpPr>
        <p:spPr>
          <a:xfrm>
            <a:off x="0" y="0"/>
            <a:ext cx="9143280" cy="959400"/>
          </a:xfrm>
          <a:prstGeom prst="rect">
            <a:avLst/>
          </a:prstGeom>
          <a:solidFill>
            <a:srgbClr val="0d1b2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6" name="Shape 1"/>
          <p:cNvSpPr/>
          <p:nvPr/>
        </p:nvSpPr>
        <p:spPr>
          <a:xfrm>
            <a:off x="0" y="960120"/>
            <a:ext cx="9143280" cy="54000"/>
          </a:xfrm>
          <a:prstGeom prst="rect">
            <a:avLst/>
          </a:prstGeom>
          <a:solidFill>
            <a:srgbClr val="00b4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pic>
        <p:nvPicPr>
          <p:cNvPr id="57" name="Image 0" descr="preencoded.png"/>
          <p:cNvPicPr/>
          <p:nvPr/>
        </p:nvPicPr>
        <p:blipFill>
          <a:blip r:embed="rId1"/>
          <a:stretch/>
        </p:blipFill>
        <p:spPr>
          <a:xfrm>
            <a:off x="320040" y="182880"/>
            <a:ext cx="547920" cy="547920"/>
          </a:xfrm>
          <a:prstGeom prst="rect">
            <a:avLst/>
          </a:prstGeom>
          <a:ln w="0">
            <a:noFill/>
          </a:ln>
        </p:spPr>
      </p:pic>
      <p:sp>
        <p:nvSpPr>
          <p:cNvPr id="58" name="Text 2"/>
          <p:cNvSpPr/>
          <p:nvPr/>
        </p:nvSpPr>
        <p:spPr>
          <a:xfrm>
            <a:off x="1005840" y="182880"/>
            <a:ext cx="777168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600" spc="-1" strike="noStrike">
                <a:solidFill>
                  <a:srgbClr val="ffffff"/>
                </a:solidFill>
                <a:latin typeface="Calibri"/>
                <a:ea typeface="Calibri"/>
              </a:rPr>
              <a:t>The Power of Structured Output</a:t>
            </a:r>
            <a:endParaRPr b="0" lang="en-IN" sz="2600" spc="-1" strike="noStrike">
              <a:latin typeface="Arial"/>
            </a:endParaRPr>
          </a:p>
        </p:txBody>
      </p:sp>
      <p:sp>
        <p:nvSpPr>
          <p:cNvPr id="59" name="Shape 3"/>
          <p:cNvSpPr/>
          <p:nvPr/>
        </p:nvSpPr>
        <p:spPr>
          <a:xfrm>
            <a:off x="320040" y="1152000"/>
            <a:ext cx="8503200" cy="383400"/>
          </a:xfrm>
          <a:prstGeom prst="rect">
            <a:avLst/>
          </a:prstGeom>
          <a:solidFill>
            <a:srgbClr val="3a5a7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0" name="Text 4"/>
          <p:cNvSpPr/>
          <p:nvPr/>
        </p:nvSpPr>
        <p:spPr>
          <a:xfrm>
            <a:off x="457200" y="1188720"/>
            <a:ext cx="822888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Transforming LLM Communication</a:t>
            </a:r>
            <a:endParaRPr b="0" lang="en-IN" sz="1300" spc="-1" strike="noStrike">
              <a:latin typeface="Arial"/>
            </a:endParaRPr>
          </a:p>
        </p:txBody>
      </p:sp>
      <p:sp>
        <p:nvSpPr>
          <p:cNvPr id="61" name="Shape 5"/>
          <p:cNvSpPr/>
          <p:nvPr/>
        </p:nvSpPr>
        <p:spPr>
          <a:xfrm>
            <a:off x="320040" y="1664280"/>
            <a:ext cx="3885480" cy="310824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63360" dir="8100000" dist="25455" kx="0" ky="0" rotWithShape="0" sx="100000" sy="100000">
              <a:srgbClr val="000000">
                <a:alpha val="9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62" name="Shape 6"/>
          <p:cNvSpPr/>
          <p:nvPr/>
        </p:nvSpPr>
        <p:spPr>
          <a:xfrm>
            <a:off x="320040" y="1664280"/>
            <a:ext cx="3885480" cy="456480"/>
          </a:xfrm>
          <a:prstGeom prst="rect">
            <a:avLst/>
          </a:prstGeom>
          <a:solidFill>
            <a:srgbClr val="ef476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3" name="Text 7"/>
          <p:cNvSpPr/>
          <p:nvPr/>
        </p:nvSpPr>
        <p:spPr>
          <a:xfrm>
            <a:off x="457200" y="1710000"/>
            <a:ext cx="365688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❌  </a:t>
            </a: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Before Structured Output</a:t>
            </a:r>
            <a:endParaRPr b="0" lang="en-IN" sz="1300" spc="-1" strike="noStrike">
              <a:latin typeface="Arial"/>
            </a:endParaRPr>
          </a:p>
        </p:txBody>
      </p:sp>
      <p:pic>
        <p:nvPicPr>
          <p:cNvPr id="64" name="Image 1" descr="preencoded.png"/>
          <p:cNvPicPr/>
          <p:nvPr/>
        </p:nvPicPr>
        <p:blipFill>
          <a:blip r:embed="rId2"/>
          <a:stretch/>
        </p:blipFill>
        <p:spPr>
          <a:xfrm>
            <a:off x="411480" y="2231280"/>
            <a:ext cx="236880" cy="236880"/>
          </a:xfrm>
          <a:prstGeom prst="rect">
            <a:avLst/>
          </a:prstGeom>
          <a:ln w="0">
            <a:noFill/>
          </a:ln>
        </p:spPr>
      </p:pic>
      <p:sp>
        <p:nvSpPr>
          <p:cNvPr id="65" name="Text 8"/>
          <p:cNvSpPr/>
          <p:nvPr/>
        </p:nvSpPr>
        <p:spPr>
          <a:xfrm>
            <a:off x="749880" y="2203560"/>
            <a:ext cx="333684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1a2e42"/>
                </a:solidFill>
                <a:latin typeface="Calibri"/>
                <a:ea typeface="Calibri"/>
              </a:rPr>
              <a:t>LLMs only talked to humans</a:t>
            </a:r>
            <a:endParaRPr b="0" lang="en-IN" sz="1300" spc="-1" strike="noStrike">
              <a:latin typeface="Arial"/>
            </a:endParaRPr>
          </a:p>
        </p:txBody>
      </p:sp>
      <p:pic>
        <p:nvPicPr>
          <p:cNvPr id="66" name="Image 2" descr="preencoded.png"/>
          <p:cNvPicPr/>
          <p:nvPr/>
        </p:nvPicPr>
        <p:blipFill>
          <a:blip r:embed="rId3"/>
          <a:stretch/>
        </p:blipFill>
        <p:spPr>
          <a:xfrm>
            <a:off x="411480" y="2816280"/>
            <a:ext cx="236880" cy="236880"/>
          </a:xfrm>
          <a:prstGeom prst="rect">
            <a:avLst/>
          </a:prstGeom>
          <a:ln w="0">
            <a:noFill/>
          </a:ln>
        </p:spPr>
      </p:pic>
      <p:sp>
        <p:nvSpPr>
          <p:cNvPr id="67" name="Text 9"/>
          <p:cNvSpPr/>
          <p:nvPr/>
        </p:nvSpPr>
        <p:spPr>
          <a:xfrm>
            <a:off x="749880" y="2788920"/>
            <a:ext cx="333684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1a2e42"/>
                </a:solidFill>
                <a:latin typeface="Calibri"/>
                <a:ea typeface="Calibri"/>
              </a:rPr>
              <a:t>Responses were textual</a:t>
            </a:r>
            <a:endParaRPr b="0" lang="en-IN" sz="1300" spc="-1" strike="noStrike">
              <a:latin typeface="Arial"/>
            </a:endParaRPr>
          </a:p>
        </p:txBody>
      </p:sp>
      <p:pic>
        <p:nvPicPr>
          <p:cNvPr id="68" name="Image 3" descr="preencoded.png"/>
          <p:cNvPicPr/>
          <p:nvPr/>
        </p:nvPicPr>
        <p:blipFill>
          <a:blip r:embed="rId4"/>
          <a:stretch/>
        </p:blipFill>
        <p:spPr>
          <a:xfrm>
            <a:off x="411480" y="3401640"/>
            <a:ext cx="236880" cy="236880"/>
          </a:xfrm>
          <a:prstGeom prst="rect">
            <a:avLst/>
          </a:prstGeom>
          <a:ln w="0">
            <a:noFill/>
          </a:ln>
        </p:spPr>
      </p:pic>
      <p:sp>
        <p:nvSpPr>
          <p:cNvPr id="69" name="Text 10"/>
          <p:cNvSpPr/>
          <p:nvPr/>
        </p:nvSpPr>
        <p:spPr>
          <a:xfrm>
            <a:off x="749880" y="3374280"/>
            <a:ext cx="333684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1a2e42"/>
                </a:solidFill>
                <a:latin typeface="Calibri"/>
                <a:ea typeface="Calibri"/>
              </a:rPr>
              <a:t>Difficult to integrate with systems</a:t>
            </a:r>
            <a:endParaRPr b="0" lang="en-IN" sz="1300" spc="-1" strike="noStrike">
              <a:latin typeface="Arial"/>
            </a:endParaRPr>
          </a:p>
        </p:txBody>
      </p:sp>
      <p:pic>
        <p:nvPicPr>
          <p:cNvPr id="70" name="Image 4" descr="preencoded.png"/>
          <p:cNvPicPr/>
          <p:nvPr/>
        </p:nvPicPr>
        <p:blipFill>
          <a:blip r:embed="rId5"/>
          <a:stretch/>
        </p:blipFill>
        <p:spPr>
          <a:xfrm>
            <a:off x="411480" y="3986640"/>
            <a:ext cx="236880" cy="236880"/>
          </a:xfrm>
          <a:prstGeom prst="rect">
            <a:avLst/>
          </a:prstGeom>
          <a:ln w="0">
            <a:noFill/>
          </a:ln>
        </p:spPr>
      </p:pic>
      <p:sp>
        <p:nvSpPr>
          <p:cNvPr id="71" name="Text 11"/>
          <p:cNvSpPr/>
          <p:nvPr/>
        </p:nvSpPr>
        <p:spPr>
          <a:xfrm>
            <a:off x="749880" y="3959280"/>
            <a:ext cx="333684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1a2e42"/>
                </a:solidFill>
                <a:latin typeface="Calibri"/>
                <a:ea typeface="Calibri"/>
              </a:rPr>
              <a:t>Limited automation potential</a:t>
            </a:r>
            <a:endParaRPr b="0" lang="en-IN" sz="1300" spc="-1" strike="noStrike">
              <a:latin typeface="Arial"/>
            </a:endParaRPr>
          </a:p>
        </p:txBody>
      </p:sp>
      <p:pic>
        <p:nvPicPr>
          <p:cNvPr id="72" name="Image 5" descr="preencoded.png"/>
          <p:cNvPicPr/>
          <p:nvPr/>
        </p:nvPicPr>
        <p:blipFill>
          <a:blip r:embed="rId6"/>
          <a:stretch/>
        </p:blipFill>
        <p:spPr>
          <a:xfrm>
            <a:off x="4297680" y="2651760"/>
            <a:ext cx="456480" cy="456480"/>
          </a:xfrm>
          <a:prstGeom prst="rect">
            <a:avLst/>
          </a:prstGeom>
          <a:ln w="0">
            <a:noFill/>
          </a:ln>
        </p:spPr>
      </p:pic>
      <p:sp>
        <p:nvSpPr>
          <p:cNvPr id="73" name="Shape 12"/>
          <p:cNvSpPr/>
          <p:nvPr/>
        </p:nvSpPr>
        <p:spPr>
          <a:xfrm>
            <a:off x="4892040" y="1664280"/>
            <a:ext cx="3931200" cy="310824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63360" dir="8100000" dist="25455" kx="0" ky="0" rotWithShape="0" sx="100000" sy="100000">
              <a:srgbClr val="000000">
                <a:alpha val="9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74" name="Shape 13"/>
          <p:cNvSpPr/>
          <p:nvPr/>
        </p:nvSpPr>
        <p:spPr>
          <a:xfrm>
            <a:off x="4892040" y="1664280"/>
            <a:ext cx="3931200" cy="456480"/>
          </a:xfrm>
          <a:prstGeom prst="rect">
            <a:avLst/>
          </a:prstGeom>
          <a:solidFill>
            <a:srgbClr val="06d6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75" name="Text 14"/>
          <p:cNvSpPr/>
          <p:nvPr/>
        </p:nvSpPr>
        <p:spPr>
          <a:xfrm>
            <a:off x="5029200" y="1710000"/>
            <a:ext cx="365688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300" spc="-1" strike="noStrike">
                <a:solidFill>
                  <a:srgbClr val="0d1b2a"/>
                </a:solidFill>
                <a:latin typeface="Calibri"/>
                <a:ea typeface="Calibri"/>
              </a:rPr>
              <a:t>✓  </a:t>
            </a:r>
            <a:r>
              <a:rPr b="1" lang="en-US" sz="1300" spc="-1" strike="noStrike">
                <a:solidFill>
                  <a:srgbClr val="0d1b2a"/>
                </a:solidFill>
                <a:latin typeface="Calibri"/>
                <a:ea typeface="Calibri"/>
              </a:rPr>
              <a:t>After Structured Output</a:t>
            </a:r>
            <a:endParaRPr b="0" lang="en-IN" sz="1300" spc="-1" strike="noStrike">
              <a:latin typeface="Arial"/>
            </a:endParaRPr>
          </a:p>
        </p:txBody>
      </p:sp>
      <p:pic>
        <p:nvPicPr>
          <p:cNvPr id="76" name="Image 6" descr="preencoded.png"/>
          <p:cNvPicPr/>
          <p:nvPr/>
        </p:nvPicPr>
        <p:blipFill>
          <a:blip r:embed="rId7"/>
          <a:stretch/>
        </p:blipFill>
        <p:spPr>
          <a:xfrm>
            <a:off x="4983480" y="2231280"/>
            <a:ext cx="236880" cy="236880"/>
          </a:xfrm>
          <a:prstGeom prst="rect">
            <a:avLst/>
          </a:prstGeom>
          <a:ln w="0">
            <a:noFill/>
          </a:ln>
        </p:spPr>
      </p:pic>
      <p:sp>
        <p:nvSpPr>
          <p:cNvPr id="77" name="Text 15"/>
          <p:cNvSpPr/>
          <p:nvPr/>
        </p:nvSpPr>
        <p:spPr>
          <a:xfrm>
            <a:off x="5321880" y="2203560"/>
            <a:ext cx="338256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1a2e42"/>
                </a:solidFill>
                <a:latin typeface="Calibri"/>
                <a:ea typeface="Calibri"/>
              </a:rPr>
              <a:t>LLMs can talk to machines</a:t>
            </a:r>
            <a:endParaRPr b="0" lang="en-IN" sz="1300" spc="-1" strike="noStrike">
              <a:latin typeface="Arial"/>
            </a:endParaRPr>
          </a:p>
        </p:txBody>
      </p:sp>
      <p:pic>
        <p:nvPicPr>
          <p:cNvPr id="78" name="Image 7" descr="preencoded.png"/>
          <p:cNvPicPr/>
          <p:nvPr/>
        </p:nvPicPr>
        <p:blipFill>
          <a:blip r:embed="rId8"/>
          <a:stretch/>
        </p:blipFill>
        <p:spPr>
          <a:xfrm>
            <a:off x="4983480" y="2743200"/>
            <a:ext cx="236880" cy="236880"/>
          </a:xfrm>
          <a:prstGeom prst="rect">
            <a:avLst/>
          </a:prstGeom>
          <a:ln w="0">
            <a:noFill/>
          </a:ln>
        </p:spPr>
      </p:pic>
      <p:sp>
        <p:nvSpPr>
          <p:cNvPr id="79" name="Text 16"/>
          <p:cNvSpPr/>
          <p:nvPr/>
        </p:nvSpPr>
        <p:spPr>
          <a:xfrm>
            <a:off x="5321880" y="2715840"/>
            <a:ext cx="338256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1a2e42"/>
                </a:solidFill>
                <a:latin typeface="Calibri"/>
                <a:ea typeface="Calibri"/>
              </a:rPr>
              <a:t>Responses in structured formats</a:t>
            </a:r>
            <a:endParaRPr b="0" lang="en-IN" sz="1300" spc="-1" strike="noStrike">
              <a:latin typeface="Arial"/>
            </a:endParaRPr>
          </a:p>
        </p:txBody>
      </p:sp>
      <p:pic>
        <p:nvPicPr>
          <p:cNvPr id="80" name="Image 8" descr="preencoded.png"/>
          <p:cNvPicPr/>
          <p:nvPr/>
        </p:nvPicPr>
        <p:blipFill>
          <a:blip r:embed="rId9"/>
          <a:stretch/>
        </p:blipFill>
        <p:spPr>
          <a:xfrm>
            <a:off x="4983480" y="3255120"/>
            <a:ext cx="236880" cy="236880"/>
          </a:xfrm>
          <a:prstGeom prst="rect">
            <a:avLst/>
          </a:prstGeom>
          <a:ln w="0">
            <a:noFill/>
          </a:ln>
        </p:spPr>
      </p:pic>
      <p:sp>
        <p:nvSpPr>
          <p:cNvPr id="81" name="Text 17"/>
          <p:cNvSpPr/>
          <p:nvPr/>
        </p:nvSpPr>
        <p:spPr>
          <a:xfrm>
            <a:off x="5321880" y="3227760"/>
            <a:ext cx="338256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1a2e42"/>
                </a:solidFill>
                <a:latin typeface="Calibri"/>
                <a:ea typeface="Calibri"/>
              </a:rPr>
              <a:t>Easy database integration</a:t>
            </a:r>
            <a:endParaRPr b="0" lang="en-IN" sz="1300" spc="-1" strike="noStrike">
              <a:latin typeface="Arial"/>
            </a:endParaRPr>
          </a:p>
        </p:txBody>
      </p:sp>
      <p:pic>
        <p:nvPicPr>
          <p:cNvPr id="82" name="Image 9" descr="preencoded.png"/>
          <p:cNvPicPr/>
          <p:nvPr/>
        </p:nvPicPr>
        <p:blipFill>
          <a:blip r:embed="rId10"/>
          <a:stretch/>
        </p:blipFill>
        <p:spPr>
          <a:xfrm>
            <a:off x="4983480" y="3767400"/>
            <a:ext cx="236880" cy="236880"/>
          </a:xfrm>
          <a:prstGeom prst="rect">
            <a:avLst/>
          </a:prstGeom>
          <a:ln w="0">
            <a:noFill/>
          </a:ln>
        </p:spPr>
      </p:pic>
      <p:sp>
        <p:nvSpPr>
          <p:cNvPr id="83" name="Text 18"/>
          <p:cNvSpPr/>
          <p:nvPr/>
        </p:nvSpPr>
        <p:spPr>
          <a:xfrm>
            <a:off x="5321880" y="3740040"/>
            <a:ext cx="338256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1a2e42"/>
                </a:solidFill>
                <a:latin typeface="Calibri"/>
                <a:ea typeface="Calibri"/>
              </a:rPr>
              <a:t>Seamless API connectivity</a:t>
            </a:r>
            <a:endParaRPr b="0" lang="en-IN" sz="1300" spc="-1" strike="noStrike">
              <a:latin typeface="Arial"/>
            </a:endParaRPr>
          </a:p>
        </p:txBody>
      </p:sp>
      <p:pic>
        <p:nvPicPr>
          <p:cNvPr id="84" name="Image 10" descr="preencoded.png"/>
          <p:cNvPicPr/>
          <p:nvPr/>
        </p:nvPicPr>
        <p:blipFill>
          <a:blip r:embed="rId11"/>
          <a:stretch/>
        </p:blipFill>
        <p:spPr>
          <a:xfrm>
            <a:off x="4983480" y="4279320"/>
            <a:ext cx="236880" cy="236880"/>
          </a:xfrm>
          <a:prstGeom prst="rect">
            <a:avLst/>
          </a:prstGeom>
          <a:ln w="0">
            <a:noFill/>
          </a:ln>
        </p:spPr>
      </p:pic>
      <p:sp>
        <p:nvSpPr>
          <p:cNvPr id="85" name="Text 19"/>
          <p:cNvSpPr/>
          <p:nvPr/>
        </p:nvSpPr>
        <p:spPr>
          <a:xfrm>
            <a:off x="5321880" y="4251960"/>
            <a:ext cx="338256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1a2e42"/>
                </a:solidFill>
                <a:latin typeface="Calibri"/>
                <a:ea typeface="Calibri"/>
              </a:rPr>
              <a:t>Powers intelligent agents</a:t>
            </a:r>
            <a:endParaRPr b="0" lang="en-IN" sz="13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Shape 0"/>
          <p:cNvSpPr/>
          <p:nvPr/>
        </p:nvSpPr>
        <p:spPr>
          <a:xfrm>
            <a:off x="0" y="0"/>
            <a:ext cx="9143280" cy="5142960"/>
          </a:xfrm>
          <a:prstGeom prst="rect">
            <a:avLst/>
          </a:prstGeom>
          <a:solidFill>
            <a:srgbClr val="1a2e4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87" name="Shape 1"/>
          <p:cNvSpPr/>
          <p:nvPr/>
        </p:nvSpPr>
        <p:spPr>
          <a:xfrm>
            <a:off x="-1371600" y="-1371600"/>
            <a:ext cx="4571280" cy="4571280"/>
          </a:xfrm>
          <a:prstGeom prst="ellipse">
            <a:avLst/>
          </a:prstGeom>
          <a:solidFill>
            <a:srgbClr val="0d1b2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88" name="Shape 2"/>
          <p:cNvSpPr/>
          <p:nvPr/>
        </p:nvSpPr>
        <p:spPr>
          <a:xfrm>
            <a:off x="5943600" y="2286000"/>
            <a:ext cx="4114080" cy="4114080"/>
          </a:xfrm>
          <a:prstGeom prst="ellipse">
            <a:avLst/>
          </a:prstGeom>
          <a:solidFill>
            <a:srgbClr val="0d1b2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89" name="Shape 3"/>
          <p:cNvSpPr/>
          <p:nvPr/>
        </p:nvSpPr>
        <p:spPr>
          <a:xfrm>
            <a:off x="4023360" y="2103120"/>
            <a:ext cx="1096560" cy="54000"/>
          </a:xfrm>
          <a:prstGeom prst="rect">
            <a:avLst/>
          </a:prstGeom>
          <a:solidFill>
            <a:srgbClr val="00b4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90" name="Text 4"/>
          <p:cNvSpPr/>
          <p:nvPr/>
        </p:nvSpPr>
        <p:spPr>
          <a:xfrm>
            <a:off x="4023360" y="1554480"/>
            <a:ext cx="457128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300" spc="596" strike="noStrike">
                <a:solidFill>
                  <a:srgbClr val="48cae4"/>
                </a:solidFill>
                <a:latin typeface="Calibri"/>
                <a:ea typeface="Calibri"/>
              </a:rPr>
              <a:t>SECTION 1</a:t>
            </a:r>
            <a:endParaRPr b="0" lang="en-IN" sz="1300" spc="-1" strike="noStrike">
              <a:latin typeface="Arial"/>
            </a:endParaRPr>
          </a:p>
        </p:txBody>
      </p:sp>
      <p:sp>
        <p:nvSpPr>
          <p:cNvPr id="91" name="Text 5"/>
          <p:cNvSpPr/>
          <p:nvPr/>
        </p:nvSpPr>
        <p:spPr>
          <a:xfrm>
            <a:off x="4023360" y="2194560"/>
            <a:ext cx="4754160" cy="109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3800" spc="-1" strike="noStrike">
                <a:solidFill>
                  <a:srgbClr val="ffffff"/>
                </a:solidFill>
                <a:latin typeface="Calibri"/>
                <a:ea typeface="Calibri"/>
              </a:rPr>
              <a:t>Implementation</a:t>
            </a:r>
            <a:endParaRPr b="0" lang="en-IN" sz="38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3800" spc="-1" strike="noStrike">
                <a:solidFill>
                  <a:srgbClr val="ffffff"/>
                </a:solidFill>
                <a:latin typeface="Calibri"/>
                <a:ea typeface="Calibri"/>
              </a:rPr>
              <a:t>Methods</a:t>
            </a:r>
            <a:endParaRPr b="0" lang="en-IN" sz="3800" spc="-1" strike="noStrike">
              <a:latin typeface="Arial"/>
            </a:endParaRPr>
          </a:p>
        </p:txBody>
      </p:sp>
      <p:sp>
        <p:nvSpPr>
          <p:cNvPr id="92" name="Text 6"/>
          <p:cNvSpPr/>
          <p:nvPr/>
        </p:nvSpPr>
        <p:spPr>
          <a:xfrm>
            <a:off x="4023360" y="3383280"/>
            <a:ext cx="4754160" cy="82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b0c4de"/>
                </a:solidFill>
                <a:latin typeface="Calibri"/>
                <a:ea typeface="Calibri"/>
              </a:rPr>
              <a:t>How LangChain handles structured output for different LLM types.</a:t>
            </a:r>
            <a:endParaRPr b="0" lang="en-IN" sz="1400" spc="-1" strike="noStrike">
              <a:latin typeface="Arial"/>
            </a:endParaRPr>
          </a:p>
        </p:txBody>
      </p:sp>
      <p:pic>
        <p:nvPicPr>
          <p:cNvPr id="93" name="Image 0" descr="preencoded.png"/>
          <p:cNvPicPr/>
          <p:nvPr/>
        </p:nvPicPr>
        <p:blipFill>
          <a:blip r:embed="rId1"/>
          <a:stretch/>
        </p:blipFill>
        <p:spPr>
          <a:xfrm>
            <a:off x="1005840" y="1463040"/>
            <a:ext cx="1462320" cy="14623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Shape 0"/>
          <p:cNvSpPr/>
          <p:nvPr/>
        </p:nvSpPr>
        <p:spPr>
          <a:xfrm>
            <a:off x="0" y="0"/>
            <a:ext cx="9143280" cy="959400"/>
          </a:xfrm>
          <a:prstGeom prst="rect">
            <a:avLst/>
          </a:prstGeom>
          <a:solidFill>
            <a:srgbClr val="0d1b2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95" name="Shape 1"/>
          <p:cNvSpPr/>
          <p:nvPr/>
        </p:nvSpPr>
        <p:spPr>
          <a:xfrm>
            <a:off x="0" y="960120"/>
            <a:ext cx="9143280" cy="54000"/>
          </a:xfrm>
          <a:prstGeom prst="rect">
            <a:avLst/>
          </a:prstGeom>
          <a:solidFill>
            <a:srgbClr val="00b4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pic>
        <p:nvPicPr>
          <p:cNvPr id="96" name="Image 0" descr="preencoded.png"/>
          <p:cNvPicPr/>
          <p:nvPr/>
        </p:nvPicPr>
        <p:blipFill>
          <a:blip r:embed="rId1"/>
          <a:stretch/>
        </p:blipFill>
        <p:spPr>
          <a:xfrm>
            <a:off x="320040" y="182880"/>
            <a:ext cx="547920" cy="547920"/>
          </a:xfrm>
          <a:prstGeom prst="rect">
            <a:avLst/>
          </a:prstGeom>
          <a:ln w="0">
            <a:noFill/>
          </a:ln>
        </p:spPr>
      </p:pic>
      <p:sp>
        <p:nvSpPr>
          <p:cNvPr id="97" name="Text 2"/>
          <p:cNvSpPr/>
          <p:nvPr/>
        </p:nvSpPr>
        <p:spPr>
          <a:xfrm>
            <a:off x="1005840" y="182880"/>
            <a:ext cx="777168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600" spc="-1" strike="noStrike">
                <a:solidFill>
                  <a:srgbClr val="ffffff"/>
                </a:solidFill>
                <a:latin typeface="Calibri"/>
                <a:ea typeface="Calibri"/>
              </a:rPr>
              <a:t>Two Types of LLMs</a:t>
            </a:r>
            <a:endParaRPr b="0" lang="en-IN" sz="2600" spc="-1" strike="noStrike">
              <a:latin typeface="Arial"/>
            </a:endParaRPr>
          </a:p>
        </p:txBody>
      </p:sp>
      <p:sp>
        <p:nvSpPr>
          <p:cNvPr id="98" name="Shape 3"/>
          <p:cNvSpPr/>
          <p:nvPr/>
        </p:nvSpPr>
        <p:spPr>
          <a:xfrm>
            <a:off x="320040" y="1188720"/>
            <a:ext cx="3931200" cy="351972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76320" dir="8100000" dist="25455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99" name="Shape 4"/>
          <p:cNvSpPr/>
          <p:nvPr/>
        </p:nvSpPr>
        <p:spPr>
          <a:xfrm>
            <a:off x="320040" y="1188720"/>
            <a:ext cx="3931200" cy="474840"/>
          </a:xfrm>
          <a:prstGeom prst="rect">
            <a:avLst/>
          </a:prstGeom>
          <a:solidFill>
            <a:srgbClr val="0096c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00" name="Text 5"/>
          <p:cNvSpPr/>
          <p:nvPr/>
        </p:nvSpPr>
        <p:spPr>
          <a:xfrm>
            <a:off x="457200" y="1243440"/>
            <a:ext cx="370260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Type 1: Native Structured Output Support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101" name="Text 6"/>
          <p:cNvSpPr/>
          <p:nvPr/>
        </p:nvSpPr>
        <p:spPr>
          <a:xfrm>
            <a:off x="457200" y="1801440"/>
            <a:ext cx="9594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100" spc="-1" strike="noStrike">
                <a:solidFill>
                  <a:srgbClr val="0096c7"/>
                </a:solidFill>
                <a:latin typeface="Calibri"/>
                <a:ea typeface="Calibri"/>
              </a:rPr>
              <a:t>What:</a:t>
            </a:r>
            <a:endParaRPr b="0" lang="en-IN" sz="1100" spc="-1" strike="noStrike">
              <a:latin typeface="Arial"/>
            </a:endParaRPr>
          </a:p>
        </p:txBody>
      </p:sp>
      <p:sp>
        <p:nvSpPr>
          <p:cNvPr id="102" name="Text 7"/>
          <p:cNvSpPr/>
          <p:nvPr/>
        </p:nvSpPr>
        <p:spPr>
          <a:xfrm>
            <a:off x="457200" y="2030040"/>
            <a:ext cx="36568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1a2e42"/>
                </a:solidFill>
                <a:latin typeface="Calibri"/>
                <a:ea typeface="Calibri"/>
              </a:rPr>
              <a:t>LLMs trained to generate structured output by default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103" name="Shape 8"/>
          <p:cNvSpPr/>
          <p:nvPr/>
        </p:nvSpPr>
        <p:spPr>
          <a:xfrm>
            <a:off x="457200" y="2423160"/>
            <a:ext cx="3565440" cy="12960"/>
          </a:xfrm>
          <a:prstGeom prst="rect">
            <a:avLst/>
          </a:prstGeom>
          <a:solidFill>
            <a:srgbClr val="eaf4f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04" name="Text 9"/>
          <p:cNvSpPr/>
          <p:nvPr/>
        </p:nvSpPr>
        <p:spPr>
          <a:xfrm>
            <a:off x="457200" y="2496240"/>
            <a:ext cx="9594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100" spc="-1" strike="noStrike">
                <a:solidFill>
                  <a:srgbClr val="0096c7"/>
                </a:solidFill>
                <a:latin typeface="Calibri"/>
                <a:ea typeface="Calibri"/>
              </a:rPr>
              <a:t>Examples:</a:t>
            </a:r>
            <a:endParaRPr b="0" lang="en-IN" sz="1100" spc="-1" strike="noStrike">
              <a:latin typeface="Arial"/>
            </a:endParaRPr>
          </a:p>
        </p:txBody>
      </p:sp>
      <p:sp>
        <p:nvSpPr>
          <p:cNvPr id="105" name="Text 10"/>
          <p:cNvSpPr/>
          <p:nvPr/>
        </p:nvSpPr>
        <p:spPr>
          <a:xfrm>
            <a:off x="457200" y="2724840"/>
            <a:ext cx="36568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1a2e42"/>
                </a:solidFill>
                <a:latin typeface="Calibri"/>
                <a:ea typeface="Calibri"/>
              </a:rPr>
              <a:t>OpenAI GPT, Claude, Gemini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106" name="Shape 11"/>
          <p:cNvSpPr/>
          <p:nvPr/>
        </p:nvSpPr>
        <p:spPr>
          <a:xfrm>
            <a:off x="457200" y="3117960"/>
            <a:ext cx="3565440" cy="12960"/>
          </a:xfrm>
          <a:prstGeom prst="rect">
            <a:avLst/>
          </a:prstGeom>
          <a:solidFill>
            <a:srgbClr val="eaf4f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07" name="Text 12"/>
          <p:cNvSpPr/>
          <p:nvPr/>
        </p:nvSpPr>
        <p:spPr>
          <a:xfrm>
            <a:off x="457200" y="3191400"/>
            <a:ext cx="9594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100" spc="-1" strike="noStrike">
                <a:solidFill>
                  <a:srgbClr val="0096c7"/>
                </a:solidFill>
                <a:latin typeface="Calibri"/>
                <a:ea typeface="Calibri"/>
              </a:rPr>
              <a:t>Method:</a:t>
            </a:r>
            <a:endParaRPr b="0" lang="en-IN" sz="1100" spc="-1" strike="noStrike">
              <a:latin typeface="Arial"/>
            </a:endParaRPr>
          </a:p>
        </p:txBody>
      </p:sp>
      <p:sp>
        <p:nvSpPr>
          <p:cNvPr id="108" name="Text 13"/>
          <p:cNvSpPr/>
          <p:nvPr/>
        </p:nvSpPr>
        <p:spPr>
          <a:xfrm>
            <a:off x="457200" y="3420000"/>
            <a:ext cx="36568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1a2e42"/>
                </a:solidFill>
                <a:latin typeface="Calibri"/>
                <a:ea typeface="Calibri"/>
              </a:rPr>
              <a:t>with_structured_output() function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109" name="Shape 14"/>
          <p:cNvSpPr/>
          <p:nvPr/>
        </p:nvSpPr>
        <p:spPr>
          <a:xfrm>
            <a:off x="457200" y="3813120"/>
            <a:ext cx="3565440" cy="12960"/>
          </a:xfrm>
          <a:prstGeom prst="rect">
            <a:avLst/>
          </a:prstGeom>
          <a:solidFill>
            <a:srgbClr val="eaf4f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10" name="Text 15"/>
          <p:cNvSpPr/>
          <p:nvPr/>
        </p:nvSpPr>
        <p:spPr>
          <a:xfrm>
            <a:off x="457200" y="3886200"/>
            <a:ext cx="9594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100" spc="-1" strike="noStrike">
                <a:solidFill>
                  <a:srgbClr val="0096c7"/>
                </a:solidFill>
                <a:latin typeface="Calibri"/>
                <a:ea typeface="Calibri"/>
              </a:rPr>
              <a:t>Benefit:</a:t>
            </a:r>
            <a:endParaRPr b="0" lang="en-IN" sz="1100" spc="-1" strike="noStrike">
              <a:latin typeface="Arial"/>
            </a:endParaRPr>
          </a:p>
        </p:txBody>
      </p:sp>
      <p:sp>
        <p:nvSpPr>
          <p:cNvPr id="111" name="Text 16"/>
          <p:cNvSpPr/>
          <p:nvPr/>
        </p:nvSpPr>
        <p:spPr>
          <a:xfrm>
            <a:off x="457200" y="4114800"/>
            <a:ext cx="36568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1a2e42"/>
                </a:solidFill>
                <a:latin typeface="Calibri"/>
                <a:ea typeface="Calibri"/>
              </a:rPr>
              <a:t>Easier to use, built-in support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112" name="Shape 17"/>
          <p:cNvSpPr/>
          <p:nvPr/>
        </p:nvSpPr>
        <p:spPr>
          <a:xfrm>
            <a:off x="457200" y="4434840"/>
            <a:ext cx="3565440" cy="182160"/>
          </a:xfrm>
          <a:prstGeom prst="rect">
            <a:avLst/>
          </a:prstGeom>
          <a:solidFill>
            <a:srgbClr val="eaf4f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pic>
        <p:nvPicPr>
          <p:cNvPr id="113" name="Image 1" descr="preencoded.png"/>
          <p:cNvPicPr/>
          <p:nvPr/>
        </p:nvPicPr>
        <p:blipFill>
          <a:blip r:embed="rId2"/>
          <a:stretch/>
        </p:blipFill>
        <p:spPr>
          <a:xfrm>
            <a:off x="502920" y="4425840"/>
            <a:ext cx="182160" cy="182160"/>
          </a:xfrm>
          <a:prstGeom prst="rect">
            <a:avLst/>
          </a:prstGeom>
          <a:ln w="0">
            <a:noFill/>
          </a:ln>
        </p:spPr>
      </p:pic>
      <p:sp>
        <p:nvSpPr>
          <p:cNvPr id="114" name="Text 18"/>
          <p:cNvSpPr/>
          <p:nvPr/>
        </p:nvSpPr>
        <p:spPr>
          <a:xfrm>
            <a:off x="749880" y="4425840"/>
            <a:ext cx="319968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100" spc="-1" strike="noStrike">
                <a:solidFill>
                  <a:srgbClr val="0096c7"/>
                </a:solidFill>
                <a:latin typeface="Calibri"/>
                <a:ea typeface="Calibri"/>
              </a:rPr>
              <a:t>Recommended for this course</a:t>
            </a:r>
            <a:endParaRPr b="0" lang="en-IN" sz="1100" spc="-1" strike="noStrike">
              <a:latin typeface="Arial"/>
            </a:endParaRPr>
          </a:p>
        </p:txBody>
      </p:sp>
      <p:sp>
        <p:nvSpPr>
          <p:cNvPr id="115" name="Shape 19"/>
          <p:cNvSpPr/>
          <p:nvPr/>
        </p:nvSpPr>
        <p:spPr>
          <a:xfrm>
            <a:off x="4846320" y="1188720"/>
            <a:ext cx="3931200" cy="351972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76320" dir="8100000" dist="25455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16" name="Shape 20"/>
          <p:cNvSpPr/>
          <p:nvPr/>
        </p:nvSpPr>
        <p:spPr>
          <a:xfrm>
            <a:off x="4846320" y="1188720"/>
            <a:ext cx="3931200" cy="474840"/>
          </a:xfrm>
          <a:prstGeom prst="rect">
            <a:avLst/>
          </a:prstGeom>
          <a:solidFill>
            <a:srgbClr val="3a5a7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17" name="Text 21"/>
          <p:cNvSpPr/>
          <p:nvPr/>
        </p:nvSpPr>
        <p:spPr>
          <a:xfrm>
            <a:off x="4983480" y="1243440"/>
            <a:ext cx="370260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Type 2: No Native Support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118" name="Text 22"/>
          <p:cNvSpPr/>
          <p:nvPr/>
        </p:nvSpPr>
        <p:spPr>
          <a:xfrm>
            <a:off x="4983480" y="1801440"/>
            <a:ext cx="9594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100" spc="-1" strike="noStrike">
                <a:solidFill>
                  <a:srgbClr val="3a5a78"/>
                </a:solidFill>
                <a:latin typeface="Calibri"/>
                <a:ea typeface="Calibri"/>
              </a:rPr>
              <a:t>What:</a:t>
            </a:r>
            <a:endParaRPr b="0" lang="en-IN" sz="1100" spc="-1" strike="noStrike">
              <a:latin typeface="Arial"/>
            </a:endParaRPr>
          </a:p>
        </p:txBody>
      </p:sp>
      <p:sp>
        <p:nvSpPr>
          <p:cNvPr id="119" name="Text 23"/>
          <p:cNvSpPr/>
          <p:nvPr/>
        </p:nvSpPr>
        <p:spPr>
          <a:xfrm>
            <a:off x="4983480" y="2030040"/>
            <a:ext cx="36568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1a2e42"/>
                </a:solidFill>
                <a:latin typeface="Calibri"/>
                <a:ea typeface="Calibri"/>
              </a:rPr>
              <a:t>LLMs without built-in structured output capability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120" name="Shape 24"/>
          <p:cNvSpPr/>
          <p:nvPr/>
        </p:nvSpPr>
        <p:spPr>
          <a:xfrm>
            <a:off x="4983480" y="2423160"/>
            <a:ext cx="3565440" cy="12960"/>
          </a:xfrm>
          <a:prstGeom prst="rect">
            <a:avLst/>
          </a:prstGeom>
          <a:solidFill>
            <a:srgbClr val="eaf4f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21" name="Text 25"/>
          <p:cNvSpPr/>
          <p:nvPr/>
        </p:nvSpPr>
        <p:spPr>
          <a:xfrm>
            <a:off x="4983480" y="2496240"/>
            <a:ext cx="9594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100" spc="-1" strike="noStrike">
                <a:solidFill>
                  <a:srgbClr val="3a5a78"/>
                </a:solidFill>
                <a:latin typeface="Calibri"/>
                <a:ea typeface="Calibri"/>
              </a:rPr>
              <a:t>Examples:</a:t>
            </a:r>
            <a:endParaRPr b="0" lang="en-IN" sz="1100" spc="-1" strike="noStrike">
              <a:latin typeface="Arial"/>
            </a:endParaRPr>
          </a:p>
        </p:txBody>
      </p:sp>
      <p:sp>
        <p:nvSpPr>
          <p:cNvPr id="122" name="Text 26"/>
          <p:cNvSpPr/>
          <p:nvPr/>
        </p:nvSpPr>
        <p:spPr>
          <a:xfrm>
            <a:off x="4983480" y="2724840"/>
            <a:ext cx="36568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1a2e42"/>
                </a:solidFill>
                <a:latin typeface="Calibri"/>
                <a:ea typeface="Calibri"/>
              </a:rPr>
              <a:t>Many open-source models, older versions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123" name="Shape 27"/>
          <p:cNvSpPr/>
          <p:nvPr/>
        </p:nvSpPr>
        <p:spPr>
          <a:xfrm>
            <a:off x="4983480" y="3117960"/>
            <a:ext cx="3565440" cy="12960"/>
          </a:xfrm>
          <a:prstGeom prst="rect">
            <a:avLst/>
          </a:prstGeom>
          <a:solidFill>
            <a:srgbClr val="eaf4f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24" name="Text 28"/>
          <p:cNvSpPr/>
          <p:nvPr/>
        </p:nvSpPr>
        <p:spPr>
          <a:xfrm>
            <a:off x="4983480" y="3191400"/>
            <a:ext cx="9594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100" spc="-1" strike="noStrike">
                <a:solidFill>
                  <a:srgbClr val="3a5a78"/>
                </a:solidFill>
                <a:latin typeface="Calibri"/>
                <a:ea typeface="Calibri"/>
              </a:rPr>
              <a:t>Method:</a:t>
            </a:r>
            <a:endParaRPr b="0" lang="en-IN" sz="1100" spc="-1" strike="noStrike">
              <a:latin typeface="Arial"/>
            </a:endParaRPr>
          </a:p>
        </p:txBody>
      </p:sp>
      <p:sp>
        <p:nvSpPr>
          <p:cNvPr id="125" name="Text 29"/>
          <p:cNvSpPr/>
          <p:nvPr/>
        </p:nvSpPr>
        <p:spPr>
          <a:xfrm>
            <a:off x="4983480" y="3420000"/>
            <a:ext cx="36568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1a2e42"/>
                </a:solidFill>
                <a:latin typeface="Calibri"/>
                <a:ea typeface="Calibri"/>
              </a:rPr>
              <a:t>Output Parsers (covered later)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126" name="Shape 30"/>
          <p:cNvSpPr/>
          <p:nvPr/>
        </p:nvSpPr>
        <p:spPr>
          <a:xfrm>
            <a:off x="4983480" y="3813120"/>
            <a:ext cx="3565440" cy="12960"/>
          </a:xfrm>
          <a:prstGeom prst="rect">
            <a:avLst/>
          </a:prstGeom>
          <a:solidFill>
            <a:srgbClr val="eaf4f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27" name="Text 31"/>
          <p:cNvSpPr/>
          <p:nvPr/>
        </p:nvSpPr>
        <p:spPr>
          <a:xfrm>
            <a:off x="4983480" y="3886200"/>
            <a:ext cx="9594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100" spc="-1" strike="noStrike">
                <a:solidFill>
                  <a:srgbClr val="3a5a78"/>
                </a:solidFill>
                <a:latin typeface="Calibri"/>
                <a:ea typeface="Calibri"/>
              </a:rPr>
              <a:t>Note:</a:t>
            </a:r>
            <a:endParaRPr b="0" lang="en-IN" sz="1100" spc="-1" strike="noStrike">
              <a:latin typeface="Arial"/>
            </a:endParaRPr>
          </a:p>
        </p:txBody>
      </p:sp>
      <p:sp>
        <p:nvSpPr>
          <p:cNvPr id="128" name="Text 32"/>
          <p:cNvSpPr/>
          <p:nvPr/>
        </p:nvSpPr>
        <p:spPr>
          <a:xfrm>
            <a:off x="4983480" y="4114800"/>
            <a:ext cx="36568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1a2e42"/>
                </a:solidFill>
                <a:latin typeface="Calibri"/>
                <a:ea typeface="Calibri"/>
              </a:rPr>
              <a:t>Requires additional processing steps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129" name="Shape 33"/>
          <p:cNvSpPr/>
          <p:nvPr/>
        </p:nvSpPr>
        <p:spPr>
          <a:xfrm>
            <a:off x="320040" y="4800600"/>
            <a:ext cx="8503200" cy="291960"/>
          </a:xfrm>
          <a:prstGeom prst="rect">
            <a:avLst/>
          </a:prstGeom>
          <a:solidFill>
            <a:srgbClr val="00b4d8">
              <a:alpha val="1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pic>
        <p:nvPicPr>
          <p:cNvPr id="130" name="Image 2" descr="preencoded.png"/>
          <p:cNvPicPr/>
          <p:nvPr/>
        </p:nvPicPr>
        <p:blipFill>
          <a:blip r:embed="rId3"/>
          <a:stretch/>
        </p:blipFill>
        <p:spPr>
          <a:xfrm>
            <a:off x="384120" y="4827960"/>
            <a:ext cx="200520" cy="200520"/>
          </a:xfrm>
          <a:prstGeom prst="rect">
            <a:avLst/>
          </a:prstGeom>
          <a:ln w="0">
            <a:noFill/>
          </a:ln>
        </p:spPr>
      </p:pic>
      <p:sp>
        <p:nvSpPr>
          <p:cNvPr id="131" name="Text 34"/>
          <p:cNvSpPr/>
          <p:nvPr/>
        </p:nvSpPr>
        <p:spPr>
          <a:xfrm>
            <a:off x="658440" y="4827960"/>
            <a:ext cx="8046000" cy="23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100" spc="-1" strike="noStrike">
                <a:solidFill>
                  <a:srgbClr val="0096c7"/>
                </a:solidFill>
                <a:latin typeface="Calibri"/>
                <a:ea typeface="Calibri"/>
              </a:rPr>
              <a:t>LangChain supports both types — we'll focus on Type 1 with with_structured_output()</a:t>
            </a:r>
            <a:endParaRPr b="0" lang="en-IN" sz="11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Shape 0"/>
          <p:cNvSpPr/>
          <p:nvPr/>
        </p:nvSpPr>
        <p:spPr>
          <a:xfrm>
            <a:off x="0" y="0"/>
            <a:ext cx="9143280" cy="959400"/>
          </a:xfrm>
          <a:prstGeom prst="rect">
            <a:avLst/>
          </a:prstGeom>
          <a:solidFill>
            <a:srgbClr val="0d1b2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33" name="Shape 1"/>
          <p:cNvSpPr/>
          <p:nvPr/>
        </p:nvSpPr>
        <p:spPr>
          <a:xfrm>
            <a:off x="0" y="960120"/>
            <a:ext cx="9143280" cy="54000"/>
          </a:xfrm>
          <a:prstGeom prst="rect">
            <a:avLst/>
          </a:prstGeom>
          <a:solidFill>
            <a:srgbClr val="00b4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pic>
        <p:nvPicPr>
          <p:cNvPr id="134" name="Image 0" descr="preencoded.png"/>
          <p:cNvPicPr/>
          <p:nvPr/>
        </p:nvPicPr>
        <p:blipFill>
          <a:blip r:embed="rId1"/>
          <a:stretch/>
        </p:blipFill>
        <p:spPr>
          <a:xfrm>
            <a:off x="320040" y="182880"/>
            <a:ext cx="547920" cy="547920"/>
          </a:xfrm>
          <a:prstGeom prst="rect">
            <a:avLst/>
          </a:prstGeom>
          <a:ln w="0">
            <a:noFill/>
          </a:ln>
        </p:spPr>
      </p:pic>
      <p:sp>
        <p:nvSpPr>
          <p:cNvPr id="135" name="Text 2"/>
          <p:cNvSpPr/>
          <p:nvPr/>
        </p:nvSpPr>
        <p:spPr>
          <a:xfrm>
            <a:off x="1005840" y="182880"/>
            <a:ext cx="777168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600" spc="-1" strike="noStrike">
                <a:solidFill>
                  <a:srgbClr val="ffffff"/>
                </a:solidFill>
                <a:latin typeface="Calibri"/>
                <a:ea typeface="Calibri"/>
              </a:rPr>
              <a:t>The with_structured_output() Function</a:t>
            </a:r>
            <a:endParaRPr b="0" lang="en-IN" sz="2600" spc="-1" strike="noStrike">
              <a:latin typeface="Arial"/>
            </a:endParaRPr>
          </a:p>
        </p:txBody>
      </p:sp>
      <p:sp>
        <p:nvSpPr>
          <p:cNvPr id="136" name="Text 3"/>
          <p:cNvSpPr/>
          <p:nvPr/>
        </p:nvSpPr>
        <p:spPr>
          <a:xfrm>
            <a:off x="320040" y="1115640"/>
            <a:ext cx="411408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500" spc="-1" strike="noStrike">
                <a:solidFill>
                  <a:srgbClr val="1a2e42"/>
                </a:solidFill>
                <a:latin typeface="Calibri"/>
                <a:ea typeface="Calibri"/>
              </a:rPr>
              <a:t>How It Works</a:t>
            </a:r>
            <a:endParaRPr b="0" lang="en-IN" sz="1500" spc="-1" strike="noStrike">
              <a:latin typeface="Arial"/>
            </a:endParaRPr>
          </a:p>
        </p:txBody>
      </p:sp>
      <p:sp>
        <p:nvSpPr>
          <p:cNvPr id="137" name="Shape 4"/>
          <p:cNvSpPr/>
          <p:nvPr/>
        </p:nvSpPr>
        <p:spPr>
          <a:xfrm>
            <a:off x="320040" y="1536120"/>
            <a:ext cx="310320" cy="310320"/>
          </a:xfrm>
          <a:prstGeom prst="ellipse">
            <a:avLst/>
          </a:prstGeom>
          <a:solidFill>
            <a:srgbClr val="00b4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38" name="Text 5"/>
          <p:cNvSpPr/>
          <p:nvPr/>
        </p:nvSpPr>
        <p:spPr>
          <a:xfrm>
            <a:off x="320040" y="1536120"/>
            <a:ext cx="31032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200" spc="-1" strike="noStrike">
                <a:solidFill>
                  <a:srgbClr val="0d1b2a"/>
                </a:solidFill>
                <a:latin typeface="Calibri"/>
                <a:ea typeface="DejaVu Sans"/>
              </a:rPr>
              <a:t>1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139" name="Text 6"/>
          <p:cNvSpPr/>
          <p:nvPr/>
        </p:nvSpPr>
        <p:spPr>
          <a:xfrm>
            <a:off x="731520" y="1536120"/>
            <a:ext cx="356544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1a2e42"/>
                </a:solidFill>
                <a:latin typeface="Calibri"/>
                <a:ea typeface="Calibri"/>
              </a:rPr>
              <a:t>Works with LLMs that have native structured output support</a:t>
            </a:r>
            <a:endParaRPr b="0" lang="en-IN" sz="1300" spc="-1" strike="noStrike">
              <a:latin typeface="Arial"/>
            </a:endParaRPr>
          </a:p>
        </p:txBody>
      </p:sp>
      <p:sp>
        <p:nvSpPr>
          <p:cNvPr id="140" name="Shape 7"/>
          <p:cNvSpPr/>
          <p:nvPr/>
        </p:nvSpPr>
        <p:spPr>
          <a:xfrm>
            <a:off x="320040" y="2030040"/>
            <a:ext cx="310320" cy="310320"/>
          </a:xfrm>
          <a:prstGeom prst="ellipse">
            <a:avLst/>
          </a:prstGeom>
          <a:solidFill>
            <a:srgbClr val="00b4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41" name="Text 8"/>
          <p:cNvSpPr/>
          <p:nvPr/>
        </p:nvSpPr>
        <p:spPr>
          <a:xfrm>
            <a:off x="320040" y="2030040"/>
            <a:ext cx="31032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200" spc="-1" strike="noStrike">
                <a:solidFill>
                  <a:srgbClr val="0d1b2a"/>
                </a:solidFill>
                <a:latin typeface="Calibri"/>
                <a:ea typeface="DejaVu Sans"/>
              </a:rPr>
              <a:t>2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142" name="Text 9"/>
          <p:cNvSpPr/>
          <p:nvPr/>
        </p:nvSpPr>
        <p:spPr>
          <a:xfrm>
            <a:off x="731520" y="2030040"/>
            <a:ext cx="356544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1a2e42"/>
                </a:solidFill>
                <a:latin typeface="Calibri"/>
                <a:ea typeface="Calibri"/>
              </a:rPr>
              <a:t>Called before invoking your model</a:t>
            </a:r>
            <a:endParaRPr b="0" lang="en-IN" sz="1300" spc="-1" strike="noStrike">
              <a:latin typeface="Arial"/>
            </a:endParaRPr>
          </a:p>
        </p:txBody>
      </p:sp>
      <p:sp>
        <p:nvSpPr>
          <p:cNvPr id="143" name="Shape 10"/>
          <p:cNvSpPr/>
          <p:nvPr/>
        </p:nvSpPr>
        <p:spPr>
          <a:xfrm>
            <a:off x="320040" y="2523600"/>
            <a:ext cx="310320" cy="310320"/>
          </a:xfrm>
          <a:prstGeom prst="ellipse">
            <a:avLst/>
          </a:prstGeom>
          <a:solidFill>
            <a:srgbClr val="00b4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44" name="Text 11"/>
          <p:cNvSpPr/>
          <p:nvPr/>
        </p:nvSpPr>
        <p:spPr>
          <a:xfrm>
            <a:off x="320040" y="2523600"/>
            <a:ext cx="31032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200" spc="-1" strike="noStrike">
                <a:solidFill>
                  <a:srgbClr val="0d1b2a"/>
                </a:solidFill>
                <a:latin typeface="Calibri"/>
                <a:ea typeface="DejaVu Sans"/>
              </a:rPr>
              <a:t>3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145" name="Text 12"/>
          <p:cNvSpPr/>
          <p:nvPr/>
        </p:nvSpPr>
        <p:spPr>
          <a:xfrm>
            <a:off x="731520" y="2523600"/>
            <a:ext cx="356544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1a2e42"/>
                </a:solidFill>
                <a:latin typeface="Calibri"/>
                <a:ea typeface="Calibri"/>
              </a:rPr>
              <a:t>You specify your desired data format / schema</a:t>
            </a:r>
            <a:endParaRPr b="0" lang="en-IN" sz="1300" spc="-1" strike="noStrike">
              <a:latin typeface="Arial"/>
            </a:endParaRPr>
          </a:p>
        </p:txBody>
      </p:sp>
      <p:sp>
        <p:nvSpPr>
          <p:cNvPr id="146" name="Shape 13"/>
          <p:cNvSpPr/>
          <p:nvPr/>
        </p:nvSpPr>
        <p:spPr>
          <a:xfrm>
            <a:off x="320040" y="3017520"/>
            <a:ext cx="310320" cy="310320"/>
          </a:xfrm>
          <a:prstGeom prst="ellipse">
            <a:avLst/>
          </a:prstGeom>
          <a:solidFill>
            <a:srgbClr val="00b4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47" name="Text 14"/>
          <p:cNvSpPr/>
          <p:nvPr/>
        </p:nvSpPr>
        <p:spPr>
          <a:xfrm>
            <a:off x="320040" y="3017520"/>
            <a:ext cx="31032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200" spc="-1" strike="noStrike">
                <a:solidFill>
                  <a:srgbClr val="0d1b2a"/>
                </a:solidFill>
                <a:latin typeface="Calibri"/>
                <a:ea typeface="DejaVu Sans"/>
              </a:rPr>
              <a:t>4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148" name="Text 15"/>
          <p:cNvSpPr/>
          <p:nvPr/>
        </p:nvSpPr>
        <p:spPr>
          <a:xfrm>
            <a:off x="731520" y="3017520"/>
            <a:ext cx="356544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1a2e42"/>
                </a:solidFill>
                <a:latin typeface="Calibri"/>
                <a:ea typeface="Calibri"/>
              </a:rPr>
              <a:t>LLM generates output in that exact format</a:t>
            </a:r>
            <a:endParaRPr b="0" lang="en-IN" sz="1300" spc="-1" strike="noStrike">
              <a:latin typeface="Arial"/>
            </a:endParaRPr>
          </a:p>
        </p:txBody>
      </p:sp>
      <p:sp>
        <p:nvSpPr>
          <p:cNvPr id="149" name="Shape 16"/>
          <p:cNvSpPr/>
          <p:nvPr/>
        </p:nvSpPr>
        <p:spPr>
          <a:xfrm>
            <a:off x="4572000" y="1097280"/>
            <a:ext cx="4251240" cy="1188000"/>
          </a:xfrm>
          <a:prstGeom prst="rect">
            <a:avLst/>
          </a:prstGeom>
          <a:solidFill>
            <a:srgbClr val="0d1b2a"/>
          </a:solidFill>
          <a:ln w="0">
            <a:noFill/>
          </a:ln>
          <a:effectLst>
            <a:outerShdw algn="bl" blurRad="76320" dir="8100000" dist="25455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50" name="Text 17"/>
          <p:cNvSpPr/>
          <p:nvPr/>
        </p:nvSpPr>
        <p:spPr>
          <a:xfrm>
            <a:off x="4681800" y="1170360"/>
            <a:ext cx="393120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000" spc="-1" strike="noStrike">
                <a:solidFill>
                  <a:srgbClr val="b0c4de"/>
                </a:solidFill>
                <a:latin typeface="Consolas"/>
                <a:ea typeface="Consolas"/>
              </a:rPr>
              <a:t>Normal Flow</a:t>
            </a:r>
            <a:endParaRPr b="0" lang="en-IN" sz="1000" spc="-1" strike="noStrike">
              <a:latin typeface="Arial"/>
            </a:endParaRPr>
          </a:p>
        </p:txBody>
      </p:sp>
      <p:sp>
        <p:nvSpPr>
          <p:cNvPr id="151" name="Text 18"/>
          <p:cNvSpPr/>
          <p:nvPr/>
        </p:nvSpPr>
        <p:spPr>
          <a:xfrm>
            <a:off x="4681800" y="1417320"/>
            <a:ext cx="4022640" cy="77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48cae4"/>
                </a:solidFill>
                <a:latin typeface="Consolas"/>
                <a:ea typeface="Consolas"/>
              </a:rPr>
              <a:t># Normal flow</a:t>
            </a:r>
            <a:endParaRPr b="0" lang="en-IN" sz="1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48cae4"/>
                </a:solidFill>
                <a:latin typeface="Consolas"/>
                <a:ea typeface="Consolas"/>
              </a:rPr>
              <a:t>response = llm.invoke(prompt)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152" name="Shape 19"/>
          <p:cNvSpPr/>
          <p:nvPr/>
        </p:nvSpPr>
        <p:spPr>
          <a:xfrm>
            <a:off x="4572000" y="2423160"/>
            <a:ext cx="4251240" cy="1508040"/>
          </a:xfrm>
          <a:prstGeom prst="rect">
            <a:avLst/>
          </a:prstGeom>
          <a:solidFill>
            <a:srgbClr val="0d1b2a"/>
          </a:solidFill>
          <a:ln w="0">
            <a:noFill/>
          </a:ln>
          <a:effectLst>
            <a:outerShdw algn="bl" blurRad="76320" dir="8100000" dist="25455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53" name="Text 20"/>
          <p:cNvSpPr/>
          <p:nvPr/>
        </p:nvSpPr>
        <p:spPr>
          <a:xfrm>
            <a:off x="4681800" y="2487240"/>
            <a:ext cx="393120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000" spc="-1" strike="noStrike">
                <a:solidFill>
                  <a:srgbClr val="b0c4de"/>
                </a:solidFill>
                <a:latin typeface="Consolas"/>
                <a:ea typeface="Consolas"/>
              </a:rPr>
              <a:t>With Structured Output</a:t>
            </a:r>
            <a:endParaRPr b="0" lang="en-IN" sz="1000" spc="-1" strike="noStrike">
              <a:latin typeface="Arial"/>
            </a:endParaRPr>
          </a:p>
        </p:txBody>
      </p:sp>
      <p:sp>
        <p:nvSpPr>
          <p:cNvPr id="154" name="Text 21"/>
          <p:cNvSpPr/>
          <p:nvPr/>
        </p:nvSpPr>
        <p:spPr>
          <a:xfrm>
            <a:off x="4681800" y="2724840"/>
            <a:ext cx="4022640" cy="111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48cae4"/>
                </a:solidFill>
                <a:latin typeface="Consolas"/>
                <a:ea typeface="Consolas"/>
              </a:rPr>
              <a:t># With structured output</a:t>
            </a:r>
            <a:endParaRPr b="0" lang="en-IN" sz="1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48cae4"/>
                </a:solidFill>
                <a:latin typeface="Consolas"/>
                <a:ea typeface="Consolas"/>
              </a:rPr>
              <a:t>structured_llm = llm.with_structured_output(</a:t>
            </a:r>
            <a:endParaRPr b="0" lang="en-IN" sz="1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48cae4"/>
                </a:solidFill>
                <a:latin typeface="Consolas"/>
                <a:ea typeface="Consolas"/>
              </a:rPr>
              <a:t>    </a:t>
            </a:r>
            <a:r>
              <a:rPr b="0" lang="en-US" sz="1200" spc="-1" strike="noStrike">
                <a:solidFill>
                  <a:srgbClr val="48cae4"/>
                </a:solidFill>
                <a:latin typeface="Consolas"/>
                <a:ea typeface="Consolas"/>
              </a:rPr>
              <a:t>YourSchema</a:t>
            </a:r>
            <a:endParaRPr b="0" lang="en-IN" sz="1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48cae4"/>
                </a:solidFill>
                <a:latin typeface="Consolas"/>
                <a:ea typeface="Consolas"/>
              </a:rPr>
              <a:t>)</a:t>
            </a:r>
            <a:endParaRPr b="0" lang="en-IN" sz="1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48cae4"/>
                </a:solidFill>
                <a:latin typeface="Consolas"/>
                <a:ea typeface="Consolas"/>
              </a:rPr>
              <a:t>response = structured_llm.invoke(prompt)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155" name="Shape 22"/>
          <p:cNvSpPr/>
          <p:nvPr/>
        </p:nvSpPr>
        <p:spPr>
          <a:xfrm>
            <a:off x="4572000" y="4041720"/>
            <a:ext cx="4251240" cy="685080"/>
          </a:xfrm>
          <a:prstGeom prst="rect">
            <a:avLst/>
          </a:prstGeom>
          <a:solidFill>
            <a:srgbClr val="06d6a0">
              <a:alpha val="12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56" name="Shape 23"/>
          <p:cNvSpPr/>
          <p:nvPr/>
        </p:nvSpPr>
        <p:spPr>
          <a:xfrm>
            <a:off x="4572000" y="4041720"/>
            <a:ext cx="54000" cy="685080"/>
          </a:xfrm>
          <a:prstGeom prst="rect">
            <a:avLst/>
          </a:prstGeom>
          <a:solidFill>
            <a:srgbClr val="06d6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pic>
        <p:nvPicPr>
          <p:cNvPr id="157" name="Image 1" descr="preencoded.png"/>
          <p:cNvPicPr/>
          <p:nvPr/>
        </p:nvPicPr>
        <p:blipFill>
          <a:blip r:embed="rId2"/>
          <a:stretch/>
        </p:blipFill>
        <p:spPr>
          <a:xfrm>
            <a:off x="4681800" y="4151520"/>
            <a:ext cx="200520" cy="200520"/>
          </a:xfrm>
          <a:prstGeom prst="rect">
            <a:avLst/>
          </a:prstGeom>
          <a:ln w="0">
            <a:noFill/>
          </a:ln>
        </p:spPr>
      </p:pic>
      <p:sp>
        <p:nvSpPr>
          <p:cNvPr id="158" name="Text 24"/>
          <p:cNvSpPr/>
          <p:nvPr/>
        </p:nvSpPr>
        <p:spPr>
          <a:xfrm>
            <a:off x="4937760" y="4114800"/>
            <a:ext cx="379404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1a2e42"/>
                </a:solidFill>
                <a:latin typeface="Calibri"/>
                <a:ea typeface="Calibri"/>
              </a:rPr>
              <a:t>Simple and powerful — just add .with_structured_output() before .invoke()</a:t>
            </a:r>
            <a:endParaRPr b="0" lang="en-IN" sz="1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Shape 0"/>
          <p:cNvSpPr/>
          <p:nvPr/>
        </p:nvSpPr>
        <p:spPr>
          <a:xfrm>
            <a:off x="0" y="0"/>
            <a:ext cx="9143280" cy="5142960"/>
          </a:xfrm>
          <a:prstGeom prst="rect">
            <a:avLst/>
          </a:prstGeom>
          <a:solidFill>
            <a:srgbClr val="1a2e4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60" name="Shape 1"/>
          <p:cNvSpPr/>
          <p:nvPr/>
        </p:nvSpPr>
        <p:spPr>
          <a:xfrm>
            <a:off x="-1371600" y="-1371600"/>
            <a:ext cx="4571280" cy="4571280"/>
          </a:xfrm>
          <a:prstGeom prst="ellipse">
            <a:avLst/>
          </a:prstGeom>
          <a:solidFill>
            <a:srgbClr val="0d1b2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61" name="Shape 2"/>
          <p:cNvSpPr/>
          <p:nvPr/>
        </p:nvSpPr>
        <p:spPr>
          <a:xfrm>
            <a:off x="5943600" y="2286000"/>
            <a:ext cx="4114080" cy="4114080"/>
          </a:xfrm>
          <a:prstGeom prst="ellipse">
            <a:avLst/>
          </a:prstGeom>
          <a:solidFill>
            <a:srgbClr val="0d1b2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62" name="Shape 3"/>
          <p:cNvSpPr/>
          <p:nvPr/>
        </p:nvSpPr>
        <p:spPr>
          <a:xfrm>
            <a:off x="4023360" y="2103120"/>
            <a:ext cx="1096560" cy="54000"/>
          </a:xfrm>
          <a:prstGeom prst="rect">
            <a:avLst/>
          </a:prstGeom>
          <a:solidFill>
            <a:srgbClr val="00b4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63" name="Text 4"/>
          <p:cNvSpPr/>
          <p:nvPr/>
        </p:nvSpPr>
        <p:spPr>
          <a:xfrm>
            <a:off x="4023360" y="1554480"/>
            <a:ext cx="457128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300" spc="596" strike="noStrike">
                <a:solidFill>
                  <a:srgbClr val="48cae4"/>
                </a:solidFill>
                <a:latin typeface="Calibri"/>
                <a:ea typeface="Calibri"/>
              </a:rPr>
              <a:t>SECTION 2</a:t>
            </a:r>
            <a:endParaRPr b="0" lang="en-IN" sz="1300" spc="-1" strike="noStrike">
              <a:latin typeface="Arial"/>
            </a:endParaRPr>
          </a:p>
        </p:txBody>
      </p:sp>
      <p:sp>
        <p:nvSpPr>
          <p:cNvPr id="164" name="Text 5"/>
          <p:cNvSpPr/>
          <p:nvPr/>
        </p:nvSpPr>
        <p:spPr>
          <a:xfrm>
            <a:off x="4023360" y="2194560"/>
            <a:ext cx="4754160" cy="109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3800" spc="-1" strike="noStrike">
                <a:solidFill>
                  <a:srgbClr val="ffffff"/>
                </a:solidFill>
                <a:latin typeface="Calibri"/>
                <a:ea typeface="Calibri"/>
              </a:rPr>
              <a:t>Three Ways to</a:t>
            </a:r>
            <a:endParaRPr b="0" lang="en-IN" sz="38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3800" spc="-1" strike="noStrike">
                <a:solidFill>
                  <a:srgbClr val="ffffff"/>
                </a:solidFill>
                <a:latin typeface="Calibri"/>
                <a:ea typeface="Calibri"/>
              </a:rPr>
              <a:t>Define Schemas</a:t>
            </a:r>
            <a:endParaRPr b="0" lang="en-IN" sz="3800" spc="-1" strike="noStrike">
              <a:latin typeface="Arial"/>
            </a:endParaRPr>
          </a:p>
        </p:txBody>
      </p:sp>
      <p:sp>
        <p:nvSpPr>
          <p:cNvPr id="165" name="Text 6"/>
          <p:cNvSpPr/>
          <p:nvPr/>
        </p:nvSpPr>
        <p:spPr>
          <a:xfrm>
            <a:off x="4023360" y="3383280"/>
            <a:ext cx="4754160" cy="82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b0c4de"/>
                </a:solidFill>
                <a:latin typeface="Calibri"/>
                <a:ea typeface="Calibri"/>
              </a:rPr>
              <a:t>TypedDict, Pydantic, and JSON Schema — each with different strengths.</a:t>
            </a:r>
            <a:endParaRPr b="0" lang="en-IN" sz="1400" spc="-1" strike="noStrike">
              <a:latin typeface="Arial"/>
            </a:endParaRPr>
          </a:p>
        </p:txBody>
      </p:sp>
      <p:pic>
        <p:nvPicPr>
          <p:cNvPr id="166" name="Image 0" descr="preencoded.png"/>
          <p:cNvPicPr/>
          <p:nvPr/>
        </p:nvPicPr>
        <p:blipFill>
          <a:blip r:embed="rId1"/>
          <a:stretch/>
        </p:blipFill>
        <p:spPr>
          <a:xfrm>
            <a:off x="1005840" y="1463040"/>
            <a:ext cx="1462320" cy="14623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Shape 0"/>
          <p:cNvSpPr/>
          <p:nvPr/>
        </p:nvSpPr>
        <p:spPr>
          <a:xfrm>
            <a:off x="0" y="0"/>
            <a:ext cx="9143280" cy="959400"/>
          </a:xfrm>
          <a:prstGeom prst="rect">
            <a:avLst/>
          </a:prstGeom>
          <a:solidFill>
            <a:srgbClr val="0d1b2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68" name="Shape 1"/>
          <p:cNvSpPr/>
          <p:nvPr/>
        </p:nvSpPr>
        <p:spPr>
          <a:xfrm>
            <a:off x="0" y="960120"/>
            <a:ext cx="9143280" cy="54000"/>
          </a:xfrm>
          <a:prstGeom prst="rect">
            <a:avLst/>
          </a:prstGeom>
          <a:solidFill>
            <a:srgbClr val="00b4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69" name="Text 2"/>
          <p:cNvSpPr/>
          <p:nvPr/>
        </p:nvSpPr>
        <p:spPr>
          <a:xfrm>
            <a:off x="411480" y="182880"/>
            <a:ext cx="822888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600" spc="-1" strike="noStrike">
                <a:solidFill>
                  <a:srgbClr val="ffffff"/>
                </a:solidFill>
                <a:latin typeface="Calibri"/>
                <a:ea typeface="Calibri"/>
              </a:rPr>
              <a:t>Three Schema Definition Methods</a:t>
            </a:r>
            <a:endParaRPr b="0" lang="en-IN" sz="2600" spc="-1" strike="noStrike">
              <a:latin typeface="Arial"/>
            </a:endParaRPr>
          </a:p>
        </p:txBody>
      </p:sp>
      <p:sp>
        <p:nvSpPr>
          <p:cNvPr id="170" name="Shape 3"/>
          <p:cNvSpPr/>
          <p:nvPr/>
        </p:nvSpPr>
        <p:spPr>
          <a:xfrm>
            <a:off x="320040" y="1115640"/>
            <a:ext cx="2742480" cy="370260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63360" dir="8100000" dist="25455" kx="0" ky="0" rotWithShape="0" sx="100000" sy="100000">
              <a:srgbClr val="000000">
                <a:alpha val="9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71" name="Shape 4"/>
          <p:cNvSpPr/>
          <p:nvPr/>
        </p:nvSpPr>
        <p:spPr>
          <a:xfrm>
            <a:off x="320040" y="1115640"/>
            <a:ext cx="2742480" cy="639360"/>
          </a:xfrm>
          <a:prstGeom prst="rect">
            <a:avLst/>
          </a:prstGeom>
          <a:solidFill>
            <a:srgbClr val="0096c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pic>
        <p:nvPicPr>
          <p:cNvPr id="172" name="Image 0" descr="preencoded.png"/>
          <p:cNvPicPr/>
          <p:nvPr/>
        </p:nvPicPr>
        <p:blipFill>
          <a:blip r:embed="rId1"/>
          <a:stretch/>
        </p:blipFill>
        <p:spPr>
          <a:xfrm>
            <a:off x="429840" y="1207080"/>
            <a:ext cx="383400" cy="383400"/>
          </a:xfrm>
          <a:prstGeom prst="rect">
            <a:avLst/>
          </a:prstGeom>
          <a:ln w="0">
            <a:noFill/>
          </a:ln>
        </p:spPr>
      </p:pic>
      <p:sp>
        <p:nvSpPr>
          <p:cNvPr id="173" name="Text 5"/>
          <p:cNvSpPr/>
          <p:nvPr/>
        </p:nvSpPr>
        <p:spPr>
          <a:xfrm>
            <a:off x="887040" y="1170360"/>
            <a:ext cx="210240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1️⃣  TypedDict</a:t>
            </a:r>
            <a:endParaRPr b="0" lang="en-IN" sz="1400" spc="-1" strike="noStrike">
              <a:latin typeface="Arial"/>
            </a:endParaRPr>
          </a:p>
        </p:txBody>
      </p:sp>
      <p:sp>
        <p:nvSpPr>
          <p:cNvPr id="174" name="Text 6"/>
          <p:cNvSpPr/>
          <p:nvPr/>
        </p:nvSpPr>
        <p:spPr>
          <a:xfrm>
            <a:off x="887040" y="1426320"/>
            <a:ext cx="210240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00" spc="-1" strike="noStrike">
                <a:solidFill>
                  <a:srgbClr val="ffffff"/>
                </a:solidFill>
                <a:latin typeface="Calibri"/>
                <a:ea typeface="Calibri"/>
              </a:rPr>
              <a:t>Python type hints</a:t>
            </a:r>
            <a:endParaRPr b="0" lang="en-IN" sz="1100" spc="-1" strike="noStrike">
              <a:latin typeface="Arial"/>
            </a:endParaRPr>
          </a:p>
        </p:txBody>
      </p:sp>
      <p:sp>
        <p:nvSpPr>
          <p:cNvPr id="175" name="Text 7"/>
          <p:cNvSpPr/>
          <p:nvPr/>
        </p:nvSpPr>
        <p:spPr>
          <a:xfrm>
            <a:off x="457200" y="1874520"/>
            <a:ext cx="246816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000" spc="197" strike="noStrike">
                <a:solidFill>
                  <a:srgbClr val="0096c7"/>
                </a:solidFill>
                <a:latin typeface="Calibri"/>
                <a:ea typeface="Calibri"/>
              </a:rPr>
              <a:t>PROS</a:t>
            </a:r>
            <a:endParaRPr b="0" lang="en-IN" sz="1000" spc="-1" strike="noStrike">
              <a:latin typeface="Arial"/>
            </a:endParaRPr>
          </a:p>
        </p:txBody>
      </p:sp>
      <p:pic>
        <p:nvPicPr>
          <p:cNvPr id="176" name="Image 1" descr="preencoded.png"/>
          <p:cNvPicPr/>
          <p:nvPr/>
        </p:nvPicPr>
        <p:blipFill>
          <a:blip r:embed="rId2"/>
          <a:stretch/>
        </p:blipFill>
        <p:spPr>
          <a:xfrm>
            <a:off x="484560" y="2176200"/>
            <a:ext cx="200520" cy="200520"/>
          </a:xfrm>
          <a:prstGeom prst="rect">
            <a:avLst/>
          </a:prstGeom>
          <a:ln w="0">
            <a:noFill/>
          </a:ln>
        </p:spPr>
      </p:pic>
      <p:sp>
        <p:nvSpPr>
          <p:cNvPr id="177" name="Text 8"/>
          <p:cNvSpPr/>
          <p:nvPr/>
        </p:nvSpPr>
        <p:spPr>
          <a:xfrm>
            <a:off x="758880" y="2167200"/>
            <a:ext cx="219384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1a2e42"/>
                </a:solidFill>
                <a:latin typeface="Calibri"/>
                <a:ea typeface="Calibri"/>
              </a:rPr>
              <a:t>Simple syntax</a:t>
            </a:r>
            <a:endParaRPr b="0" lang="en-IN" sz="1200" spc="-1" strike="noStrike">
              <a:latin typeface="Arial"/>
            </a:endParaRPr>
          </a:p>
        </p:txBody>
      </p:sp>
      <p:pic>
        <p:nvPicPr>
          <p:cNvPr id="178" name="Image 2" descr="preencoded.png"/>
          <p:cNvPicPr/>
          <p:nvPr/>
        </p:nvPicPr>
        <p:blipFill>
          <a:blip r:embed="rId3"/>
          <a:stretch/>
        </p:blipFill>
        <p:spPr>
          <a:xfrm>
            <a:off x="484560" y="2597040"/>
            <a:ext cx="200520" cy="200520"/>
          </a:xfrm>
          <a:prstGeom prst="rect">
            <a:avLst/>
          </a:prstGeom>
          <a:ln w="0">
            <a:noFill/>
          </a:ln>
        </p:spPr>
      </p:pic>
      <p:sp>
        <p:nvSpPr>
          <p:cNvPr id="179" name="Text 9"/>
          <p:cNvSpPr/>
          <p:nvPr/>
        </p:nvSpPr>
        <p:spPr>
          <a:xfrm>
            <a:off x="758880" y="2587680"/>
            <a:ext cx="219384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1a2e42"/>
                </a:solidFill>
                <a:latin typeface="Calibri"/>
                <a:ea typeface="Calibri"/>
              </a:rPr>
              <a:t>Native Python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180" name="Text 10"/>
          <p:cNvSpPr/>
          <p:nvPr/>
        </p:nvSpPr>
        <p:spPr>
          <a:xfrm>
            <a:off x="457200" y="3182040"/>
            <a:ext cx="246816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000" spc="197" strike="noStrike">
                <a:solidFill>
                  <a:srgbClr val="ef476f"/>
                </a:solidFill>
                <a:latin typeface="Calibri"/>
                <a:ea typeface="Calibri"/>
              </a:rPr>
              <a:t>CONS</a:t>
            </a:r>
            <a:endParaRPr b="0" lang="en-IN" sz="1000" spc="-1" strike="noStrike">
              <a:latin typeface="Arial"/>
            </a:endParaRPr>
          </a:p>
        </p:txBody>
      </p:sp>
      <p:pic>
        <p:nvPicPr>
          <p:cNvPr id="181" name="Image 3" descr="preencoded.png"/>
          <p:cNvPicPr/>
          <p:nvPr/>
        </p:nvPicPr>
        <p:blipFill>
          <a:blip r:embed="rId4"/>
          <a:stretch/>
        </p:blipFill>
        <p:spPr>
          <a:xfrm>
            <a:off x="484560" y="3493080"/>
            <a:ext cx="200520" cy="200520"/>
          </a:xfrm>
          <a:prstGeom prst="rect">
            <a:avLst/>
          </a:prstGeom>
          <a:ln w="0">
            <a:noFill/>
          </a:ln>
        </p:spPr>
      </p:pic>
      <p:sp>
        <p:nvSpPr>
          <p:cNvPr id="182" name="Text 11"/>
          <p:cNvSpPr/>
          <p:nvPr/>
        </p:nvSpPr>
        <p:spPr>
          <a:xfrm>
            <a:off x="758880" y="3483720"/>
            <a:ext cx="219384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1a2e42"/>
                </a:solidFill>
                <a:latin typeface="Calibri"/>
                <a:ea typeface="Calibri"/>
              </a:rPr>
              <a:t>No validation</a:t>
            </a:r>
            <a:endParaRPr b="0" lang="en-IN" sz="1200" spc="-1" strike="noStrike">
              <a:latin typeface="Arial"/>
            </a:endParaRPr>
          </a:p>
        </p:txBody>
      </p:sp>
      <p:pic>
        <p:nvPicPr>
          <p:cNvPr id="183" name="Image 4" descr="preencoded.png"/>
          <p:cNvPicPr/>
          <p:nvPr/>
        </p:nvPicPr>
        <p:blipFill>
          <a:blip r:embed="rId5"/>
          <a:stretch/>
        </p:blipFill>
        <p:spPr>
          <a:xfrm>
            <a:off x="484560" y="3877200"/>
            <a:ext cx="200520" cy="200520"/>
          </a:xfrm>
          <a:prstGeom prst="rect">
            <a:avLst/>
          </a:prstGeom>
          <a:ln w="0">
            <a:noFill/>
          </a:ln>
        </p:spPr>
      </p:pic>
      <p:sp>
        <p:nvSpPr>
          <p:cNvPr id="184" name="Text 12"/>
          <p:cNvSpPr/>
          <p:nvPr/>
        </p:nvSpPr>
        <p:spPr>
          <a:xfrm>
            <a:off x="758880" y="3867840"/>
            <a:ext cx="219384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1a2e42"/>
                </a:solidFill>
                <a:latin typeface="Calibri"/>
                <a:ea typeface="Calibri"/>
              </a:rPr>
              <a:t>Type hints only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185" name="Shape 13"/>
          <p:cNvSpPr/>
          <p:nvPr/>
        </p:nvSpPr>
        <p:spPr>
          <a:xfrm>
            <a:off x="3246120" y="1115640"/>
            <a:ext cx="2742480" cy="370260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63360" dir="8100000" dist="25455" kx="0" ky="0" rotWithShape="0" sx="100000" sy="100000">
              <a:srgbClr val="000000">
                <a:alpha val="9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86" name="Shape 14"/>
          <p:cNvSpPr/>
          <p:nvPr/>
        </p:nvSpPr>
        <p:spPr>
          <a:xfrm>
            <a:off x="3246120" y="1115640"/>
            <a:ext cx="2742480" cy="639360"/>
          </a:xfrm>
          <a:prstGeom prst="rect">
            <a:avLst/>
          </a:prstGeom>
          <a:solidFill>
            <a:srgbClr val="06d6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pic>
        <p:nvPicPr>
          <p:cNvPr id="187" name="Image 5" descr="preencoded.png"/>
          <p:cNvPicPr/>
          <p:nvPr/>
        </p:nvPicPr>
        <p:blipFill>
          <a:blip r:embed="rId6"/>
          <a:stretch/>
        </p:blipFill>
        <p:spPr>
          <a:xfrm>
            <a:off x="3355920" y="1207080"/>
            <a:ext cx="383400" cy="383400"/>
          </a:xfrm>
          <a:prstGeom prst="rect">
            <a:avLst/>
          </a:prstGeom>
          <a:ln w="0">
            <a:noFill/>
          </a:ln>
        </p:spPr>
      </p:pic>
      <p:sp>
        <p:nvSpPr>
          <p:cNvPr id="188" name="Text 15"/>
          <p:cNvSpPr/>
          <p:nvPr/>
        </p:nvSpPr>
        <p:spPr>
          <a:xfrm>
            <a:off x="3813120" y="1170360"/>
            <a:ext cx="210240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2️⃣  Pydantic</a:t>
            </a:r>
            <a:endParaRPr b="0" lang="en-IN" sz="1400" spc="-1" strike="noStrike">
              <a:latin typeface="Arial"/>
            </a:endParaRPr>
          </a:p>
        </p:txBody>
      </p:sp>
      <p:sp>
        <p:nvSpPr>
          <p:cNvPr id="189" name="Text 16"/>
          <p:cNvSpPr/>
          <p:nvPr/>
        </p:nvSpPr>
        <p:spPr>
          <a:xfrm>
            <a:off x="3813120" y="1426320"/>
            <a:ext cx="210240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00" spc="-1" strike="noStrike">
                <a:solidFill>
                  <a:srgbClr val="ffffff"/>
                </a:solidFill>
                <a:latin typeface="Calibri"/>
                <a:ea typeface="Calibri"/>
              </a:rPr>
              <a:t>Data validation library</a:t>
            </a:r>
            <a:endParaRPr b="0" lang="en-IN" sz="1100" spc="-1" strike="noStrike">
              <a:latin typeface="Arial"/>
            </a:endParaRPr>
          </a:p>
        </p:txBody>
      </p:sp>
      <p:sp>
        <p:nvSpPr>
          <p:cNvPr id="190" name="Text 17"/>
          <p:cNvSpPr/>
          <p:nvPr/>
        </p:nvSpPr>
        <p:spPr>
          <a:xfrm>
            <a:off x="3383280" y="1874520"/>
            <a:ext cx="246816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000" spc="197" strike="noStrike">
                <a:solidFill>
                  <a:srgbClr val="06d6a0"/>
                </a:solidFill>
                <a:latin typeface="Calibri"/>
                <a:ea typeface="Calibri"/>
              </a:rPr>
              <a:t>PROS</a:t>
            </a:r>
            <a:endParaRPr b="0" lang="en-IN" sz="1000" spc="-1" strike="noStrike">
              <a:latin typeface="Arial"/>
            </a:endParaRPr>
          </a:p>
        </p:txBody>
      </p:sp>
      <p:pic>
        <p:nvPicPr>
          <p:cNvPr id="191" name="Image 6" descr="preencoded.png"/>
          <p:cNvPicPr/>
          <p:nvPr/>
        </p:nvPicPr>
        <p:blipFill>
          <a:blip r:embed="rId7"/>
          <a:stretch/>
        </p:blipFill>
        <p:spPr>
          <a:xfrm>
            <a:off x="3410640" y="2176200"/>
            <a:ext cx="200520" cy="200520"/>
          </a:xfrm>
          <a:prstGeom prst="rect">
            <a:avLst/>
          </a:prstGeom>
          <a:ln w="0">
            <a:noFill/>
          </a:ln>
        </p:spPr>
      </p:pic>
      <p:sp>
        <p:nvSpPr>
          <p:cNvPr id="192" name="Text 18"/>
          <p:cNvSpPr/>
          <p:nvPr/>
        </p:nvSpPr>
        <p:spPr>
          <a:xfrm>
            <a:off x="3684960" y="2167200"/>
            <a:ext cx="219384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1a2e42"/>
                </a:solidFill>
                <a:latin typeface="Calibri"/>
                <a:ea typeface="Calibri"/>
              </a:rPr>
              <a:t>Full validation</a:t>
            </a:r>
            <a:endParaRPr b="0" lang="en-IN" sz="1200" spc="-1" strike="noStrike">
              <a:latin typeface="Arial"/>
            </a:endParaRPr>
          </a:p>
        </p:txBody>
      </p:sp>
      <p:pic>
        <p:nvPicPr>
          <p:cNvPr id="193" name="Image 7" descr="preencoded.png"/>
          <p:cNvPicPr/>
          <p:nvPr/>
        </p:nvPicPr>
        <p:blipFill>
          <a:blip r:embed="rId8"/>
          <a:stretch/>
        </p:blipFill>
        <p:spPr>
          <a:xfrm>
            <a:off x="3410640" y="2597040"/>
            <a:ext cx="200520" cy="200520"/>
          </a:xfrm>
          <a:prstGeom prst="rect">
            <a:avLst/>
          </a:prstGeom>
          <a:ln w="0">
            <a:noFill/>
          </a:ln>
        </p:spPr>
      </p:pic>
      <p:sp>
        <p:nvSpPr>
          <p:cNvPr id="194" name="Text 19"/>
          <p:cNvSpPr/>
          <p:nvPr/>
        </p:nvSpPr>
        <p:spPr>
          <a:xfrm>
            <a:off x="3684960" y="2587680"/>
            <a:ext cx="219384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1a2e42"/>
                </a:solidFill>
                <a:latin typeface="Calibri"/>
                <a:ea typeface="Calibri"/>
              </a:rPr>
              <a:t>Type coercion</a:t>
            </a:r>
            <a:endParaRPr b="0" lang="en-IN" sz="1200" spc="-1" strike="noStrike">
              <a:latin typeface="Arial"/>
            </a:endParaRPr>
          </a:p>
        </p:txBody>
      </p:sp>
      <p:pic>
        <p:nvPicPr>
          <p:cNvPr id="195" name="Image 8" descr="preencoded.png"/>
          <p:cNvPicPr/>
          <p:nvPr/>
        </p:nvPicPr>
        <p:blipFill>
          <a:blip r:embed="rId9"/>
          <a:stretch/>
        </p:blipFill>
        <p:spPr>
          <a:xfrm>
            <a:off x="3410640" y="3017520"/>
            <a:ext cx="200520" cy="200520"/>
          </a:xfrm>
          <a:prstGeom prst="rect">
            <a:avLst/>
          </a:prstGeom>
          <a:ln w="0">
            <a:noFill/>
          </a:ln>
        </p:spPr>
      </p:pic>
      <p:sp>
        <p:nvSpPr>
          <p:cNvPr id="196" name="Text 20"/>
          <p:cNvSpPr/>
          <p:nvPr/>
        </p:nvSpPr>
        <p:spPr>
          <a:xfrm>
            <a:off x="3684960" y="3008520"/>
            <a:ext cx="219384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1a2e42"/>
                </a:solidFill>
                <a:latin typeface="Calibri"/>
                <a:ea typeface="Calibri"/>
              </a:rPr>
              <a:t>Default values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197" name="Text 21"/>
          <p:cNvSpPr/>
          <p:nvPr/>
        </p:nvSpPr>
        <p:spPr>
          <a:xfrm>
            <a:off x="3383280" y="3602880"/>
            <a:ext cx="246816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000" spc="197" strike="noStrike">
                <a:solidFill>
                  <a:srgbClr val="ef476f"/>
                </a:solidFill>
                <a:latin typeface="Calibri"/>
                <a:ea typeface="Calibri"/>
              </a:rPr>
              <a:t>CONS</a:t>
            </a:r>
            <a:endParaRPr b="0" lang="en-IN" sz="1000" spc="-1" strike="noStrike">
              <a:latin typeface="Arial"/>
            </a:endParaRPr>
          </a:p>
        </p:txBody>
      </p:sp>
      <p:pic>
        <p:nvPicPr>
          <p:cNvPr id="198" name="Image 9" descr="preencoded.png"/>
          <p:cNvPicPr/>
          <p:nvPr/>
        </p:nvPicPr>
        <p:blipFill>
          <a:blip r:embed="rId10"/>
          <a:stretch/>
        </p:blipFill>
        <p:spPr>
          <a:xfrm>
            <a:off x="3410640" y="3913560"/>
            <a:ext cx="200520" cy="200520"/>
          </a:xfrm>
          <a:prstGeom prst="rect">
            <a:avLst/>
          </a:prstGeom>
          <a:ln w="0">
            <a:noFill/>
          </a:ln>
        </p:spPr>
      </p:pic>
      <p:sp>
        <p:nvSpPr>
          <p:cNvPr id="199" name="Text 22"/>
          <p:cNvSpPr/>
          <p:nvPr/>
        </p:nvSpPr>
        <p:spPr>
          <a:xfrm>
            <a:off x="3684960" y="3904560"/>
            <a:ext cx="219384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1a2e42"/>
                </a:solidFill>
                <a:latin typeface="Calibri"/>
                <a:ea typeface="Calibri"/>
              </a:rPr>
              <a:t>Python only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200" name="Shape 23"/>
          <p:cNvSpPr/>
          <p:nvPr/>
        </p:nvSpPr>
        <p:spPr>
          <a:xfrm>
            <a:off x="6172200" y="1115640"/>
            <a:ext cx="2742480" cy="370260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63360" dir="8100000" dist="25455" kx="0" ky="0" rotWithShape="0" sx="100000" sy="100000">
              <a:srgbClr val="000000">
                <a:alpha val="9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201" name="Shape 24"/>
          <p:cNvSpPr/>
          <p:nvPr/>
        </p:nvSpPr>
        <p:spPr>
          <a:xfrm>
            <a:off x="6172200" y="1115640"/>
            <a:ext cx="2742480" cy="639360"/>
          </a:xfrm>
          <a:prstGeom prst="rect">
            <a:avLst/>
          </a:prstGeom>
          <a:solidFill>
            <a:srgbClr val="f4a26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pic>
        <p:nvPicPr>
          <p:cNvPr id="202" name="Image 10" descr="preencoded.png"/>
          <p:cNvPicPr/>
          <p:nvPr/>
        </p:nvPicPr>
        <p:blipFill>
          <a:blip r:embed="rId11"/>
          <a:stretch/>
        </p:blipFill>
        <p:spPr>
          <a:xfrm>
            <a:off x="6282000" y="1207080"/>
            <a:ext cx="383400" cy="383400"/>
          </a:xfrm>
          <a:prstGeom prst="rect">
            <a:avLst/>
          </a:prstGeom>
          <a:ln w="0">
            <a:noFill/>
          </a:ln>
        </p:spPr>
      </p:pic>
      <p:sp>
        <p:nvSpPr>
          <p:cNvPr id="203" name="Text 25"/>
          <p:cNvSpPr/>
          <p:nvPr/>
        </p:nvSpPr>
        <p:spPr>
          <a:xfrm>
            <a:off x="6739200" y="1170360"/>
            <a:ext cx="210240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3️⃣  JSON Schema</a:t>
            </a:r>
            <a:endParaRPr b="0" lang="en-IN" sz="1400" spc="-1" strike="noStrike">
              <a:latin typeface="Arial"/>
            </a:endParaRPr>
          </a:p>
        </p:txBody>
      </p:sp>
      <p:sp>
        <p:nvSpPr>
          <p:cNvPr id="204" name="Text 26"/>
          <p:cNvSpPr/>
          <p:nvPr/>
        </p:nvSpPr>
        <p:spPr>
          <a:xfrm>
            <a:off x="6739200" y="1426320"/>
            <a:ext cx="210240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00" spc="-1" strike="noStrike">
                <a:solidFill>
                  <a:srgbClr val="ffffff"/>
                </a:solidFill>
                <a:latin typeface="Calibri"/>
                <a:ea typeface="Calibri"/>
              </a:rPr>
              <a:t>Universal format</a:t>
            </a:r>
            <a:endParaRPr b="0" lang="en-IN" sz="1100" spc="-1" strike="noStrike">
              <a:latin typeface="Arial"/>
            </a:endParaRPr>
          </a:p>
        </p:txBody>
      </p:sp>
      <p:sp>
        <p:nvSpPr>
          <p:cNvPr id="205" name="Text 27"/>
          <p:cNvSpPr/>
          <p:nvPr/>
        </p:nvSpPr>
        <p:spPr>
          <a:xfrm>
            <a:off x="6309360" y="1874520"/>
            <a:ext cx="246816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000" spc="197" strike="noStrike">
                <a:solidFill>
                  <a:srgbClr val="f4a261"/>
                </a:solidFill>
                <a:latin typeface="Calibri"/>
                <a:ea typeface="Calibri"/>
              </a:rPr>
              <a:t>PROS</a:t>
            </a:r>
            <a:endParaRPr b="0" lang="en-IN" sz="1000" spc="-1" strike="noStrike">
              <a:latin typeface="Arial"/>
            </a:endParaRPr>
          </a:p>
        </p:txBody>
      </p:sp>
      <p:pic>
        <p:nvPicPr>
          <p:cNvPr id="206" name="Image 11" descr="preencoded.png"/>
          <p:cNvPicPr/>
          <p:nvPr/>
        </p:nvPicPr>
        <p:blipFill>
          <a:blip r:embed="rId12"/>
          <a:stretch/>
        </p:blipFill>
        <p:spPr>
          <a:xfrm>
            <a:off x="6336720" y="2176200"/>
            <a:ext cx="200520" cy="200520"/>
          </a:xfrm>
          <a:prstGeom prst="rect">
            <a:avLst/>
          </a:prstGeom>
          <a:ln w="0">
            <a:noFill/>
          </a:ln>
        </p:spPr>
      </p:pic>
      <p:sp>
        <p:nvSpPr>
          <p:cNvPr id="207" name="Text 28"/>
          <p:cNvSpPr/>
          <p:nvPr/>
        </p:nvSpPr>
        <p:spPr>
          <a:xfrm>
            <a:off x="6611040" y="2167200"/>
            <a:ext cx="219384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1a2e42"/>
                </a:solidFill>
                <a:latin typeface="Calibri"/>
                <a:ea typeface="Calibri"/>
              </a:rPr>
              <a:t>Cross-language</a:t>
            </a:r>
            <a:endParaRPr b="0" lang="en-IN" sz="1200" spc="-1" strike="noStrike">
              <a:latin typeface="Arial"/>
            </a:endParaRPr>
          </a:p>
        </p:txBody>
      </p:sp>
      <p:pic>
        <p:nvPicPr>
          <p:cNvPr id="208" name="Image 12" descr="preencoded.png"/>
          <p:cNvPicPr/>
          <p:nvPr/>
        </p:nvPicPr>
        <p:blipFill>
          <a:blip r:embed="rId13"/>
          <a:stretch/>
        </p:blipFill>
        <p:spPr>
          <a:xfrm>
            <a:off x="6336720" y="2597040"/>
            <a:ext cx="200520" cy="200520"/>
          </a:xfrm>
          <a:prstGeom prst="rect">
            <a:avLst/>
          </a:prstGeom>
          <a:ln w="0">
            <a:noFill/>
          </a:ln>
        </p:spPr>
      </p:pic>
      <p:sp>
        <p:nvSpPr>
          <p:cNvPr id="209" name="Text 29"/>
          <p:cNvSpPr/>
          <p:nvPr/>
        </p:nvSpPr>
        <p:spPr>
          <a:xfrm>
            <a:off x="6611040" y="2587680"/>
            <a:ext cx="219384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1a2e42"/>
                </a:solidFill>
                <a:latin typeface="Calibri"/>
                <a:ea typeface="Calibri"/>
              </a:rPr>
              <a:t>Standard format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210" name="Text 30"/>
          <p:cNvSpPr/>
          <p:nvPr/>
        </p:nvSpPr>
        <p:spPr>
          <a:xfrm>
            <a:off x="6309360" y="3182040"/>
            <a:ext cx="246816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000" spc="197" strike="noStrike">
                <a:solidFill>
                  <a:srgbClr val="ef476f"/>
                </a:solidFill>
                <a:latin typeface="Calibri"/>
                <a:ea typeface="Calibri"/>
              </a:rPr>
              <a:t>CONS</a:t>
            </a:r>
            <a:endParaRPr b="0" lang="en-IN" sz="1000" spc="-1" strike="noStrike">
              <a:latin typeface="Arial"/>
            </a:endParaRPr>
          </a:p>
        </p:txBody>
      </p:sp>
      <p:pic>
        <p:nvPicPr>
          <p:cNvPr id="211" name="Image 13" descr="preencoded.png"/>
          <p:cNvPicPr/>
          <p:nvPr/>
        </p:nvPicPr>
        <p:blipFill>
          <a:blip r:embed="rId14"/>
          <a:stretch/>
        </p:blipFill>
        <p:spPr>
          <a:xfrm>
            <a:off x="6336720" y="3493080"/>
            <a:ext cx="200520" cy="200520"/>
          </a:xfrm>
          <a:prstGeom prst="rect">
            <a:avLst/>
          </a:prstGeom>
          <a:ln w="0">
            <a:noFill/>
          </a:ln>
        </p:spPr>
      </p:pic>
      <p:sp>
        <p:nvSpPr>
          <p:cNvPr id="212" name="Text 31"/>
          <p:cNvSpPr/>
          <p:nvPr/>
        </p:nvSpPr>
        <p:spPr>
          <a:xfrm>
            <a:off x="6611040" y="3483720"/>
            <a:ext cx="219384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1a2e42"/>
                </a:solidFill>
                <a:latin typeface="Calibri"/>
                <a:ea typeface="Calibri"/>
              </a:rPr>
              <a:t>More verbose</a:t>
            </a:r>
            <a:endParaRPr b="0" lang="en-IN" sz="1200" spc="-1" strike="noStrike">
              <a:latin typeface="Arial"/>
            </a:endParaRPr>
          </a:p>
        </p:txBody>
      </p:sp>
      <p:pic>
        <p:nvPicPr>
          <p:cNvPr id="213" name="Image 14" descr="preencoded.png"/>
          <p:cNvPicPr/>
          <p:nvPr/>
        </p:nvPicPr>
        <p:blipFill>
          <a:blip r:embed="rId15"/>
          <a:stretch/>
        </p:blipFill>
        <p:spPr>
          <a:xfrm>
            <a:off x="6336720" y="3877200"/>
            <a:ext cx="200520" cy="200520"/>
          </a:xfrm>
          <a:prstGeom prst="rect">
            <a:avLst/>
          </a:prstGeom>
          <a:ln w="0">
            <a:noFill/>
          </a:ln>
        </p:spPr>
      </p:pic>
      <p:sp>
        <p:nvSpPr>
          <p:cNvPr id="214" name="Text 32"/>
          <p:cNvSpPr/>
          <p:nvPr/>
        </p:nvSpPr>
        <p:spPr>
          <a:xfrm>
            <a:off x="6611040" y="3867840"/>
            <a:ext cx="219384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1a2e42"/>
                </a:solidFill>
                <a:latin typeface="Calibri"/>
                <a:ea typeface="Calibri"/>
              </a:rPr>
              <a:t>No Python objects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215" name="Shape 33"/>
          <p:cNvSpPr/>
          <p:nvPr/>
        </p:nvSpPr>
        <p:spPr>
          <a:xfrm>
            <a:off x="320040" y="4846320"/>
            <a:ext cx="8503200" cy="246240"/>
          </a:xfrm>
          <a:prstGeom prst="rect">
            <a:avLst/>
          </a:prstGeom>
          <a:solidFill>
            <a:srgbClr val="00b4d8">
              <a:alpha val="12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16" name="Text 34"/>
          <p:cNvSpPr/>
          <p:nvPr/>
        </p:nvSpPr>
        <p:spPr>
          <a:xfrm>
            <a:off x="457200" y="4873680"/>
            <a:ext cx="832032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100" spc="-1" strike="noStrike">
                <a:solidFill>
                  <a:srgbClr val="0096c7"/>
                </a:solidFill>
                <a:latin typeface="Calibri"/>
                <a:ea typeface="Calibri"/>
              </a:rPr>
              <a:t>We'll explore all three methods with detailed code examples!</a:t>
            </a:r>
            <a:endParaRPr b="0" lang="en-IN" sz="11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Shape 0"/>
          <p:cNvSpPr/>
          <p:nvPr/>
        </p:nvSpPr>
        <p:spPr>
          <a:xfrm>
            <a:off x="0" y="0"/>
            <a:ext cx="9143280" cy="5142960"/>
          </a:xfrm>
          <a:prstGeom prst="rect">
            <a:avLst/>
          </a:prstGeom>
          <a:solidFill>
            <a:srgbClr val="1a2e4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18" name="Shape 1"/>
          <p:cNvSpPr/>
          <p:nvPr/>
        </p:nvSpPr>
        <p:spPr>
          <a:xfrm>
            <a:off x="-1371600" y="-1371600"/>
            <a:ext cx="4571280" cy="4571280"/>
          </a:xfrm>
          <a:prstGeom prst="ellipse">
            <a:avLst/>
          </a:prstGeom>
          <a:solidFill>
            <a:srgbClr val="0d1b2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19" name="Shape 2"/>
          <p:cNvSpPr/>
          <p:nvPr/>
        </p:nvSpPr>
        <p:spPr>
          <a:xfrm>
            <a:off x="5943600" y="2286000"/>
            <a:ext cx="4114080" cy="4114080"/>
          </a:xfrm>
          <a:prstGeom prst="ellipse">
            <a:avLst/>
          </a:prstGeom>
          <a:solidFill>
            <a:srgbClr val="0d1b2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20" name="Shape 3"/>
          <p:cNvSpPr/>
          <p:nvPr/>
        </p:nvSpPr>
        <p:spPr>
          <a:xfrm>
            <a:off x="4023360" y="2103120"/>
            <a:ext cx="1096560" cy="54000"/>
          </a:xfrm>
          <a:prstGeom prst="rect">
            <a:avLst/>
          </a:prstGeom>
          <a:solidFill>
            <a:srgbClr val="00b4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21" name="Text 4"/>
          <p:cNvSpPr/>
          <p:nvPr/>
        </p:nvSpPr>
        <p:spPr>
          <a:xfrm>
            <a:off x="4023360" y="1554480"/>
            <a:ext cx="457128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300" spc="596" strike="noStrike">
                <a:solidFill>
                  <a:srgbClr val="48cae4"/>
                </a:solidFill>
                <a:latin typeface="Calibri"/>
                <a:ea typeface="Calibri"/>
              </a:rPr>
              <a:t>METHOD 1</a:t>
            </a:r>
            <a:endParaRPr b="0" lang="en-IN" sz="1300" spc="-1" strike="noStrike">
              <a:latin typeface="Arial"/>
            </a:endParaRPr>
          </a:p>
        </p:txBody>
      </p:sp>
      <p:sp>
        <p:nvSpPr>
          <p:cNvPr id="222" name="Text 5"/>
          <p:cNvSpPr/>
          <p:nvPr/>
        </p:nvSpPr>
        <p:spPr>
          <a:xfrm>
            <a:off x="4023360" y="2194560"/>
            <a:ext cx="4754160" cy="109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3800" spc="-1" strike="noStrike">
                <a:solidFill>
                  <a:srgbClr val="ffffff"/>
                </a:solidFill>
                <a:latin typeface="Calibri"/>
                <a:ea typeface="Calibri"/>
              </a:rPr>
              <a:t>TypedDict</a:t>
            </a:r>
            <a:endParaRPr b="0" lang="en-IN" sz="3800" spc="-1" strike="noStrike">
              <a:latin typeface="Arial"/>
            </a:endParaRPr>
          </a:p>
        </p:txBody>
      </p:sp>
      <p:sp>
        <p:nvSpPr>
          <p:cNvPr id="223" name="Text 6"/>
          <p:cNvSpPr/>
          <p:nvPr/>
        </p:nvSpPr>
        <p:spPr>
          <a:xfrm>
            <a:off x="4023360" y="3383280"/>
            <a:ext cx="4754160" cy="82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b0c4de"/>
                </a:solidFill>
                <a:latin typeface="Calibri"/>
                <a:ea typeface="Calibri"/>
              </a:rPr>
              <a:t>Define dictionary schemas with Python type hints. Simple, native, and lightweight.</a:t>
            </a:r>
            <a:endParaRPr b="0" lang="en-IN" sz="1400" spc="-1" strike="noStrike">
              <a:latin typeface="Arial"/>
            </a:endParaRPr>
          </a:p>
        </p:txBody>
      </p:sp>
      <p:pic>
        <p:nvPicPr>
          <p:cNvPr id="224" name="Image 0" descr="preencoded.png"/>
          <p:cNvPicPr/>
          <p:nvPr/>
        </p:nvPicPr>
        <p:blipFill>
          <a:blip r:embed="rId1"/>
          <a:stretch/>
        </p:blipFill>
        <p:spPr>
          <a:xfrm>
            <a:off x="1005840" y="1463040"/>
            <a:ext cx="1462320" cy="14623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Shape 0"/>
          <p:cNvSpPr/>
          <p:nvPr/>
        </p:nvSpPr>
        <p:spPr>
          <a:xfrm>
            <a:off x="0" y="0"/>
            <a:ext cx="9143280" cy="959400"/>
          </a:xfrm>
          <a:prstGeom prst="rect">
            <a:avLst/>
          </a:prstGeom>
          <a:solidFill>
            <a:srgbClr val="0d1b2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26" name="Shape 1"/>
          <p:cNvSpPr/>
          <p:nvPr/>
        </p:nvSpPr>
        <p:spPr>
          <a:xfrm>
            <a:off x="0" y="960120"/>
            <a:ext cx="9143280" cy="54000"/>
          </a:xfrm>
          <a:prstGeom prst="rect">
            <a:avLst/>
          </a:prstGeom>
          <a:solidFill>
            <a:srgbClr val="00b4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pic>
        <p:nvPicPr>
          <p:cNvPr id="227" name="Image 0" descr="preencoded.png"/>
          <p:cNvPicPr/>
          <p:nvPr/>
        </p:nvPicPr>
        <p:blipFill>
          <a:blip r:embed="rId1"/>
          <a:stretch/>
        </p:blipFill>
        <p:spPr>
          <a:xfrm>
            <a:off x="320040" y="182880"/>
            <a:ext cx="547920" cy="547920"/>
          </a:xfrm>
          <a:prstGeom prst="rect">
            <a:avLst/>
          </a:prstGeom>
          <a:ln w="0">
            <a:noFill/>
          </a:ln>
        </p:spPr>
      </p:pic>
      <p:sp>
        <p:nvSpPr>
          <p:cNvPr id="228" name="Text 2"/>
          <p:cNvSpPr/>
          <p:nvPr/>
        </p:nvSpPr>
        <p:spPr>
          <a:xfrm>
            <a:off x="1005840" y="182880"/>
            <a:ext cx="777168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600" spc="-1" strike="noStrike">
                <a:solidFill>
                  <a:srgbClr val="ffffff"/>
                </a:solidFill>
                <a:latin typeface="Calibri"/>
                <a:ea typeface="Calibri"/>
              </a:rPr>
              <a:t>Understanding TypedDict</a:t>
            </a:r>
            <a:endParaRPr b="0" lang="en-IN" sz="2600" spc="-1" strike="noStrike">
              <a:latin typeface="Arial"/>
            </a:endParaRPr>
          </a:p>
        </p:txBody>
      </p:sp>
      <p:sp>
        <p:nvSpPr>
          <p:cNvPr id="229" name="Shape 3"/>
          <p:cNvSpPr/>
          <p:nvPr/>
        </p:nvSpPr>
        <p:spPr>
          <a:xfrm>
            <a:off x="320040" y="1143000"/>
            <a:ext cx="8503200" cy="913680"/>
          </a:xfrm>
          <a:prstGeom prst="rect">
            <a:avLst/>
          </a:prstGeom>
          <a:solidFill>
            <a:srgbClr val="00b4d8">
              <a:alpha val="12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30" name="Shape 4"/>
          <p:cNvSpPr/>
          <p:nvPr/>
        </p:nvSpPr>
        <p:spPr>
          <a:xfrm>
            <a:off x="320040" y="1143000"/>
            <a:ext cx="63360" cy="913680"/>
          </a:xfrm>
          <a:prstGeom prst="rect">
            <a:avLst/>
          </a:prstGeom>
          <a:solidFill>
            <a:srgbClr val="00b4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31" name="Text 5"/>
          <p:cNvSpPr/>
          <p:nvPr/>
        </p:nvSpPr>
        <p:spPr>
          <a:xfrm>
            <a:off x="475560" y="1188720"/>
            <a:ext cx="36568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200" spc="-1" strike="noStrike">
                <a:solidFill>
                  <a:srgbClr val="0096c7"/>
                </a:solidFill>
                <a:latin typeface="Calibri"/>
                <a:ea typeface="Calibri"/>
              </a:rPr>
              <a:t>What is TypedDict?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232" name="Text 6"/>
          <p:cNvSpPr/>
          <p:nvPr/>
        </p:nvSpPr>
        <p:spPr>
          <a:xfrm>
            <a:off x="475560" y="1435680"/>
            <a:ext cx="822888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1a2e42"/>
                </a:solidFill>
                <a:latin typeface="Calibri"/>
                <a:ea typeface="Calibri"/>
              </a:rPr>
              <a:t>A way to define dictionaries with specified keys and value types — tells Python what keys are required and the data types for each.</a:t>
            </a:r>
            <a:endParaRPr b="0" lang="en-IN" sz="1300" spc="-1" strike="noStrike">
              <a:latin typeface="Arial"/>
            </a:endParaRPr>
          </a:p>
        </p:txBody>
      </p:sp>
      <p:sp>
        <p:nvSpPr>
          <p:cNvPr id="233" name="Shape 7"/>
          <p:cNvSpPr/>
          <p:nvPr/>
        </p:nvSpPr>
        <p:spPr>
          <a:xfrm>
            <a:off x="320040" y="2212920"/>
            <a:ext cx="3931200" cy="2513880"/>
          </a:xfrm>
          <a:prstGeom prst="rect">
            <a:avLst/>
          </a:prstGeom>
          <a:solidFill>
            <a:srgbClr val="0d1b2a"/>
          </a:solidFill>
          <a:ln w="0">
            <a:noFill/>
          </a:ln>
          <a:effectLst>
            <a:outerShdw algn="bl" blurRad="63360" dir="8100000" dist="25455" kx="0" ky="0" rotWithShape="0" sx="100000" sy="100000">
              <a:srgbClr val="000000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234" name="Shape 8"/>
          <p:cNvSpPr/>
          <p:nvPr/>
        </p:nvSpPr>
        <p:spPr>
          <a:xfrm>
            <a:off x="320040" y="2212920"/>
            <a:ext cx="3931200" cy="365040"/>
          </a:xfrm>
          <a:prstGeom prst="rect">
            <a:avLst/>
          </a:prstGeom>
          <a:solidFill>
            <a:srgbClr val="ef476f">
              <a:alpha val="8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35" name="Text 9"/>
          <p:cNvSpPr/>
          <p:nvPr/>
        </p:nvSpPr>
        <p:spPr>
          <a:xfrm>
            <a:off x="457200" y="2249280"/>
            <a:ext cx="36568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Consolas"/>
                <a:ea typeface="Consolas"/>
              </a:rPr>
              <a:t>❌  </a:t>
            </a:r>
            <a:r>
              <a:rPr b="1" lang="en-US" sz="1100" spc="-1" strike="noStrike">
                <a:solidFill>
                  <a:srgbClr val="ffffff"/>
                </a:solidFill>
                <a:latin typeface="Consolas"/>
                <a:ea typeface="Consolas"/>
              </a:rPr>
              <a:t>Normal (No TypedDict)</a:t>
            </a:r>
            <a:endParaRPr b="0" lang="en-IN" sz="1100" spc="-1" strike="noStrike">
              <a:latin typeface="Arial"/>
            </a:endParaRPr>
          </a:p>
        </p:txBody>
      </p:sp>
      <p:sp>
        <p:nvSpPr>
          <p:cNvPr id="236" name="Text 10"/>
          <p:cNvSpPr/>
          <p:nvPr/>
        </p:nvSpPr>
        <p:spPr>
          <a:xfrm>
            <a:off x="457200" y="2651760"/>
            <a:ext cx="3656880" cy="191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48cae4"/>
                </a:solidFill>
                <a:latin typeface="Consolas"/>
                <a:ea typeface="Consolas"/>
              </a:rPr>
              <a:t>person_data = {</a:t>
            </a:r>
            <a:endParaRPr b="0" lang="en-IN" sz="1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48cae4"/>
                </a:solidFill>
                <a:latin typeface="Consolas"/>
                <a:ea typeface="Consolas"/>
              </a:rPr>
              <a:t>    </a:t>
            </a:r>
            <a:r>
              <a:rPr b="0" lang="en-US" sz="1200" spc="-1" strike="noStrike">
                <a:solidFill>
                  <a:srgbClr val="48cae4"/>
                </a:solidFill>
                <a:latin typeface="Consolas"/>
                <a:ea typeface="Consolas"/>
              </a:rPr>
              <a:t>"name": "Ganesh",</a:t>
            </a:r>
            <a:endParaRPr b="0" lang="en-IN" sz="1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48cae4"/>
                </a:solidFill>
                <a:latin typeface="Consolas"/>
                <a:ea typeface="Consolas"/>
              </a:rPr>
              <a:t>    </a:t>
            </a:r>
            <a:r>
              <a:rPr b="0" lang="en-US" sz="1200" spc="-1" strike="noStrike">
                <a:solidFill>
                  <a:srgbClr val="48cae4"/>
                </a:solidFill>
                <a:latin typeface="Consolas"/>
                <a:ea typeface="Consolas"/>
              </a:rPr>
              <a:t>"age": 25</a:t>
            </a:r>
            <a:endParaRPr b="0" lang="en-IN" sz="1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48cae4"/>
                </a:solidFill>
                <a:latin typeface="Consolas"/>
                <a:ea typeface="Consolas"/>
              </a:rPr>
              <a:t>}</a:t>
            </a:r>
            <a:endParaRPr b="0" lang="en-IN" sz="1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48cae4"/>
                </a:solidFill>
                <a:latin typeface="Consolas"/>
                <a:ea typeface="Consolas"/>
              </a:rPr>
              <a:t># No type checking,</a:t>
            </a:r>
            <a:endParaRPr b="0" lang="en-IN" sz="1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48cae4"/>
                </a:solidFill>
                <a:latin typeface="Consolas"/>
                <a:ea typeface="Consolas"/>
              </a:rPr>
              <a:t># no structure enforcement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237" name="Shape 11"/>
          <p:cNvSpPr/>
          <p:nvPr/>
        </p:nvSpPr>
        <p:spPr>
          <a:xfrm>
            <a:off x="4846320" y="2212920"/>
            <a:ext cx="3976920" cy="2513880"/>
          </a:xfrm>
          <a:prstGeom prst="rect">
            <a:avLst/>
          </a:prstGeom>
          <a:solidFill>
            <a:srgbClr val="0d1b2a"/>
          </a:solidFill>
          <a:ln w="0">
            <a:noFill/>
          </a:ln>
          <a:effectLst>
            <a:outerShdw algn="bl" blurRad="63360" dir="8100000" dist="25455" kx="0" ky="0" rotWithShape="0" sx="100000" sy="100000">
              <a:srgbClr val="000000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238" name="Shape 12"/>
          <p:cNvSpPr/>
          <p:nvPr/>
        </p:nvSpPr>
        <p:spPr>
          <a:xfrm>
            <a:off x="4846320" y="2212920"/>
            <a:ext cx="3976920" cy="365040"/>
          </a:xfrm>
          <a:prstGeom prst="rect">
            <a:avLst/>
          </a:prstGeom>
          <a:solidFill>
            <a:srgbClr val="06d6a0">
              <a:alpha val="7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39" name="Text 13"/>
          <p:cNvSpPr/>
          <p:nvPr/>
        </p:nvSpPr>
        <p:spPr>
          <a:xfrm>
            <a:off x="4983480" y="2249280"/>
            <a:ext cx="36568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Consolas"/>
                <a:ea typeface="Consolas"/>
              </a:rPr>
              <a:t>✓  </a:t>
            </a:r>
            <a:r>
              <a:rPr b="1" lang="en-US" sz="1100" spc="-1" strike="noStrike">
                <a:solidFill>
                  <a:srgbClr val="ffffff"/>
                </a:solidFill>
                <a:latin typeface="Consolas"/>
                <a:ea typeface="Consolas"/>
              </a:rPr>
              <a:t>With TypedDict</a:t>
            </a:r>
            <a:endParaRPr b="0" lang="en-IN" sz="1100" spc="-1" strike="noStrike">
              <a:latin typeface="Arial"/>
            </a:endParaRPr>
          </a:p>
        </p:txBody>
      </p:sp>
      <p:sp>
        <p:nvSpPr>
          <p:cNvPr id="240" name="Text 14"/>
          <p:cNvSpPr/>
          <p:nvPr/>
        </p:nvSpPr>
        <p:spPr>
          <a:xfrm>
            <a:off x="4983480" y="2651760"/>
            <a:ext cx="3748320" cy="191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48cae4"/>
                </a:solidFill>
                <a:latin typeface="Consolas"/>
                <a:ea typeface="Consolas"/>
              </a:rPr>
              <a:t>from typing import TypedDict</a:t>
            </a:r>
            <a:endParaRPr b="0" lang="en-IN" sz="1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48cae4"/>
                </a:solidFill>
                <a:latin typeface="Consolas"/>
                <a:ea typeface="Consolas"/>
              </a:rPr>
              <a:t>class PersonInfo(TypedDict):</a:t>
            </a:r>
            <a:endParaRPr b="0" lang="en-IN" sz="1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48cae4"/>
                </a:solidFill>
                <a:latin typeface="Consolas"/>
                <a:ea typeface="Consolas"/>
              </a:rPr>
              <a:t>    </a:t>
            </a:r>
            <a:r>
              <a:rPr b="0" lang="en-US" sz="1200" spc="-1" strike="noStrike">
                <a:solidFill>
                  <a:srgbClr val="48cae4"/>
                </a:solidFill>
                <a:latin typeface="Consolas"/>
                <a:ea typeface="Consolas"/>
              </a:rPr>
              <a:t>name: str</a:t>
            </a:r>
            <a:endParaRPr b="0" lang="en-IN" sz="1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48cae4"/>
                </a:solidFill>
                <a:latin typeface="Consolas"/>
                <a:ea typeface="Consolas"/>
              </a:rPr>
              <a:t>    </a:t>
            </a:r>
            <a:r>
              <a:rPr b="0" lang="en-US" sz="1200" spc="-1" strike="noStrike">
                <a:solidFill>
                  <a:srgbClr val="48cae4"/>
                </a:solidFill>
                <a:latin typeface="Consolas"/>
                <a:ea typeface="Consolas"/>
              </a:rPr>
              <a:t>age: int</a:t>
            </a:r>
            <a:endParaRPr b="0" lang="en-IN" sz="1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48cae4"/>
                </a:solidFill>
                <a:latin typeface="Consolas"/>
                <a:ea typeface="Consolas"/>
              </a:rPr>
              <a:t># Structured, hinted keys!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241" name="Shape 15"/>
          <p:cNvSpPr/>
          <p:nvPr/>
        </p:nvSpPr>
        <p:spPr>
          <a:xfrm>
            <a:off x="320040" y="4782240"/>
            <a:ext cx="8503200" cy="273600"/>
          </a:xfrm>
          <a:prstGeom prst="rect">
            <a:avLst/>
          </a:prstGeom>
          <a:solidFill>
            <a:srgbClr val="ffd166">
              <a:alpha val="22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42" name="Text 16"/>
          <p:cNvSpPr/>
          <p:nvPr/>
        </p:nvSpPr>
        <p:spPr>
          <a:xfrm>
            <a:off x="457200" y="4809600"/>
            <a:ext cx="822888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100" spc="-1" strike="noStrike">
                <a:solidFill>
                  <a:srgbClr val="1a2e42"/>
                </a:solidFill>
                <a:latin typeface="Calibri"/>
                <a:ea typeface="Calibri"/>
              </a:rPr>
              <a:t>⚠️  </a:t>
            </a:r>
            <a:r>
              <a:rPr b="1" lang="en-US" sz="1100" spc="-1" strike="noStrike">
                <a:solidFill>
                  <a:srgbClr val="1a2e42"/>
                </a:solidFill>
                <a:latin typeface="Calibri"/>
                <a:ea typeface="Calibri"/>
              </a:rPr>
              <a:t>Important: TypedDict does NOT validate — it only provides type hints!</a:t>
            </a:r>
            <a:endParaRPr b="0" lang="en-IN" sz="11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Shape 0"/>
          <p:cNvSpPr/>
          <p:nvPr/>
        </p:nvSpPr>
        <p:spPr>
          <a:xfrm>
            <a:off x="0" y="0"/>
            <a:ext cx="9143280" cy="959400"/>
          </a:xfrm>
          <a:prstGeom prst="rect">
            <a:avLst/>
          </a:prstGeom>
          <a:solidFill>
            <a:srgbClr val="0d1b2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44" name="Shape 1"/>
          <p:cNvSpPr/>
          <p:nvPr/>
        </p:nvSpPr>
        <p:spPr>
          <a:xfrm>
            <a:off x="0" y="960120"/>
            <a:ext cx="9143280" cy="54000"/>
          </a:xfrm>
          <a:prstGeom prst="rect">
            <a:avLst/>
          </a:prstGeom>
          <a:solidFill>
            <a:srgbClr val="00b4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pic>
        <p:nvPicPr>
          <p:cNvPr id="245" name="Image 0" descr="preencoded.png"/>
          <p:cNvPicPr/>
          <p:nvPr/>
        </p:nvPicPr>
        <p:blipFill>
          <a:blip r:embed="rId1"/>
          <a:stretch/>
        </p:blipFill>
        <p:spPr>
          <a:xfrm>
            <a:off x="320040" y="182880"/>
            <a:ext cx="547920" cy="547920"/>
          </a:xfrm>
          <a:prstGeom prst="rect">
            <a:avLst/>
          </a:prstGeom>
          <a:ln w="0">
            <a:noFill/>
          </a:ln>
        </p:spPr>
      </p:pic>
      <p:sp>
        <p:nvSpPr>
          <p:cNvPr id="246" name="Text 2"/>
          <p:cNvSpPr/>
          <p:nvPr/>
        </p:nvSpPr>
        <p:spPr>
          <a:xfrm>
            <a:off x="1005840" y="182880"/>
            <a:ext cx="777168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600" spc="-1" strike="noStrike">
                <a:solidFill>
                  <a:srgbClr val="ffffff"/>
                </a:solidFill>
                <a:latin typeface="Calibri"/>
                <a:ea typeface="Calibri"/>
              </a:rPr>
              <a:t>TypedDict Code Example</a:t>
            </a:r>
            <a:endParaRPr b="0" lang="en-IN" sz="2600" spc="-1" strike="noStrike">
              <a:latin typeface="Arial"/>
            </a:endParaRPr>
          </a:p>
        </p:txBody>
      </p:sp>
      <p:sp>
        <p:nvSpPr>
          <p:cNvPr id="247" name="Shape 3"/>
          <p:cNvSpPr/>
          <p:nvPr/>
        </p:nvSpPr>
        <p:spPr>
          <a:xfrm>
            <a:off x="320040" y="1097280"/>
            <a:ext cx="5028480" cy="2925360"/>
          </a:xfrm>
          <a:prstGeom prst="rect">
            <a:avLst/>
          </a:prstGeom>
          <a:solidFill>
            <a:srgbClr val="0d1b2a"/>
          </a:solidFill>
          <a:ln w="0">
            <a:noFill/>
          </a:ln>
          <a:effectLst>
            <a:outerShdw algn="bl" blurRad="76320" dir="8100000" dist="25455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248" name="Text 4"/>
          <p:cNvSpPr/>
          <p:nvPr/>
        </p:nvSpPr>
        <p:spPr>
          <a:xfrm>
            <a:off x="457200" y="1170360"/>
            <a:ext cx="475416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000" spc="-1" strike="noStrike">
                <a:solidFill>
                  <a:srgbClr val="b0c4de"/>
                </a:solidFill>
                <a:latin typeface="Consolas"/>
                <a:ea typeface="Consolas"/>
              </a:rPr>
              <a:t>Code</a:t>
            </a:r>
            <a:endParaRPr b="0" lang="en-IN" sz="1000" spc="-1" strike="noStrike">
              <a:latin typeface="Arial"/>
            </a:endParaRPr>
          </a:p>
        </p:txBody>
      </p:sp>
      <p:sp>
        <p:nvSpPr>
          <p:cNvPr id="249" name="Text 5"/>
          <p:cNvSpPr/>
          <p:nvPr/>
        </p:nvSpPr>
        <p:spPr>
          <a:xfrm>
            <a:off x="457200" y="1463040"/>
            <a:ext cx="4754160" cy="246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48cae4"/>
                </a:solidFill>
                <a:latin typeface="Consolas"/>
                <a:ea typeface="Consolas"/>
              </a:rPr>
              <a:t>from typing import TypedDict</a:t>
            </a:r>
            <a:endParaRPr b="0" lang="en-IN" sz="1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48cae4"/>
                </a:solidFill>
                <a:latin typeface="Consolas"/>
                <a:ea typeface="Consolas"/>
              </a:rPr>
              <a:t>class PersonInfo(TypedDict):</a:t>
            </a:r>
            <a:endParaRPr b="0" lang="en-IN" sz="1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48cae4"/>
                </a:solidFill>
                <a:latin typeface="Consolas"/>
                <a:ea typeface="Consolas"/>
              </a:rPr>
              <a:t>    </a:t>
            </a:r>
            <a:r>
              <a:rPr b="0" lang="en-US" sz="1200" spc="-1" strike="noStrike">
                <a:solidFill>
                  <a:srgbClr val="48cae4"/>
                </a:solidFill>
                <a:latin typeface="Consolas"/>
                <a:ea typeface="Consolas"/>
              </a:rPr>
              <a:t>name: str</a:t>
            </a:r>
            <a:endParaRPr b="0" lang="en-IN" sz="1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48cae4"/>
                </a:solidFill>
                <a:latin typeface="Consolas"/>
                <a:ea typeface="Consolas"/>
              </a:rPr>
              <a:t>    </a:t>
            </a:r>
            <a:r>
              <a:rPr b="0" lang="en-US" sz="1200" spc="-1" strike="noStrike">
                <a:solidFill>
                  <a:srgbClr val="48cae4"/>
                </a:solidFill>
                <a:latin typeface="Consolas"/>
                <a:ea typeface="Consolas"/>
              </a:rPr>
              <a:t>age: int</a:t>
            </a:r>
            <a:endParaRPr b="0" lang="en-IN" sz="1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48cae4"/>
                </a:solidFill>
                <a:latin typeface="Consolas"/>
                <a:ea typeface="Consolas"/>
              </a:rPr>
              <a:t># Create a dictionary</a:t>
            </a:r>
            <a:endParaRPr b="0" lang="en-IN" sz="1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48cae4"/>
                </a:solidFill>
                <a:latin typeface="Consolas"/>
                <a:ea typeface="Consolas"/>
              </a:rPr>
              <a:t>new_person: PersonInfo = {</a:t>
            </a:r>
            <a:endParaRPr b="0" lang="en-IN" sz="1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48cae4"/>
                </a:solidFill>
                <a:latin typeface="Consolas"/>
                <a:ea typeface="Consolas"/>
              </a:rPr>
              <a:t>    </a:t>
            </a:r>
            <a:r>
              <a:rPr b="0" lang="en-US" sz="1200" spc="-1" strike="noStrike">
                <a:solidFill>
                  <a:srgbClr val="48cae4"/>
                </a:solidFill>
                <a:latin typeface="Consolas"/>
                <a:ea typeface="Consolas"/>
              </a:rPr>
              <a:t>'name': 'Ganesh',</a:t>
            </a:r>
            <a:endParaRPr b="0" lang="en-IN" sz="1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48cae4"/>
                </a:solidFill>
                <a:latin typeface="Consolas"/>
                <a:ea typeface="Consolas"/>
              </a:rPr>
              <a:t>    </a:t>
            </a:r>
            <a:r>
              <a:rPr b="0" lang="en-US" sz="1200" spc="-1" strike="noStrike">
                <a:solidFill>
                  <a:srgbClr val="48cae4"/>
                </a:solidFill>
                <a:latin typeface="Consolas"/>
                <a:ea typeface="Consolas"/>
              </a:rPr>
              <a:t>'age': 25</a:t>
            </a:r>
            <a:endParaRPr b="0" lang="en-IN" sz="1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48cae4"/>
                </a:solidFill>
                <a:latin typeface="Consolas"/>
                <a:ea typeface="Consolas"/>
              </a:rPr>
              <a:t>}</a:t>
            </a:r>
            <a:endParaRPr b="0" lang="en-IN" sz="1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48cae4"/>
                </a:solidFill>
                <a:latin typeface="Consolas"/>
                <a:ea typeface="Consolas"/>
              </a:rPr>
              <a:t>print(new_person)</a:t>
            </a:r>
            <a:endParaRPr b="0" lang="en-IN" sz="1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48cae4"/>
                </a:solidFill>
                <a:latin typeface="Consolas"/>
                <a:ea typeface="Consolas"/>
              </a:rPr>
              <a:t>print(type(new_person))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250" name="Shape 6"/>
          <p:cNvSpPr/>
          <p:nvPr/>
        </p:nvSpPr>
        <p:spPr>
          <a:xfrm>
            <a:off x="320040" y="4114800"/>
            <a:ext cx="5028480" cy="867960"/>
          </a:xfrm>
          <a:prstGeom prst="rect">
            <a:avLst/>
          </a:prstGeom>
          <a:solidFill>
            <a:srgbClr val="1a2e4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51" name="Text 7"/>
          <p:cNvSpPr/>
          <p:nvPr/>
        </p:nvSpPr>
        <p:spPr>
          <a:xfrm>
            <a:off x="457200" y="4160520"/>
            <a:ext cx="457128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000" spc="-1" strike="noStrike">
                <a:solidFill>
                  <a:srgbClr val="b0c4de"/>
                </a:solidFill>
                <a:latin typeface="Consolas"/>
                <a:ea typeface="Consolas"/>
              </a:rPr>
              <a:t>Output</a:t>
            </a:r>
            <a:endParaRPr b="0" lang="en-IN" sz="1000" spc="-1" strike="noStrike">
              <a:latin typeface="Arial"/>
            </a:endParaRPr>
          </a:p>
        </p:txBody>
      </p:sp>
      <p:sp>
        <p:nvSpPr>
          <p:cNvPr id="252" name="Text 8"/>
          <p:cNvSpPr/>
          <p:nvPr/>
        </p:nvSpPr>
        <p:spPr>
          <a:xfrm>
            <a:off x="457200" y="4370760"/>
            <a:ext cx="466272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06d6a0"/>
                </a:solidFill>
                <a:latin typeface="Consolas"/>
                <a:ea typeface="Consolas"/>
              </a:rPr>
              <a:t>{'name': 'Ganesh', 'age': 25}</a:t>
            </a:r>
            <a:endParaRPr b="0" lang="en-IN" sz="1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06d6a0"/>
                </a:solidFill>
                <a:latin typeface="Consolas"/>
                <a:ea typeface="Consolas"/>
              </a:rPr>
              <a:t>&lt;class 'dict'&gt;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253" name="Shape 9"/>
          <p:cNvSpPr/>
          <p:nvPr/>
        </p:nvSpPr>
        <p:spPr>
          <a:xfrm>
            <a:off x="5532120" y="1097280"/>
            <a:ext cx="3291120" cy="388548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63360" dir="8100000" dist="25455" kx="0" ky="0" rotWithShape="0" sx="100000" sy="100000">
              <a:srgbClr val="000000">
                <a:alpha val="9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254" name="Shape 10"/>
          <p:cNvSpPr/>
          <p:nvPr/>
        </p:nvSpPr>
        <p:spPr>
          <a:xfrm>
            <a:off x="5532120" y="1097280"/>
            <a:ext cx="3291120" cy="438120"/>
          </a:xfrm>
          <a:prstGeom prst="rect">
            <a:avLst/>
          </a:prstGeom>
          <a:solidFill>
            <a:srgbClr val="0096c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55" name="Text 11"/>
          <p:cNvSpPr/>
          <p:nvPr/>
        </p:nvSpPr>
        <p:spPr>
          <a:xfrm>
            <a:off x="5669280" y="1152000"/>
            <a:ext cx="3016800" cy="32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Key Observations</a:t>
            </a:r>
            <a:endParaRPr b="0" lang="en-IN" sz="1300" spc="-1" strike="noStrike">
              <a:latin typeface="Arial"/>
            </a:endParaRPr>
          </a:p>
        </p:txBody>
      </p:sp>
      <p:sp>
        <p:nvSpPr>
          <p:cNvPr id="256" name="Shape 12"/>
          <p:cNvSpPr/>
          <p:nvPr/>
        </p:nvSpPr>
        <p:spPr>
          <a:xfrm>
            <a:off x="5596200" y="1645920"/>
            <a:ext cx="3135600" cy="547920"/>
          </a:xfrm>
          <a:prstGeom prst="rect">
            <a:avLst/>
          </a:prstGeom>
          <a:solidFill>
            <a:srgbClr val="eaf4f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57" name="Shape 13"/>
          <p:cNvSpPr/>
          <p:nvPr/>
        </p:nvSpPr>
        <p:spPr>
          <a:xfrm>
            <a:off x="5596200" y="1645920"/>
            <a:ext cx="54000" cy="547920"/>
          </a:xfrm>
          <a:prstGeom prst="rect">
            <a:avLst/>
          </a:prstGeom>
          <a:solidFill>
            <a:srgbClr val="00b4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58" name="Text 14"/>
          <p:cNvSpPr/>
          <p:nvPr/>
        </p:nvSpPr>
        <p:spPr>
          <a:xfrm>
            <a:off x="5715000" y="1682640"/>
            <a:ext cx="109656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000" spc="-1" strike="noStrike">
                <a:solidFill>
                  <a:srgbClr val="0096c7"/>
                </a:solidFill>
                <a:latin typeface="Calibri"/>
                <a:ea typeface="Calibri"/>
              </a:rPr>
              <a:t>Import:</a:t>
            </a:r>
            <a:endParaRPr b="0" lang="en-IN" sz="1000" spc="-1" strike="noStrike">
              <a:latin typeface="Arial"/>
            </a:endParaRPr>
          </a:p>
        </p:txBody>
      </p:sp>
      <p:sp>
        <p:nvSpPr>
          <p:cNvPr id="259" name="Text 15"/>
          <p:cNvSpPr/>
          <p:nvPr/>
        </p:nvSpPr>
        <p:spPr>
          <a:xfrm>
            <a:off x="5715000" y="1883520"/>
            <a:ext cx="292536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00" spc="-1" strike="noStrike">
                <a:solidFill>
                  <a:srgbClr val="1a2e42"/>
                </a:solidFill>
                <a:latin typeface="Calibri"/>
                <a:ea typeface="Calibri"/>
              </a:rPr>
              <a:t>Use TypedDict from the typing module</a:t>
            </a:r>
            <a:endParaRPr b="0" lang="en-IN" sz="1100" spc="-1" strike="noStrike">
              <a:latin typeface="Arial"/>
            </a:endParaRPr>
          </a:p>
        </p:txBody>
      </p:sp>
      <p:sp>
        <p:nvSpPr>
          <p:cNvPr id="260" name="Shape 16"/>
          <p:cNvSpPr/>
          <p:nvPr/>
        </p:nvSpPr>
        <p:spPr>
          <a:xfrm>
            <a:off x="5596200" y="2304360"/>
            <a:ext cx="3135600" cy="547920"/>
          </a:xfrm>
          <a:prstGeom prst="rect">
            <a:avLst/>
          </a:prstGeom>
          <a:solidFill>
            <a:srgbClr val="eaf4f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61" name="Shape 17"/>
          <p:cNvSpPr/>
          <p:nvPr/>
        </p:nvSpPr>
        <p:spPr>
          <a:xfrm>
            <a:off x="5596200" y="2304360"/>
            <a:ext cx="54000" cy="547920"/>
          </a:xfrm>
          <a:prstGeom prst="rect">
            <a:avLst/>
          </a:prstGeom>
          <a:solidFill>
            <a:srgbClr val="00b4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62" name="Text 18"/>
          <p:cNvSpPr/>
          <p:nvPr/>
        </p:nvSpPr>
        <p:spPr>
          <a:xfrm>
            <a:off x="5715000" y="2340720"/>
            <a:ext cx="109656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000" spc="-1" strike="noStrike">
                <a:solidFill>
                  <a:srgbClr val="0096c7"/>
                </a:solidFill>
                <a:latin typeface="Calibri"/>
                <a:ea typeface="Calibri"/>
              </a:rPr>
              <a:t>Class syntax:</a:t>
            </a:r>
            <a:endParaRPr b="0" lang="en-IN" sz="1000" spc="-1" strike="noStrike">
              <a:latin typeface="Arial"/>
            </a:endParaRPr>
          </a:p>
        </p:txBody>
      </p:sp>
      <p:sp>
        <p:nvSpPr>
          <p:cNvPr id="263" name="Text 19"/>
          <p:cNvSpPr/>
          <p:nvPr/>
        </p:nvSpPr>
        <p:spPr>
          <a:xfrm>
            <a:off x="5715000" y="2541960"/>
            <a:ext cx="292536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00" spc="-1" strike="noStrike">
                <a:solidFill>
                  <a:srgbClr val="1a2e42"/>
                </a:solidFill>
                <a:latin typeface="Calibri"/>
                <a:ea typeface="Calibri"/>
              </a:rPr>
              <a:t>Define as a class inheriting TypedDict</a:t>
            </a:r>
            <a:endParaRPr b="0" lang="en-IN" sz="1100" spc="-1" strike="noStrike">
              <a:latin typeface="Arial"/>
            </a:endParaRPr>
          </a:p>
        </p:txBody>
      </p:sp>
      <p:sp>
        <p:nvSpPr>
          <p:cNvPr id="264" name="Shape 20"/>
          <p:cNvSpPr/>
          <p:nvPr/>
        </p:nvSpPr>
        <p:spPr>
          <a:xfrm>
            <a:off x="5596200" y="2962800"/>
            <a:ext cx="3135600" cy="547920"/>
          </a:xfrm>
          <a:prstGeom prst="rect">
            <a:avLst/>
          </a:prstGeom>
          <a:solidFill>
            <a:srgbClr val="eaf4f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65" name="Shape 21"/>
          <p:cNvSpPr/>
          <p:nvPr/>
        </p:nvSpPr>
        <p:spPr>
          <a:xfrm>
            <a:off x="5596200" y="2962800"/>
            <a:ext cx="54000" cy="547920"/>
          </a:xfrm>
          <a:prstGeom prst="rect">
            <a:avLst/>
          </a:prstGeom>
          <a:solidFill>
            <a:srgbClr val="00b4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66" name="Text 22"/>
          <p:cNvSpPr/>
          <p:nvPr/>
        </p:nvSpPr>
        <p:spPr>
          <a:xfrm>
            <a:off x="5715000" y="2999160"/>
            <a:ext cx="109656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000" spc="-1" strike="noStrike">
                <a:solidFill>
                  <a:srgbClr val="0096c7"/>
                </a:solidFill>
                <a:latin typeface="Calibri"/>
                <a:ea typeface="Calibri"/>
              </a:rPr>
              <a:t>Type hints:</a:t>
            </a:r>
            <a:endParaRPr b="0" lang="en-IN" sz="1000" spc="-1" strike="noStrike">
              <a:latin typeface="Arial"/>
            </a:endParaRPr>
          </a:p>
        </p:txBody>
      </p:sp>
      <p:sp>
        <p:nvSpPr>
          <p:cNvPr id="267" name="Text 23"/>
          <p:cNvSpPr/>
          <p:nvPr/>
        </p:nvSpPr>
        <p:spPr>
          <a:xfrm>
            <a:off x="5715000" y="3200400"/>
            <a:ext cx="292536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00" spc="-1" strike="noStrike">
                <a:solidFill>
                  <a:srgbClr val="1a2e42"/>
                </a:solidFill>
                <a:latin typeface="Calibri"/>
                <a:ea typeface="Calibri"/>
              </a:rPr>
              <a:t>Annotate each field: name: str, age: int</a:t>
            </a:r>
            <a:endParaRPr b="0" lang="en-IN" sz="1100" spc="-1" strike="noStrike">
              <a:latin typeface="Arial"/>
            </a:endParaRPr>
          </a:p>
        </p:txBody>
      </p:sp>
      <p:sp>
        <p:nvSpPr>
          <p:cNvPr id="268" name="Shape 24"/>
          <p:cNvSpPr/>
          <p:nvPr/>
        </p:nvSpPr>
        <p:spPr>
          <a:xfrm>
            <a:off x="5596200" y="3620880"/>
            <a:ext cx="3135600" cy="547920"/>
          </a:xfrm>
          <a:prstGeom prst="rect">
            <a:avLst/>
          </a:prstGeom>
          <a:solidFill>
            <a:srgbClr val="eaf4f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69" name="Shape 25"/>
          <p:cNvSpPr/>
          <p:nvPr/>
        </p:nvSpPr>
        <p:spPr>
          <a:xfrm>
            <a:off x="5596200" y="3620880"/>
            <a:ext cx="54000" cy="547920"/>
          </a:xfrm>
          <a:prstGeom prst="rect">
            <a:avLst/>
          </a:prstGeom>
          <a:solidFill>
            <a:srgbClr val="00b4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70" name="Text 26"/>
          <p:cNvSpPr/>
          <p:nvPr/>
        </p:nvSpPr>
        <p:spPr>
          <a:xfrm>
            <a:off x="5715000" y="3657600"/>
            <a:ext cx="109656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000" spc="-1" strike="noStrike">
                <a:solidFill>
                  <a:srgbClr val="0096c7"/>
                </a:solidFill>
                <a:latin typeface="Calibri"/>
                <a:ea typeface="Calibri"/>
              </a:rPr>
              <a:t>Returns dict:</a:t>
            </a:r>
            <a:endParaRPr b="0" lang="en-IN" sz="1000" spc="-1" strike="noStrike">
              <a:latin typeface="Arial"/>
            </a:endParaRPr>
          </a:p>
        </p:txBody>
      </p:sp>
      <p:sp>
        <p:nvSpPr>
          <p:cNvPr id="271" name="Text 27"/>
          <p:cNvSpPr/>
          <p:nvPr/>
        </p:nvSpPr>
        <p:spPr>
          <a:xfrm>
            <a:off x="5715000" y="3858840"/>
            <a:ext cx="292536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00" spc="-1" strike="noStrike">
                <a:solidFill>
                  <a:srgbClr val="1a2e42"/>
                </a:solidFill>
                <a:latin typeface="Calibri"/>
                <a:ea typeface="Calibri"/>
              </a:rPr>
              <a:t>Output type is still &lt;class 'dict'&gt;</a:t>
            </a:r>
            <a:endParaRPr b="0" lang="en-IN" sz="1100" spc="-1" strike="noStrike">
              <a:latin typeface="Arial"/>
            </a:endParaRPr>
          </a:p>
        </p:txBody>
      </p:sp>
      <p:sp>
        <p:nvSpPr>
          <p:cNvPr id="272" name="Shape 28"/>
          <p:cNvSpPr/>
          <p:nvPr/>
        </p:nvSpPr>
        <p:spPr>
          <a:xfrm>
            <a:off x="5596200" y="4279320"/>
            <a:ext cx="3135600" cy="547920"/>
          </a:xfrm>
          <a:prstGeom prst="rect">
            <a:avLst/>
          </a:prstGeom>
          <a:solidFill>
            <a:srgbClr val="eaf4f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73" name="Shape 29"/>
          <p:cNvSpPr/>
          <p:nvPr/>
        </p:nvSpPr>
        <p:spPr>
          <a:xfrm>
            <a:off x="5596200" y="4279320"/>
            <a:ext cx="54000" cy="547920"/>
          </a:xfrm>
          <a:prstGeom prst="rect">
            <a:avLst/>
          </a:prstGeom>
          <a:solidFill>
            <a:srgbClr val="00b4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74" name="Text 30"/>
          <p:cNvSpPr/>
          <p:nvPr/>
        </p:nvSpPr>
        <p:spPr>
          <a:xfrm>
            <a:off x="5715000" y="4316040"/>
            <a:ext cx="109656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000" spc="-1" strike="noStrike">
                <a:solidFill>
                  <a:srgbClr val="0096c7"/>
                </a:solidFill>
                <a:latin typeface="Calibri"/>
                <a:ea typeface="Calibri"/>
              </a:rPr>
              <a:t>No errors:</a:t>
            </a:r>
            <a:endParaRPr b="0" lang="en-IN" sz="1000" spc="-1" strike="noStrike">
              <a:latin typeface="Arial"/>
            </a:endParaRPr>
          </a:p>
        </p:txBody>
      </p:sp>
      <p:sp>
        <p:nvSpPr>
          <p:cNvPr id="275" name="Text 31"/>
          <p:cNvSpPr/>
          <p:nvPr/>
        </p:nvSpPr>
        <p:spPr>
          <a:xfrm>
            <a:off x="5715000" y="4517280"/>
            <a:ext cx="292536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00" spc="-1" strike="noStrike">
                <a:solidFill>
                  <a:srgbClr val="1a2e42"/>
                </a:solidFill>
                <a:latin typeface="Calibri"/>
                <a:ea typeface="Calibri"/>
              </a:rPr>
              <a:t>Even wrong types won't raise exceptions</a:t>
            </a:r>
            <a:endParaRPr b="0" lang="en-IN" sz="11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Shape 0"/>
          <p:cNvSpPr/>
          <p:nvPr/>
        </p:nvSpPr>
        <p:spPr>
          <a:xfrm>
            <a:off x="0" y="0"/>
            <a:ext cx="9143280" cy="959400"/>
          </a:xfrm>
          <a:prstGeom prst="rect">
            <a:avLst/>
          </a:prstGeom>
          <a:solidFill>
            <a:srgbClr val="0d1b2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77" name="Shape 1"/>
          <p:cNvSpPr/>
          <p:nvPr/>
        </p:nvSpPr>
        <p:spPr>
          <a:xfrm>
            <a:off x="0" y="960120"/>
            <a:ext cx="9143280" cy="54000"/>
          </a:xfrm>
          <a:prstGeom prst="rect">
            <a:avLst/>
          </a:prstGeom>
          <a:solidFill>
            <a:srgbClr val="00b4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pic>
        <p:nvPicPr>
          <p:cNvPr id="278" name="Image 0" descr="preencoded.png"/>
          <p:cNvPicPr/>
          <p:nvPr/>
        </p:nvPicPr>
        <p:blipFill>
          <a:blip r:embed="rId1"/>
          <a:stretch/>
        </p:blipFill>
        <p:spPr>
          <a:xfrm>
            <a:off x="320040" y="182880"/>
            <a:ext cx="547920" cy="547920"/>
          </a:xfrm>
          <a:prstGeom prst="rect">
            <a:avLst/>
          </a:prstGeom>
          <a:ln w="0">
            <a:noFill/>
          </a:ln>
        </p:spPr>
      </p:pic>
      <p:sp>
        <p:nvSpPr>
          <p:cNvPr id="279" name="Text 2"/>
          <p:cNvSpPr/>
          <p:nvPr/>
        </p:nvSpPr>
        <p:spPr>
          <a:xfrm>
            <a:off x="1005840" y="182880"/>
            <a:ext cx="777168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600" spc="-1" strike="noStrike">
                <a:solidFill>
                  <a:srgbClr val="ffffff"/>
                </a:solidFill>
                <a:latin typeface="Calibri"/>
                <a:ea typeface="Calibri"/>
              </a:rPr>
              <a:t>TypedDict Limitation — No Validation</a:t>
            </a:r>
            <a:endParaRPr b="0" lang="en-IN" sz="2600" spc="-1" strike="noStrike">
              <a:latin typeface="Arial"/>
            </a:endParaRPr>
          </a:p>
        </p:txBody>
      </p:sp>
      <p:sp>
        <p:nvSpPr>
          <p:cNvPr id="280" name="Shape 3"/>
          <p:cNvSpPr/>
          <p:nvPr/>
        </p:nvSpPr>
        <p:spPr>
          <a:xfrm>
            <a:off x="320040" y="1097280"/>
            <a:ext cx="5028480" cy="3108240"/>
          </a:xfrm>
          <a:prstGeom prst="rect">
            <a:avLst/>
          </a:prstGeom>
          <a:solidFill>
            <a:srgbClr val="0d1b2a"/>
          </a:solidFill>
          <a:ln w="0">
            <a:noFill/>
          </a:ln>
          <a:effectLst>
            <a:outerShdw algn="bl" blurRad="76320" dir="8100000" dist="25455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281" name="Text 4"/>
          <p:cNvSpPr/>
          <p:nvPr/>
        </p:nvSpPr>
        <p:spPr>
          <a:xfrm>
            <a:off x="457200" y="1170360"/>
            <a:ext cx="475416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000" spc="-1" strike="noStrike">
                <a:solidFill>
                  <a:srgbClr val="b0c4de"/>
                </a:solidFill>
                <a:latin typeface="Consolas"/>
                <a:ea typeface="Consolas"/>
              </a:rPr>
              <a:t>Limitation Demo</a:t>
            </a:r>
            <a:endParaRPr b="0" lang="en-IN" sz="1000" spc="-1" strike="noStrike">
              <a:latin typeface="Arial"/>
            </a:endParaRPr>
          </a:p>
        </p:txBody>
      </p:sp>
      <p:sp>
        <p:nvSpPr>
          <p:cNvPr id="282" name="Text 5"/>
          <p:cNvSpPr/>
          <p:nvPr/>
        </p:nvSpPr>
        <p:spPr>
          <a:xfrm>
            <a:off x="457200" y="1444680"/>
            <a:ext cx="4754160" cy="265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50" spc="-1" strike="noStrike">
                <a:solidFill>
                  <a:srgbClr val="48cae4"/>
                </a:solidFill>
                <a:latin typeface="Consolas"/>
                <a:ea typeface="Consolas"/>
              </a:rPr>
              <a:t>from typing import TypedDict</a:t>
            </a:r>
            <a:endParaRPr b="0" lang="en-IN" sz="11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1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50" spc="-1" strike="noStrike">
                <a:solidFill>
                  <a:srgbClr val="48cae4"/>
                </a:solidFill>
                <a:latin typeface="Consolas"/>
                <a:ea typeface="Consolas"/>
              </a:rPr>
              <a:t>class PersonInfo(TypedDict):</a:t>
            </a:r>
            <a:endParaRPr b="0" lang="en-IN" sz="11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50" spc="-1" strike="noStrike">
                <a:solidFill>
                  <a:srgbClr val="48cae4"/>
                </a:solidFill>
                <a:latin typeface="Consolas"/>
                <a:ea typeface="Consolas"/>
              </a:rPr>
              <a:t>    </a:t>
            </a:r>
            <a:r>
              <a:rPr b="0" lang="en-US" sz="1150" spc="-1" strike="noStrike">
                <a:solidFill>
                  <a:srgbClr val="48cae4"/>
                </a:solidFill>
                <a:latin typeface="Consolas"/>
                <a:ea typeface="Consolas"/>
              </a:rPr>
              <a:t>name: str</a:t>
            </a:r>
            <a:endParaRPr b="0" lang="en-IN" sz="11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50" spc="-1" strike="noStrike">
                <a:solidFill>
                  <a:srgbClr val="48cae4"/>
                </a:solidFill>
                <a:latin typeface="Consolas"/>
                <a:ea typeface="Consolas"/>
              </a:rPr>
              <a:t>    </a:t>
            </a:r>
            <a:r>
              <a:rPr b="0" lang="en-US" sz="1150" spc="-1" strike="noStrike">
                <a:solidFill>
                  <a:srgbClr val="48cae4"/>
                </a:solidFill>
                <a:latin typeface="Consolas"/>
                <a:ea typeface="Consolas"/>
              </a:rPr>
              <a:t>age: int  # Should be int</a:t>
            </a:r>
            <a:endParaRPr b="0" lang="en-IN" sz="11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1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50" spc="-1" strike="noStrike">
                <a:solidFill>
                  <a:srgbClr val="48cae4"/>
                </a:solidFill>
                <a:latin typeface="Consolas"/>
                <a:ea typeface="Consolas"/>
              </a:rPr>
              <a:t># String instead of int — no error!</a:t>
            </a:r>
            <a:endParaRPr b="0" lang="en-IN" sz="11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50" spc="-1" strike="noStrike">
                <a:solidFill>
                  <a:srgbClr val="48cae4"/>
                </a:solidFill>
                <a:latin typeface="Consolas"/>
                <a:ea typeface="Consolas"/>
              </a:rPr>
              <a:t>new_person: PersonInfo = {</a:t>
            </a:r>
            <a:endParaRPr b="0" lang="en-IN" sz="11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50" spc="-1" strike="noStrike">
                <a:solidFill>
                  <a:srgbClr val="48cae4"/>
                </a:solidFill>
                <a:latin typeface="Consolas"/>
                <a:ea typeface="Consolas"/>
              </a:rPr>
              <a:t>    </a:t>
            </a:r>
            <a:r>
              <a:rPr b="0" lang="en-US" sz="1150" spc="-1" strike="noStrike">
                <a:solidFill>
                  <a:srgbClr val="48cae4"/>
                </a:solidFill>
                <a:latin typeface="Consolas"/>
                <a:ea typeface="Consolas"/>
              </a:rPr>
              <a:t>'name': 'Ganesh',</a:t>
            </a:r>
            <a:endParaRPr b="0" lang="en-IN" sz="11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50" spc="-1" strike="noStrike">
                <a:solidFill>
                  <a:srgbClr val="48cae4"/>
                </a:solidFill>
                <a:latin typeface="Consolas"/>
                <a:ea typeface="Consolas"/>
              </a:rPr>
              <a:t>    </a:t>
            </a:r>
            <a:r>
              <a:rPr b="0" lang="en-US" sz="1150" spc="-1" strike="noStrike">
                <a:solidFill>
                  <a:srgbClr val="48cae4"/>
                </a:solidFill>
                <a:latin typeface="Consolas"/>
                <a:ea typeface="Consolas"/>
              </a:rPr>
              <a:t>'age': '25'  # ← Wrong type!</a:t>
            </a:r>
            <a:endParaRPr b="0" lang="en-IN" sz="11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50" spc="-1" strike="noStrike">
                <a:solidFill>
                  <a:srgbClr val="48cae4"/>
                </a:solidFill>
                <a:latin typeface="Consolas"/>
                <a:ea typeface="Consolas"/>
              </a:rPr>
              <a:t>}</a:t>
            </a:r>
            <a:endParaRPr b="0" lang="en-IN" sz="11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1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50" spc="-1" strike="noStrike">
                <a:solidFill>
                  <a:srgbClr val="48cae4"/>
                </a:solidFill>
                <a:latin typeface="Consolas"/>
                <a:ea typeface="Consolas"/>
              </a:rPr>
              <a:t>print(new_person)</a:t>
            </a:r>
            <a:endParaRPr b="0" lang="en-IN" sz="11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50" spc="-1" strike="noStrike">
                <a:solidFill>
                  <a:srgbClr val="48cae4"/>
                </a:solidFill>
                <a:latin typeface="Consolas"/>
                <a:ea typeface="Consolas"/>
              </a:rPr>
              <a:t>print(type(new_person))</a:t>
            </a:r>
            <a:endParaRPr b="0" lang="en-IN" sz="1150" spc="-1" strike="noStrike">
              <a:latin typeface="Arial"/>
            </a:endParaRPr>
          </a:p>
        </p:txBody>
      </p:sp>
      <p:sp>
        <p:nvSpPr>
          <p:cNvPr id="283" name="Shape 6"/>
          <p:cNvSpPr/>
          <p:nvPr/>
        </p:nvSpPr>
        <p:spPr>
          <a:xfrm>
            <a:off x="320040" y="4297680"/>
            <a:ext cx="5028480" cy="685080"/>
          </a:xfrm>
          <a:prstGeom prst="rect">
            <a:avLst/>
          </a:prstGeom>
          <a:solidFill>
            <a:srgbClr val="1a2e4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84" name="Text 7"/>
          <p:cNvSpPr/>
          <p:nvPr/>
        </p:nvSpPr>
        <p:spPr>
          <a:xfrm>
            <a:off x="457200" y="4343400"/>
            <a:ext cx="457128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000" spc="-1" strike="noStrike">
                <a:solidFill>
                  <a:srgbClr val="ef476f"/>
                </a:solidFill>
                <a:latin typeface="Consolas"/>
                <a:ea typeface="Consolas"/>
              </a:rPr>
              <a:t>Output — No error raised!</a:t>
            </a:r>
            <a:endParaRPr b="0" lang="en-IN" sz="1000" spc="-1" strike="noStrike">
              <a:latin typeface="Arial"/>
            </a:endParaRPr>
          </a:p>
        </p:txBody>
      </p:sp>
      <p:sp>
        <p:nvSpPr>
          <p:cNvPr id="285" name="Text 8"/>
          <p:cNvSpPr/>
          <p:nvPr/>
        </p:nvSpPr>
        <p:spPr>
          <a:xfrm>
            <a:off x="457200" y="4553640"/>
            <a:ext cx="466272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00" spc="-1" strike="noStrike">
                <a:solidFill>
                  <a:srgbClr val="ffd166"/>
                </a:solidFill>
                <a:latin typeface="Consolas"/>
                <a:ea typeface="Consolas"/>
              </a:rPr>
              <a:t>{'name': 'Ganesh', 'age': '25'}</a:t>
            </a:r>
            <a:endParaRPr b="0" lang="en-IN" sz="11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00" spc="-1" strike="noStrike">
                <a:solidFill>
                  <a:srgbClr val="ffd166"/>
                </a:solidFill>
                <a:latin typeface="Consolas"/>
                <a:ea typeface="Consolas"/>
              </a:rPr>
              <a:t>&lt;class 'dict'&gt;</a:t>
            </a:r>
            <a:endParaRPr b="0" lang="en-IN" sz="1100" spc="-1" strike="noStrike">
              <a:latin typeface="Arial"/>
            </a:endParaRPr>
          </a:p>
        </p:txBody>
      </p:sp>
      <p:sp>
        <p:nvSpPr>
          <p:cNvPr id="286" name="Shape 9"/>
          <p:cNvSpPr/>
          <p:nvPr/>
        </p:nvSpPr>
        <p:spPr>
          <a:xfrm>
            <a:off x="5532120" y="1097280"/>
            <a:ext cx="3291120" cy="201096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63360" dir="8100000" dist="25455" kx="0" ky="0" rotWithShape="0" sx="100000" sy="100000">
              <a:srgbClr val="000000">
                <a:alpha val="9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287" name="Shape 10"/>
          <p:cNvSpPr/>
          <p:nvPr/>
        </p:nvSpPr>
        <p:spPr>
          <a:xfrm>
            <a:off x="5532120" y="1097280"/>
            <a:ext cx="3291120" cy="438120"/>
          </a:xfrm>
          <a:prstGeom prst="rect">
            <a:avLst/>
          </a:prstGeom>
          <a:solidFill>
            <a:srgbClr val="ef476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88" name="Text 11"/>
          <p:cNvSpPr/>
          <p:nvPr/>
        </p:nvSpPr>
        <p:spPr>
          <a:xfrm>
            <a:off x="5669280" y="1152000"/>
            <a:ext cx="3016800" cy="32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❌  </a:t>
            </a: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The Problem</a:t>
            </a:r>
            <a:endParaRPr b="0" lang="en-IN" sz="1300" spc="-1" strike="noStrike">
              <a:latin typeface="Arial"/>
            </a:endParaRPr>
          </a:p>
        </p:txBody>
      </p:sp>
      <p:sp>
        <p:nvSpPr>
          <p:cNvPr id="289" name="Text 12"/>
          <p:cNvSpPr/>
          <p:nvPr/>
        </p:nvSpPr>
        <p:spPr>
          <a:xfrm>
            <a:off x="5669280" y="1645920"/>
            <a:ext cx="3062520" cy="132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1a2e42"/>
                </a:solidFill>
                <a:latin typeface="Calibri"/>
                <a:ea typeface="Calibri"/>
              </a:rPr>
              <a:t>TypedDict allows age to be '30' (a string) even though the type hint says int. No error is raised at runtime.</a:t>
            </a:r>
            <a:endParaRPr b="0" lang="en-IN" sz="1300" spc="-1" strike="noStrike">
              <a:latin typeface="Arial"/>
            </a:endParaRPr>
          </a:p>
        </p:txBody>
      </p:sp>
      <p:sp>
        <p:nvSpPr>
          <p:cNvPr id="290" name="Shape 13"/>
          <p:cNvSpPr/>
          <p:nvPr/>
        </p:nvSpPr>
        <p:spPr>
          <a:xfrm>
            <a:off x="5532120" y="3246120"/>
            <a:ext cx="3291120" cy="173664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63360" dir="8100000" dist="25455" kx="0" ky="0" rotWithShape="0" sx="100000" sy="100000">
              <a:srgbClr val="000000">
                <a:alpha val="9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291" name="Shape 14"/>
          <p:cNvSpPr/>
          <p:nvPr/>
        </p:nvSpPr>
        <p:spPr>
          <a:xfrm>
            <a:off x="5532120" y="3246120"/>
            <a:ext cx="3291120" cy="438120"/>
          </a:xfrm>
          <a:prstGeom prst="rect">
            <a:avLst/>
          </a:prstGeom>
          <a:solidFill>
            <a:srgbClr val="06d6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92" name="Text 15"/>
          <p:cNvSpPr/>
          <p:nvPr/>
        </p:nvSpPr>
        <p:spPr>
          <a:xfrm>
            <a:off x="5669280" y="3300840"/>
            <a:ext cx="3016800" cy="32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300" spc="-1" strike="noStrike">
                <a:solidFill>
                  <a:srgbClr val="0d1b2a"/>
                </a:solidFill>
                <a:latin typeface="Calibri"/>
                <a:ea typeface="Calibri"/>
              </a:rPr>
              <a:t>✓  </a:t>
            </a:r>
            <a:r>
              <a:rPr b="1" lang="en-US" sz="1300" spc="-1" strike="noStrike">
                <a:solidFill>
                  <a:srgbClr val="0d1b2a"/>
                </a:solidFill>
                <a:latin typeface="Calibri"/>
                <a:ea typeface="Calibri"/>
              </a:rPr>
              <a:t>The Solution</a:t>
            </a:r>
            <a:endParaRPr b="0" lang="en-IN" sz="1300" spc="-1" strike="noStrike">
              <a:latin typeface="Arial"/>
            </a:endParaRPr>
          </a:p>
        </p:txBody>
      </p:sp>
      <p:sp>
        <p:nvSpPr>
          <p:cNvPr id="293" name="Text 16"/>
          <p:cNvSpPr/>
          <p:nvPr/>
        </p:nvSpPr>
        <p:spPr>
          <a:xfrm>
            <a:off x="5669280" y="3794760"/>
            <a:ext cx="3062520" cy="1050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1a2e42"/>
                </a:solidFill>
                <a:latin typeface="Calibri"/>
                <a:ea typeface="Calibri"/>
              </a:rPr>
              <a:t>Use Pydantic (next section) for actual validation with runtime checks and error throwing.</a:t>
            </a:r>
            <a:endParaRPr b="0" lang="en-IN" sz="13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Shape 0"/>
          <p:cNvSpPr/>
          <p:nvPr/>
        </p:nvSpPr>
        <p:spPr>
          <a:xfrm>
            <a:off x="0" y="0"/>
            <a:ext cx="9143280" cy="5142960"/>
          </a:xfrm>
          <a:prstGeom prst="rect">
            <a:avLst/>
          </a:prstGeom>
          <a:solidFill>
            <a:srgbClr val="1a2e4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95" name="Shape 1"/>
          <p:cNvSpPr/>
          <p:nvPr/>
        </p:nvSpPr>
        <p:spPr>
          <a:xfrm>
            <a:off x="-1371600" y="-1371600"/>
            <a:ext cx="4571280" cy="4571280"/>
          </a:xfrm>
          <a:prstGeom prst="ellipse">
            <a:avLst/>
          </a:prstGeom>
          <a:solidFill>
            <a:srgbClr val="0d1b2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96" name="Shape 2"/>
          <p:cNvSpPr/>
          <p:nvPr/>
        </p:nvSpPr>
        <p:spPr>
          <a:xfrm>
            <a:off x="5943600" y="2286000"/>
            <a:ext cx="4114080" cy="4114080"/>
          </a:xfrm>
          <a:prstGeom prst="ellipse">
            <a:avLst/>
          </a:prstGeom>
          <a:solidFill>
            <a:srgbClr val="0d1b2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97" name="Shape 3"/>
          <p:cNvSpPr/>
          <p:nvPr/>
        </p:nvSpPr>
        <p:spPr>
          <a:xfrm>
            <a:off x="4023360" y="2103120"/>
            <a:ext cx="1096560" cy="54000"/>
          </a:xfrm>
          <a:prstGeom prst="rect">
            <a:avLst/>
          </a:prstGeom>
          <a:solidFill>
            <a:srgbClr val="00b4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98" name="Text 4"/>
          <p:cNvSpPr/>
          <p:nvPr/>
        </p:nvSpPr>
        <p:spPr>
          <a:xfrm>
            <a:off x="4023360" y="1554480"/>
            <a:ext cx="457128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300" spc="596" strike="noStrike">
                <a:solidFill>
                  <a:srgbClr val="48cae4"/>
                </a:solidFill>
                <a:latin typeface="Calibri"/>
                <a:ea typeface="Calibri"/>
              </a:rPr>
              <a:t>METHOD 1 — APPLIED</a:t>
            </a:r>
            <a:endParaRPr b="0" lang="en-IN" sz="1300" spc="-1" strike="noStrike">
              <a:latin typeface="Arial"/>
            </a:endParaRPr>
          </a:p>
        </p:txBody>
      </p:sp>
      <p:sp>
        <p:nvSpPr>
          <p:cNvPr id="299" name="Text 5"/>
          <p:cNvSpPr/>
          <p:nvPr/>
        </p:nvSpPr>
        <p:spPr>
          <a:xfrm>
            <a:off x="4023360" y="2194560"/>
            <a:ext cx="4754160" cy="109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3800" spc="-1" strike="noStrike">
                <a:solidFill>
                  <a:srgbClr val="ffffff"/>
                </a:solidFill>
                <a:latin typeface="Calibri"/>
                <a:ea typeface="Calibri"/>
              </a:rPr>
              <a:t>TypedDict with</a:t>
            </a:r>
            <a:endParaRPr b="0" lang="en-IN" sz="38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3800" spc="-1" strike="noStrike">
                <a:solidFill>
                  <a:srgbClr val="ffffff"/>
                </a:solidFill>
                <a:latin typeface="Calibri"/>
                <a:ea typeface="Calibri"/>
              </a:rPr>
              <a:t>LangChain</a:t>
            </a:r>
            <a:endParaRPr b="0" lang="en-IN" sz="3800" spc="-1" strike="noStrike">
              <a:latin typeface="Arial"/>
            </a:endParaRPr>
          </a:p>
        </p:txBody>
      </p:sp>
      <p:sp>
        <p:nvSpPr>
          <p:cNvPr id="300" name="Text 6"/>
          <p:cNvSpPr/>
          <p:nvPr/>
        </p:nvSpPr>
        <p:spPr>
          <a:xfrm>
            <a:off x="4023360" y="3383280"/>
            <a:ext cx="4754160" cy="82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b0c4de"/>
                </a:solidFill>
                <a:latin typeface="Calibri"/>
                <a:ea typeface="Calibri"/>
              </a:rPr>
              <a:t>Real code examples using with_structured_output() and TypedDict schemas.</a:t>
            </a:r>
            <a:endParaRPr b="0" lang="en-IN" sz="1400" spc="-1" strike="noStrike">
              <a:latin typeface="Arial"/>
            </a:endParaRPr>
          </a:p>
        </p:txBody>
      </p:sp>
      <p:pic>
        <p:nvPicPr>
          <p:cNvPr id="301" name="Image 0" descr="preencoded.png"/>
          <p:cNvPicPr/>
          <p:nvPr/>
        </p:nvPicPr>
        <p:blipFill>
          <a:blip r:embed="rId1"/>
          <a:stretch/>
        </p:blipFill>
        <p:spPr>
          <a:xfrm>
            <a:off x="1005840" y="1463040"/>
            <a:ext cx="1462320" cy="14623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Shape 0"/>
          <p:cNvSpPr/>
          <p:nvPr/>
        </p:nvSpPr>
        <p:spPr>
          <a:xfrm>
            <a:off x="0" y="0"/>
            <a:ext cx="9143280" cy="959400"/>
          </a:xfrm>
          <a:prstGeom prst="rect">
            <a:avLst/>
          </a:prstGeom>
          <a:solidFill>
            <a:srgbClr val="0d1b2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03" name="Shape 1"/>
          <p:cNvSpPr/>
          <p:nvPr/>
        </p:nvSpPr>
        <p:spPr>
          <a:xfrm>
            <a:off x="0" y="960120"/>
            <a:ext cx="9143280" cy="54000"/>
          </a:xfrm>
          <a:prstGeom prst="rect">
            <a:avLst/>
          </a:prstGeom>
          <a:solidFill>
            <a:srgbClr val="00b4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pic>
        <p:nvPicPr>
          <p:cNvPr id="304" name="Image 0" descr="preencoded.png"/>
          <p:cNvPicPr/>
          <p:nvPr/>
        </p:nvPicPr>
        <p:blipFill>
          <a:blip r:embed="rId1"/>
          <a:stretch/>
        </p:blipFill>
        <p:spPr>
          <a:xfrm>
            <a:off x="320040" y="182880"/>
            <a:ext cx="547920" cy="547920"/>
          </a:xfrm>
          <a:prstGeom prst="rect">
            <a:avLst/>
          </a:prstGeom>
          <a:ln w="0">
            <a:noFill/>
          </a:ln>
        </p:spPr>
      </p:pic>
      <p:sp>
        <p:nvSpPr>
          <p:cNvPr id="305" name="Text 2"/>
          <p:cNvSpPr/>
          <p:nvPr/>
        </p:nvSpPr>
        <p:spPr>
          <a:xfrm>
            <a:off x="1005840" y="182880"/>
            <a:ext cx="777168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600" spc="-1" strike="noStrike">
                <a:solidFill>
                  <a:srgbClr val="ffffff"/>
                </a:solidFill>
                <a:latin typeface="Calibri"/>
                <a:ea typeface="Calibri"/>
              </a:rPr>
              <a:t>Example: Phone Review Analysis</a:t>
            </a:r>
            <a:endParaRPr b="0" lang="en-IN" sz="2600" spc="-1" strike="noStrike">
              <a:latin typeface="Arial"/>
            </a:endParaRPr>
          </a:p>
        </p:txBody>
      </p:sp>
      <p:sp>
        <p:nvSpPr>
          <p:cNvPr id="306" name="Shape 3"/>
          <p:cNvSpPr/>
          <p:nvPr/>
        </p:nvSpPr>
        <p:spPr>
          <a:xfrm>
            <a:off x="320040" y="1152000"/>
            <a:ext cx="8503200" cy="401760"/>
          </a:xfrm>
          <a:prstGeom prst="rect">
            <a:avLst/>
          </a:prstGeom>
          <a:solidFill>
            <a:srgbClr val="3a5a7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07" name="Text 4"/>
          <p:cNvSpPr/>
          <p:nvPr/>
        </p:nvSpPr>
        <p:spPr>
          <a:xfrm>
            <a:off x="457200" y="1188720"/>
            <a:ext cx="8228880" cy="32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Problem Statement: Extract structured insights from phone reviews</a:t>
            </a:r>
            <a:endParaRPr b="0" lang="en-IN" sz="1300" spc="-1" strike="noStrike">
              <a:latin typeface="Arial"/>
            </a:endParaRPr>
          </a:p>
        </p:txBody>
      </p:sp>
      <p:sp>
        <p:nvSpPr>
          <p:cNvPr id="308" name="Shape 5"/>
          <p:cNvSpPr/>
          <p:nvPr/>
        </p:nvSpPr>
        <p:spPr>
          <a:xfrm>
            <a:off x="320040" y="1691640"/>
            <a:ext cx="4068360" cy="100512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63360" dir="8100000" dist="25455" kx="0" ky="0" rotWithShape="0" sx="100000" sy="100000">
              <a:srgbClr val="000000">
                <a:alpha val="9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309" name="Shape 6"/>
          <p:cNvSpPr/>
          <p:nvPr/>
        </p:nvSpPr>
        <p:spPr>
          <a:xfrm>
            <a:off x="320040" y="1691640"/>
            <a:ext cx="4068360" cy="438120"/>
          </a:xfrm>
          <a:prstGeom prst="rect">
            <a:avLst/>
          </a:prstGeom>
          <a:solidFill>
            <a:srgbClr val="0096c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10" name="Text 7"/>
          <p:cNvSpPr/>
          <p:nvPr/>
        </p:nvSpPr>
        <p:spPr>
          <a:xfrm>
            <a:off x="457200" y="1737360"/>
            <a:ext cx="374832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📝  </a:t>
            </a: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Goal: Extract Summary</a:t>
            </a:r>
            <a:endParaRPr b="0" lang="en-IN" sz="1300" spc="-1" strike="noStrike">
              <a:latin typeface="Arial"/>
            </a:endParaRPr>
          </a:p>
        </p:txBody>
      </p:sp>
      <p:sp>
        <p:nvSpPr>
          <p:cNvPr id="311" name="Text 8"/>
          <p:cNvSpPr/>
          <p:nvPr/>
        </p:nvSpPr>
        <p:spPr>
          <a:xfrm>
            <a:off x="457200" y="2194560"/>
            <a:ext cx="374832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1a2e42"/>
                </a:solidFill>
                <a:latin typeface="Calibri"/>
                <a:ea typeface="Calibri"/>
              </a:rPr>
              <a:t>A brief overview of the review content</a:t>
            </a:r>
            <a:endParaRPr b="0" lang="en-IN" sz="1300" spc="-1" strike="noStrike">
              <a:latin typeface="Arial"/>
            </a:endParaRPr>
          </a:p>
        </p:txBody>
      </p:sp>
      <p:sp>
        <p:nvSpPr>
          <p:cNvPr id="312" name="Shape 9"/>
          <p:cNvSpPr/>
          <p:nvPr/>
        </p:nvSpPr>
        <p:spPr>
          <a:xfrm>
            <a:off x="4617720" y="1691640"/>
            <a:ext cx="4068360" cy="100512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63360" dir="8100000" dist="25455" kx="0" ky="0" rotWithShape="0" sx="100000" sy="100000">
              <a:srgbClr val="000000">
                <a:alpha val="9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313" name="Shape 10"/>
          <p:cNvSpPr/>
          <p:nvPr/>
        </p:nvSpPr>
        <p:spPr>
          <a:xfrm>
            <a:off x="4617720" y="1691640"/>
            <a:ext cx="4068360" cy="438120"/>
          </a:xfrm>
          <a:prstGeom prst="rect">
            <a:avLst/>
          </a:prstGeom>
          <a:solidFill>
            <a:srgbClr val="0096c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14" name="Text 11"/>
          <p:cNvSpPr/>
          <p:nvPr/>
        </p:nvSpPr>
        <p:spPr>
          <a:xfrm>
            <a:off x="4754880" y="1737360"/>
            <a:ext cx="374832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💬  </a:t>
            </a: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Goal: Extract Sentiment</a:t>
            </a:r>
            <a:endParaRPr b="0" lang="en-IN" sz="1300" spc="-1" strike="noStrike">
              <a:latin typeface="Arial"/>
            </a:endParaRPr>
          </a:p>
        </p:txBody>
      </p:sp>
      <p:sp>
        <p:nvSpPr>
          <p:cNvPr id="315" name="Text 12"/>
          <p:cNvSpPr/>
          <p:nvPr/>
        </p:nvSpPr>
        <p:spPr>
          <a:xfrm>
            <a:off x="4754880" y="2194560"/>
            <a:ext cx="374832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1a2e42"/>
                </a:solidFill>
                <a:latin typeface="Calibri"/>
                <a:ea typeface="Calibri"/>
              </a:rPr>
              <a:t>positive / negative / neutral classification</a:t>
            </a:r>
            <a:endParaRPr b="0" lang="en-IN" sz="1300" spc="-1" strike="noStrike">
              <a:latin typeface="Arial"/>
            </a:endParaRPr>
          </a:p>
        </p:txBody>
      </p:sp>
      <p:sp>
        <p:nvSpPr>
          <p:cNvPr id="316" name="Text 13"/>
          <p:cNvSpPr/>
          <p:nvPr/>
        </p:nvSpPr>
        <p:spPr>
          <a:xfrm>
            <a:off x="320040" y="2834640"/>
            <a:ext cx="3656880" cy="32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500" spc="-1" strike="noStrike">
                <a:solidFill>
                  <a:srgbClr val="1a2e42"/>
                </a:solidFill>
                <a:latin typeface="Calibri"/>
                <a:ea typeface="Calibri"/>
              </a:rPr>
              <a:t>Approach</a:t>
            </a:r>
            <a:endParaRPr b="0" lang="en-IN" sz="1500" spc="-1" strike="noStrike">
              <a:latin typeface="Arial"/>
            </a:endParaRPr>
          </a:p>
        </p:txBody>
      </p:sp>
      <p:sp>
        <p:nvSpPr>
          <p:cNvPr id="317" name="Shape 14"/>
          <p:cNvSpPr/>
          <p:nvPr/>
        </p:nvSpPr>
        <p:spPr>
          <a:xfrm>
            <a:off x="320040" y="3246120"/>
            <a:ext cx="273600" cy="273600"/>
          </a:xfrm>
          <a:prstGeom prst="ellipse">
            <a:avLst/>
          </a:prstGeom>
          <a:solidFill>
            <a:srgbClr val="00b4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18" name="Text 15"/>
          <p:cNvSpPr/>
          <p:nvPr/>
        </p:nvSpPr>
        <p:spPr>
          <a:xfrm>
            <a:off x="320040" y="3246120"/>
            <a:ext cx="2736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100" spc="-1" strike="noStrike">
                <a:solidFill>
                  <a:srgbClr val="0d1b2a"/>
                </a:solidFill>
                <a:latin typeface="Calibri"/>
                <a:ea typeface="DejaVu Sans"/>
              </a:rPr>
              <a:t>1</a:t>
            </a:r>
            <a:endParaRPr b="0" lang="en-IN" sz="1100" spc="-1" strike="noStrike">
              <a:latin typeface="Arial"/>
            </a:endParaRPr>
          </a:p>
        </p:txBody>
      </p:sp>
      <p:sp>
        <p:nvSpPr>
          <p:cNvPr id="319" name="Text 16"/>
          <p:cNvSpPr/>
          <p:nvPr/>
        </p:nvSpPr>
        <p:spPr>
          <a:xfrm>
            <a:off x="685800" y="3246120"/>
            <a:ext cx="3839760" cy="30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1a2e42"/>
                </a:solidFill>
                <a:latin typeface="Calibri"/>
                <a:ea typeface="Calibri"/>
              </a:rPr>
              <a:t>Define schema using TypedDict</a:t>
            </a:r>
            <a:endParaRPr b="0" lang="en-IN" sz="1300" spc="-1" strike="noStrike">
              <a:latin typeface="Arial"/>
            </a:endParaRPr>
          </a:p>
        </p:txBody>
      </p:sp>
      <p:sp>
        <p:nvSpPr>
          <p:cNvPr id="320" name="Shape 17"/>
          <p:cNvSpPr/>
          <p:nvPr/>
        </p:nvSpPr>
        <p:spPr>
          <a:xfrm>
            <a:off x="320040" y="3684960"/>
            <a:ext cx="273600" cy="273600"/>
          </a:xfrm>
          <a:prstGeom prst="ellipse">
            <a:avLst/>
          </a:prstGeom>
          <a:solidFill>
            <a:srgbClr val="00b4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21" name="Text 18"/>
          <p:cNvSpPr/>
          <p:nvPr/>
        </p:nvSpPr>
        <p:spPr>
          <a:xfrm>
            <a:off x="320040" y="3684960"/>
            <a:ext cx="2736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100" spc="-1" strike="noStrike">
                <a:solidFill>
                  <a:srgbClr val="0d1b2a"/>
                </a:solidFill>
                <a:latin typeface="Calibri"/>
                <a:ea typeface="DejaVu Sans"/>
              </a:rPr>
              <a:t>2</a:t>
            </a:r>
            <a:endParaRPr b="0" lang="en-IN" sz="1100" spc="-1" strike="noStrike">
              <a:latin typeface="Arial"/>
            </a:endParaRPr>
          </a:p>
        </p:txBody>
      </p:sp>
      <p:sp>
        <p:nvSpPr>
          <p:cNvPr id="322" name="Text 19"/>
          <p:cNvSpPr/>
          <p:nvPr/>
        </p:nvSpPr>
        <p:spPr>
          <a:xfrm>
            <a:off x="685800" y="3684960"/>
            <a:ext cx="3839760" cy="30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1a2e42"/>
                </a:solidFill>
                <a:latin typeface="Calibri"/>
                <a:ea typeface="Calibri"/>
              </a:rPr>
              <a:t>Use with_structured_output()</a:t>
            </a:r>
            <a:endParaRPr b="0" lang="en-IN" sz="1300" spc="-1" strike="noStrike">
              <a:latin typeface="Arial"/>
            </a:endParaRPr>
          </a:p>
        </p:txBody>
      </p:sp>
      <p:sp>
        <p:nvSpPr>
          <p:cNvPr id="323" name="Shape 20"/>
          <p:cNvSpPr/>
          <p:nvPr/>
        </p:nvSpPr>
        <p:spPr>
          <a:xfrm>
            <a:off x="320040" y="4123800"/>
            <a:ext cx="273600" cy="273600"/>
          </a:xfrm>
          <a:prstGeom prst="ellipse">
            <a:avLst/>
          </a:prstGeom>
          <a:solidFill>
            <a:srgbClr val="00b4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24" name="Text 21"/>
          <p:cNvSpPr/>
          <p:nvPr/>
        </p:nvSpPr>
        <p:spPr>
          <a:xfrm>
            <a:off x="320040" y="4123800"/>
            <a:ext cx="2736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100" spc="-1" strike="noStrike">
                <a:solidFill>
                  <a:srgbClr val="0d1b2a"/>
                </a:solidFill>
                <a:latin typeface="Calibri"/>
                <a:ea typeface="DejaVu Sans"/>
              </a:rPr>
              <a:t>3</a:t>
            </a:r>
            <a:endParaRPr b="0" lang="en-IN" sz="1100" spc="-1" strike="noStrike">
              <a:latin typeface="Arial"/>
            </a:endParaRPr>
          </a:p>
        </p:txBody>
      </p:sp>
      <p:sp>
        <p:nvSpPr>
          <p:cNvPr id="325" name="Text 22"/>
          <p:cNvSpPr/>
          <p:nvPr/>
        </p:nvSpPr>
        <p:spPr>
          <a:xfrm>
            <a:off x="685800" y="4123800"/>
            <a:ext cx="3839760" cy="30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1a2e42"/>
                </a:solidFill>
                <a:latin typeface="Calibri"/>
                <a:ea typeface="Calibri"/>
              </a:rPr>
              <a:t>Invoke model with review text</a:t>
            </a:r>
            <a:endParaRPr b="0" lang="en-IN" sz="1300" spc="-1" strike="noStrike">
              <a:latin typeface="Arial"/>
            </a:endParaRPr>
          </a:p>
        </p:txBody>
      </p:sp>
      <p:sp>
        <p:nvSpPr>
          <p:cNvPr id="326" name="Shape 23"/>
          <p:cNvSpPr/>
          <p:nvPr/>
        </p:nvSpPr>
        <p:spPr>
          <a:xfrm>
            <a:off x="320040" y="4563000"/>
            <a:ext cx="273600" cy="273600"/>
          </a:xfrm>
          <a:prstGeom prst="ellipse">
            <a:avLst/>
          </a:prstGeom>
          <a:solidFill>
            <a:srgbClr val="00b4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27" name="Text 24"/>
          <p:cNvSpPr/>
          <p:nvPr/>
        </p:nvSpPr>
        <p:spPr>
          <a:xfrm>
            <a:off x="320040" y="4563000"/>
            <a:ext cx="2736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100" spc="-1" strike="noStrike">
                <a:solidFill>
                  <a:srgbClr val="0d1b2a"/>
                </a:solidFill>
                <a:latin typeface="Calibri"/>
                <a:ea typeface="DejaVu Sans"/>
              </a:rPr>
              <a:t>4</a:t>
            </a:r>
            <a:endParaRPr b="0" lang="en-IN" sz="1100" spc="-1" strike="noStrike">
              <a:latin typeface="Arial"/>
            </a:endParaRPr>
          </a:p>
        </p:txBody>
      </p:sp>
      <p:sp>
        <p:nvSpPr>
          <p:cNvPr id="328" name="Text 25"/>
          <p:cNvSpPr/>
          <p:nvPr/>
        </p:nvSpPr>
        <p:spPr>
          <a:xfrm>
            <a:off x="685800" y="4563000"/>
            <a:ext cx="3839760" cy="30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1a2e42"/>
                </a:solidFill>
                <a:latin typeface="Calibri"/>
                <a:ea typeface="Calibri"/>
              </a:rPr>
              <a:t>Get back a Python dictionary</a:t>
            </a:r>
            <a:endParaRPr b="0" lang="en-IN" sz="1300" spc="-1" strike="noStrike">
              <a:latin typeface="Arial"/>
            </a:endParaRPr>
          </a:p>
        </p:txBody>
      </p:sp>
      <p:sp>
        <p:nvSpPr>
          <p:cNvPr id="329" name="Shape 26"/>
          <p:cNvSpPr/>
          <p:nvPr/>
        </p:nvSpPr>
        <p:spPr>
          <a:xfrm>
            <a:off x="4846320" y="2816280"/>
            <a:ext cx="3976920" cy="2193840"/>
          </a:xfrm>
          <a:prstGeom prst="rect">
            <a:avLst/>
          </a:prstGeom>
          <a:solidFill>
            <a:srgbClr val="0d1b2a"/>
          </a:solidFill>
          <a:ln w="0">
            <a:noFill/>
          </a:ln>
          <a:effectLst>
            <a:outerShdw algn="bl" blurRad="76320" dir="8100000" dist="25455" kx="0" ky="0" rotWithShape="0" sx="100000" sy="100000">
              <a:srgbClr val="000000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330" name="Text 27"/>
          <p:cNvSpPr/>
          <p:nvPr/>
        </p:nvSpPr>
        <p:spPr>
          <a:xfrm>
            <a:off x="4983480" y="2889360"/>
            <a:ext cx="3748320" cy="23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000" spc="-1" strike="noStrike">
                <a:solidFill>
                  <a:srgbClr val="b0c4de"/>
                </a:solidFill>
                <a:latin typeface="Consolas"/>
                <a:ea typeface="Consolas"/>
              </a:rPr>
              <a:t>Preview: Schema Definition</a:t>
            </a:r>
            <a:endParaRPr b="0" lang="en-IN" sz="1000" spc="-1" strike="noStrike">
              <a:latin typeface="Arial"/>
            </a:endParaRPr>
          </a:p>
        </p:txBody>
      </p:sp>
      <p:sp>
        <p:nvSpPr>
          <p:cNvPr id="331" name="Text 28"/>
          <p:cNvSpPr/>
          <p:nvPr/>
        </p:nvSpPr>
        <p:spPr>
          <a:xfrm>
            <a:off x="4983480" y="3182040"/>
            <a:ext cx="3748320" cy="171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48cae4"/>
                </a:solidFill>
                <a:latin typeface="Consolas"/>
                <a:ea typeface="Consolas"/>
              </a:rPr>
              <a:t>class ReviewAnalysis(TypedDict):</a:t>
            </a:r>
            <a:endParaRPr b="0" lang="en-IN" sz="1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48cae4"/>
                </a:solidFill>
                <a:latin typeface="Consolas"/>
                <a:ea typeface="Consolas"/>
              </a:rPr>
              <a:t>    </a:t>
            </a:r>
            <a:r>
              <a:rPr b="0" lang="en-US" sz="1200" spc="-1" strike="noStrike">
                <a:solidFill>
                  <a:srgbClr val="48cae4"/>
                </a:solidFill>
                <a:latin typeface="Consolas"/>
                <a:ea typeface="Consolas"/>
              </a:rPr>
              <a:t>summary: str</a:t>
            </a:r>
            <a:endParaRPr b="0" lang="en-IN" sz="1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48cae4"/>
                </a:solidFill>
                <a:latin typeface="Consolas"/>
                <a:ea typeface="Consolas"/>
              </a:rPr>
              <a:t>    </a:t>
            </a:r>
            <a:r>
              <a:rPr b="0" lang="en-US" sz="1200" spc="-1" strike="noStrike">
                <a:solidFill>
                  <a:srgbClr val="48cae4"/>
                </a:solidFill>
                <a:latin typeface="Consolas"/>
                <a:ea typeface="Consolas"/>
              </a:rPr>
              <a:t>sentiment: str</a:t>
            </a:r>
            <a:endParaRPr b="0" lang="en-IN" sz="1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48cae4"/>
                </a:solidFill>
                <a:latin typeface="Consolas"/>
                <a:ea typeface="Consolas"/>
              </a:rPr>
              <a:t>structured_llm = llm.with_structured_output(</a:t>
            </a:r>
            <a:endParaRPr b="0" lang="en-IN" sz="1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48cae4"/>
                </a:solidFill>
                <a:latin typeface="Consolas"/>
                <a:ea typeface="Consolas"/>
              </a:rPr>
              <a:t>    </a:t>
            </a:r>
            <a:r>
              <a:rPr b="0" lang="en-US" sz="1200" spc="-1" strike="noStrike">
                <a:solidFill>
                  <a:srgbClr val="48cae4"/>
                </a:solidFill>
                <a:latin typeface="Consolas"/>
                <a:ea typeface="Consolas"/>
              </a:rPr>
              <a:t>ReviewAnalysis</a:t>
            </a:r>
            <a:endParaRPr b="0" lang="en-IN" sz="1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48cae4"/>
                </a:solidFill>
                <a:latin typeface="Consolas"/>
                <a:ea typeface="Consolas"/>
              </a:rPr>
              <a:t>)</a:t>
            </a:r>
            <a:endParaRPr b="0" lang="en-IN" sz="1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Shape 0"/>
          <p:cNvSpPr/>
          <p:nvPr/>
        </p:nvSpPr>
        <p:spPr>
          <a:xfrm>
            <a:off x="0" y="0"/>
            <a:ext cx="9143280" cy="959400"/>
          </a:xfrm>
          <a:prstGeom prst="rect">
            <a:avLst/>
          </a:prstGeom>
          <a:solidFill>
            <a:srgbClr val="0d1b2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33" name="Shape 1"/>
          <p:cNvSpPr/>
          <p:nvPr/>
        </p:nvSpPr>
        <p:spPr>
          <a:xfrm>
            <a:off x="0" y="960120"/>
            <a:ext cx="9143280" cy="54000"/>
          </a:xfrm>
          <a:prstGeom prst="rect">
            <a:avLst/>
          </a:prstGeom>
          <a:solidFill>
            <a:srgbClr val="00b4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pic>
        <p:nvPicPr>
          <p:cNvPr id="334" name="Image 0" descr="preencoded.png"/>
          <p:cNvPicPr/>
          <p:nvPr/>
        </p:nvPicPr>
        <p:blipFill>
          <a:blip r:embed="rId1"/>
          <a:stretch/>
        </p:blipFill>
        <p:spPr>
          <a:xfrm>
            <a:off x="320040" y="182880"/>
            <a:ext cx="547920" cy="547920"/>
          </a:xfrm>
          <a:prstGeom prst="rect">
            <a:avLst/>
          </a:prstGeom>
          <a:ln w="0">
            <a:noFill/>
          </a:ln>
        </p:spPr>
      </p:pic>
      <p:sp>
        <p:nvSpPr>
          <p:cNvPr id="335" name="Text 2"/>
          <p:cNvSpPr/>
          <p:nvPr/>
        </p:nvSpPr>
        <p:spPr>
          <a:xfrm>
            <a:off x="1005840" y="182880"/>
            <a:ext cx="777168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600" spc="-1" strike="noStrike">
                <a:solidFill>
                  <a:srgbClr val="ffffff"/>
                </a:solidFill>
                <a:latin typeface="Calibri"/>
                <a:ea typeface="Calibri"/>
              </a:rPr>
              <a:t>Basic TypedDict + LangChain Code</a:t>
            </a:r>
            <a:endParaRPr b="0" lang="en-IN" sz="2600" spc="-1" strike="noStrike">
              <a:latin typeface="Arial"/>
            </a:endParaRPr>
          </a:p>
        </p:txBody>
      </p:sp>
      <p:sp>
        <p:nvSpPr>
          <p:cNvPr id="336" name="Shape 3"/>
          <p:cNvSpPr/>
          <p:nvPr/>
        </p:nvSpPr>
        <p:spPr>
          <a:xfrm>
            <a:off x="320040" y="1097280"/>
            <a:ext cx="5165640" cy="3748320"/>
          </a:xfrm>
          <a:prstGeom prst="rect">
            <a:avLst/>
          </a:prstGeom>
          <a:solidFill>
            <a:srgbClr val="0d1b2a"/>
          </a:solidFill>
          <a:ln w="0">
            <a:noFill/>
          </a:ln>
          <a:effectLst>
            <a:outerShdw algn="bl" blurRad="76320" dir="8100000" dist="25455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337" name="Text 4"/>
          <p:cNvSpPr/>
          <p:nvPr/>
        </p:nvSpPr>
        <p:spPr>
          <a:xfrm>
            <a:off x="457200" y="1170360"/>
            <a:ext cx="484560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000" spc="-1" strike="noStrike">
                <a:solidFill>
                  <a:srgbClr val="b0c4de"/>
                </a:solidFill>
                <a:latin typeface="Consolas"/>
                <a:ea typeface="Consolas"/>
              </a:rPr>
              <a:t>langchain_review.py</a:t>
            </a:r>
            <a:endParaRPr b="0" lang="en-IN" sz="1000" spc="-1" strike="noStrike">
              <a:latin typeface="Arial"/>
            </a:endParaRPr>
          </a:p>
        </p:txBody>
      </p:sp>
      <p:sp>
        <p:nvSpPr>
          <p:cNvPr id="338" name="Text 5"/>
          <p:cNvSpPr/>
          <p:nvPr/>
        </p:nvSpPr>
        <p:spPr>
          <a:xfrm>
            <a:off x="457200" y="1444680"/>
            <a:ext cx="4937040" cy="327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50" spc="-1" strike="noStrike">
                <a:solidFill>
                  <a:srgbClr val="48cae4"/>
                </a:solidFill>
                <a:latin typeface="Consolas"/>
                <a:ea typeface="Consolas"/>
              </a:rPr>
              <a:t>from langchain_openai import ChatOpenAI</a:t>
            </a:r>
            <a:endParaRPr b="0" lang="en-IN" sz="11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50" spc="-1" strike="noStrike">
                <a:solidFill>
                  <a:srgbClr val="48cae4"/>
                </a:solidFill>
                <a:latin typeface="Consolas"/>
                <a:ea typeface="Consolas"/>
              </a:rPr>
              <a:t>from dotenv import load_dotenv</a:t>
            </a:r>
            <a:endParaRPr b="0" lang="en-IN" sz="11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50" spc="-1" strike="noStrike">
                <a:solidFill>
                  <a:srgbClr val="48cae4"/>
                </a:solidFill>
                <a:latin typeface="Consolas"/>
                <a:ea typeface="Consolas"/>
              </a:rPr>
              <a:t>from typing import TypedDict</a:t>
            </a:r>
            <a:endParaRPr b="0" lang="en-IN" sz="11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1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50" spc="-1" strike="noStrike">
                <a:solidFill>
                  <a:srgbClr val="48cae4"/>
                </a:solidFill>
                <a:latin typeface="Consolas"/>
                <a:ea typeface="Consolas"/>
              </a:rPr>
              <a:t>load_dotenv()</a:t>
            </a:r>
            <a:endParaRPr b="0" lang="en-IN" sz="11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50" spc="-1" strike="noStrike">
                <a:solidFill>
                  <a:srgbClr val="48cae4"/>
                </a:solidFill>
                <a:latin typeface="Consolas"/>
                <a:ea typeface="Consolas"/>
              </a:rPr>
              <a:t>llm = ChatOpenAI()</a:t>
            </a:r>
            <a:endParaRPr b="0" lang="en-IN" sz="11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1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50" spc="-1" strike="noStrike">
                <a:solidFill>
                  <a:srgbClr val="48cae4"/>
                </a:solidFill>
                <a:latin typeface="Consolas"/>
                <a:ea typeface="Consolas"/>
              </a:rPr>
              <a:t>class ReviewAnalysis(TypedDict):</a:t>
            </a:r>
            <a:endParaRPr b="0" lang="en-IN" sz="11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50" spc="-1" strike="noStrike">
                <a:solidFill>
                  <a:srgbClr val="48cae4"/>
                </a:solidFill>
                <a:latin typeface="Consolas"/>
                <a:ea typeface="Consolas"/>
              </a:rPr>
              <a:t>    </a:t>
            </a:r>
            <a:r>
              <a:rPr b="0" lang="en-US" sz="1150" spc="-1" strike="noStrike">
                <a:solidFill>
                  <a:srgbClr val="48cae4"/>
                </a:solidFill>
                <a:latin typeface="Consolas"/>
                <a:ea typeface="Consolas"/>
              </a:rPr>
              <a:t>summary: str</a:t>
            </a:r>
            <a:endParaRPr b="0" lang="en-IN" sz="11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50" spc="-1" strike="noStrike">
                <a:solidFill>
                  <a:srgbClr val="48cae4"/>
                </a:solidFill>
                <a:latin typeface="Consolas"/>
                <a:ea typeface="Consolas"/>
              </a:rPr>
              <a:t>    </a:t>
            </a:r>
            <a:r>
              <a:rPr b="0" lang="en-US" sz="1150" spc="-1" strike="noStrike">
                <a:solidFill>
                  <a:srgbClr val="48cae4"/>
                </a:solidFill>
                <a:latin typeface="Consolas"/>
                <a:ea typeface="Consolas"/>
              </a:rPr>
              <a:t>sentiment: str</a:t>
            </a:r>
            <a:endParaRPr b="0" lang="en-IN" sz="11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1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50" spc="-1" strike="noStrike">
                <a:solidFill>
                  <a:srgbClr val="48cae4"/>
                </a:solidFill>
                <a:latin typeface="Consolas"/>
                <a:ea typeface="Consolas"/>
              </a:rPr>
              <a:t>structured_llm = llm.with_structured_output(</a:t>
            </a:r>
            <a:endParaRPr b="0" lang="en-IN" sz="11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50" spc="-1" strike="noStrike">
                <a:solidFill>
                  <a:srgbClr val="48cae4"/>
                </a:solidFill>
                <a:latin typeface="Consolas"/>
                <a:ea typeface="Consolas"/>
              </a:rPr>
              <a:t>    </a:t>
            </a:r>
            <a:r>
              <a:rPr b="0" lang="en-US" sz="1150" spc="-1" strike="noStrike">
                <a:solidFill>
                  <a:srgbClr val="48cae4"/>
                </a:solidFill>
                <a:latin typeface="Consolas"/>
                <a:ea typeface="Consolas"/>
              </a:rPr>
              <a:t>ReviewAnalysis</a:t>
            </a:r>
            <a:endParaRPr b="0" lang="en-IN" sz="11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50" spc="-1" strike="noStrike">
                <a:solidFill>
                  <a:srgbClr val="48cae4"/>
                </a:solidFill>
                <a:latin typeface="Consolas"/>
                <a:ea typeface="Consolas"/>
              </a:rPr>
              <a:t>)</a:t>
            </a:r>
            <a:endParaRPr b="0" lang="en-IN" sz="11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1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50" spc="-1" strike="noStrike">
                <a:solidFill>
                  <a:srgbClr val="48cae4"/>
                </a:solidFill>
                <a:latin typeface="Consolas"/>
                <a:ea typeface="Consolas"/>
              </a:rPr>
              <a:t>review_text = """The hardware is great, but</a:t>
            </a:r>
            <a:endParaRPr b="0" lang="en-IN" sz="11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50" spc="-1" strike="noStrike">
                <a:solidFill>
                  <a:srgbClr val="48cae4"/>
                </a:solidFill>
                <a:latin typeface="Consolas"/>
                <a:ea typeface="Consolas"/>
              </a:rPr>
              <a:t>the software feels bloated..."""</a:t>
            </a:r>
            <a:endParaRPr b="0" lang="en-IN" sz="11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1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50" spc="-1" strike="noStrike">
                <a:solidFill>
                  <a:srgbClr val="48cae4"/>
                </a:solidFill>
                <a:latin typeface="Consolas"/>
                <a:ea typeface="Consolas"/>
              </a:rPr>
              <a:t>analysis = structured_llm.invoke(review_text)</a:t>
            </a:r>
            <a:endParaRPr b="0" lang="en-IN" sz="11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50" spc="-1" strike="noStrike">
                <a:solidFill>
                  <a:srgbClr val="48cae4"/>
                </a:solidFill>
                <a:latin typeface="Consolas"/>
                <a:ea typeface="Consolas"/>
              </a:rPr>
              <a:t>print(analysis)</a:t>
            </a:r>
            <a:endParaRPr b="0" lang="en-IN" sz="11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50" spc="-1" strike="noStrike">
                <a:solidFill>
                  <a:srgbClr val="48cae4"/>
                </a:solidFill>
                <a:latin typeface="Consolas"/>
                <a:ea typeface="Consolas"/>
              </a:rPr>
              <a:t>print(type(analysis))</a:t>
            </a:r>
            <a:endParaRPr b="0" lang="en-IN" sz="1150" spc="-1" strike="noStrike">
              <a:latin typeface="Arial"/>
            </a:endParaRPr>
          </a:p>
        </p:txBody>
      </p:sp>
      <p:sp>
        <p:nvSpPr>
          <p:cNvPr id="339" name="Shape 6"/>
          <p:cNvSpPr/>
          <p:nvPr/>
        </p:nvSpPr>
        <p:spPr>
          <a:xfrm>
            <a:off x="5623560" y="1097280"/>
            <a:ext cx="3199680" cy="1462320"/>
          </a:xfrm>
          <a:prstGeom prst="rect">
            <a:avLst/>
          </a:prstGeom>
          <a:solidFill>
            <a:srgbClr val="1a2e4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40" name="Text 7"/>
          <p:cNvSpPr/>
          <p:nvPr/>
        </p:nvSpPr>
        <p:spPr>
          <a:xfrm>
            <a:off x="5760720" y="1161360"/>
            <a:ext cx="2925360" cy="23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000" spc="-1" strike="noStrike">
                <a:solidFill>
                  <a:srgbClr val="b0c4de"/>
                </a:solidFill>
                <a:latin typeface="Consolas"/>
                <a:ea typeface="Consolas"/>
              </a:rPr>
              <a:t>Output</a:t>
            </a:r>
            <a:endParaRPr b="0" lang="en-IN" sz="1000" spc="-1" strike="noStrike">
              <a:latin typeface="Arial"/>
            </a:endParaRPr>
          </a:p>
        </p:txBody>
      </p:sp>
      <p:sp>
        <p:nvSpPr>
          <p:cNvPr id="341" name="Text 8"/>
          <p:cNvSpPr/>
          <p:nvPr/>
        </p:nvSpPr>
        <p:spPr>
          <a:xfrm>
            <a:off x="5760720" y="1389960"/>
            <a:ext cx="2943720" cy="109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50" spc="-1" strike="noStrike">
                <a:solidFill>
                  <a:srgbClr val="06d6a0"/>
                </a:solidFill>
                <a:latin typeface="Consolas"/>
                <a:ea typeface="Consolas"/>
              </a:rPr>
              <a:t>{'summary': 'Hardware great but</a:t>
            </a:r>
            <a:endParaRPr b="0" lang="en-IN" sz="10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50" spc="-1" strike="noStrike">
                <a:solidFill>
                  <a:srgbClr val="06d6a0"/>
                </a:solidFill>
                <a:latin typeface="Consolas"/>
                <a:ea typeface="Consolas"/>
              </a:rPr>
              <a:t>software feels bloated...', 'sentiment': 'negative'}</a:t>
            </a:r>
            <a:endParaRPr b="0" lang="en-IN" sz="10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50" spc="-1" strike="noStrike">
                <a:solidFill>
                  <a:srgbClr val="06d6a0"/>
                </a:solidFill>
                <a:latin typeface="Consolas"/>
                <a:ea typeface="Consolas"/>
              </a:rPr>
              <a:t>&lt;class 'dict'&gt;</a:t>
            </a:r>
            <a:endParaRPr b="0" lang="en-IN" sz="1050" spc="-1" strike="noStrike">
              <a:latin typeface="Arial"/>
            </a:endParaRPr>
          </a:p>
        </p:txBody>
      </p:sp>
      <p:sp>
        <p:nvSpPr>
          <p:cNvPr id="342" name="Shape 9"/>
          <p:cNvSpPr/>
          <p:nvPr/>
        </p:nvSpPr>
        <p:spPr>
          <a:xfrm>
            <a:off x="5623560" y="2697480"/>
            <a:ext cx="3199680" cy="1370880"/>
          </a:xfrm>
          <a:prstGeom prst="rect">
            <a:avLst/>
          </a:prstGeom>
          <a:solidFill>
            <a:srgbClr val="0d1b2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43" name="Text 10"/>
          <p:cNvSpPr/>
          <p:nvPr/>
        </p:nvSpPr>
        <p:spPr>
          <a:xfrm>
            <a:off x="5760720" y="2761560"/>
            <a:ext cx="2925360" cy="23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000" spc="-1" strike="noStrike">
                <a:solidFill>
                  <a:srgbClr val="b0c4de"/>
                </a:solidFill>
                <a:latin typeface="Consolas"/>
                <a:ea typeface="Consolas"/>
              </a:rPr>
              <a:t>Accessing Fields</a:t>
            </a:r>
            <a:endParaRPr b="0" lang="en-IN" sz="1000" spc="-1" strike="noStrike">
              <a:latin typeface="Arial"/>
            </a:endParaRPr>
          </a:p>
        </p:txBody>
      </p:sp>
      <p:sp>
        <p:nvSpPr>
          <p:cNvPr id="344" name="Text 11"/>
          <p:cNvSpPr/>
          <p:nvPr/>
        </p:nvSpPr>
        <p:spPr>
          <a:xfrm>
            <a:off x="5760720" y="3017520"/>
            <a:ext cx="2943720" cy="959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00" spc="-1" strike="noStrike">
                <a:solidFill>
                  <a:srgbClr val="48cae4"/>
                </a:solidFill>
                <a:latin typeface="Consolas"/>
                <a:ea typeface="Consolas"/>
              </a:rPr>
              <a:t>print(analysis['summary'])</a:t>
            </a:r>
            <a:endParaRPr b="0" lang="en-IN" sz="11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00" spc="-1" strike="noStrike">
                <a:solidFill>
                  <a:srgbClr val="48cae4"/>
                </a:solidFill>
                <a:latin typeface="Consolas"/>
                <a:ea typeface="Consolas"/>
              </a:rPr>
              <a:t>print(analysis['sentiment'])</a:t>
            </a:r>
            <a:endParaRPr b="0" lang="en-IN" sz="11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1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00" spc="-1" strike="noStrike">
                <a:solidFill>
                  <a:srgbClr val="48cae4"/>
                </a:solidFill>
                <a:latin typeface="Consolas"/>
                <a:ea typeface="Consolas"/>
              </a:rPr>
              <a:t># Output:</a:t>
            </a:r>
            <a:endParaRPr b="0" lang="en-IN" sz="11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00" spc="-1" strike="noStrike">
                <a:solidFill>
                  <a:srgbClr val="48cae4"/>
                </a:solidFill>
                <a:latin typeface="Consolas"/>
                <a:ea typeface="Consolas"/>
              </a:rPr>
              <a:t># Hardware great but...</a:t>
            </a:r>
            <a:endParaRPr b="0" lang="en-IN" sz="11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00" spc="-1" strike="noStrike">
                <a:solidFill>
                  <a:srgbClr val="48cae4"/>
                </a:solidFill>
                <a:latin typeface="Consolas"/>
                <a:ea typeface="Consolas"/>
              </a:rPr>
              <a:t># negative</a:t>
            </a:r>
            <a:endParaRPr b="0" lang="en-IN" sz="1100" spc="-1" strike="noStrike">
              <a:latin typeface="Arial"/>
            </a:endParaRPr>
          </a:p>
        </p:txBody>
      </p:sp>
      <p:sp>
        <p:nvSpPr>
          <p:cNvPr id="345" name="Shape 12"/>
          <p:cNvSpPr/>
          <p:nvPr/>
        </p:nvSpPr>
        <p:spPr>
          <a:xfrm>
            <a:off x="5623560" y="4178880"/>
            <a:ext cx="3199680" cy="639360"/>
          </a:xfrm>
          <a:prstGeom prst="rect">
            <a:avLst/>
          </a:prstGeom>
          <a:solidFill>
            <a:srgbClr val="00b4d8">
              <a:alpha val="12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46" name="Shape 13"/>
          <p:cNvSpPr/>
          <p:nvPr/>
        </p:nvSpPr>
        <p:spPr>
          <a:xfrm>
            <a:off x="5623560" y="4178880"/>
            <a:ext cx="54000" cy="639360"/>
          </a:xfrm>
          <a:prstGeom prst="rect">
            <a:avLst/>
          </a:prstGeom>
          <a:solidFill>
            <a:srgbClr val="00b4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47" name="Text 14"/>
          <p:cNvSpPr/>
          <p:nvPr/>
        </p:nvSpPr>
        <p:spPr>
          <a:xfrm>
            <a:off x="5733360" y="4224600"/>
            <a:ext cx="3016800" cy="51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00" spc="-1" strike="noStrike">
                <a:solidFill>
                  <a:srgbClr val="1a2e42"/>
                </a:solidFill>
                <a:latin typeface="Calibri"/>
                <a:ea typeface="Calibri"/>
              </a:rPr>
              <a:t>Access values using standard Python dict notation: analysis['key']</a:t>
            </a:r>
            <a:endParaRPr b="0" lang="en-IN" sz="11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Shape 0"/>
          <p:cNvSpPr/>
          <p:nvPr/>
        </p:nvSpPr>
        <p:spPr>
          <a:xfrm>
            <a:off x="0" y="0"/>
            <a:ext cx="9143280" cy="959400"/>
          </a:xfrm>
          <a:prstGeom prst="rect">
            <a:avLst/>
          </a:prstGeom>
          <a:solidFill>
            <a:srgbClr val="0d1b2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49" name="Shape 1"/>
          <p:cNvSpPr/>
          <p:nvPr/>
        </p:nvSpPr>
        <p:spPr>
          <a:xfrm>
            <a:off x="0" y="960120"/>
            <a:ext cx="9143280" cy="54000"/>
          </a:xfrm>
          <a:prstGeom prst="rect">
            <a:avLst/>
          </a:prstGeom>
          <a:solidFill>
            <a:srgbClr val="00b4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pic>
        <p:nvPicPr>
          <p:cNvPr id="350" name="Image 0" descr="preencoded.png"/>
          <p:cNvPicPr/>
          <p:nvPr/>
        </p:nvPicPr>
        <p:blipFill>
          <a:blip r:embed="rId1"/>
          <a:stretch/>
        </p:blipFill>
        <p:spPr>
          <a:xfrm>
            <a:off x="320040" y="182880"/>
            <a:ext cx="547920" cy="547920"/>
          </a:xfrm>
          <a:prstGeom prst="rect">
            <a:avLst/>
          </a:prstGeom>
          <a:ln w="0">
            <a:noFill/>
          </a:ln>
        </p:spPr>
      </p:pic>
      <p:sp>
        <p:nvSpPr>
          <p:cNvPr id="351" name="Text 2"/>
          <p:cNvSpPr/>
          <p:nvPr/>
        </p:nvSpPr>
        <p:spPr>
          <a:xfrm>
            <a:off x="1005840" y="182880"/>
            <a:ext cx="777168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600" spc="-1" strike="noStrike">
                <a:solidFill>
                  <a:srgbClr val="ffffff"/>
                </a:solidFill>
                <a:latin typeface="Calibri"/>
                <a:ea typeface="Calibri"/>
              </a:rPr>
              <a:t>TypedDict — Summary</a:t>
            </a:r>
            <a:endParaRPr b="0" lang="en-IN" sz="2600" spc="-1" strike="noStrike">
              <a:latin typeface="Arial"/>
            </a:endParaRPr>
          </a:p>
        </p:txBody>
      </p:sp>
      <p:sp>
        <p:nvSpPr>
          <p:cNvPr id="352" name="Shape 3"/>
          <p:cNvSpPr/>
          <p:nvPr/>
        </p:nvSpPr>
        <p:spPr>
          <a:xfrm>
            <a:off x="320040" y="1115640"/>
            <a:ext cx="2742480" cy="356544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63360" dir="8100000" dist="25455" kx="0" ky="0" rotWithShape="0" sx="100000" sy="100000">
              <a:srgbClr val="000000">
                <a:alpha val="9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353" name="Shape 4"/>
          <p:cNvSpPr/>
          <p:nvPr/>
        </p:nvSpPr>
        <p:spPr>
          <a:xfrm>
            <a:off x="320040" y="1115640"/>
            <a:ext cx="2742480" cy="456480"/>
          </a:xfrm>
          <a:prstGeom prst="rect">
            <a:avLst/>
          </a:prstGeom>
          <a:solidFill>
            <a:srgbClr val="0096c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54" name="Text 5"/>
          <p:cNvSpPr/>
          <p:nvPr/>
        </p:nvSpPr>
        <p:spPr>
          <a:xfrm>
            <a:off x="457200" y="1170360"/>
            <a:ext cx="246816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How TypedDict Works</a:t>
            </a:r>
            <a:endParaRPr b="0" lang="en-IN" sz="1300" spc="-1" strike="noStrike">
              <a:latin typeface="Arial"/>
            </a:endParaRPr>
          </a:p>
        </p:txBody>
      </p:sp>
      <p:pic>
        <p:nvPicPr>
          <p:cNvPr id="355" name="Image 1" descr="preencoded.png"/>
          <p:cNvPicPr/>
          <p:nvPr/>
        </p:nvPicPr>
        <p:blipFill>
          <a:blip r:embed="rId2"/>
          <a:stretch/>
        </p:blipFill>
        <p:spPr>
          <a:xfrm>
            <a:off x="457200" y="1691640"/>
            <a:ext cx="236880" cy="236880"/>
          </a:xfrm>
          <a:prstGeom prst="rect">
            <a:avLst/>
          </a:prstGeom>
          <a:ln w="0">
            <a:noFill/>
          </a:ln>
        </p:spPr>
      </p:pic>
      <p:sp>
        <p:nvSpPr>
          <p:cNvPr id="356" name="Text 6"/>
          <p:cNvSpPr/>
          <p:nvPr/>
        </p:nvSpPr>
        <p:spPr>
          <a:xfrm>
            <a:off x="777240" y="1673280"/>
            <a:ext cx="219384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1a2e42"/>
                </a:solidFill>
                <a:latin typeface="Calibri"/>
                <a:ea typeface="Calibri"/>
              </a:rPr>
              <a:t>Define dictionary structure with type hints</a:t>
            </a:r>
            <a:endParaRPr b="0" lang="en-IN" sz="1200" spc="-1" strike="noStrike">
              <a:latin typeface="Arial"/>
            </a:endParaRPr>
          </a:p>
        </p:txBody>
      </p:sp>
      <p:pic>
        <p:nvPicPr>
          <p:cNvPr id="357" name="Image 2" descr="preencoded.png"/>
          <p:cNvPicPr/>
          <p:nvPr/>
        </p:nvPicPr>
        <p:blipFill>
          <a:blip r:embed="rId3"/>
          <a:stretch/>
        </p:blipFill>
        <p:spPr>
          <a:xfrm>
            <a:off x="457200" y="2331720"/>
            <a:ext cx="236880" cy="236880"/>
          </a:xfrm>
          <a:prstGeom prst="rect">
            <a:avLst/>
          </a:prstGeom>
          <a:ln w="0">
            <a:noFill/>
          </a:ln>
        </p:spPr>
      </p:pic>
      <p:sp>
        <p:nvSpPr>
          <p:cNvPr id="358" name="Text 7"/>
          <p:cNvSpPr/>
          <p:nvPr/>
        </p:nvSpPr>
        <p:spPr>
          <a:xfrm>
            <a:off x="777240" y="2313360"/>
            <a:ext cx="219384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1a2e42"/>
                </a:solidFill>
                <a:latin typeface="Calibri"/>
                <a:ea typeface="Calibri"/>
              </a:rPr>
              <a:t>Use with with_structured_output()</a:t>
            </a:r>
            <a:endParaRPr b="0" lang="en-IN" sz="1200" spc="-1" strike="noStrike">
              <a:latin typeface="Arial"/>
            </a:endParaRPr>
          </a:p>
        </p:txBody>
      </p:sp>
      <p:pic>
        <p:nvPicPr>
          <p:cNvPr id="359" name="Image 3" descr="preencoded.png"/>
          <p:cNvPicPr/>
          <p:nvPr/>
        </p:nvPicPr>
        <p:blipFill>
          <a:blip r:embed="rId4"/>
          <a:stretch/>
        </p:blipFill>
        <p:spPr>
          <a:xfrm>
            <a:off x="457200" y="2971800"/>
            <a:ext cx="236880" cy="236880"/>
          </a:xfrm>
          <a:prstGeom prst="rect">
            <a:avLst/>
          </a:prstGeom>
          <a:ln w="0">
            <a:noFill/>
          </a:ln>
        </p:spPr>
      </p:pic>
      <p:sp>
        <p:nvSpPr>
          <p:cNvPr id="360" name="Text 8"/>
          <p:cNvSpPr/>
          <p:nvPr/>
        </p:nvSpPr>
        <p:spPr>
          <a:xfrm>
            <a:off x="777240" y="2953440"/>
            <a:ext cx="219384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1a2e42"/>
                </a:solidFill>
                <a:latin typeface="Calibri"/>
                <a:ea typeface="Calibri"/>
              </a:rPr>
              <a:t>Get back standard Python dictionaries</a:t>
            </a:r>
            <a:endParaRPr b="0" lang="en-IN" sz="1200" spc="-1" strike="noStrike">
              <a:latin typeface="Arial"/>
            </a:endParaRPr>
          </a:p>
        </p:txBody>
      </p:sp>
      <p:pic>
        <p:nvPicPr>
          <p:cNvPr id="361" name="Image 4" descr="preencoded.png"/>
          <p:cNvPicPr/>
          <p:nvPr/>
        </p:nvPicPr>
        <p:blipFill>
          <a:blip r:embed="rId5"/>
          <a:stretch/>
        </p:blipFill>
        <p:spPr>
          <a:xfrm>
            <a:off x="457200" y="3611880"/>
            <a:ext cx="236880" cy="236880"/>
          </a:xfrm>
          <a:prstGeom prst="rect">
            <a:avLst/>
          </a:prstGeom>
          <a:ln w="0">
            <a:noFill/>
          </a:ln>
        </p:spPr>
      </p:pic>
      <p:sp>
        <p:nvSpPr>
          <p:cNvPr id="362" name="Text 9"/>
          <p:cNvSpPr/>
          <p:nvPr/>
        </p:nvSpPr>
        <p:spPr>
          <a:xfrm>
            <a:off x="777240" y="3593520"/>
            <a:ext cx="219384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1a2e42"/>
                </a:solidFill>
                <a:latin typeface="Calibri"/>
                <a:ea typeface="Calibri"/>
              </a:rPr>
              <a:t>Access values with dict[key] notation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363" name="Shape 10"/>
          <p:cNvSpPr/>
          <p:nvPr/>
        </p:nvSpPr>
        <p:spPr>
          <a:xfrm>
            <a:off x="3246120" y="1115640"/>
            <a:ext cx="2742480" cy="356544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63360" dir="8100000" dist="25455" kx="0" ky="0" rotWithShape="0" sx="100000" sy="100000">
              <a:srgbClr val="000000">
                <a:alpha val="9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364" name="Shape 11"/>
          <p:cNvSpPr/>
          <p:nvPr/>
        </p:nvSpPr>
        <p:spPr>
          <a:xfrm>
            <a:off x="3246120" y="1115640"/>
            <a:ext cx="2742480" cy="456480"/>
          </a:xfrm>
          <a:prstGeom prst="rect">
            <a:avLst/>
          </a:prstGeom>
          <a:solidFill>
            <a:srgbClr val="06d6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65" name="Text 12"/>
          <p:cNvSpPr/>
          <p:nvPr/>
        </p:nvSpPr>
        <p:spPr>
          <a:xfrm>
            <a:off x="3383280" y="1170360"/>
            <a:ext cx="246816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300" spc="-1" strike="noStrike">
                <a:solidFill>
                  <a:srgbClr val="0d1b2a"/>
                </a:solidFill>
                <a:latin typeface="Calibri"/>
                <a:ea typeface="Calibri"/>
              </a:rPr>
              <a:t>Advantages</a:t>
            </a:r>
            <a:endParaRPr b="0" lang="en-IN" sz="1300" spc="-1" strike="noStrike">
              <a:latin typeface="Arial"/>
            </a:endParaRPr>
          </a:p>
        </p:txBody>
      </p:sp>
      <p:pic>
        <p:nvPicPr>
          <p:cNvPr id="366" name="Image 5" descr="preencoded.png"/>
          <p:cNvPicPr/>
          <p:nvPr/>
        </p:nvPicPr>
        <p:blipFill>
          <a:blip r:embed="rId6"/>
          <a:stretch/>
        </p:blipFill>
        <p:spPr>
          <a:xfrm>
            <a:off x="3383280" y="1691640"/>
            <a:ext cx="236880" cy="236880"/>
          </a:xfrm>
          <a:prstGeom prst="rect">
            <a:avLst/>
          </a:prstGeom>
          <a:ln w="0">
            <a:noFill/>
          </a:ln>
        </p:spPr>
      </p:pic>
      <p:sp>
        <p:nvSpPr>
          <p:cNvPr id="367" name="Text 13"/>
          <p:cNvSpPr/>
          <p:nvPr/>
        </p:nvSpPr>
        <p:spPr>
          <a:xfrm>
            <a:off x="3703320" y="1673280"/>
            <a:ext cx="219384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1a2e42"/>
                </a:solidFill>
                <a:latin typeface="Calibri"/>
                <a:ea typeface="Calibri"/>
              </a:rPr>
              <a:t>Simple, clean syntax</a:t>
            </a:r>
            <a:endParaRPr b="0" lang="en-IN" sz="1200" spc="-1" strike="noStrike">
              <a:latin typeface="Arial"/>
            </a:endParaRPr>
          </a:p>
        </p:txBody>
      </p:sp>
      <p:pic>
        <p:nvPicPr>
          <p:cNvPr id="368" name="Image 6" descr="preencoded.png"/>
          <p:cNvPicPr/>
          <p:nvPr/>
        </p:nvPicPr>
        <p:blipFill>
          <a:blip r:embed="rId7"/>
          <a:stretch/>
        </p:blipFill>
        <p:spPr>
          <a:xfrm>
            <a:off x="3383280" y="2331720"/>
            <a:ext cx="236880" cy="236880"/>
          </a:xfrm>
          <a:prstGeom prst="rect">
            <a:avLst/>
          </a:prstGeom>
          <a:ln w="0">
            <a:noFill/>
          </a:ln>
        </p:spPr>
      </p:pic>
      <p:sp>
        <p:nvSpPr>
          <p:cNvPr id="369" name="Text 14"/>
          <p:cNvSpPr/>
          <p:nvPr/>
        </p:nvSpPr>
        <p:spPr>
          <a:xfrm>
            <a:off x="3703320" y="2313360"/>
            <a:ext cx="219384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1a2e42"/>
                </a:solidFill>
                <a:latin typeface="Calibri"/>
                <a:ea typeface="Calibri"/>
              </a:rPr>
              <a:t>Native Python support (no extra libraries)</a:t>
            </a:r>
            <a:endParaRPr b="0" lang="en-IN" sz="1200" spc="-1" strike="noStrike">
              <a:latin typeface="Arial"/>
            </a:endParaRPr>
          </a:p>
        </p:txBody>
      </p:sp>
      <p:pic>
        <p:nvPicPr>
          <p:cNvPr id="370" name="Image 7" descr="preencoded.png"/>
          <p:cNvPicPr/>
          <p:nvPr/>
        </p:nvPicPr>
        <p:blipFill>
          <a:blip r:embed="rId8"/>
          <a:stretch/>
        </p:blipFill>
        <p:spPr>
          <a:xfrm>
            <a:off x="3383280" y="2971800"/>
            <a:ext cx="236880" cy="236880"/>
          </a:xfrm>
          <a:prstGeom prst="rect">
            <a:avLst/>
          </a:prstGeom>
          <a:ln w="0">
            <a:noFill/>
          </a:ln>
        </p:spPr>
      </p:pic>
      <p:sp>
        <p:nvSpPr>
          <p:cNvPr id="371" name="Text 15"/>
          <p:cNvSpPr/>
          <p:nvPr/>
        </p:nvSpPr>
        <p:spPr>
          <a:xfrm>
            <a:off x="3703320" y="2953440"/>
            <a:ext cx="219384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1a2e42"/>
                </a:solidFill>
                <a:latin typeface="Calibri"/>
                <a:ea typeface="Calibri"/>
              </a:rPr>
              <a:t>Good for basic use cases</a:t>
            </a:r>
            <a:endParaRPr b="0" lang="en-IN" sz="1200" spc="-1" strike="noStrike">
              <a:latin typeface="Arial"/>
            </a:endParaRPr>
          </a:p>
        </p:txBody>
      </p:sp>
      <p:pic>
        <p:nvPicPr>
          <p:cNvPr id="372" name="Image 8" descr="preencoded.png"/>
          <p:cNvPicPr/>
          <p:nvPr/>
        </p:nvPicPr>
        <p:blipFill>
          <a:blip r:embed="rId9"/>
          <a:stretch/>
        </p:blipFill>
        <p:spPr>
          <a:xfrm>
            <a:off x="3383280" y="3611880"/>
            <a:ext cx="236880" cy="236880"/>
          </a:xfrm>
          <a:prstGeom prst="rect">
            <a:avLst/>
          </a:prstGeom>
          <a:ln w="0">
            <a:noFill/>
          </a:ln>
        </p:spPr>
      </p:pic>
      <p:sp>
        <p:nvSpPr>
          <p:cNvPr id="373" name="Text 16"/>
          <p:cNvSpPr/>
          <p:nvPr/>
        </p:nvSpPr>
        <p:spPr>
          <a:xfrm>
            <a:off x="3703320" y="3593520"/>
            <a:ext cx="219384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1a2e42"/>
                </a:solidFill>
                <a:latin typeface="Calibri"/>
                <a:ea typeface="Calibri"/>
              </a:rPr>
              <a:t>Code editors provide type hints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374" name="Shape 17"/>
          <p:cNvSpPr/>
          <p:nvPr/>
        </p:nvSpPr>
        <p:spPr>
          <a:xfrm>
            <a:off x="6172200" y="1115640"/>
            <a:ext cx="2742480" cy="356544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63360" dir="8100000" dist="25455" kx="0" ky="0" rotWithShape="0" sx="100000" sy="100000">
              <a:srgbClr val="000000">
                <a:alpha val="9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375" name="Shape 18"/>
          <p:cNvSpPr/>
          <p:nvPr/>
        </p:nvSpPr>
        <p:spPr>
          <a:xfrm>
            <a:off x="6172200" y="1115640"/>
            <a:ext cx="2742480" cy="456480"/>
          </a:xfrm>
          <a:prstGeom prst="rect">
            <a:avLst/>
          </a:prstGeom>
          <a:solidFill>
            <a:srgbClr val="ef476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76" name="Text 19"/>
          <p:cNvSpPr/>
          <p:nvPr/>
        </p:nvSpPr>
        <p:spPr>
          <a:xfrm>
            <a:off x="6309360" y="1170360"/>
            <a:ext cx="246816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Limitations</a:t>
            </a:r>
            <a:endParaRPr b="0" lang="en-IN" sz="1300" spc="-1" strike="noStrike">
              <a:latin typeface="Arial"/>
            </a:endParaRPr>
          </a:p>
        </p:txBody>
      </p:sp>
      <p:pic>
        <p:nvPicPr>
          <p:cNvPr id="377" name="Image 9" descr="preencoded.png"/>
          <p:cNvPicPr/>
          <p:nvPr/>
        </p:nvPicPr>
        <p:blipFill>
          <a:blip r:embed="rId10"/>
          <a:stretch/>
        </p:blipFill>
        <p:spPr>
          <a:xfrm>
            <a:off x="6309360" y="1691640"/>
            <a:ext cx="236880" cy="236880"/>
          </a:xfrm>
          <a:prstGeom prst="rect">
            <a:avLst/>
          </a:prstGeom>
          <a:ln w="0">
            <a:noFill/>
          </a:ln>
        </p:spPr>
      </p:pic>
      <p:sp>
        <p:nvSpPr>
          <p:cNvPr id="378" name="Text 20"/>
          <p:cNvSpPr/>
          <p:nvPr/>
        </p:nvSpPr>
        <p:spPr>
          <a:xfrm>
            <a:off x="6629400" y="1673280"/>
            <a:ext cx="219384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1a2e42"/>
                </a:solidFill>
                <a:latin typeface="Calibri"/>
                <a:ea typeface="Calibri"/>
              </a:rPr>
              <a:t>No runtime validation</a:t>
            </a:r>
            <a:endParaRPr b="0" lang="en-IN" sz="1200" spc="-1" strike="noStrike">
              <a:latin typeface="Arial"/>
            </a:endParaRPr>
          </a:p>
        </p:txBody>
      </p:sp>
      <p:pic>
        <p:nvPicPr>
          <p:cNvPr id="379" name="Image 10" descr="preencoded.png"/>
          <p:cNvPicPr/>
          <p:nvPr/>
        </p:nvPicPr>
        <p:blipFill>
          <a:blip r:embed="rId11"/>
          <a:stretch/>
        </p:blipFill>
        <p:spPr>
          <a:xfrm>
            <a:off x="6309360" y="2331720"/>
            <a:ext cx="236880" cy="236880"/>
          </a:xfrm>
          <a:prstGeom prst="rect">
            <a:avLst/>
          </a:prstGeom>
          <a:ln w="0">
            <a:noFill/>
          </a:ln>
        </p:spPr>
      </p:pic>
      <p:sp>
        <p:nvSpPr>
          <p:cNvPr id="380" name="Text 21"/>
          <p:cNvSpPr/>
          <p:nvPr/>
        </p:nvSpPr>
        <p:spPr>
          <a:xfrm>
            <a:off x="6629400" y="2313360"/>
            <a:ext cx="219384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1a2e42"/>
                </a:solidFill>
                <a:latin typeface="Calibri"/>
                <a:ea typeface="Calibri"/>
              </a:rPr>
              <a:t>No type coercion (str won't become int)</a:t>
            </a:r>
            <a:endParaRPr b="0" lang="en-IN" sz="1200" spc="-1" strike="noStrike">
              <a:latin typeface="Arial"/>
            </a:endParaRPr>
          </a:p>
        </p:txBody>
      </p:sp>
      <p:pic>
        <p:nvPicPr>
          <p:cNvPr id="381" name="Image 11" descr="preencoded.png"/>
          <p:cNvPicPr/>
          <p:nvPr/>
        </p:nvPicPr>
        <p:blipFill>
          <a:blip r:embed="rId12"/>
          <a:stretch/>
        </p:blipFill>
        <p:spPr>
          <a:xfrm>
            <a:off x="6309360" y="2971800"/>
            <a:ext cx="236880" cy="236880"/>
          </a:xfrm>
          <a:prstGeom prst="rect">
            <a:avLst/>
          </a:prstGeom>
          <a:ln w="0">
            <a:noFill/>
          </a:ln>
        </p:spPr>
      </p:pic>
      <p:sp>
        <p:nvSpPr>
          <p:cNvPr id="382" name="Text 22"/>
          <p:cNvSpPr/>
          <p:nvPr/>
        </p:nvSpPr>
        <p:spPr>
          <a:xfrm>
            <a:off x="6629400" y="2953440"/>
            <a:ext cx="219384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1a2e42"/>
                </a:solidFill>
                <a:latin typeface="Calibri"/>
                <a:ea typeface="Calibri"/>
              </a:rPr>
              <a:t>No default values</a:t>
            </a:r>
            <a:endParaRPr b="0" lang="en-IN" sz="1200" spc="-1" strike="noStrike">
              <a:latin typeface="Arial"/>
            </a:endParaRPr>
          </a:p>
        </p:txBody>
      </p:sp>
      <p:pic>
        <p:nvPicPr>
          <p:cNvPr id="383" name="Image 12" descr="preencoded.png"/>
          <p:cNvPicPr/>
          <p:nvPr/>
        </p:nvPicPr>
        <p:blipFill>
          <a:blip r:embed="rId13"/>
          <a:stretch/>
        </p:blipFill>
        <p:spPr>
          <a:xfrm>
            <a:off x="6309360" y="3611880"/>
            <a:ext cx="236880" cy="236880"/>
          </a:xfrm>
          <a:prstGeom prst="rect">
            <a:avLst/>
          </a:prstGeom>
          <a:ln w="0">
            <a:noFill/>
          </a:ln>
        </p:spPr>
      </p:pic>
      <p:sp>
        <p:nvSpPr>
          <p:cNvPr id="384" name="Text 23"/>
          <p:cNvSpPr/>
          <p:nvPr/>
        </p:nvSpPr>
        <p:spPr>
          <a:xfrm>
            <a:off x="6629400" y="3593520"/>
            <a:ext cx="219384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1a2e42"/>
                </a:solidFill>
                <a:latin typeface="Calibri"/>
                <a:ea typeface="Calibri"/>
              </a:rPr>
              <a:t>No constraints (e.g. age &gt; 0)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385" name="Shape 24"/>
          <p:cNvSpPr/>
          <p:nvPr/>
        </p:nvSpPr>
        <p:spPr>
          <a:xfrm>
            <a:off x="320040" y="4773240"/>
            <a:ext cx="8503200" cy="291960"/>
          </a:xfrm>
          <a:prstGeom prst="rect">
            <a:avLst/>
          </a:prstGeom>
          <a:solidFill>
            <a:srgbClr val="ffd166">
              <a:alpha val="22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pic>
        <p:nvPicPr>
          <p:cNvPr id="386" name="Image 13" descr="preencoded.png"/>
          <p:cNvPicPr/>
          <p:nvPr/>
        </p:nvPicPr>
        <p:blipFill>
          <a:blip r:embed="rId14"/>
          <a:stretch/>
        </p:blipFill>
        <p:spPr>
          <a:xfrm>
            <a:off x="402480" y="4818960"/>
            <a:ext cx="200520" cy="200520"/>
          </a:xfrm>
          <a:prstGeom prst="rect">
            <a:avLst/>
          </a:prstGeom>
          <a:ln w="0">
            <a:noFill/>
          </a:ln>
        </p:spPr>
      </p:pic>
      <p:sp>
        <p:nvSpPr>
          <p:cNvPr id="387" name="Text 25"/>
          <p:cNvSpPr/>
          <p:nvPr/>
        </p:nvSpPr>
        <p:spPr>
          <a:xfrm>
            <a:off x="658440" y="4818960"/>
            <a:ext cx="804600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100" spc="-1" strike="noStrike">
                <a:solidFill>
                  <a:srgbClr val="1a2e42"/>
                </a:solidFill>
                <a:latin typeface="Calibri"/>
                <a:ea typeface="Calibri"/>
              </a:rPr>
              <a:t>For validation &amp; constraints, use Pydantic — covered in Part 2B!</a:t>
            </a:r>
            <a:endParaRPr b="0" lang="en-IN" sz="11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80</TotalTime>
  <Application>LibreOffice/7.3.7.2$Linux_X86_64 LibreOffice_project/30$Build-2</Application>
  <AppVersion>15.0000</AppVersion>
  <Words>0</Words>
  <Paragraphs>0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2026-03-19T15:35:44Z</dcterms:created>
  <dc:creator>PptxGenJS</dc:creator>
  <dc:description/>
  <dc:language>en-IN</dc:language>
  <cp:lastModifiedBy/>
  <dcterms:modified xsi:type="dcterms:W3CDTF">2026-03-21T12:55:47Z</dcterms:modified>
  <cp:revision>4</cp:revision>
  <dc:subject>PptxGenJS Presentation</dc:subject>
  <dc:title>PptxGenJS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15</vt:i4>
  </property>
  <property fmtid="{D5CDD505-2E9C-101B-9397-08002B2CF9AE}" pid="3" name="PresentationFormat">
    <vt:lpwstr>On-screen Show (16:9)</vt:lpwstr>
  </property>
  <property fmtid="{D5CDD505-2E9C-101B-9397-08002B2CF9AE}" pid="4" name="Slides">
    <vt:i4>15</vt:i4>
  </property>
</Properties>
</file>