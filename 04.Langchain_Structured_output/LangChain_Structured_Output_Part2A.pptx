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30.png" ContentType="image/png"/>
  <Override PartName="/ppt/media/image39.png" ContentType="image/png"/>
  <Override PartName="/ppt/media/image9.png" ContentType="image/png"/>
  <Override PartName="/ppt/media/image38.png" ContentType="image/png"/>
  <Override PartName="/ppt/media/image8.png" ContentType="image/png"/>
  <Override PartName="/ppt/media/image49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990E247-C3AA-4EB4-8C6C-13084F08C1EA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0BB0AE-4094-4E7B-9414-6D66DA35F2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59B15E-7B38-4B0D-8C68-55FB8D8DD86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40D980-7DD2-4C00-93AB-C6EDAC4BEB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7D853B-2C0E-437E-9C00-1723978700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AFB69F-5708-4E66-8D93-3FBD5DF13E2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968ADF-5CB2-4798-94F0-935335E237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EF820B-6599-423C-9058-EBB525BA3E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04266C-36DB-49B9-8C06-05207A0D8F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52679B-B15F-45C8-9523-155E1F1A652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D4BD05-F38D-4E5C-BE6D-7D769A224CC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EC9B05-F571-4F1D-A30E-07684D02A0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A197FA-755E-4C43-864C-4F4C36AC42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A5A92C-E002-437D-820A-F7C9DD524A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5BA1A9-B5CB-4295-AFC1-68C4068829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820B34-7756-4283-991E-9FE4F7416E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840" cy="274284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64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20004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3474360" cy="402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3474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Part 2A: Schema Definition Methods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The Power of Structured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52000"/>
            <a:ext cx="8503560" cy="38376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4"/>
          <p:cNvSpPr/>
          <p:nvPr/>
        </p:nvSpPr>
        <p:spPr>
          <a:xfrm>
            <a:off x="457200" y="118872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Transforming LLM Communication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320040" y="1664280"/>
            <a:ext cx="388584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6"/>
          <p:cNvSpPr/>
          <p:nvPr/>
        </p:nvSpPr>
        <p:spPr>
          <a:xfrm>
            <a:off x="320040" y="1664280"/>
            <a:ext cx="388584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7"/>
          <p:cNvSpPr/>
          <p:nvPr/>
        </p:nvSpPr>
        <p:spPr>
          <a:xfrm>
            <a:off x="457200" y="17100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Before Structured Output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411480" y="2231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5" name="Text 8"/>
          <p:cNvSpPr/>
          <p:nvPr/>
        </p:nvSpPr>
        <p:spPr>
          <a:xfrm>
            <a:off x="749880" y="220356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LLMs only talked to humans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66" name="Image 2" descr="preencoded.png"/>
          <p:cNvPicPr/>
          <p:nvPr/>
        </p:nvPicPr>
        <p:blipFill>
          <a:blip r:embed="rId3"/>
          <a:stretch/>
        </p:blipFill>
        <p:spPr>
          <a:xfrm>
            <a:off x="411480" y="2816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7" name="Text 9"/>
          <p:cNvSpPr/>
          <p:nvPr/>
        </p:nvSpPr>
        <p:spPr>
          <a:xfrm>
            <a:off x="749880" y="278892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Responses were textual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68" name="Image 3" descr="preencoded.png"/>
          <p:cNvPicPr/>
          <p:nvPr/>
        </p:nvPicPr>
        <p:blipFill>
          <a:blip r:embed="rId4"/>
          <a:stretch/>
        </p:blipFill>
        <p:spPr>
          <a:xfrm>
            <a:off x="411480" y="34016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9" name="Text 10"/>
          <p:cNvSpPr/>
          <p:nvPr/>
        </p:nvSpPr>
        <p:spPr>
          <a:xfrm>
            <a:off x="749880" y="337428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Difficult to integrate with systems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0" name="Image 4" descr="preencoded.png"/>
          <p:cNvPicPr/>
          <p:nvPr/>
        </p:nvPicPr>
        <p:blipFill>
          <a:blip r:embed="rId5"/>
          <a:stretch/>
        </p:blipFill>
        <p:spPr>
          <a:xfrm>
            <a:off x="411480" y="39866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1" name="Text 11"/>
          <p:cNvSpPr/>
          <p:nvPr/>
        </p:nvSpPr>
        <p:spPr>
          <a:xfrm>
            <a:off x="749880" y="395928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Limited automation potential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2" name="Image 5" descr="preencoded.png"/>
          <p:cNvPicPr/>
          <p:nvPr/>
        </p:nvPicPr>
        <p:blipFill>
          <a:blip r:embed="rId6"/>
          <a:stretch/>
        </p:blipFill>
        <p:spPr>
          <a:xfrm>
            <a:off x="4297680" y="26517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73" name="Shape 12"/>
          <p:cNvSpPr/>
          <p:nvPr/>
        </p:nvSpPr>
        <p:spPr>
          <a:xfrm>
            <a:off x="4892040" y="1664280"/>
            <a:ext cx="393156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13"/>
          <p:cNvSpPr/>
          <p:nvPr/>
        </p:nvSpPr>
        <p:spPr>
          <a:xfrm>
            <a:off x="4892040" y="1664280"/>
            <a:ext cx="39315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4"/>
          <p:cNvSpPr/>
          <p:nvPr/>
        </p:nvSpPr>
        <p:spPr>
          <a:xfrm>
            <a:off x="5029200" y="17100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✓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After Structured Output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6" name="Image 6" descr="preencoded.png"/>
          <p:cNvPicPr/>
          <p:nvPr/>
        </p:nvPicPr>
        <p:blipFill>
          <a:blip r:embed="rId7"/>
          <a:stretch/>
        </p:blipFill>
        <p:spPr>
          <a:xfrm>
            <a:off x="4983480" y="2231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7" name="Text 15"/>
          <p:cNvSpPr/>
          <p:nvPr/>
        </p:nvSpPr>
        <p:spPr>
          <a:xfrm>
            <a:off x="5321880" y="22035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LLMs can talk to machines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8" name="Image 7" descr="preencoded.png"/>
          <p:cNvPicPr/>
          <p:nvPr/>
        </p:nvPicPr>
        <p:blipFill>
          <a:blip r:embed="rId8"/>
          <a:stretch/>
        </p:blipFill>
        <p:spPr>
          <a:xfrm>
            <a:off x="4983480" y="27432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9" name="Text 16"/>
          <p:cNvSpPr/>
          <p:nvPr/>
        </p:nvSpPr>
        <p:spPr>
          <a:xfrm>
            <a:off x="5321880" y="27158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Responses in structured formats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80" name="Image 8" descr="preencoded.png"/>
          <p:cNvPicPr/>
          <p:nvPr/>
        </p:nvPicPr>
        <p:blipFill>
          <a:blip r:embed="rId9"/>
          <a:stretch/>
        </p:blipFill>
        <p:spPr>
          <a:xfrm>
            <a:off x="4983480" y="32551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81" name="Text 17"/>
          <p:cNvSpPr/>
          <p:nvPr/>
        </p:nvSpPr>
        <p:spPr>
          <a:xfrm>
            <a:off x="5321880" y="32277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Easy database integration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82" name="Image 9" descr="preencoded.png"/>
          <p:cNvPicPr/>
          <p:nvPr/>
        </p:nvPicPr>
        <p:blipFill>
          <a:blip r:embed="rId10"/>
          <a:stretch/>
        </p:blipFill>
        <p:spPr>
          <a:xfrm>
            <a:off x="4983480" y="37674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83" name="Text 18"/>
          <p:cNvSpPr/>
          <p:nvPr/>
        </p:nvSpPr>
        <p:spPr>
          <a:xfrm>
            <a:off x="5321880" y="37400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Seamless API connectivity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84" name="Image 10" descr="preencoded.png"/>
          <p:cNvPicPr/>
          <p:nvPr/>
        </p:nvPicPr>
        <p:blipFill>
          <a:blip r:embed="rId11"/>
          <a:stretch/>
        </p:blipFill>
        <p:spPr>
          <a:xfrm>
            <a:off x="498348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85" name="Text 19"/>
          <p:cNvSpPr/>
          <p:nvPr/>
        </p:nvSpPr>
        <p:spPr>
          <a:xfrm>
            <a:off x="5321880" y="42519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Powers intelligent agents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SECTION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4023360" y="219456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Implementation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Methods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4023360" y="33832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How LangChain handles structured output for different LLM types.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Two Types of LLMs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20040" y="1188720"/>
            <a:ext cx="3931560" cy="3520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4"/>
          <p:cNvSpPr/>
          <p:nvPr/>
        </p:nvSpPr>
        <p:spPr>
          <a:xfrm>
            <a:off x="320040" y="1188720"/>
            <a:ext cx="3931560" cy="4752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5"/>
          <p:cNvSpPr/>
          <p:nvPr/>
        </p:nvSpPr>
        <p:spPr>
          <a:xfrm>
            <a:off x="457200" y="124344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 1: Native Structured Output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57200" y="18014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What: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457200" y="2030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LLMs trained to generate structured output by default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457200" y="2423160"/>
            <a:ext cx="3565800" cy="133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9"/>
          <p:cNvSpPr/>
          <p:nvPr/>
        </p:nvSpPr>
        <p:spPr>
          <a:xfrm>
            <a:off x="457200" y="24962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Examples: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457200" y="2724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OpenAI GPT, Claude, Gemini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457200" y="3117960"/>
            <a:ext cx="3565800" cy="133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2"/>
          <p:cNvSpPr/>
          <p:nvPr/>
        </p:nvSpPr>
        <p:spPr>
          <a:xfrm>
            <a:off x="457200" y="319140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Method: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457200" y="34200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with_structured_output() function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457200" y="3813120"/>
            <a:ext cx="3565800" cy="133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5"/>
          <p:cNvSpPr/>
          <p:nvPr/>
        </p:nvSpPr>
        <p:spPr>
          <a:xfrm>
            <a:off x="457200" y="388620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Benefit: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457200" y="4114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Easier to use, built-in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Shape 17"/>
          <p:cNvSpPr/>
          <p:nvPr/>
        </p:nvSpPr>
        <p:spPr>
          <a:xfrm>
            <a:off x="457200" y="4434840"/>
            <a:ext cx="3565800" cy="1825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3" name="Image 1" descr="preencoded.png"/>
          <p:cNvPicPr/>
          <p:nvPr/>
        </p:nvPicPr>
        <p:blipFill>
          <a:blip r:embed="rId2"/>
          <a:stretch/>
        </p:blipFill>
        <p:spPr>
          <a:xfrm>
            <a:off x="502920" y="44258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4" name="Text 18"/>
          <p:cNvSpPr/>
          <p:nvPr/>
        </p:nvSpPr>
        <p:spPr>
          <a:xfrm>
            <a:off x="749880" y="442584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Recommended for this course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4846320" y="1188720"/>
            <a:ext cx="3931560" cy="3520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20"/>
          <p:cNvSpPr/>
          <p:nvPr/>
        </p:nvSpPr>
        <p:spPr>
          <a:xfrm>
            <a:off x="4846320" y="1188720"/>
            <a:ext cx="3931560" cy="47520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1"/>
          <p:cNvSpPr/>
          <p:nvPr/>
        </p:nvSpPr>
        <p:spPr>
          <a:xfrm>
            <a:off x="4983480" y="124344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 2: No Native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4983480" y="18014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What: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23"/>
          <p:cNvSpPr/>
          <p:nvPr/>
        </p:nvSpPr>
        <p:spPr>
          <a:xfrm>
            <a:off x="4983480" y="2030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LLMs without built-in structured output capability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24"/>
          <p:cNvSpPr/>
          <p:nvPr/>
        </p:nvSpPr>
        <p:spPr>
          <a:xfrm>
            <a:off x="4983480" y="2423160"/>
            <a:ext cx="3565800" cy="133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5"/>
          <p:cNvSpPr/>
          <p:nvPr/>
        </p:nvSpPr>
        <p:spPr>
          <a:xfrm>
            <a:off x="4983480" y="24962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Examples: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4983480" y="2724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Many open-source models, older versions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Shape 27"/>
          <p:cNvSpPr/>
          <p:nvPr/>
        </p:nvSpPr>
        <p:spPr>
          <a:xfrm>
            <a:off x="4983480" y="3117960"/>
            <a:ext cx="3565800" cy="133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8"/>
          <p:cNvSpPr/>
          <p:nvPr/>
        </p:nvSpPr>
        <p:spPr>
          <a:xfrm>
            <a:off x="4983480" y="319140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Method: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Text 29"/>
          <p:cNvSpPr/>
          <p:nvPr/>
        </p:nvSpPr>
        <p:spPr>
          <a:xfrm>
            <a:off x="4983480" y="34200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Output Parsers (covered later)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Shape 30"/>
          <p:cNvSpPr/>
          <p:nvPr/>
        </p:nvSpPr>
        <p:spPr>
          <a:xfrm>
            <a:off x="4983480" y="3813120"/>
            <a:ext cx="3565800" cy="133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31"/>
          <p:cNvSpPr/>
          <p:nvPr/>
        </p:nvSpPr>
        <p:spPr>
          <a:xfrm>
            <a:off x="4983480" y="388620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Note: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Text 32"/>
          <p:cNvSpPr/>
          <p:nvPr/>
        </p:nvSpPr>
        <p:spPr>
          <a:xfrm>
            <a:off x="4983480" y="4114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Requires additional processing steps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Shape 33"/>
          <p:cNvSpPr/>
          <p:nvPr/>
        </p:nvSpPr>
        <p:spPr>
          <a:xfrm>
            <a:off x="320040" y="4800600"/>
            <a:ext cx="8503560" cy="292320"/>
          </a:xfrm>
          <a:prstGeom prst="rect">
            <a:avLst/>
          </a:prstGeom>
          <a:solidFill>
            <a:srgbClr val="00b4d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2" descr="preencoded.png"/>
          <p:cNvPicPr/>
          <p:nvPr/>
        </p:nvPicPr>
        <p:blipFill>
          <a:blip r:embed="rId3"/>
          <a:stretch/>
        </p:blipFill>
        <p:spPr>
          <a:xfrm>
            <a:off x="384120" y="48279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31" name="Text 34"/>
          <p:cNvSpPr/>
          <p:nvPr/>
        </p:nvSpPr>
        <p:spPr>
          <a:xfrm>
            <a:off x="658440" y="482796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LangChain supports both types — we'll focus on Type 1 with with_structured_output()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3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The with_structured_output()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320040" y="11156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How It Works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320040" y="1536120"/>
            <a:ext cx="310680" cy="310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5"/>
          <p:cNvSpPr/>
          <p:nvPr/>
        </p:nvSpPr>
        <p:spPr>
          <a:xfrm>
            <a:off x="320040" y="15361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731520" y="153612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Works with LLMs that have native structured output support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320040" y="2030040"/>
            <a:ext cx="310680" cy="310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8"/>
          <p:cNvSpPr/>
          <p:nvPr/>
        </p:nvSpPr>
        <p:spPr>
          <a:xfrm>
            <a:off x="320040" y="2030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31520" y="203004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Called before invoking your model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320040" y="2523600"/>
            <a:ext cx="310680" cy="310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1"/>
          <p:cNvSpPr/>
          <p:nvPr/>
        </p:nvSpPr>
        <p:spPr>
          <a:xfrm>
            <a:off x="320040" y="2523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731520" y="252360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You specify your desired data format / schema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320040" y="3017520"/>
            <a:ext cx="310680" cy="310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4"/>
          <p:cNvSpPr/>
          <p:nvPr/>
        </p:nvSpPr>
        <p:spPr>
          <a:xfrm>
            <a:off x="320040" y="3017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731520" y="301752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 generates output in that exact format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572000" y="1097280"/>
            <a:ext cx="4251600" cy="11883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 17"/>
          <p:cNvSpPr/>
          <p:nvPr/>
        </p:nvSpPr>
        <p:spPr>
          <a:xfrm>
            <a:off x="4681800" y="11703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Normal Flow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4681800" y="141732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Normal flow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response = llm.invoke(prompt)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4572000" y="2423160"/>
            <a:ext cx="4251600" cy="15084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20"/>
          <p:cNvSpPr/>
          <p:nvPr/>
        </p:nvSpPr>
        <p:spPr>
          <a:xfrm>
            <a:off x="4681800" y="24872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With Structured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4681800" y="2724840"/>
            <a:ext cx="40230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With structured output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YourSchema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response = structured_llm.invoke(prompt)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4572000" y="4041720"/>
            <a:ext cx="4251600" cy="68544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23"/>
          <p:cNvSpPr/>
          <p:nvPr/>
        </p:nvSpPr>
        <p:spPr>
          <a:xfrm>
            <a:off x="4572000" y="4041720"/>
            <a:ext cx="54360" cy="6854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7" name="Image 1" descr="preencoded.png"/>
          <p:cNvPicPr/>
          <p:nvPr/>
        </p:nvPicPr>
        <p:blipFill>
          <a:blip r:embed="rId2"/>
          <a:stretch/>
        </p:blipFill>
        <p:spPr>
          <a:xfrm>
            <a:off x="4681800" y="41515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58" name="Text 24"/>
          <p:cNvSpPr/>
          <p:nvPr/>
        </p:nvSpPr>
        <p:spPr>
          <a:xfrm>
            <a:off x="4937760" y="411480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Simple and powerful — just add .with_structured_output() before .invoke()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SECTION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4023360" y="219456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Three Ways to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Define Schemas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023360" y="33832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TypedDict, Pydantic, and JSON Schema — each with different strengths.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"/>
          <p:cNvSpPr/>
          <p:nvPr/>
        </p:nvSpPr>
        <p:spPr>
          <a:xfrm>
            <a:off x="41148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Three Schema Definition Methods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320040" y="1115640"/>
            <a:ext cx="2742840" cy="370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4"/>
          <p:cNvSpPr/>
          <p:nvPr/>
        </p:nvSpPr>
        <p:spPr>
          <a:xfrm>
            <a:off x="320040" y="1115640"/>
            <a:ext cx="2742840" cy="6397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429840" y="12070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73" name="Text 5"/>
          <p:cNvSpPr/>
          <p:nvPr/>
        </p:nvSpPr>
        <p:spPr>
          <a:xfrm>
            <a:off x="887040" y="11703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1️⃣  TypedDict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887040" y="1426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Python type hints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457200" y="18745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0096c7"/>
                </a:solidFill>
                <a:latin typeface="Calibri"/>
                <a:ea typeface="Calibri"/>
              </a:rPr>
              <a:t>PROS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484560" y="2176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77" name="Text 8"/>
          <p:cNvSpPr/>
          <p:nvPr/>
        </p:nvSpPr>
        <p:spPr>
          <a:xfrm>
            <a:off x="758880" y="21672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Simple syntax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78" name="Image 2" descr="preencoded.png"/>
          <p:cNvPicPr/>
          <p:nvPr/>
        </p:nvPicPr>
        <p:blipFill>
          <a:blip r:embed="rId3"/>
          <a:stretch/>
        </p:blipFill>
        <p:spPr>
          <a:xfrm>
            <a:off x="484560" y="2597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79" name="Text 9"/>
          <p:cNvSpPr/>
          <p:nvPr/>
        </p:nvSpPr>
        <p:spPr>
          <a:xfrm>
            <a:off x="758880" y="25876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Native Python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457200" y="31820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76f"/>
                </a:solidFill>
                <a:latin typeface="Calibri"/>
                <a:ea typeface="Calibri"/>
              </a:rPr>
              <a:t>CONS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81" name="Image 3" descr="preencoded.png"/>
          <p:cNvPicPr/>
          <p:nvPr/>
        </p:nvPicPr>
        <p:blipFill>
          <a:blip r:embed="rId4"/>
          <a:stretch/>
        </p:blipFill>
        <p:spPr>
          <a:xfrm>
            <a:off x="484560" y="34930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82" name="Text 11"/>
          <p:cNvSpPr/>
          <p:nvPr/>
        </p:nvSpPr>
        <p:spPr>
          <a:xfrm>
            <a:off x="758880" y="34837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validation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83" name="Image 4" descr="preencoded.png"/>
          <p:cNvPicPr/>
          <p:nvPr/>
        </p:nvPicPr>
        <p:blipFill>
          <a:blip r:embed="rId5"/>
          <a:stretch/>
        </p:blipFill>
        <p:spPr>
          <a:xfrm>
            <a:off x="484560" y="3877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84" name="Text 12"/>
          <p:cNvSpPr/>
          <p:nvPr/>
        </p:nvSpPr>
        <p:spPr>
          <a:xfrm>
            <a:off x="758880" y="38678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Type hints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3246120" y="1115640"/>
            <a:ext cx="2742840" cy="370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14"/>
          <p:cNvSpPr/>
          <p:nvPr/>
        </p:nvSpPr>
        <p:spPr>
          <a:xfrm>
            <a:off x="3246120" y="1115640"/>
            <a:ext cx="2742840" cy="6397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7" name="Image 5" descr="preencoded.png"/>
          <p:cNvPicPr/>
          <p:nvPr/>
        </p:nvPicPr>
        <p:blipFill>
          <a:blip r:embed="rId6"/>
          <a:stretch/>
        </p:blipFill>
        <p:spPr>
          <a:xfrm>
            <a:off x="3355920" y="12070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8" name="Text 15"/>
          <p:cNvSpPr/>
          <p:nvPr/>
        </p:nvSpPr>
        <p:spPr>
          <a:xfrm>
            <a:off x="3813120" y="11703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2️⃣  Pydantic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3813120" y="1426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validation library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3383280" y="18745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06d6a0"/>
                </a:solidFill>
                <a:latin typeface="Calibri"/>
                <a:ea typeface="Calibri"/>
              </a:rPr>
              <a:t>PROS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91" name="Image 6" descr="preencoded.png"/>
          <p:cNvPicPr/>
          <p:nvPr/>
        </p:nvPicPr>
        <p:blipFill>
          <a:blip r:embed="rId7"/>
          <a:stretch/>
        </p:blipFill>
        <p:spPr>
          <a:xfrm>
            <a:off x="3410640" y="2176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92" name="Text 18"/>
          <p:cNvSpPr/>
          <p:nvPr/>
        </p:nvSpPr>
        <p:spPr>
          <a:xfrm>
            <a:off x="3684960" y="21672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Full validation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93" name="Image 7" descr="preencoded.png"/>
          <p:cNvPicPr/>
          <p:nvPr/>
        </p:nvPicPr>
        <p:blipFill>
          <a:blip r:embed="rId8"/>
          <a:stretch/>
        </p:blipFill>
        <p:spPr>
          <a:xfrm>
            <a:off x="3410640" y="2597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94" name="Text 19"/>
          <p:cNvSpPr/>
          <p:nvPr/>
        </p:nvSpPr>
        <p:spPr>
          <a:xfrm>
            <a:off x="3684960" y="25876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Type coercion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95" name="Image 8" descr="preencoded.png"/>
          <p:cNvPicPr/>
          <p:nvPr/>
        </p:nvPicPr>
        <p:blipFill>
          <a:blip r:embed="rId9"/>
          <a:stretch/>
        </p:blipFill>
        <p:spPr>
          <a:xfrm>
            <a:off x="3410640" y="30175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96" name="Text 20"/>
          <p:cNvSpPr/>
          <p:nvPr/>
        </p:nvSpPr>
        <p:spPr>
          <a:xfrm>
            <a:off x="3684960" y="30085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Default values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3383280" y="360288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76f"/>
                </a:solidFill>
                <a:latin typeface="Calibri"/>
                <a:ea typeface="Calibri"/>
              </a:rPr>
              <a:t>CONS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98" name="Image 9" descr="preencoded.png"/>
          <p:cNvPicPr/>
          <p:nvPr/>
        </p:nvPicPr>
        <p:blipFill>
          <a:blip r:embed="rId10"/>
          <a:stretch/>
        </p:blipFill>
        <p:spPr>
          <a:xfrm>
            <a:off x="3410640" y="39135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99" name="Text 22"/>
          <p:cNvSpPr/>
          <p:nvPr/>
        </p:nvSpPr>
        <p:spPr>
          <a:xfrm>
            <a:off x="3684960" y="390456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Python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6172200" y="1115640"/>
            <a:ext cx="2742840" cy="370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24"/>
          <p:cNvSpPr/>
          <p:nvPr/>
        </p:nvSpPr>
        <p:spPr>
          <a:xfrm>
            <a:off x="6172200" y="1115640"/>
            <a:ext cx="2742840" cy="6397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Image 10" descr="preencoded.png"/>
          <p:cNvPicPr/>
          <p:nvPr/>
        </p:nvPicPr>
        <p:blipFill>
          <a:blip r:embed="rId11"/>
          <a:stretch/>
        </p:blipFill>
        <p:spPr>
          <a:xfrm>
            <a:off x="6282000" y="12070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03" name="Text 25"/>
          <p:cNvSpPr/>
          <p:nvPr/>
        </p:nvSpPr>
        <p:spPr>
          <a:xfrm>
            <a:off x="6739200" y="11703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3️⃣  JSON Schema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Text 26"/>
          <p:cNvSpPr/>
          <p:nvPr/>
        </p:nvSpPr>
        <p:spPr>
          <a:xfrm>
            <a:off x="6739200" y="1426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Universal format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6309360" y="18745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f4a261"/>
                </a:solidFill>
                <a:latin typeface="Calibri"/>
                <a:ea typeface="Calibri"/>
              </a:rPr>
              <a:t>PROS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06" name="Image 11" descr="preencoded.png"/>
          <p:cNvPicPr/>
          <p:nvPr/>
        </p:nvPicPr>
        <p:blipFill>
          <a:blip r:embed="rId12"/>
          <a:stretch/>
        </p:blipFill>
        <p:spPr>
          <a:xfrm>
            <a:off x="6336720" y="2176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07" name="Text 28"/>
          <p:cNvSpPr/>
          <p:nvPr/>
        </p:nvSpPr>
        <p:spPr>
          <a:xfrm>
            <a:off x="6611040" y="21672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Cross-language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208" name="Image 12" descr="preencoded.png"/>
          <p:cNvPicPr/>
          <p:nvPr/>
        </p:nvPicPr>
        <p:blipFill>
          <a:blip r:embed="rId13"/>
          <a:stretch/>
        </p:blipFill>
        <p:spPr>
          <a:xfrm>
            <a:off x="6336720" y="2597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09" name="Text 29"/>
          <p:cNvSpPr/>
          <p:nvPr/>
        </p:nvSpPr>
        <p:spPr>
          <a:xfrm>
            <a:off x="6611040" y="25876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Standard format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Text 30"/>
          <p:cNvSpPr/>
          <p:nvPr/>
        </p:nvSpPr>
        <p:spPr>
          <a:xfrm>
            <a:off x="6309360" y="31820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76f"/>
                </a:solidFill>
                <a:latin typeface="Calibri"/>
                <a:ea typeface="Calibri"/>
              </a:rPr>
              <a:t>CONS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11" name="Image 13" descr="preencoded.png"/>
          <p:cNvPicPr/>
          <p:nvPr/>
        </p:nvPicPr>
        <p:blipFill>
          <a:blip r:embed="rId14"/>
          <a:stretch/>
        </p:blipFill>
        <p:spPr>
          <a:xfrm>
            <a:off x="6336720" y="34930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12" name="Text 31"/>
          <p:cNvSpPr/>
          <p:nvPr/>
        </p:nvSpPr>
        <p:spPr>
          <a:xfrm>
            <a:off x="6611040" y="34837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More verbose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213" name="Image 14" descr="preencoded.png"/>
          <p:cNvPicPr/>
          <p:nvPr/>
        </p:nvPicPr>
        <p:blipFill>
          <a:blip r:embed="rId15"/>
          <a:stretch/>
        </p:blipFill>
        <p:spPr>
          <a:xfrm>
            <a:off x="6336720" y="3877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14" name="Text 32"/>
          <p:cNvSpPr/>
          <p:nvPr/>
        </p:nvSpPr>
        <p:spPr>
          <a:xfrm>
            <a:off x="6611040" y="38678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Python objects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Shape 33"/>
          <p:cNvSpPr/>
          <p:nvPr/>
        </p:nvSpPr>
        <p:spPr>
          <a:xfrm>
            <a:off x="320040" y="4846320"/>
            <a:ext cx="8503560" cy="24660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34"/>
          <p:cNvSpPr/>
          <p:nvPr/>
        </p:nvSpPr>
        <p:spPr>
          <a:xfrm>
            <a:off x="457200" y="4873680"/>
            <a:ext cx="8320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We'll explore all three methods with detailed code examples!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METHOD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4023360" y="219456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TypedDict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4023360" y="33832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Define dictionary schemas with Python type hints. Simple, native, and lightweight.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28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TypedDict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320040" y="1143000"/>
            <a:ext cx="8503560" cy="91404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4"/>
          <p:cNvSpPr/>
          <p:nvPr/>
        </p:nvSpPr>
        <p:spPr>
          <a:xfrm>
            <a:off x="320040" y="1143000"/>
            <a:ext cx="63720" cy="9140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5"/>
          <p:cNvSpPr/>
          <p:nvPr/>
        </p:nvSpPr>
        <p:spPr>
          <a:xfrm>
            <a:off x="475560" y="11887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What is TypedDict?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475560" y="14356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A way to define dictionaries with specified keys and value types — tells Python what keys are required and the data types for each.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320040" y="2212920"/>
            <a:ext cx="393156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Shape 8"/>
          <p:cNvSpPr/>
          <p:nvPr/>
        </p:nvSpPr>
        <p:spPr>
          <a:xfrm>
            <a:off x="320040" y="2212920"/>
            <a:ext cx="3931560" cy="365400"/>
          </a:xfrm>
          <a:prstGeom prst="rect">
            <a:avLst/>
          </a:prstGeom>
          <a:solidFill>
            <a:srgbClr val="ef476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9"/>
          <p:cNvSpPr/>
          <p:nvPr/>
        </p:nvSpPr>
        <p:spPr>
          <a:xfrm>
            <a:off x="457200" y="2249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❌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Normal (No TypedDict)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457200" y="2651760"/>
            <a:ext cx="3657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person_data = 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"name": "Ganesh",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"age": 25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No type checking,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no structure enforcement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4846320" y="2212920"/>
            <a:ext cx="397728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2"/>
          <p:cNvSpPr/>
          <p:nvPr/>
        </p:nvSpPr>
        <p:spPr>
          <a:xfrm>
            <a:off x="4846320" y="2212920"/>
            <a:ext cx="3977280" cy="365400"/>
          </a:xfrm>
          <a:prstGeom prst="rect">
            <a:avLst/>
          </a:prstGeom>
          <a:solidFill>
            <a:srgbClr val="06d6a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3"/>
          <p:cNvSpPr/>
          <p:nvPr/>
        </p:nvSpPr>
        <p:spPr>
          <a:xfrm>
            <a:off x="4983480" y="2249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✓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With TypedDict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4983480" y="2651760"/>
            <a:ext cx="3748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PersonInfo(TypedDict):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Structured, hinted keys!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320040" y="4782240"/>
            <a:ext cx="8503560" cy="2739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6"/>
          <p:cNvSpPr/>
          <p:nvPr/>
        </p:nvSpPr>
        <p:spPr>
          <a:xfrm>
            <a:off x="457200" y="480960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⚠️  </a:t>
            </a: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Important: TypedDict does NOT validate — it only provides type hints!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4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Code Example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320040" y="1097280"/>
            <a:ext cx="5028840" cy="29257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Text 4"/>
          <p:cNvSpPr/>
          <p:nvPr/>
        </p:nvSpPr>
        <p:spPr>
          <a:xfrm>
            <a:off x="457200" y="11703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Code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457200" y="146304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PersonInfo(TypedDict):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Create a dictionary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new_person: PersonInfo = 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'name': 'Ganesh',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'age': 25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print(new_person)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print(type(new_person))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320040" y="4114800"/>
            <a:ext cx="5028840" cy="868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7"/>
          <p:cNvSpPr/>
          <p:nvPr/>
        </p:nvSpPr>
        <p:spPr>
          <a:xfrm>
            <a:off x="457200" y="4160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457200" y="437076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{'name': 'Ganesh', 'age': 25}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'dict'&gt;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3" name="Shape 9"/>
          <p:cNvSpPr/>
          <p:nvPr/>
        </p:nvSpPr>
        <p:spPr>
          <a:xfrm>
            <a:off x="5532120" y="1097280"/>
            <a:ext cx="3291480" cy="388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Shape 10"/>
          <p:cNvSpPr/>
          <p:nvPr/>
        </p:nvSpPr>
        <p:spPr>
          <a:xfrm>
            <a:off x="5532120" y="1097280"/>
            <a:ext cx="3291480" cy="438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1"/>
          <p:cNvSpPr/>
          <p:nvPr/>
        </p:nvSpPr>
        <p:spPr>
          <a:xfrm>
            <a:off x="5669280" y="115200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Key Observations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Shape 12"/>
          <p:cNvSpPr/>
          <p:nvPr/>
        </p:nvSpPr>
        <p:spPr>
          <a:xfrm>
            <a:off x="5596200" y="1645920"/>
            <a:ext cx="3135960" cy="548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Shape 13"/>
          <p:cNvSpPr/>
          <p:nvPr/>
        </p:nvSpPr>
        <p:spPr>
          <a:xfrm>
            <a:off x="5596200" y="1645920"/>
            <a:ext cx="54360" cy="548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14"/>
          <p:cNvSpPr/>
          <p:nvPr/>
        </p:nvSpPr>
        <p:spPr>
          <a:xfrm>
            <a:off x="5715000" y="168264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Import: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5715000" y="18835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Use TypedDict from the typing module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Shape 16"/>
          <p:cNvSpPr/>
          <p:nvPr/>
        </p:nvSpPr>
        <p:spPr>
          <a:xfrm>
            <a:off x="5596200" y="2304360"/>
            <a:ext cx="3135960" cy="548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17"/>
          <p:cNvSpPr/>
          <p:nvPr/>
        </p:nvSpPr>
        <p:spPr>
          <a:xfrm>
            <a:off x="5596200" y="2304360"/>
            <a:ext cx="54360" cy="548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8"/>
          <p:cNvSpPr/>
          <p:nvPr/>
        </p:nvSpPr>
        <p:spPr>
          <a:xfrm>
            <a:off x="5715000" y="23407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Class syntax: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 19"/>
          <p:cNvSpPr/>
          <p:nvPr/>
        </p:nvSpPr>
        <p:spPr>
          <a:xfrm>
            <a:off x="5715000" y="254196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Define as a class inheriting TypedDict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20"/>
          <p:cNvSpPr/>
          <p:nvPr/>
        </p:nvSpPr>
        <p:spPr>
          <a:xfrm>
            <a:off x="5596200" y="2962800"/>
            <a:ext cx="3135960" cy="548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21"/>
          <p:cNvSpPr/>
          <p:nvPr/>
        </p:nvSpPr>
        <p:spPr>
          <a:xfrm>
            <a:off x="5596200" y="2962800"/>
            <a:ext cx="54360" cy="548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22"/>
          <p:cNvSpPr/>
          <p:nvPr/>
        </p:nvSpPr>
        <p:spPr>
          <a:xfrm>
            <a:off x="5715000" y="299916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Type hints: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23"/>
          <p:cNvSpPr/>
          <p:nvPr/>
        </p:nvSpPr>
        <p:spPr>
          <a:xfrm>
            <a:off x="5715000" y="32004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Annotate each field: name: str, age: int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5596200" y="3620880"/>
            <a:ext cx="3135960" cy="548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25"/>
          <p:cNvSpPr/>
          <p:nvPr/>
        </p:nvSpPr>
        <p:spPr>
          <a:xfrm>
            <a:off x="5596200" y="3620880"/>
            <a:ext cx="54360" cy="548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6"/>
          <p:cNvSpPr/>
          <p:nvPr/>
        </p:nvSpPr>
        <p:spPr>
          <a:xfrm>
            <a:off x="5715000" y="36576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Returns dict: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27"/>
          <p:cNvSpPr/>
          <p:nvPr/>
        </p:nvSpPr>
        <p:spPr>
          <a:xfrm>
            <a:off x="5715000" y="38588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Output type is still &lt;class 'dict'&gt;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Shape 28"/>
          <p:cNvSpPr/>
          <p:nvPr/>
        </p:nvSpPr>
        <p:spPr>
          <a:xfrm>
            <a:off x="5596200" y="4279320"/>
            <a:ext cx="3135960" cy="548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29"/>
          <p:cNvSpPr/>
          <p:nvPr/>
        </p:nvSpPr>
        <p:spPr>
          <a:xfrm>
            <a:off x="5596200" y="4279320"/>
            <a:ext cx="54360" cy="548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30"/>
          <p:cNvSpPr/>
          <p:nvPr/>
        </p:nvSpPr>
        <p:spPr>
          <a:xfrm>
            <a:off x="5715000" y="431604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No errors: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5" name="Text 31"/>
          <p:cNvSpPr/>
          <p:nvPr/>
        </p:nvSpPr>
        <p:spPr>
          <a:xfrm>
            <a:off x="5715000" y="451728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Even wrong types won't raise exceptions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78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79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Limitation — No Validation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320040" y="1097280"/>
            <a:ext cx="5028840" cy="31086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Text 4"/>
          <p:cNvSpPr/>
          <p:nvPr/>
        </p:nvSpPr>
        <p:spPr>
          <a:xfrm>
            <a:off x="457200" y="11703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Limitation Demo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457200" y="1444680"/>
            <a:ext cx="47545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PersonInfo(TypedDict):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  # Should be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String instead of int — no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new_person: PersonInfo = {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'name': 'Ganesh',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'age': '25'  # ← Wrong type!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print(new_person)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print(type(new_person))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320040" y="4297680"/>
            <a:ext cx="5028840" cy="68544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7"/>
          <p:cNvSpPr/>
          <p:nvPr/>
        </p:nvSpPr>
        <p:spPr>
          <a:xfrm>
            <a:off x="457200" y="4343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onsolas"/>
                <a:ea typeface="Consolas"/>
              </a:rPr>
              <a:t>Output — No error raised!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457200" y="455364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{'name': 'Ganesh', 'age': '25'}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&lt;class 'dict'&gt;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5532120" y="1097280"/>
            <a:ext cx="329148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7" name="Shape 10"/>
          <p:cNvSpPr/>
          <p:nvPr/>
        </p:nvSpPr>
        <p:spPr>
          <a:xfrm>
            <a:off x="5532120" y="1097280"/>
            <a:ext cx="3291480" cy="4384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1"/>
          <p:cNvSpPr/>
          <p:nvPr/>
        </p:nvSpPr>
        <p:spPr>
          <a:xfrm>
            <a:off x="5669280" y="115200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Problem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5669280" y="1645920"/>
            <a:ext cx="30628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TypedDict allows age to be '30' (a string) even though the type hint says int. No error is raised at runtime.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5532120" y="3246120"/>
            <a:ext cx="329148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1" name="Shape 14"/>
          <p:cNvSpPr/>
          <p:nvPr/>
        </p:nvSpPr>
        <p:spPr>
          <a:xfrm>
            <a:off x="5532120" y="3246120"/>
            <a:ext cx="3291480" cy="4384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15"/>
          <p:cNvSpPr/>
          <p:nvPr/>
        </p:nvSpPr>
        <p:spPr>
          <a:xfrm>
            <a:off x="5669280" y="330084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✓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The 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5669280" y="3794760"/>
            <a:ext cx="3062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Use Pydantic (next section) for actual validation with runtime checks and error throwing.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METHOD 1 — APPLIED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4023360" y="219456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TypedDict with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023360" y="33832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Real code examples using with_structured_output() and TypedDict schemas.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301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0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Example: Phone Review Analysis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320040" y="1152000"/>
            <a:ext cx="8503560" cy="40212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4"/>
          <p:cNvSpPr/>
          <p:nvPr/>
        </p:nvSpPr>
        <p:spPr>
          <a:xfrm>
            <a:off x="457200" y="1188720"/>
            <a:ext cx="8229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Problem Statement: Extract structured insights from phone reviews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320040" y="1691640"/>
            <a:ext cx="406872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Shape 6"/>
          <p:cNvSpPr/>
          <p:nvPr/>
        </p:nvSpPr>
        <p:spPr>
          <a:xfrm>
            <a:off x="320040" y="1691640"/>
            <a:ext cx="4068720" cy="438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7"/>
          <p:cNvSpPr/>
          <p:nvPr/>
        </p:nvSpPr>
        <p:spPr>
          <a:xfrm>
            <a:off x="457200" y="17373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📝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Goal: Extract Summary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457200" y="21945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A brief overview of the review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4617720" y="1691640"/>
            <a:ext cx="406872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3" name="Shape 10"/>
          <p:cNvSpPr/>
          <p:nvPr/>
        </p:nvSpPr>
        <p:spPr>
          <a:xfrm>
            <a:off x="4617720" y="1691640"/>
            <a:ext cx="4068720" cy="438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11"/>
          <p:cNvSpPr/>
          <p:nvPr/>
        </p:nvSpPr>
        <p:spPr>
          <a:xfrm>
            <a:off x="4754880" y="17373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💬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Goal: Extract Sentiment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4754880" y="21945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positive / negative / neutral classification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320040" y="283464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Approach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7" name="Shape 14"/>
          <p:cNvSpPr/>
          <p:nvPr/>
        </p:nvSpPr>
        <p:spPr>
          <a:xfrm>
            <a:off x="320040" y="324612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5"/>
          <p:cNvSpPr/>
          <p:nvPr/>
        </p:nvSpPr>
        <p:spPr>
          <a:xfrm>
            <a:off x="320040" y="32461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Text 16"/>
          <p:cNvSpPr/>
          <p:nvPr/>
        </p:nvSpPr>
        <p:spPr>
          <a:xfrm>
            <a:off x="685800" y="324612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Define schema using TypedDict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320040" y="368496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18"/>
          <p:cNvSpPr/>
          <p:nvPr/>
        </p:nvSpPr>
        <p:spPr>
          <a:xfrm>
            <a:off x="320040" y="3684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685800" y="36849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Use with_structured_output()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Shape 20"/>
          <p:cNvSpPr/>
          <p:nvPr/>
        </p:nvSpPr>
        <p:spPr>
          <a:xfrm>
            <a:off x="320040" y="412380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21"/>
          <p:cNvSpPr/>
          <p:nvPr/>
        </p:nvSpPr>
        <p:spPr>
          <a:xfrm>
            <a:off x="320040" y="4123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685800" y="412380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Invoke model with review text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320040" y="456300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24"/>
          <p:cNvSpPr/>
          <p:nvPr/>
        </p:nvSpPr>
        <p:spPr>
          <a:xfrm>
            <a:off x="320040" y="4563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685800" y="456300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Get back a Python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4846320" y="2816280"/>
            <a:ext cx="3977280" cy="21942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Text 27"/>
          <p:cNvSpPr/>
          <p:nvPr/>
        </p:nvSpPr>
        <p:spPr>
          <a:xfrm>
            <a:off x="4983480" y="288936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Preview: Schema Definition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28"/>
          <p:cNvSpPr/>
          <p:nvPr/>
        </p:nvSpPr>
        <p:spPr>
          <a:xfrm>
            <a:off x="4983480" y="3182040"/>
            <a:ext cx="374868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ReviewAnalysis(TypedDict):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3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Basic TypedDict + LangChain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36" name="Shape 3"/>
          <p:cNvSpPr/>
          <p:nvPr/>
        </p:nvSpPr>
        <p:spPr>
          <a:xfrm>
            <a:off x="320040" y="1097280"/>
            <a:ext cx="5166000" cy="37486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Text 4"/>
          <p:cNvSpPr/>
          <p:nvPr/>
        </p:nvSpPr>
        <p:spPr>
          <a:xfrm>
            <a:off x="457200" y="117036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langchain_review.py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457200" y="1444680"/>
            <a:ext cx="4937400" cy="32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dotenv import load_dotenv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load_dotenv()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llm = ChatOpenAI()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ReviewAnalysis(TypedDict):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review_text = """The hardware is great, but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the software feels bloated..."""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analysis = structured_llm.invoke(review_text)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print(analysis)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print(type(analysis))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39" name="Shape 6"/>
          <p:cNvSpPr/>
          <p:nvPr/>
        </p:nvSpPr>
        <p:spPr>
          <a:xfrm>
            <a:off x="5623560" y="1097280"/>
            <a:ext cx="3200040" cy="14626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7"/>
          <p:cNvSpPr/>
          <p:nvPr/>
        </p:nvSpPr>
        <p:spPr>
          <a:xfrm>
            <a:off x="5760720" y="1161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5760720" y="1389960"/>
            <a:ext cx="2944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{'summary': 'Hardware great but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software feels bloated...', 'sentiment': 'negative'}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'dict'&gt;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2" name="Shape 9"/>
          <p:cNvSpPr/>
          <p:nvPr/>
        </p:nvSpPr>
        <p:spPr>
          <a:xfrm>
            <a:off x="5623560" y="2697480"/>
            <a:ext cx="3200040" cy="1371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0"/>
          <p:cNvSpPr/>
          <p:nvPr/>
        </p:nvSpPr>
        <p:spPr>
          <a:xfrm>
            <a:off x="5760720" y="27615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Accessing Fields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4" name="Text 11"/>
          <p:cNvSpPr/>
          <p:nvPr/>
        </p:nvSpPr>
        <p:spPr>
          <a:xfrm>
            <a:off x="5760720" y="3017520"/>
            <a:ext cx="29440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print(analysis['summary'])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print(analysis['sentiment'])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Hardware great but...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negative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5" name="Shape 12"/>
          <p:cNvSpPr/>
          <p:nvPr/>
        </p:nvSpPr>
        <p:spPr>
          <a:xfrm>
            <a:off x="5623560" y="4178880"/>
            <a:ext cx="3200040" cy="6397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Shape 13"/>
          <p:cNvSpPr/>
          <p:nvPr/>
        </p:nvSpPr>
        <p:spPr>
          <a:xfrm>
            <a:off x="5623560" y="4178880"/>
            <a:ext cx="54360" cy="6397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14"/>
          <p:cNvSpPr/>
          <p:nvPr/>
        </p:nvSpPr>
        <p:spPr>
          <a:xfrm>
            <a:off x="5733360" y="4224600"/>
            <a:ext cx="3017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Access values using standard Python dict notation: analysis['key']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51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— Summary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320040" y="1115640"/>
            <a:ext cx="27428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Shape 4"/>
          <p:cNvSpPr/>
          <p:nvPr/>
        </p:nvSpPr>
        <p:spPr>
          <a:xfrm>
            <a:off x="320040" y="1115640"/>
            <a:ext cx="274284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5"/>
          <p:cNvSpPr/>
          <p:nvPr/>
        </p:nvSpPr>
        <p:spPr>
          <a:xfrm>
            <a:off x="457200" y="117036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How TypedDict Works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355" name="Image 1" descr="preencoded.png"/>
          <p:cNvPicPr/>
          <p:nvPr/>
        </p:nvPicPr>
        <p:blipFill>
          <a:blip r:embed="rId2"/>
          <a:stretch/>
        </p:blipFill>
        <p:spPr>
          <a:xfrm>
            <a:off x="457200" y="16916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56" name="Text 6"/>
          <p:cNvSpPr/>
          <p:nvPr/>
        </p:nvSpPr>
        <p:spPr>
          <a:xfrm>
            <a:off x="777240" y="167328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Define dictionary structure with type hints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57" name="Image 2" descr="preencoded.png"/>
          <p:cNvPicPr/>
          <p:nvPr/>
        </p:nvPicPr>
        <p:blipFill>
          <a:blip r:embed="rId3"/>
          <a:stretch/>
        </p:blipFill>
        <p:spPr>
          <a:xfrm>
            <a:off x="457200" y="23317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58" name="Text 7"/>
          <p:cNvSpPr/>
          <p:nvPr/>
        </p:nvSpPr>
        <p:spPr>
          <a:xfrm>
            <a:off x="777240" y="231336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Use with with_structured_output()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59" name="Image 3" descr="preencoded.png"/>
          <p:cNvPicPr/>
          <p:nvPr/>
        </p:nvPicPr>
        <p:blipFill>
          <a:blip r:embed="rId4"/>
          <a:stretch/>
        </p:blipFill>
        <p:spPr>
          <a:xfrm>
            <a:off x="457200" y="2971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60" name="Text 8"/>
          <p:cNvSpPr/>
          <p:nvPr/>
        </p:nvSpPr>
        <p:spPr>
          <a:xfrm>
            <a:off x="777240" y="2953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Get back standard Python dictionaries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61" name="Image 4" descr="preencoded.png"/>
          <p:cNvPicPr/>
          <p:nvPr/>
        </p:nvPicPr>
        <p:blipFill>
          <a:blip r:embed="rId5"/>
          <a:stretch/>
        </p:blipFill>
        <p:spPr>
          <a:xfrm>
            <a:off x="457200" y="3611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62" name="Text 9"/>
          <p:cNvSpPr/>
          <p:nvPr/>
        </p:nvSpPr>
        <p:spPr>
          <a:xfrm>
            <a:off x="777240" y="359352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Access values with dict[key] notation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3246120" y="1115640"/>
            <a:ext cx="27428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4" name="Shape 11"/>
          <p:cNvSpPr/>
          <p:nvPr/>
        </p:nvSpPr>
        <p:spPr>
          <a:xfrm>
            <a:off x="3246120" y="1115640"/>
            <a:ext cx="274284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12"/>
          <p:cNvSpPr/>
          <p:nvPr/>
        </p:nvSpPr>
        <p:spPr>
          <a:xfrm>
            <a:off x="3383280" y="117036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Advantages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366" name="Image 5" descr="preencoded.png"/>
          <p:cNvPicPr/>
          <p:nvPr/>
        </p:nvPicPr>
        <p:blipFill>
          <a:blip r:embed="rId6"/>
          <a:stretch/>
        </p:blipFill>
        <p:spPr>
          <a:xfrm>
            <a:off x="3383280" y="16916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67" name="Text 13"/>
          <p:cNvSpPr/>
          <p:nvPr/>
        </p:nvSpPr>
        <p:spPr>
          <a:xfrm>
            <a:off x="3703320" y="167328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Simple, clean syntax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68" name="Image 6" descr="preencoded.png"/>
          <p:cNvPicPr/>
          <p:nvPr/>
        </p:nvPicPr>
        <p:blipFill>
          <a:blip r:embed="rId7"/>
          <a:stretch/>
        </p:blipFill>
        <p:spPr>
          <a:xfrm>
            <a:off x="3383280" y="23317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69" name="Text 14"/>
          <p:cNvSpPr/>
          <p:nvPr/>
        </p:nvSpPr>
        <p:spPr>
          <a:xfrm>
            <a:off x="3703320" y="231336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Native Python support (no extra libraries)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70" name="Image 7" descr="preencoded.png"/>
          <p:cNvPicPr/>
          <p:nvPr/>
        </p:nvPicPr>
        <p:blipFill>
          <a:blip r:embed="rId8"/>
          <a:stretch/>
        </p:blipFill>
        <p:spPr>
          <a:xfrm>
            <a:off x="3383280" y="2971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1" name="Text 15"/>
          <p:cNvSpPr/>
          <p:nvPr/>
        </p:nvSpPr>
        <p:spPr>
          <a:xfrm>
            <a:off x="3703320" y="2953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Good for basic use cases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72" name="Image 8" descr="preencoded.png"/>
          <p:cNvPicPr/>
          <p:nvPr/>
        </p:nvPicPr>
        <p:blipFill>
          <a:blip r:embed="rId9"/>
          <a:stretch/>
        </p:blipFill>
        <p:spPr>
          <a:xfrm>
            <a:off x="3383280" y="3611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3" name="Text 16"/>
          <p:cNvSpPr/>
          <p:nvPr/>
        </p:nvSpPr>
        <p:spPr>
          <a:xfrm>
            <a:off x="3703320" y="359352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Code editors provide type hints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4" name="Shape 17"/>
          <p:cNvSpPr/>
          <p:nvPr/>
        </p:nvSpPr>
        <p:spPr>
          <a:xfrm>
            <a:off x="6172200" y="1115640"/>
            <a:ext cx="27428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5" name="Shape 18"/>
          <p:cNvSpPr/>
          <p:nvPr/>
        </p:nvSpPr>
        <p:spPr>
          <a:xfrm>
            <a:off x="6172200" y="1115640"/>
            <a:ext cx="274284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9"/>
          <p:cNvSpPr/>
          <p:nvPr/>
        </p:nvSpPr>
        <p:spPr>
          <a:xfrm>
            <a:off x="6309360" y="117036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377" name="Image 9" descr="preencoded.png"/>
          <p:cNvPicPr/>
          <p:nvPr/>
        </p:nvPicPr>
        <p:blipFill>
          <a:blip r:embed="rId10"/>
          <a:stretch/>
        </p:blipFill>
        <p:spPr>
          <a:xfrm>
            <a:off x="6309360" y="16916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8" name="Text 20"/>
          <p:cNvSpPr/>
          <p:nvPr/>
        </p:nvSpPr>
        <p:spPr>
          <a:xfrm>
            <a:off x="6629400" y="167328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runtime validation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79" name="Image 10" descr="preencoded.png"/>
          <p:cNvPicPr/>
          <p:nvPr/>
        </p:nvPicPr>
        <p:blipFill>
          <a:blip r:embed="rId11"/>
          <a:stretch/>
        </p:blipFill>
        <p:spPr>
          <a:xfrm>
            <a:off x="6309360" y="23317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0" name="Text 21"/>
          <p:cNvSpPr/>
          <p:nvPr/>
        </p:nvSpPr>
        <p:spPr>
          <a:xfrm>
            <a:off x="6629400" y="231336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type coercion (str won't become int)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81" name="Image 11" descr="preencoded.png"/>
          <p:cNvPicPr/>
          <p:nvPr/>
        </p:nvPicPr>
        <p:blipFill>
          <a:blip r:embed="rId12"/>
          <a:stretch/>
        </p:blipFill>
        <p:spPr>
          <a:xfrm>
            <a:off x="6309360" y="2971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2" name="Text 22"/>
          <p:cNvSpPr/>
          <p:nvPr/>
        </p:nvSpPr>
        <p:spPr>
          <a:xfrm>
            <a:off x="6629400" y="2953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default values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83" name="Image 12" descr="preencoded.png"/>
          <p:cNvPicPr/>
          <p:nvPr/>
        </p:nvPicPr>
        <p:blipFill>
          <a:blip r:embed="rId13"/>
          <a:stretch/>
        </p:blipFill>
        <p:spPr>
          <a:xfrm>
            <a:off x="6309360" y="3611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4" name="Text 23"/>
          <p:cNvSpPr/>
          <p:nvPr/>
        </p:nvSpPr>
        <p:spPr>
          <a:xfrm>
            <a:off x="6629400" y="359352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constraints (e.g. age &gt; 0)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320040" y="4773240"/>
            <a:ext cx="8503560" cy="29232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6" name="Image 13" descr="preencoded.png"/>
          <p:cNvPicPr/>
          <p:nvPr/>
        </p:nvPicPr>
        <p:blipFill>
          <a:blip r:embed="rId14"/>
          <a:stretch/>
        </p:blipFill>
        <p:spPr>
          <a:xfrm>
            <a:off x="402480" y="48189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87" name="Text 25"/>
          <p:cNvSpPr/>
          <p:nvPr/>
        </p:nvSpPr>
        <p:spPr>
          <a:xfrm>
            <a:off x="658440" y="481896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For validation &amp; constraints, use Pydantic — covered in Part 2B!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2026-03-19T15:35:44Z</dcterms:created>
  <dc:creator>PptxGenJS</dc:creator>
  <dc:description/>
  <dc:language>en-IN</dc:language>
  <cp:lastModifiedBy/>
  <dcterms:modified xsi:type="dcterms:W3CDTF">2026-03-19T21:26:29Z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