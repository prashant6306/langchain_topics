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9.png" ContentType="image/png"/>
  <Override PartName="/ppt/media/image13.png" ContentType="image/png"/>
  <Override PartName="/ppt/media/image8.png" ContentType="image/png"/>
  <Override PartName="/ppt/media/image12.png" ContentType="image/png"/>
  <Override PartName="/ppt/media/image7.png" ContentType="image/png"/>
  <Override PartName="/ppt/media/image11.png" ContentType="image/png"/>
  <Override PartName="/ppt/media/image6.png" ContentType="image/png"/>
  <Override PartName="/ppt/media/image10.png" ContentType="image/png"/>
  <Override PartName="/ppt/media/image5.png" ContentType="image/png"/>
  <Override PartName="/ppt/media/image4.png" ContentType="image/png"/>
  <Override PartName="/ppt/media/image3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1.png" ContentType="image/png"/>
  <Override PartName="/ppt/media/image24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E3875444-DEDB-4915-89E3-F10294133411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38D8E5-8A73-4B5A-AB43-D1E83E68B7D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FFFECCB-273E-4145-9984-E93665779BD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2380E8C-66E6-4E13-92A9-9EA6877ABB6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DFBCAD-1830-43A6-A115-6ADD6972A2D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2D037ED-F650-4368-86E4-7EE680DEA2A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6FDA092-C3E5-4491-BC7C-3D351E46484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793F16-6CF9-4817-BB39-A4B17BDDF44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A788FA2-E4F9-4CBB-8942-5C5AA80A0EF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53F4CBD-83E4-490A-9423-CD80C97D43B6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IN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IN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IN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IN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IN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164160" cy="51433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7132320" y="-1097280"/>
            <a:ext cx="3474360" cy="3474360"/>
          </a:xfrm>
          <a:prstGeom prst="ellipse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7498080" y="-822960"/>
            <a:ext cx="2742840" cy="2742840"/>
          </a:xfrm>
          <a:prstGeom prst="ellipse">
            <a:avLst/>
          </a:prstGeom>
          <a:solidFill>
            <a:srgbClr val="0096c7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3"/>
          <p:cNvSpPr/>
          <p:nvPr/>
        </p:nvSpPr>
        <p:spPr>
          <a:xfrm>
            <a:off x="0" y="4754880"/>
            <a:ext cx="9143640" cy="38376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Shape 4"/>
          <p:cNvSpPr/>
          <p:nvPr/>
        </p:nvSpPr>
        <p:spPr>
          <a:xfrm>
            <a:off x="164520" y="4754880"/>
            <a:ext cx="3200040" cy="3837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49" name="Image 0" descr="preencoded.png"/>
          <p:cNvPicPr/>
          <p:nvPr/>
        </p:nvPicPr>
        <p:blipFill>
          <a:blip r:embed="rId1"/>
          <a:stretch/>
        </p:blipFill>
        <p:spPr>
          <a:xfrm>
            <a:off x="502920" y="1005840"/>
            <a:ext cx="639720" cy="639720"/>
          </a:xfrm>
          <a:prstGeom prst="rect">
            <a:avLst/>
          </a:prstGeom>
          <a:ln w="0">
            <a:noFill/>
          </a:ln>
        </p:spPr>
      </p:pic>
      <p:sp>
        <p:nvSpPr>
          <p:cNvPr id="50" name="Text 5"/>
          <p:cNvSpPr/>
          <p:nvPr/>
        </p:nvSpPr>
        <p:spPr>
          <a:xfrm>
            <a:off x="365760" y="1737360"/>
            <a:ext cx="84121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  <a:ea typeface="Calibri"/>
              </a:rPr>
              <a:t>Structured Output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51" name="Text 6"/>
          <p:cNvSpPr/>
          <p:nvPr/>
        </p:nvSpPr>
        <p:spPr>
          <a:xfrm>
            <a:off x="365760" y="2514600"/>
            <a:ext cx="84121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pc="-1" strike="noStrike">
                <a:solidFill>
                  <a:srgbClr val="48cae4"/>
                </a:solidFill>
                <a:latin typeface="Calibri"/>
                <a:ea typeface="Calibri"/>
              </a:rPr>
              <a:t>in LangChain</a:t>
            </a:r>
            <a:endParaRPr b="0" lang="en-IN" sz="3600" spc="-1" strike="noStrike">
              <a:latin typeface="Arial"/>
            </a:endParaRPr>
          </a:p>
        </p:txBody>
      </p:sp>
      <p:sp>
        <p:nvSpPr>
          <p:cNvPr id="52" name="Shape 7"/>
          <p:cNvSpPr/>
          <p:nvPr/>
        </p:nvSpPr>
        <p:spPr>
          <a:xfrm>
            <a:off x="365760" y="3337560"/>
            <a:ext cx="3840120" cy="4021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" name="Text 8"/>
          <p:cNvSpPr/>
          <p:nvPr/>
        </p:nvSpPr>
        <p:spPr>
          <a:xfrm>
            <a:off x="365760" y="3337560"/>
            <a:ext cx="38401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Part 2B: Advanced TypedDict &amp; Annotations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54" name="Text 9"/>
          <p:cNvSpPr/>
          <p:nvPr/>
        </p:nvSpPr>
        <p:spPr>
          <a:xfrm>
            <a:off x="365760" y="4773240"/>
            <a:ext cx="4571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  <a:ea typeface="Calibri"/>
              </a:rPr>
              <a:t>LangChain  •  Generative AI  •  Structured Output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Shape 1"/>
          <p:cNvSpPr/>
          <p:nvPr/>
        </p:nvSpPr>
        <p:spPr>
          <a:xfrm>
            <a:off x="0" y="960120"/>
            <a:ext cx="91436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57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8280" cy="548280"/>
          </a:xfrm>
          <a:prstGeom prst="rect">
            <a:avLst/>
          </a:prstGeom>
          <a:ln w="0">
            <a:noFill/>
          </a:ln>
        </p:spPr>
      </p:pic>
      <p:sp>
        <p:nvSpPr>
          <p:cNvPr id="58" name="Text 2"/>
          <p:cNvSpPr/>
          <p:nvPr/>
        </p:nvSpPr>
        <p:spPr>
          <a:xfrm>
            <a:off x="1005840" y="1828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TypedDict with Annotations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320040" y="1143000"/>
            <a:ext cx="8503560" cy="82260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4"/>
          <p:cNvSpPr/>
          <p:nvPr/>
        </p:nvSpPr>
        <p:spPr>
          <a:xfrm>
            <a:off x="320040" y="1143000"/>
            <a:ext cx="63720" cy="82260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5"/>
          <p:cNvSpPr/>
          <p:nvPr/>
        </p:nvSpPr>
        <p:spPr>
          <a:xfrm>
            <a:off x="475560" y="118872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96c7"/>
                </a:solidFill>
                <a:latin typeface="Calibri"/>
                <a:ea typeface="Calibri"/>
              </a:rPr>
              <a:t>What is Annotated?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62" name="Text 6"/>
          <p:cNvSpPr/>
          <p:nvPr/>
        </p:nvSpPr>
        <p:spPr>
          <a:xfrm>
            <a:off x="475560" y="1417320"/>
            <a:ext cx="82292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Annotated[type, "description"] lets you attach a natural language description to each field. This description is sent to the LLM as a hint, guiding what it should extract.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3" name="Shape 7"/>
          <p:cNvSpPr/>
          <p:nvPr/>
        </p:nvSpPr>
        <p:spPr>
          <a:xfrm>
            <a:off x="320040" y="2103120"/>
            <a:ext cx="3931560" cy="182844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" name="Shape 8"/>
          <p:cNvSpPr/>
          <p:nvPr/>
        </p:nvSpPr>
        <p:spPr>
          <a:xfrm>
            <a:off x="320040" y="2103120"/>
            <a:ext cx="3931560" cy="347040"/>
          </a:xfrm>
          <a:prstGeom prst="rect">
            <a:avLst/>
          </a:prstGeom>
          <a:solidFill>
            <a:srgbClr val="3a5a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Text 9"/>
          <p:cNvSpPr/>
          <p:nvPr/>
        </p:nvSpPr>
        <p:spPr>
          <a:xfrm>
            <a:off x="457200" y="214884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Without Annotations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6" name="Text 10"/>
          <p:cNvSpPr/>
          <p:nvPr/>
        </p:nvSpPr>
        <p:spPr>
          <a:xfrm>
            <a:off x="457200" y="2505600"/>
            <a:ext cx="365724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class ReviewAnalysis(TypedDict):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summary: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sentiment: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LLM must guess what to put here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67" name="Shape 11"/>
          <p:cNvSpPr/>
          <p:nvPr/>
        </p:nvSpPr>
        <p:spPr>
          <a:xfrm>
            <a:off x="4892040" y="2103120"/>
            <a:ext cx="3931560" cy="182844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8" name="Shape 12"/>
          <p:cNvSpPr/>
          <p:nvPr/>
        </p:nvSpPr>
        <p:spPr>
          <a:xfrm>
            <a:off x="4892040" y="2103120"/>
            <a:ext cx="3931560" cy="347040"/>
          </a:xfrm>
          <a:prstGeom prst="rect">
            <a:avLst/>
          </a:prstGeom>
          <a:solidFill>
            <a:srgbClr val="06d6a0">
              <a:alpha val="7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" name="Text 13"/>
          <p:cNvSpPr/>
          <p:nvPr/>
        </p:nvSpPr>
        <p:spPr>
          <a:xfrm>
            <a:off x="5029200" y="2148840"/>
            <a:ext cx="36572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ffffff"/>
                </a:solidFill>
                <a:latin typeface="Consolas"/>
                <a:ea typeface="Consolas"/>
              </a:rPr>
              <a:t>With Annotations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0" name="Text 14"/>
          <p:cNvSpPr/>
          <p:nvPr/>
        </p:nvSpPr>
        <p:spPr>
          <a:xfrm>
            <a:off x="5029200" y="2505600"/>
            <a:ext cx="365724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TypedDict, Annotated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class ReviewAnalysis(TypedDict):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summary: Annotated[str,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"A brief summary of the review"]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sentiment: Annotated[str,</a:t>
            </a:r>
            <a:endParaRPr b="0" lang="en-IN" sz="11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150" spc="-1" strike="noStrike">
                <a:solidFill>
                  <a:srgbClr val="48cae4"/>
                </a:solidFill>
                <a:latin typeface="Consolas"/>
                <a:ea typeface="Consolas"/>
              </a:rPr>
              <a:t>"Return: positive, negative, or neutral"]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71" name="Shape 15"/>
          <p:cNvSpPr/>
          <p:nvPr/>
        </p:nvSpPr>
        <p:spPr>
          <a:xfrm>
            <a:off x="320040" y="4050720"/>
            <a:ext cx="8503560" cy="65808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6"/>
          <p:cNvSpPr/>
          <p:nvPr/>
        </p:nvSpPr>
        <p:spPr>
          <a:xfrm>
            <a:off x="457200" y="4096440"/>
            <a:ext cx="18284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Output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73" name="Text 17"/>
          <p:cNvSpPr/>
          <p:nvPr/>
        </p:nvSpPr>
        <p:spPr>
          <a:xfrm>
            <a:off x="457200" y="4297680"/>
            <a:ext cx="82292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{'summary': 'Good hardware but bloated software and outdated UI', 'sentiment': 'negative'}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74" name="Shape 18"/>
          <p:cNvSpPr/>
          <p:nvPr/>
        </p:nvSpPr>
        <p:spPr>
          <a:xfrm>
            <a:off x="320040" y="4773240"/>
            <a:ext cx="8503560" cy="273960"/>
          </a:xfrm>
          <a:prstGeom prst="rect">
            <a:avLst/>
          </a:prstGeom>
          <a:solidFill>
            <a:srgbClr val="ffd166">
              <a:alpha val="2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19"/>
          <p:cNvSpPr/>
          <p:nvPr/>
        </p:nvSpPr>
        <p:spPr>
          <a:xfrm>
            <a:off x="457200" y="4809600"/>
            <a:ext cx="82292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1a2e42"/>
                </a:solidFill>
                <a:latin typeface="Calibri"/>
                <a:ea typeface="Calibri"/>
              </a:rPr>
              <a:t>Annotations help guide the LLM on exactly what to extract — always use them for better results!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Shape 1"/>
          <p:cNvSpPr/>
          <p:nvPr/>
        </p:nvSpPr>
        <p:spPr>
          <a:xfrm>
            <a:off x="0" y="960120"/>
            <a:ext cx="91436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78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8280" cy="548280"/>
          </a:xfrm>
          <a:prstGeom prst="rect">
            <a:avLst/>
          </a:prstGeom>
          <a:ln w="0">
            <a:noFill/>
          </a:ln>
        </p:spPr>
      </p:pic>
      <p:sp>
        <p:nvSpPr>
          <p:cNvPr id="79" name="Text 2"/>
          <p:cNvSpPr/>
          <p:nvPr/>
        </p:nvSpPr>
        <p:spPr>
          <a:xfrm>
            <a:off x="1005840" y="1828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Complex TypedDict Schema — Full Code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80" name="Shape 3"/>
          <p:cNvSpPr/>
          <p:nvPr/>
        </p:nvSpPr>
        <p:spPr>
          <a:xfrm>
            <a:off x="320040" y="1097280"/>
            <a:ext cx="4937400" cy="384012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Text 4"/>
          <p:cNvSpPr/>
          <p:nvPr/>
        </p:nvSpPr>
        <p:spPr>
          <a:xfrm>
            <a:off x="457200" y="1170360"/>
            <a:ext cx="466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detailed_review_schema.py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82" name="Text 5"/>
          <p:cNvSpPr/>
          <p:nvPr/>
        </p:nvSpPr>
        <p:spPr>
          <a:xfrm>
            <a:off x="457200" y="1435680"/>
            <a:ext cx="4663080" cy="340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TypedDict, Annotated, Optional, Literal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class DetailedReview(TypedDict):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key_themes: Annotated[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list[str],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"Key themes discussed in the review"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summary: Annotated[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str,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"A brief summary of the review"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sentiment: Annotated[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Literal["positive", "negative"],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"Return sentiment"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pros: Annotated[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Optional[list[str]],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"List all pros mentioned"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cons: Annotated[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Optional[list[str]],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"List all cons mentioned"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]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reviewer_name: Annotated[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Optional[str],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"Name of reviewer if mentioned"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050" spc="-1" strike="noStrike">
                <a:solidFill>
                  <a:srgbClr val="48cae4"/>
                </a:solidFill>
                <a:latin typeface="Consolas"/>
                <a:ea typeface="Consolas"/>
              </a:rPr>
              <a:t>]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83" name="Shape 6"/>
          <p:cNvSpPr/>
          <p:nvPr/>
        </p:nvSpPr>
        <p:spPr>
          <a:xfrm>
            <a:off x="5413320" y="1097280"/>
            <a:ext cx="341028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50760" dir="8100000" dist="12218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" name="Shape 7"/>
          <p:cNvSpPr/>
          <p:nvPr/>
        </p:nvSpPr>
        <p:spPr>
          <a:xfrm>
            <a:off x="5413320" y="1097280"/>
            <a:ext cx="63720" cy="77688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Text 8"/>
          <p:cNvSpPr/>
          <p:nvPr/>
        </p:nvSpPr>
        <p:spPr>
          <a:xfrm>
            <a:off x="5550480" y="114300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96c7"/>
                </a:solidFill>
                <a:latin typeface="Consolas"/>
                <a:ea typeface="Consolas"/>
              </a:rPr>
              <a:t>list[str]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86" name="Text 9"/>
          <p:cNvSpPr/>
          <p:nvPr/>
        </p:nvSpPr>
        <p:spPr>
          <a:xfrm>
            <a:off x="5550480" y="13899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Extract multiple values as a Python list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87" name="Shape 10"/>
          <p:cNvSpPr/>
          <p:nvPr/>
        </p:nvSpPr>
        <p:spPr>
          <a:xfrm>
            <a:off x="5413320" y="2030040"/>
            <a:ext cx="341028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50760" dir="8100000" dist="12218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8" name="Shape 11"/>
          <p:cNvSpPr/>
          <p:nvPr/>
        </p:nvSpPr>
        <p:spPr>
          <a:xfrm>
            <a:off x="5413320" y="2030040"/>
            <a:ext cx="63720" cy="77688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Text 12"/>
          <p:cNvSpPr/>
          <p:nvPr/>
        </p:nvSpPr>
        <p:spPr>
          <a:xfrm>
            <a:off x="5550480" y="207576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4a261"/>
                </a:solidFill>
                <a:latin typeface="Consolas"/>
                <a:ea typeface="Consolas"/>
              </a:rPr>
              <a:t>Literal[...]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0" name="Text 13"/>
          <p:cNvSpPr/>
          <p:nvPr/>
        </p:nvSpPr>
        <p:spPr>
          <a:xfrm>
            <a:off x="5550480" y="23227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Constrain output to specific string values only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1" name="Shape 14"/>
          <p:cNvSpPr/>
          <p:nvPr/>
        </p:nvSpPr>
        <p:spPr>
          <a:xfrm>
            <a:off x="5413320" y="2962800"/>
            <a:ext cx="341028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50760" dir="8100000" dist="12218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" name="Shape 15"/>
          <p:cNvSpPr/>
          <p:nvPr/>
        </p:nvSpPr>
        <p:spPr>
          <a:xfrm>
            <a:off x="5413320" y="2962800"/>
            <a:ext cx="63720" cy="776880"/>
          </a:xfrm>
          <a:prstGeom prst="rect">
            <a:avLst/>
          </a:prstGeom>
          <a:solidFill>
            <a:srgbClr val="7b2d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Text 16"/>
          <p:cNvSpPr/>
          <p:nvPr/>
        </p:nvSpPr>
        <p:spPr>
          <a:xfrm>
            <a:off x="5550480" y="300852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7b2d8b"/>
                </a:solidFill>
                <a:latin typeface="Consolas"/>
                <a:ea typeface="Consolas"/>
              </a:rPr>
              <a:t>Optional[...]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5550480" y="32551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Field is nullable — may not be in the review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5" name="Shape 18"/>
          <p:cNvSpPr/>
          <p:nvPr/>
        </p:nvSpPr>
        <p:spPr>
          <a:xfrm>
            <a:off x="5413320" y="3895200"/>
            <a:ext cx="3410280" cy="77688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50760" dir="8100000" dist="12218" kx="0" ky="0" rotWithShape="0" sx="100000" sy="10000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19"/>
          <p:cNvSpPr/>
          <p:nvPr/>
        </p:nvSpPr>
        <p:spPr>
          <a:xfrm>
            <a:off x="5413320" y="3895200"/>
            <a:ext cx="63720" cy="77688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20"/>
          <p:cNvSpPr/>
          <p:nvPr/>
        </p:nvSpPr>
        <p:spPr>
          <a:xfrm>
            <a:off x="5550480" y="3940920"/>
            <a:ext cx="32000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Annotated[...]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8" name="Text 21"/>
          <p:cNvSpPr/>
          <p:nvPr/>
        </p:nvSpPr>
        <p:spPr>
          <a:xfrm>
            <a:off x="5550480" y="418788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1a2e42"/>
                </a:solidFill>
                <a:latin typeface="Calibri"/>
                <a:ea typeface="Calibri"/>
              </a:rPr>
              <a:t>Attach description as LLM guidance hint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9" name="Shape 22"/>
          <p:cNvSpPr/>
          <p:nvPr/>
        </p:nvSpPr>
        <p:spPr>
          <a:xfrm>
            <a:off x="5413320" y="4773240"/>
            <a:ext cx="3410280" cy="27396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Text 23"/>
          <p:cNvSpPr/>
          <p:nvPr/>
        </p:nvSpPr>
        <p:spPr>
          <a:xfrm>
            <a:off x="5532120" y="4800600"/>
            <a:ext cx="32914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All fields use Annotated + Optional for maximum LLM guidance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hape 1"/>
          <p:cNvSpPr/>
          <p:nvPr/>
        </p:nvSpPr>
        <p:spPr>
          <a:xfrm>
            <a:off x="0" y="960120"/>
            <a:ext cx="91436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03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8280" cy="548280"/>
          </a:xfrm>
          <a:prstGeom prst="rect">
            <a:avLst/>
          </a:prstGeom>
          <a:ln w="0">
            <a:noFill/>
          </a:ln>
        </p:spPr>
      </p:pic>
      <p:sp>
        <p:nvSpPr>
          <p:cNvPr id="104" name="Text 2"/>
          <p:cNvSpPr/>
          <p:nvPr/>
        </p:nvSpPr>
        <p:spPr>
          <a:xfrm>
            <a:off x="1005840" y="1828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Complex Schema — Output Results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320040" y="1115640"/>
            <a:ext cx="4114440" cy="201132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Text 4"/>
          <p:cNvSpPr/>
          <p:nvPr/>
        </p:nvSpPr>
        <p:spPr>
          <a:xfrm>
            <a:off x="457200" y="1170360"/>
            <a:ext cx="384012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Samsung Galaxy S24 Ultra Review (excerpt)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457200" y="1444680"/>
            <a:ext cx="3840120" cy="15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"Snapdragon 8 Gen 3 makes everything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lightning fast. The 200MP camera is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stunning. However, the weight makes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one-handed use uncomfortable. Samsung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One UI still has bloatware. $1,300 price</a:t>
            </a:r>
            <a:endParaRPr b="0" lang="en-IN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48cae4"/>
                </a:solidFill>
                <a:latin typeface="Consolas"/>
                <a:ea typeface="Consolas"/>
              </a:rPr>
              <a:t>tag is hard to swallow. — John Smith"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8" name="Shape 6"/>
          <p:cNvSpPr/>
          <p:nvPr/>
        </p:nvSpPr>
        <p:spPr>
          <a:xfrm>
            <a:off x="320040" y="3246120"/>
            <a:ext cx="8503560" cy="169128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9" name="Text 7"/>
          <p:cNvSpPr/>
          <p:nvPr/>
        </p:nvSpPr>
        <p:spPr>
          <a:xfrm>
            <a:off x="457200" y="3310200"/>
            <a:ext cx="45716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Structured Output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457200" y="3584520"/>
            <a:ext cx="8320680" cy="12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{'key_themes': ['Snapdragon 8 Gen 3', '5000mAh battery', '200MP camera', 'S-Pen'],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'summary': 'Powerful processor and impressive camera but heavy design and bloatware',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'sentiment': 'positive',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'pros': ['Powerful processor', 'Stunning 200MP camera', 'Long battery, fast charging'],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'cons': ['Heavy, uncomfortable one-handed', 'Bloatware in One UI', 'High price'],</a:t>
            </a:r>
            <a:endParaRPr b="0" lang="en-IN" sz="105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 </a:t>
            </a:r>
            <a:r>
              <a:rPr b="0" lang="en-US" sz="1050" spc="-1" strike="noStrike">
                <a:solidFill>
                  <a:srgbClr val="06d6a0"/>
                </a:solidFill>
                <a:latin typeface="Consolas"/>
                <a:ea typeface="Consolas"/>
              </a:rPr>
              <a:t>'reviewer_name': 'John Smith'}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11" name="Shape 9"/>
          <p:cNvSpPr/>
          <p:nvPr/>
        </p:nvSpPr>
        <p:spPr>
          <a:xfrm>
            <a:off x="4553640" y="1115640"/>
            <a:ext cx="4269960" cy="4201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hape 10"/>
          <p:cNvSpPr/>
          <p:nvPr/>
        </p:nvSpPr>
        <p:spPr>
          <a:xfrm>
            <a:off x="4553640" y="1115640"/>
            <a:ext cx="54360" cy="42012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ext 11"/>
          <p:cNvSpPr/>
          <p:nvPr/>
        </p:nvSpPr>
        <p:spPr>
          <a:xfrm>
            <a:off x="4663440" y="115200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onsolas"/>
                <a:ea typeface="Consolas"/>
              </a:rPr>
              <a:t>key_themes: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4663440" y="1353240"/>
            <a:ext cx="4068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a5a78"/>
                </a:solidFill>
                <a:latin typeface="Consolas"/>
                <a:ea typeface="Consolas"/>
              </a:rPr>
              <a:t>list[str]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5" name="Shape 13"/>
          <p:cNvSpPr/>
          <p:nvPr/>
        </p:nvSpPr>
        <p:spPr>
          <a:xfrm>
            <a:off x="4553640" y="1609200"/>
            <a:ext cx="4269960" cy="4201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Shape 14"/>
          <p:cNvSpPr/>
          <p:nvPr/>
        </p:nvSpPr>
        <p:spPr>
          <a:xfrm>
            <a:off x="4553640" y="1609200"/>
            <a:ext cx="54360" cy="42012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15"/>
          <p:cNvSpPr/>
          <p:nvPr/>
        </p:nvSpPr>
        <p:spPr>
          <a:xfrm>
            <a:off x="4663440" y="164592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onsolas"/>
                <a:ea typeface="Consolas"/>
              </a:rPr>
              <a:t>sentiment: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18" name="Text 16"/>
          <p:cNvSpPr/>
          <p:nvPr/>
        </p:nvSpPr>
        <p:spPr>
          <a:xfrm>
            <a:off x="4663440" y="1847160"/>
            <a:ext cx="4068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a5a78"/>
                </a:solidFill>
                <a:latin typeface="Consolas"/>
                <a:ea typeface="Consolas"/>
              </a:rPr>
              <a:t>Literal["positive","negative"]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4553640" y="2103120"/>
            <a:ext cx="4269960" cy="4201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hape 18"/>
          <p:cNvSpPr/>
          <p:nvPr/>
        </p:nvSpPr>
        <p:spPr>
          <a:xfrm>
            <a:off x="4553640" y="2103120"/>
            <a:ext cx="54360" cy="420120"/>
          </a:xfrm>
          <a:prstGeom prst="rect">
            <a:avLst/>
          </a:prstGeom>
          <a:solidFill>
            <a:srgbClr val="7b2d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Text 19"/>
          <p:cNvSpPr/>
          <p:nvPr/>
        </p:nvSpPr>
        <p:spPr>
          <a:xfrm>
            <a:off x="4663440" y="213984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7b2d8b"/>
                </a:solidFill>
                <a:latin typeface="Consolas"/>
                <a:ea typeface="Consolas"/>
              </a:rPr>
              <a:t>pros / cons: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2" name="Text 20"/>
          <p:cNvSpPr/>
          <p:nvPr/>
        </p:nvSpPr>
        <p:spPr>
          <a:xfrm>
            <a:off x="4663440" y="2340720"/>
            <a:ext cx="4068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a5a78"/>
                </a:solidFill>
                <a:latin typeface="Consolas"/>
                <a:ea typeface="Consolas"/>
              </a:rPr>
              <a:t>Optional[list[str]]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4553640" y="2597040"/>
            <a:ext cx="4269960" cy="420120"/>
          </a:xfrm>
          <a:prstGeom prst="rect">
            <a:avLst/>
          </a:prstGeom>
          <a:solidFill>
            <a:srgbClr val="eaf4f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Shape 22"/>
          <p:cNvSpPr/>
          <p:nvPr/>
        </p:nvSpPr>
        <p:spPr>
          <a:xfrm>
            <a:off x="4553640" y="2597040"/>
            <a:ext cx="54360" cy="42012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5" name="Text 23"/>
          <p:cNvSpPr/>
          <p:nvPr/>
        </p:nvSpPr>
        <p:spPr>
          <a:xfrm>
            <a:off x="4663440" y="263340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6d6a0"/>
                </a:solidFill>
                <a:latin typeface="Consolas"/>
                <a:ea typeface="Consolas"/>
              </a:rPr>
              <a:t>reviewer_name: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4663440" y="2834640"/>
            <a:ext cx="40687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3a5a78"/>
                </a:solidFill>
                <a:latin typeface="Consolas"/>
                <a:ea typeface="Consolas"/>
              </a:rPr>
              <a:t>Optional[str]</a:t>
            </a: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Shape 1"/>
          <p:cNvSpPr/>
          <p:nvPr/>
        </p:nvSpPr>
        <p:spPr>
          <a:xfrm>
            <a:off x="0" y="960120"/>
            <a:ext cx="91436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9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8280" cy="548280"/>
          </a:xfrm>
          <a:prstGeom prst="rect">
            <a:avLst/>
          </a:prstGeom>
          <a:ln w="0">
            <a:noFill/>
          </a:ln>
        </p:spPr>
      </p:pic>
      <p:sp>
        <p:nvSpPr>
          <p:cNvPr id="130" name="Text 2"/>
          <p:cNvSpPr/>
          <p:nvPr/>
        </p:nvSpPr>
        <p:spPr>
          <a:xfrm>
            <a:off x="1005840" y="1828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Using Literal for Specific Values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320040" y="1115640"/>
            <a:ext cx="8503560" cy="74952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Shape 4"/>
          <p:cNvSpPr/>
          <p:nvPr/>
        </p:nvSpPr>
        <p:spPr>
          <a:xfrm>
            <a:off x="320040" y="1115640"/>
            <a:ext cx="63720" cy="74952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3" name="Text 5"/>
          <p:cNvSpPr/>
          <p:nvPr/>
        </p:nvSpPr>
        <p:spPr>
          <a:xfrm>
            <a:off x="475560" y="1161360"/>
            <a:ext cx="27428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96c7"/>
                </a:solidFill>
                <a:latin typeface="Calibri"/>
                <a:ea typeface="Calibri"/>
              </a:rPr>
              <a:t>What is Literal?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475560" y="1389960"/>
            <a:ext cx="8229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1a2e42"/>
                </a:solidFill>
                <a:latin typeface="Calibri"/>
                <a:ea typeface="Calibri"/>
              </a:rPr>
              <a:t>Literal["value1", "value2"] constrains the LLM to return only one of the specified values — like an enum. Perfect for sentiment, categories, priority levels, etc.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35" name="Shape 7"/>
          <p:cNvSpPr/>
          <p:nvPr/>
        </p:nvSpPr>
        <p:spPr>
          <a:xfrm>
            <a:off x="320040" y="1993320"/>
            <a:ext cx="4937400" cy="2212560"/>
          </a:xfrm>
          <a:prstGeom prst="rect">
            <a:avLst/>
          </a:prstGeom>
          <a:solidFill>
            <a:srgbClr val="0d1b2a"/>
          </a:solidFill>
          <a:ln w="0">
            <a:noFill/>
          </a:ln>
          <a:effectLst>
            <a:outerShdw algn="bl" blurRad="76320" dir="8100000" dist="25455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6" name="Text 8"/>
          <p:cNvSpPr/>
          <p:nvPr/>
        </p:nvSpPr>
        <p:spPr>
          <a:xfrm>
            <a:off x="457200" y="2066400"/>
            <a:ext cx="4663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literal_example.py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37" name="Text 9"/>
          <p:cNvSpPr/>
          <p:nvPr/>
        </p:nvSpPr>
        <p:spPr>
          <a:xfrm>
            <a:off x="457200" y="2340720"/>
            <a:ext cx="4663080" cy="178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from typing import Literal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class ReviewAnalysis(TypedDict):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summary: str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sentiment: Literal["POS", "NEG"]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# Only these two values allowed!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structured_llm = llm.with_structured_output(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    </a:t>
            </a: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ReviewAnalysis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)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analysis = structured_llm.invoke(review_text)</a:t>
            </a: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48cae4"/>
                </a:solidFill>
                <a:latin typeface="Consolas"/>
                <a:ea typeface="Consolas"/>
              </a:rPr>
              <a:t>print("Sentiment:", analysis['sentiment'])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38" name="Shape 10"/>
          <p:cNvSpPr/>
          <p:nvPr/>
        </p:nvSpPr>
        <p:spPr>
          <a:xfrm>
            <a:off x="320040" y="4297680"/>
            <a:ext cx="4937400" cy="59400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9" name="Text 11"/>
          <p:cNvSpPr/>
          <p:nvPr/>
        </p:nvSpPr>
        <p:spPr>
          <a:xfrm>
            <a:off x="457200" y="435240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b0c4de"/>
                </a:solidFill>
                <a:latin typeface="Consolas"/>
                <a:ea typeface="Consolas"/>
              </a:rPr>
              <a:t>Output: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40" name="Text 12"/>
          <p:cNvSpPr/>
          <p:nvPr/>
        </p:nvSpPr>
        <p:spPr>
          <a:xfrm>
            <a:off x="457200" y="4535280"/>
            <a:ext cx="4663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06d6a0"/>
                </a:solidFill>
                <a:latin typeface="Consolas"/>
                <a:ea typeface="Consolas"/>
              </a:rPr>
              <a:t>Sentiment: NEG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41" name="Shape 13"/>
          <p:cNvSpPr/>
          <p:nvPr/>
        </p:nvSpPr>
        <p:spPr>
          <a:xfrm>
            <a:off x="5413320" y="1993320"/>
            <a:ext cx="3410280" cy="289836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4"/>
          <p:cNvSpPr/>
          <p:nvPr/>
        </p:nvSpPr>
        <p:spPr>
          <a:xfrm>
            <a:off x="5413320" y="1993320"/>
            <a:ext cx="3410280" cy="43848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5"/>
          <p:cNvSpPr/>
          <p:nvPr/>
        </p:nvSpPr>
        <p:spPr>
          <a:xfrm>
            <a:off x="5550480" y="2048400"/>
            <a:ext cx="3154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Common Literal Use Cases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44" name="Text 16"/>
          <p:cNvSpPr/>
          <p:nvPr/>
        </p:nvSpPr>
        <p:spPr>
          <a:xfrm>
            <a:off x="5550480" y="25603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alibri"/>
                <a:ea typeface="Calibri"/>
              </a:rPr>
              <a:t>Sentiment: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5" name="Text 17"/>
          <p:cNvSpPr/>
          <p:nvPr/>
        </p:nvSpPr>
        <p:spPr>
          <a:xfrm>
            <a:off x="6464880" y="2560320"/>
            <a:ext cx="226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onsolas"/>
                <a:ea typeface="Consolas"/>
              </a:rPr>
              <a:t>"positive", "negative", "neutral"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5550480" y="30175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alibri"/>
                <a:ea typeface="Calibri"/>
              </a:rPr>
              <a:t>Priority: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7" name="Text 19"/>
          <p:cNvSpPr/>
          <p:nvPr/>
        </p:nvSpPr>
        <p:spPr>
          <a:xfrm>
            <a:off x="6464880" y="3017520"/>
            <a:ext cx="226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onsolas"/>
                <a:ea typeface="Consolas"/>
              </a:rPr>
              <a:t>"low", "medium", "high"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8" name="Text 20"/>
          <p:cNvSpPr/>
          <p:nvPr/>
        </p:nvSpPr>
        <p:spPr>
          <a:xfrm>
            <a:off x="5550480" y="34747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alibri"/>
                <a:ea typeface="Calibri"/>
              </a:rPr>
              <a:t>Category: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9" name="Text 21"/>
          <p:cNvSpPr/>
          <p:nvPr/>
        </p:nvSpPr>
        <p:spPr>
          <a:xfrm>
            <a:off x="6464880" y="3474720"/>
            <a:ext cx="226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onsolas"/>
                <a:ea typeface="Consolas"/>
              </a:rPr>
              <a:t>"tech", "sports", "politics"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50" name="Text 22"/>
          <p:cNvSpPr/>
          <p:nvPr/>
        </p:nvSpPr>
        <p:spPr>
          <a:xfrm>
            <a:off x="5550480" y="39319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alibri"/>
                <a:ea typeface="Calibri"/>
              </a:rPr>
              <a:t>Decision: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51" name="Text 23"/>
          <p:cNvSpPr/>
          <p:nvPr/>
        </p:nvSpPr>
        <p:spPr>
          <a:xfrm>
            <a:off x="6464880" y="3931920"/>
            <a:ext cx="226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onsolas"/>
                <a:ea typeface="Consolas"/>
              </a:rPr>
              <a:t>"approve", "reject", "review"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52" name="Text 24"/>
          <p:cNvSpPr/>
          <p:nvPr/>
        </p:nvSpPr>
        <p:spPr>
          <a:xfrm>
            <a:off x="5550480" y="4389120"/>
            <a:ext cx="914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f4a261"/>
                </a:solidFill>
                <a:latin typeface="Calibri"/>
                <a:ea typeface="Calibri"/>
              </a:rPr>
              <a:t>Risk level: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53" name="Text 25"/>
          <p:cNvSpPr/>
          <p:nvPr/>
        </p:nvSpPr>
        <p:spPr>
          <a:xfrm>
            <a:off x="6464880" y="4389120"/>
            <a:ext cx="2267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1a2e42"/>
                </a:solidFill>
                <a:latin typeface="Consolas"/>
                <a:ea typeface="Consolas"/>
              </a:rPr>
              <a:t>"safe", "caution", "danger"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Shape 1"/>
          <p:cNvSpPr/>
          <p:nvPr/>
        </p:nvSpPr>
        <p:spPr>
          <a:xfrm>
            <a:off x="-1371600" y="-1371600"/>
            <a:ext cx="4571640" cy="457164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Shape 2"/>
          <p:cNvSpPr/>
          <p:nvPr/>
        </p:nvSpPr>
        <p:spPr>
          <a:xfrm>
            <a:off x="5943600" y="2286000"/>
            <a:ext cx="4114440" cy="411444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7" name="Shape 3"/>
          <p:cNvSpPr/>
          <p:nvPr/>
        </p:nvSpPr>
        <p:spPr>
          <a:xfrm>
            <a:off x="4023360" y="2103120"/>
            <a:ext cx="109692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Text 4"/>
          <p:cNvSpPr/>
          <p:nvPr/>
        </p:nvSpPr>
        <p:spPr>
          <a:xfrm>
            <a:off x="4023360" y="155448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599" strike="noStrike">
                <a:solidFill>
                  <a:srgbClr val="48cae4"/>
                </a:solidFill>
                <a:latin typeface="Calibri"/>
                <a:ea typeface="Calibri"/>
              </a:rPr>
              <a:t>DEEP DIVE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4023360" y="2194560"/>
            <a:ext cx="47545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How with_structured_output()</a:t>
            </a:r>
            <a:endParaRPr b="0" lang="en-IN" sz="3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800" spc="-1" strike="noStrike">
                <a:solidFill>
                  <a:srgbClr val="ffffff"/>
                </a:solidFill>
                <a:latin typeface="Calibri"/>
                <a:ea typeface="Calibri"/>
              </a:rPr>
              <a:t>Works</a:t>
            </a:r>
            <a:endParaRPr b="0" lang="en-IN" sz="3800" spc="-1" strike="noStrike">
              <a:latin typeface="Arial"/>
            </a:endParaRPr>
          </a:p>
        </p:txBody>
      </p:sp>
      <p:sp>
        <p:nvSpPr>
          <p:cNvPr id="160" name="Text 6"/>
          <p:cNvSpPr/>
          <p:nvPr/>
        </p:nvSpPr>
        <p:spPr>
          <a:xfrm>
            <a:off x="4023360" y="3456360"/>
            <a:ext cx="4754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0c4de"/>
                </a:solidFill>
                <a:latin typeface="Calibri"/>
                <a:ea typeface="Calibri"/>
              </a:rPr>
              <a:t>Understanding the automatic system prompt generation and JSON parsing pipeline.</a:t>
            </a:r>
            <a:endParaRPr b="0" lang="en-IN" sz="1400" spc="-1" strike="noStrike">
              <a:latin typeface="Arial"/>
            </a:endParaRPr>
          </a:p>
        </p:txBody>
      </p:sp>
      <p:pic>
        <p:nvPicPr>
          <p:cNvPr id="161" name="Image 0" descr="preencoded.png"/>
          <p:cNvPicPr/>
          <p:nvPr/>
        </p:nvPicPr>
        <p:blipFill>
          <a:blip r:embed="rId1"/>
          <a:stretch/>
        </p:blipFill>
        <p:spPr>
          <a:xfrm>
            <a:off x="1005840" y="1463040"/>
            <a:ext cx="1462680" cy="1462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3" name="Shape 1"/>
          <p:cNvSpPr/>
          <p:nvPr/>
        </p:nvSpPr>
        <p:spPr>
          <a:xfrm>
            <a:off x="0" y="960120"/>
            <a:ext cx="91436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64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8280" cy="548280"/>
          </a:xfrm>
          <a:prstGeom prst="rect">
            <a:avLst/>
          </a:prstGeom>
          <a:ln w="0">
            <a:noFill/>
          </a:ln>
        </p:spPr>
      </p:pic>
      <p:sp>
        <p:nvSpPr>
          <p:cNvPr id="165" name="Text 2"/>
          <p:cNvSpPr/>
          <p:nvPr/>
        </p:nvSpPr>
        <p:spPr>
          <a:xfrm>
            <a:off x="1005840" y="1828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Behind the Scenes — Automatic System Prompt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320040" y="1115640"/>
            <a:ext cx="8503560" cy="529920"/>
          </a:xfrm>
          <a:prstGeom prst="rect">
            <a:avLst/>
          </a:prstGeom>
          <a:solidFill>
            <a:srgbClr val="3a5a7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4"/>
          <p:cNvSpPr/>
          <p:nvPr/>
        </p:nvSpPr>
        <p:spPr>
          <a:xfrm>
            <a:off x="457200" y="1170360"/>
            <a:ext cx="82292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When you call llm.with_structured_output(ReviewAnalysis), LangChain automatically: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68" name="Shape 5"/>
          <p:cNvSpPr/>
          <p:nvPr/>
        </p:nvSpPr>
        <p:spPr>
          <a:xfrm>
            <a:off x="320040" y="1792080"/>
            <a:ext cx="8503560" cy="566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381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9" name="Shape 6"/>
          <p:cNvSpPr/>
          <p:nvPr/>
        </p:nvSpPr>
        <p:spPr>
          <a:xfrm>
            <a:off x="384120" y="1856160"/>
            <a:ext cx="347040" cy="347040"/>
          </a:xfrm>
          <a:prstGeom prst="ellipse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 7"/>
          <p:cNvSpPr/>
          <p:nvPr/>
        </p:nvSpPr>
        <p:spPr>
          <a:xfrm>
            <a:off x="384120" y="18561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822960" y="182880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96c7"/>
                </a:solidFill>
                <a:latin typeface="Calibri"/>
                <a:ea typeface="Calibri"/>
              </a:rPr>
              <a:t>Generates a system prompt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822960" y="2103120"/>
            <a:ext cx="7845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e.g. "Extract: summary (brief overview), sentiment (positive/neutral/negative). Return as JSON."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3" name="Shape 10"/>
          <p:cNvSpPr/>
          <p:nvPr/>
        </p:nvSpPr>
        <p:spPr>
          <a:xfrm>
            <a:off x="320040" y="2414160"/>
            <a:ext cx="8503560" cy="566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381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4" name="Shape 11"/>
          <p:cNvSpPr/>
          <p:nvPr/>
        </p:nvSpPr>
        <p:spPr>
          <a:xfrm>
            <a:off x="384120" y="2477880"/>
            <a:ext cx="347040" cy="347040"/>
          </a:xfrm>
          <a:prstGeom prst="ellipse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12"/>
          <p:cNvSpPr/>
          <p:nvPr/>
        </p:nvSpPr>
        <p:spPr>
          <a:xfrm>
            <a:off x="384120" y="24778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822960" y="245052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0b4d8"/>
                </a:solidFill>
                <a:latin typeface="Calibri"/>
                <a:ea typeface="Calibri"/>
              </a:rPr>
              <a:t>Sends system prompt to LLM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77" name="Text 14"/>
          <p:cNvSpPr/>
          <p:nvPr/>
        </p:nvSpPr>
        <p:spPr>
          <a:xfrm>
            <a:off x="822960" y="2724840"/>
            <a:ext cx="7845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The auto-generated prompt defines the exact output format expected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320040" y="3035880"/>
            <a:ext cx="8503560" cy="566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381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9" name="Shape 16"/>
          <p:cNvSpPr/>
          <p:nvPr/>
        </p:nvSpPr>
        <p:spPr>
          <a:xfrm>
            <a:off x="384120" y="3099960"/>
            <a:ext cx="347040" cy="347040"/>
          </a:xfrm>
          <a:prstGeom prst="ellipse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17"/>
          <p:cNvSpPr/>
          <p:nvPr/>
        </p:nvSpPr>
        <p:spPr>
          <a:xfrm>
            <a:off x="384120" y="309996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1" name="Text 18"/>
          <p:cNvSpPr/>
          <p:nvPr/>
        </p:nvSpPr>
        <p:spPr>
          <a:xfrm>
            <a:off x="822960" y="307224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06d6a0"/>
                </a:solidFill>
                <a:latin typeface="Calibri"/>
                <a:ea typeface="Calibri"/>
              </a:rPr>
              <a:t>Appends your review text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2" name="Text 19"/>
          <p:cNvSpPr/>
          <p:nvPr/>
        </p:nvSpPr>
        <p:spPr>
          <a:xfrm>
            <a:off x="822960" y="3346560"/>
            <a:ext cx="7845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Your actual input is added after the system prompt instructions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3" name="Shape 20"/>
          <p:cNvSpPr/>
          <p:nvPr/>
        </p:nvSpPr>
        <p:spPr>
          <a:xfrm>
            <a:off x="320040" y="3657600"/>
            <a:ext cx="8503560" cy="566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381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1"/>
          <p:cNvSpPr/>
          <p:nvPr/>
        </p:nvSpPr>
        <p:spPr>
          <a:xfrm>
            <a:off x="384120" y="3721680"/>
            <a:ext cx="347040" cy="347040"/>
          </a:xfrm>
          <a:prstGeom prst="ellipse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Text 22"/>
          <p:cNvSpPr/>
          <p:nvPr/>
        </p:nvSpPr>
        <p:spPr>
          <a:xfrm>
            <a:off x="384120" y="372168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6" name="Text 23"/>
          <p:cNvSpPr/>
          <p:nvPr/>
        </p:nvSpPr>
        <p:spPr>
          <a:xfrm>
            <a:off x="822960" y="369432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4a261"/>
                </a:solidFill>
                <a:latin typeface="Calibri"/>
                <a:ea typeface="Calibri"/>
              </a:rPr>
              <a:t>LLM generates JSON output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87" name="Text 24"/>
          <p:cNvSpPr/>
          <p:nvPr/>
        </p:nvSpPr>
        <p:spPr>
          <a:xfrm>
            <a:off x="822960" y="3968640"/>
            <a:ext cx="7845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Model follows the system prompt and returns structured JSON response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88" name="Shape 25"/>
          <p:cNvSpPr/>
          <p:nvPr/>
        </p:nvSpPr>
        <p:spPr>
          <a:xfrm>
            <a:off x="320040" y="4279320"/>
            <a:ext cx="8503560" cy="5666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38160" dir="8100000" dist="12218" kx="0" ky="0" rotWithShape="0" sx="100000" sy="100000">
              <a:srgbClr val="000000">
                <a:alpha val="7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9" name="Shape 26"/>
          <p:cNvSpPr/>
          <p:nvPr/>
        </p:nvSpPr>
        <p:spPr>
          <a:xfrm>
            <a:off x="384120" y="4343400"/>
            <a:ext cx="347040" cy="347040"/>
          </a:xfrm>
          <a:prstGeom prst="ellipse">
            <a:avLst/>
          </a:prstGeom>
          <a:solidFill>
            <a:srgbClr val="7b2d8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Text 27"/>
          <p:cNvSpPr/>
          <p:nvPr/>
        </p:nvSpPr>
        <p:spPr>
          <a:xfrm>
            <a:off x="384120" y="4343400"/>
            <a:ext cx="347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91" name="Text 28"/>
          <p:cNvSpPr/>
          <p:nvPr/>
        </p:nvSpPr>
        <p:spPr>
          <a:xfrm>
            <a:off x="822960" y="4316040"/>
            <a:ext cx="237708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7b2d8b"/>
                </a:solidFill>
                <a:latin typeface="Calibri"/>
                <a:ea typeface="Calibri"/>
              </a:rPr>
              <a:t>LangChain parses JSON → Python dict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92" name="Text 29"/>
          <p:cNvSpPr/>
          <p:nvPr/>
        </p:nvSpPr>
        <p:spPr>
          <a:xfrm>
            <a:off x="822960" y="4590360"/>
            <a:ext cx="7845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3a5a78"/>
                </a:solidFill>
                <a:latin typeface="Calibri"/>
                <a:ea typeface="Calibri"/>
              </a:rPr>
              <a:t>Response is automatically parsed into a Python dictionary for you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93" name="Shape 30"/>
          <p:cNvSpPr/>
          <p:nvPr/>
        </p:nvSpPr>
        <p:spPr>
          <a:xfrm>
            <a:off x="320040" y="4919400"/>
            <a:ext cx="8503560" cy="182520"/>
          </a:xfrm>
          <a:prstGeom prst="rect">
            <a:avLst/>
          </a:prstGeom>
          <a:solidFill>
            <a:srgbClr val="00b4d8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Text 31"/>
          <p:cNvSpPr/>
          <p:nvPr/>
        </p:nvSpPr>
        <p:spPr>
          <a:xfrm>
            <a:off x="457200" y="4937760"/>
            <a:ext cx="8229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096c7"/>
                </a:solidFill>
                <a:latin typeface="Calibri"/>
                <a:ea typeface="Calibri"/>
              </a:rPr>
              <a:t>All 5 steps happen automatically — you just call .with_structured_output() and .invoke()!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0"/>
          <p:cNvSpPr/>
          <p:nvPr/>
        </p:nvSpPr>
        <p:spPr>
          <a:xfrm>
            <a:off x="0" y="0"/>
            <a:ext cx="9143640" cy="959760"/>
          </a:xfrm>
          <a:prstGeom prst="rect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Shape 1"/>
          <p:cNvSpPr/>
          <p:nvPr/>
        </p:nvSpPr>
        <p:spPr>
          <a:xfrm>
            <a:off x="0" y="960120"/>
            <a:ext cx="91436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97" name="Image 0" descr="preencoded.png"/>
          <p:cNvPicPr/>
          <p:nvPr/>
        </p:nvPicPr>
        <p:blipFill>
          <a:blip r:embed="rId1"/>
          <a:stretch/>
        </p:blipFill>
        <p:spPr>
          <a:xfrm>
            <a:off x="320040" y="182880"/>
            <a:ext cx="548280" cy="548280"/>
          </a:xfrm>
          <a:prstGeom prst="rect">
            <a:avLst/>
          </a:prstGeom>
          <a:ln w="0">
            <a:noFill/>
          </a:ln>
        </p:spPr>
      </p:pic>
      <p:sp>
        <p:nvSpPr>
          <p:cNvPr id="198" name="Text 2"/>
          <p:cNvSpPr/>
          <p:nvPr/>
        </p:nvSpPr>
        <p:spPr>
          <a:xfrm>
            <a:off x="1005840" y="18288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TypedDict — Complete Summary</a:t>
            </a:r>
            <a:endParaRPr b="0" lang="en-IN" sz="2600" spc="-1" strike="noStrike">
              <a:latin typeface="Arial"/>
            </a:endParaRPr>
          </a:p>
        </p:txBody>
      </p:sp>
      <p:sp>
        <p:nvSpPr>
          <p:cNvPr id="199" name="Shape 3"/>
          <p:cNvSpPr/>
          <p:nvPr/>
        </p:nvSpPr>
        <p:spPr>
          <a:xfrm>
            <a:off x="320040" y="1115640"/>
            <a:ext cx="2742840" cy="33829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0" name="Shape 4"/>
          <p:cNvSpPr/>
          <p:nvPr/>
        </p:nvSpPr>
        <p:spPr>
          <a:xfrm>
            <a:off x="320040" y="1115640"/>
            <a:ext cx="2742840" cy="456840"/>
          </a:xfrm>
          <a:prstGeom prst="rect">
            <a:avLst/>
          </a:prstGeom>
          <a:solidFill>
            <a:srgbClr val="009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1" name="Text 5"/>
          <p:cNvSpPr/>
          <p:nvPr/>
        </p:nvSpPr>
        <p:spPr>
          <a:xfrm>
            <a:off x="457200" y="11703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Core TypedDict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202" name="Image 1" descr="preencoded.png"/>
          <p:cNvPicPr/>
          <p:nvPr/>
        </p:nvPicPr>
        <p:blipFill>
          <a:blip r:embed="rId2"/>
          <a:stretch/>
        </p:blipFill>
        <p:spPr>
          <a:xfrm>
            <a:off x="457200" y="170064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03" name="Text 6"/>
          <p:cNvSpPr/>
          <p:nvPr/>
        </p:nvSpPr>
        <p:spPr>
          <a:xfrm>
            <a:off x="758880" y="168264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Define dict structure with type hints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04" name="Image 2" descr="preencoded.png"/>
          <p:cNvPicPr/>
          <p:nvPr/>
        </p:nvPicPr>
        <p:blipFill>
          <a:blip r:embed="rId3"/>
          <a:stretch/>
        </p:blipFill>
        <p:spPr>
          <a:xfrm>
            <a:off x="457200" y="234072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05" name="Text 7"/>
          <p:cNvSpPr/>
          <p:nvPr/>
        </p:nvSpPr>
        <p:spPr>
          <a:xfrm>
            <a:off x="758880" y="232272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Returns standard Python dict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06" name="Image 3" descr="preencoded.png"/>
          <p:cNvPicPr/>
          <p:nvPr/>
        </p:nvPicPr>
        <p:blipFill>
          <a:blip r:embed="rId4"/>
          <a:stretch/>
        </p:blipFill>
        <p:spPr>
          <a:xfrm>
            <a:off x="457200" y="298080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07" name="Text 8"/>
          <p:cNvSpPr/>
          <p:nvPr/>
        </p:nvSpPr>
        <p:spPr>
          <a:xfrm>
            <a:off x="758880" y="296280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Works with with_structured_output()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08" name="Image 4" descr="preencoded.png"/>
          <p:cNvPicPr/>
          <p:nvPr/>
        </p:nvPicPr>
        <p:blipFill>
          <a:blip r:embed="rId5"/>
          <a:stretch/>
        </p:blipFill>
        <p:spPr>
          <a:xfrm>
            <a:off x="457200" y="362088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09" name="Text 9"/>
          <p:cNvSpPr/>
          <p:nvPr/>
        </p:nvSpPr>
        <p:spPr>
          <a:xfrm>
            <a:off x="758880" y="360288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Access values: analysis['key']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10" name="Shape 10"/>
          <p:cNvSpPr/>
          <p:nvPr/>
        </p:nvSpPr>
        <p:spPr>
          <a:xfrm>
            <a:off x="3246120" y="1115640"/>
            <a:ext cx="2742840" cy="33829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1" name="Shape 11"/>
          <p:cNvSpPr/>
          <p:nvPr/>
        </p:nvSpPr>
        <p:spPr>
          <a:xfrm>
            <a:off x="3246120" y="1115640"/>
            <a:ext cx="2742840" cy="456840"/>
          </a:xfrm>
          <a:prstGeom prst="rect">
            <a:avLst/>
          </a:prstGeom>
          <a:solidFill>
            <a:srgbClr val="06d6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Text 12"/>
          <p:cNvSpPr/>
          <p:nvPr/>
        </p:nvSpPr>
        <p:spPr>
          <a:xfrm>
            <a:off x="3383280" y="11703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d1b2a"/>
                </a:solidFill>
                <a:latin typeface="Calibri"/>
                <a:ea typeface="Calibri"/>
              </a:rPr>
              <a:t>With Annotations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213" name="Image 5" descr="preencoded.png"/>
          <p:cNvPicPr/>
          <p:nvPr/>
        </p:nvPicPr>
        <p:blipFill>
          <a:blip r:embed="rId6"/>
          <a:stretch/>
        </p:blipFill>
        <p:spPr>
          <a:xfrm>
            <a:off x="3383280" y="170064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14" name="Text 13"/>
          <p:cNvSpPr/>
          <p:nvPr/>
        </p:nvSpPr>
        <p:spPr>
          <a:xfrm>
            <a:off x="3684960" y="168264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Annotated[type, 'description']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15" name="Image 6" descr="preencoded.png"/>
          <p:cNvPicPr/>
          <p:nvPr/>
        </p:nvPicPr>
        <p:blipFill>
          <a:blip r:embed="rId7"/>
          <a:stretch/>
        </p:blipFill>
        <p:spPr>
          <a:xfrm>
            <a:off x="3383280" y="234072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16" name="Text 14"/>
          <p:cNvSpPr/>
          <p:nvPr/>
        </p:nvSpPr>
        <p:spPr>
          <a:xfrm>
            <a:off x="3684960" y="232272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Guides LLM on what to extract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17" name="Image 7" descr="preencoded.png"/>
          <p:cNvPicPr/>
          <p:nvPr/>
        </p:nvPicPr>
        <p:blipFill>
          <a:blip r:embed="rId8"/>
          <a:stretch/>
        </p:blipFill>
        <p:spPr>
          <a:xfrm>
            <a:off x="3383280" y="298080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18" name="Text 15"/>
          <p:cNvSpPr/>
          <p:nvPr/>
        </p:nvSpPr>
        <p:spPr>
          <a:xfrm>
            <a:off x="3684960" y="296280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Better accuracy and consistency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19" name="Image 8" descr="preencoded.png"/>
          <p:cNvPicPr/>
          <p:nvPr/>
        </p:nvPicPr>
        <p:blipFill>
          <a:blip r:embed="rId9"/>
          <a:stretch/>
        </p:blipFill>
        <p:spPr>
          <a:xfrm>
            <a:off x="3383280" y="362088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20" name="Text 16"/>
          <p:cNvSpPr/>
          <p:nvPr/>
        </p:nvSpPr>
        <p:spPr>
          <a:xfrm>
            <a:off x="3684960" y="360288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alibri"/>
                <a:ea typeface="Calibri"/>
              </a:rPr>
              <a:t>Always use for best results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21" name="Shape 17"/>
          <p:cNvSpPr/>
          <p:nvPr/>
        </p:nvSpPr>
        <p:spPr>
          <a:xfrm>
            <a:off x="6172200" y="1115640"/>
            <a:ext cx="2742840" cy="338292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algn="bl" blurRad="63360" dir="8100000" dist="25455" kx="0" ky="0" rotWithShape="0" sx="100000" sy="100000">
              <a:srgbClr val="000000">
                <a:alpha val="9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2" name="Shape 18"/>
          <p:cNvSpPr/>
          <p:nvPr/>
        </p:nvSpPr>
        <p:spPr>
          <a:xfrm>
            <a:off x="6172200" y="1115640"/>
            <a:ext cx="2742840" cy="456840"/>
          </a:xfrm>
          <a:prstGeom prst="rect">
            <a:avLst/>
          </a:prstGeom>
          <a:solidFill>
            <a:srgbClr val="f4a26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19"/>
          <p:cNvSpPr/>
          <p:nvPr/>
        </p:nvSpPr>
        <p:spPr>
          <a:xfrm>
            <a:off x="6309360" y="1170360"/>
            <a:ext cx="24685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Advanced Typing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224" name="Image 9" descr="preencoded.png"/>
          <p:cNvPicPr/>
          <p:nvPr/>
        </p:nvPicPr>
        <p:blipFill>
          <a:blip r:embed="rId10"/>
          <a:stretch/>
        </p:blipFill>
        <p:spPr>
          <a:xfrm>
            <a:off x="6309360" y="170064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25" name="Text 20"/>
          <p:cNvSpPr/>
          <p:nvPr/>
        </p:nvSpPr>
        <p:spPr>
          <a:xfrm>
            <a:off x="6611040" y="168264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onsolas"/>
                <a:ea typeface="Consolas"/>
              </a:rPr>
              <a:t>Literal["a","b"] — constrain values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26" name="Image 10" descr="preencoded.png"/>
          <p:cNvPicPr/>
          <p:nvPr/>
        </p:nvPicPr>
        <p:blipFill>
          <a:blip r:embed="rId11"/>
          <a:stretch/>
        </p:blipFill>
        <p:spPr>
          <a:xfrm>
            <a:off x="6309360" y="234072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27" name="Text 21"/>
          <p:cNvSpPr/>
          <p:nvPr/>
        </p:nvSpPr>
        <p:spPr>
          <a:xfrm>
            <a:off x="6611040" y="232272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onsolas"/>
                <a:ea typeface="Consolas"/>
              </a:rPr>
              <a:t>Optional[T] — nullable fields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28" name="Image 11" descr="preencoded.png"/>
          <p:cNvPicPr/>
          <p:nvPr/>
        </p:nvPicPr>
        <p:blipFill>
          <a:blip r:embed="rId12"/>
          <a:stretch/>
        </p:blipFill>
        <p:spPr>
          <a:xfrm>
            <a:off x="6309360" y="298080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29" name="Text 22"/>
          <p:cNvSpPr/>
          <p:nvPr/>
        </p:nvSpPr>
        <p:spPr>
          <a:xfrm>
            <a:off x="6611040" y="296280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onsolas"/>
                <a:ea typeface="Consolas"/>
              </a:rPr>
              <a:t>list[str] — multiple values</a:t>
            </a:r>
            <a:endParaRPr b="0" lang="en-IN" sz="1150" spc="-1" strike="noStrike">
              <a:latin typeface="Arial"/>
            </a:endParaRPr>
          </a:p>
        </p:txBody>
      </p:sp>
      <p:pic>
        <p:nvPicPr>
          <p:cNvPr id="230" name="Image 12" descr="preencoded.png"/>
          <p:cNvPicPr/>
          <p:nvPr/>
        </p:nvPicPr>
        <p:blipFill>
          <a:blip r:embed="rId13"/>
          <a:stretch/>
        </p:blipFill>
        <p:spPr>
          <a:xfrm>
            <a:off x="6309360" y="3620880"/>
            <a:ext cx="228240" cy="228240"/>
          </a:xfrm>
          <a:prstGeom prst="rect">
            <a:avLst/>
          </a:prstGeom>
          <a:ln w="0">
            <a:noFill/>
          </a:ln>
        </p:spPr>
      </p:pic>
      <p:sp>
        <p:nvSpPr>
          <p:cNvPr id="231" name="Text 23"/>
          <p:cNvSpPr/>
          <p:nvPr/>
        </p:nvSpPr>
        <p:spPr>
          <a:xfrm>
            <a:off x="6611040" y="3602880"/>
            <a:ext cx="221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1a2e42"/>
                </a:solidFill>
                <a:latin typeface="Consolas"/>
                <a:ea typeface="Consolas"/>
              </a:rPr>
              <a:t>Combinations of all three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232" name="Shape 24"/>
          <p:cNvSpPr/>
          <p:nvPr/>
        </p:nvSpPr>
        <p:spPr>
          <a:xfrm>
            <a:off x="320040" y="4617720"/>
            <a:ext cx="8503560" cy="438480"/>
          </a:xfrm>
          <a:prstGeom prst="rect">
            <a:avLst/>
          </a:prstGeom>
          <a:solidFill>
            <a:srgbClr val="ef476f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Shape 25"/>
          <p:cNvSpPr/>
          <p:nvPr/>
        </p:nvSpPr>
        <p:spPr>
          <a:xfrm>
            <a:off x="320040" y="4617720"/>
            <a:ext cx="63720" cy="438480"/>
          </a:xfrm>
          <a:prstGeom prst="rect">
            <a:avLst/>
          </a:prstGeom>
          <a:solidFill>
            <a:srgbClr val="ef476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34" name="Image 13" descr="preencoded.png"/>
          <p:cNvPicPr/>
          <p:nvPr/>
        </p:nvPicPr>
        <p:blipFill>
          <a:blip r:embed="rId14"/>
          <a:stretch/>
        </p:blipFill>
        <p:spPr>
          <a:xfrm>
            <a:off x="438840" y="4700160"/>
            <a:ext cx="200880" cy="200880"/>
          </a:xfrm>
          <a:prstGeom prst="rect">
            <a:avLst/>
          </a:prstGeom>
          <a:ln w="0">
            <a:noFill/>
          </a:ln>
        </p:spPr>
      </p:pic>
      <p:sp>
        <p:nvSpPr>
          <p:cNvPr id="235" name="Text 26"/>
          <p:cNvSpPr/>
          <p:nvPr/>
        </p:nvSpPr>
        <p:spPr>
          <a:xfrm>
            <a:off x="713160" y="4663440"/>
            <a:ext cx="8046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ef476f"/>
                </a:solidFill>
                <a:latin typeface="Calibri"/>
                <a:ea typeface="Calibri"/>
              </a:rPr>
              <a:t>Limitation: No runtime validation — wrong types won't raise errors. Use Pydantic for full validation.</a:t>
            </a:r>
            <a:endParaRPr b="0" lang="en-IN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a2e4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Shape 1"/>
          <p:cNvSpPr/>
          <p:nvPr/>
        </p:nvSpPr>
        <p:spPr>
          <a:xfrm>
            <a:off x="5943600" y="2286000"/>
            <a:ext cx="4114440" cy="4114440"/>
          </a:xfrm>
          <a:prstGeom prst="ellipse">
            <a:avLst/>
          </a:prstGeom>
          <a:solidFill>
            <a:srgbClr val="0d1b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Shape 2"/>
          <p:cNvSpPr/>
          <p:nvPr/>
        </p:nvSpPr>
        <p:spPr>
          <a:xfrm>
            <a:off x="457200" y="2194560"/>
            <a:ext cx="914040" cy="543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3"/>
          <p:cNvSpPr/>
          <p:nvPr/>
        </p:nvSpPr>
        <p:spPr>
          <a:xfrm>
            <a:off x="457200" y="1645920"/>
            <a:ext cx="4571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599" strike="noStrike">
                <a:solidFill>
                  <a:srgbClr val="48cae4"/>
                </a:solidFill>
                <a:latin typeface="Calibri"/>
                <a:ea typeface="Calibri"/>
              </a:rPr>
              <a:t>COMING UP NEXT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457200" y="2286000"/>
            <a:ext cx="54860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Pydantic &amp;</a:t>
            </a:r>
            <a:endParaRPr b="0" lang="en-IN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Calibri"/>
              </a:rPr>
              <a:t>JSON Schema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457200" y="3547800"/>
            <a:ext cx="5028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b0c4de"/>
                </a:solidFill>
                <a:latin typeface="Calibri"/>
                <a:ea typeface="Calibri"/>
              </a:rPr>
              <a:t>Full data validation, type coercion, default values, and cross-language schema support.</a:t>
            </a:r>
            <a:endParaRPr b="0" lang="en-IN" sz="1500" spc="-1" strike="noStrike">
              <a:latin typeface="Arial"/>
            </a:endParaRPr>
          </a:p>
        </p:txBody>
      </p:sp>
      <p:pic>
        <p:nvPicPr>
          <p:cNvPr id="242" name="Image 0" descr="preencoded.png"/>
          <p:cNvPicPr/>
          <p:nvPr/>
        </p:nvPicPr>
        <p:blipFill>
          <a:blip r:embed="rId1"/>
          <a:stretch/>
        </p:blipFill>
        <p:spPr>
          <a:xfrm>
            <a:off x="457200" y="446220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243" name="Shape 6"/>
          <p:cNvSpPr/>
          <p:nvPr/>
        </p:nvSpPr>
        <p:spPr>
          <a:xfrm>
            <a:off x="457200" y="4443840"/>
            <a:ext cx="360" cy="360"/>
          </a:xfrm>
          <a:prstGeom prst="ellipse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44" name="Image 1" descr="preencoded.png"/>
          <p:cNvPicPr/>
          <p:nvPr/>
        </p:nvPicPr>
        <p:blipFill>
          <a:blip r:embed="rId2"/>
          <a:stretch/>
        </p:blipFill>
        <p:spPr>
          <a:xfrm>
            <a:off x="457200" y="446220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245" name="Shape 7"/>
          <p:cNvSpPr/>
          <p:nvPr/>
        </p:nvSpPr>
        <p:spPr>
          <a:xfrm>
            <a:off x="457200" y="4443840"/>
            <a:ext cx="360" cy="360"/>
          </a:xfrm>
          <a:prstGeom prst="ellipse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246" name="Image 2" descr="preencoded.png"/>
          <p:cNvPicPr/>
          <p:nvPr/>
        </p:nvPicPr>
        <p:blipFill>
          <a:blip r:embed="rId3"/>
          <a:stretch/>
        </p:blipFill>
        <p:spPr>
          <a:xfrm>
            <a:off x="457200" y="4462200"/>
            <a:ext cx="914040" cy="914040"/>
          </a:xfrm>
          <a:prstGeom prst="rect">
            <a:avLst/>
          </a:prstGeom>
          <a:ln w="0">
            <a:noFill/>
          </a:ln>
        </p:spPr>
      </p:pic>
      <p:sp>
        <p:nvSpPr>
          <p:cNvPr id="247" name="Shape 8"/>
          <p:cNvSpPr/>
          <p:nvPr/>
        </p:nvSpPr>
        <p:spPr>
          <a:xfrm>
            <a:off x="457200" y="4443840"/>
            <a:ext cx="360" cy="360"/>
          </a:xfrm>
          <a:prstGeom prst="ellipse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Shape 9"/>
          <p:cNvSpPr/>
          <p:nvPr/>
        </p:nvSpPr>
        <p:spPr>
          <a:xfrm>
            <a:off x="457200" y="443484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9" name="Shape 10"/>
          <p:cNvSpPr/>
          <p:nvPr/>
        </p:nvSpPr>
        <p:spPr>
          <a:xfrm>
            <a:off x="457200" y="443484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Shape 11"/>
          <p:cNvSpPr/>
          <p:nvPr/>
        </p:nvSpPr>
        <p:spPr>
          <a:xfrm>
            <a:off x="457200" y="443484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1" name="Text 12"/>
          <p:cNvSpPr/>
          <p:nvPr/>
        </p:nvSpPr>
        <p:spPr>
          <a:xfrm>
            <a:off x="457200" y="4407480"/>
            <a:ext cx="5943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Calibri"/>
              </a:rPr>
              <a:t>→  </a:t>
            </a: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Pydantic BaseModel — validation &amp; coercion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Calibri"/>
              </a:rPr>
              <a:t>→  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JSON Schema — cross-language support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00b4d8"/>
                </a:solidFill>
                <a:latin typeface="Calibri"/>
                <a:ea typeface="Calibri"/>
              </a:rPr>
              <a:t>→  </a:t>
            </a:r>
            <a:endParaRPr b="0" lang="en-IN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Choosing the right schema method for your use case</a:t>
            </a:r>
            <a:endParaRPr b="0" lang="en-IN" sz="1300" spc="-1" strike="noStrike">
              <a:latin typeface="Arial"/>
            </a:endParaRPr>
          </a:p>
        </p:txBody>
      </p:sp>
      <p:pic>
        <p:nvPicPr>
          <p:cNvPr id="252" name="Image 3" descr="preencoded.png"/>
          <p:cNvPicPr/>
          <p:nvPr/>
        </p:nvPicPr>
        <p:blipFill>
          <a:blip r:embed="rId4"/>
          <a:stretch/>
        </p:blipFill>
        <p:spPr>
          <a:xfrm>
            <a:off x="6675120" y="1645920"/>
            <a:ext cx="1371240" cy="1371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2026-03-19T15:37:53Z</dcterms:created>
  <dc:creator>PptxGenJS</dc:creator>
  <dc:description/>
  <dc:language>en-IN</dc:language>
  <cp:lastModifiedBy/>
  <dcterms:modified xsi:type="dcterms:W3CDTF">2026-03-21T12:55:39Z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