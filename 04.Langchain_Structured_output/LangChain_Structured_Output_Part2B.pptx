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474720" cy="3474720"/>
          </a:xfrm>
          <a:prstGeom prst="ellipse">
            <a:avLst/>
          </a:prstGeom>
          <a:solidFill>
            <a:srgbClr val="1A2E42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822960"/>
            <a:ext cx="2743200" cy="2743200"/>
          </a:xfrm>
          <a:prstGeom prst="ellipse">
            <a:avLst/>
          </a:prstGeom>
          <a:solidFill>
            <a:srgbClr val="0096C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" y="4754880"/>
            <a:ext cx="3200400" cy="384048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73736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365760" y="25146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LangChain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365760" y="3337560"/>
            <a:ext cx="3840480" cy="40233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333756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2B: Advanced TypedDict &amp; Annotations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4773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 •  Generative AI  •  Structured Output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 with Annotations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43000"/>
            <a:ext cx="8503920" cy="822960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20040" y="1143000"/>
            <a:ext cx="64008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" y="1188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Annotated?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" y="141732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Annotated[type, "description"] lets you attach a natural language description to each field. This description is sent to the LLM as a hint, guiding what it should extract.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2103120"/>
            <a:ext cx="3931920" cy="1828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2103120"/>
            <a:ext cx="3931920" cy="347472"/>
          </a:xfrm>
          <a:prstGeom prst="rect">
            <a:avLst/>
          </a:prstGeom>
          <a:solidFill>
            <a:srgbClr val="3A5A78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2148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Annotations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2505456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ReviewAnalysis(TypedDict):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summary: str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sentiment: str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LLM must guess what to put here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92040" y="2103120"/>
            <a:ext cx="3931920" cy="18288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892040" y="2103120"/>
            <a:ext cx="3931920" cy="347472"/>
          </a:xfrm>
          <a:prstGeom prst="rect">
            <a:avLst/>
          </a:prstGeom>
          <a:solidFill>
            <a:srgbClr val="06D6A0">
              <a:alpha val="7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2148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Annotations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029200" y="2505456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TypedDict, Annotated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ReviewAnalysis(TypedDict):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summary: Annotated[str,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 brief summary of the review"]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sentiment: Annotated[str,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"Return: positive, negative, or neutral"]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20040" y="4050792"/>
            <a:ext cx="8503920" cy="65836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9" name="Text 16"/>
          <p:cNvSpPr/>
          <p:nvPr/>
        </p:nvSpPr>
        <p:spPr>
          <a:xfrm>
            <a:off x="457200" y="40965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2976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{'summary': 'Good hardware but bloated software and outdated UI', 'sentiment': 'negative'}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solidFill>
            <a:srgbClr val="FFD166">
              <a:alpha val="22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09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help guide the LLM on exactly what to extract — always use them for better results!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TypedDict Schema — Full Code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097280"/>
            <a:ext cx="4937760" cy="38404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1704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detailed_review_schema.py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435608"/>
            <a:ext cx="466344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TypedDict, Annotated, Optional, Literal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DetailedReview(TypedDict):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key_themes: Annotated[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list[str],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"Key themes discussed in the review"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summary: Annotated[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 brief summary of the review"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sentiment: Annotated[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Literal["positive", "negative"],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"Return sentiment"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pros: Annotated[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Optional[list[str]],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"List all pros mentioned"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cons: Annotated[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Optional[list[str]],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"List all cons mentioned"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reviewer_name: Annotated[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Optional[str],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"Name of reviewer if mentioned"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13248" y="1097280"/>
            <a:ext cx="3410712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13248" y="1097280"/>
            <a:ext cx="64008" cy="77724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1" name="Text 8"/>
          <p:cNvSpPr/>
          <p:nvPr/>
        </p:nvSpPr>
        <p:spPr>
          <a:xfrm>
            <a:off x="5550408" y="1143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list[str]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550408" y="1389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multiple values as a Python list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13248" y="2029968"/>
            <a:ext cx="3410712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13248" y="2029968"/>
            <a:ext cx="64008" cy="7772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5" name="Text 12"/>
          <p:cNvSpPr/>
          <p:nvPr/>
        </p:nvSpPr>
        <p:spPr>
          <a:xfrm>
            <a:off x="5550408" y="20756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Literal[...]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550408" y="23225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output to specific string values only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13248" y="2962656"/>
            <a:ext cx="3410712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13248" y="2962656"/>
            <a:ext cx="64008" cy="77724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9" name="Text 16"/>
          <p:cNvSpPr/>
          <p:nvPr/>
        </p:nvSpPr>
        <p:spPr>
          <a:xfrm>
            <a:off x="5550408" y="3008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Optional[...]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550408" y="325526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is nullable — may not be in the review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13248" y="3895344"/>
            <a:ext cx="3410712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413248" y="3895344"/>
            <a:ext cx="64008" cy="7772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3" name="Text 20"/>
          <p:cNvSpPr/>
          <p:nvPr/>
        </p:nvSpPr>
        <p:spPr>
          <a:xfrm>
            <a:off x="5550408" y="39410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Annotated[...]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550408" y="41879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description as LLM guidance hint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13248" y="4773168"/>
            <a:ext cx="3410712" cy="274320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532120" y="48006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fields use Annotated + Optional for maximum LLM guidance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Schema — Output Results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4114800" cy="201168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70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Samsung Galaxy S24 Ultra Review (excerpt)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444752"/>
            <a:ext cx="38404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"Snapdragon 8 Gen 3 makes everything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lightning fast. The 200MP camera is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stunning. However, the weight makes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one-handed use uncomfortable. Samsung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UI still has bloatware. $1,300 price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 is hard to swallow. — John Smith"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3246120"/>
            <a:ext cx="8503920" cy="16916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33101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Output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3584448"/>
            <a:ext cx="8321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{'key_themes': ['Snapdragon 8 Gen 3', '5000mAh battery', '200MP camera', 'S-Pen'],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'summary': 'Powerful processor and impressive camera but heavy design and bloatware',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'sentiment': 'positive',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'pros': ['Powerful processor', 'Stunning 200MP camera', 'Long battery, fast charging'],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'cons': ['Heavy, uncomfortable one-handed', 'Bloatware in One UI', 'High price'],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'reviewer_name': 'John Smith'}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53712" y="1115568"/>
            <a:ext cx="4270248" cy="420624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13" name="Shape 10"/>
          <p:cNvSpPr/>
          <p:nvPr/>
        </p:nvSpPr>
        <p:spPr>
          <a:xfrm>
            <a:off x="4553712" y="1115568"/>
            <a:ext cx="54864" cy="420624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4" name="Text 11"/>
          <p:cNvSpPr/>
          <p:nvPr/>
        </p:nvSpPr>
        <p:spPr>
          <a:xfrm>
            <a:off x="4663440" y="11521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key_themes: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63440" y="135331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list[str]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53712" y="1609344"/>
            <a:ext cx="4270248" cy="420624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17" name="Shape 14"/>
          <p:cNvSpPr/>
          <p:nvPr/>
        </p:nvSpPr>
        <p:spPr>
          <a:xfrm>
            <a:off x="4553712" y="1609344"/>
            <a:ext cx="54864" cy="42062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5"/>
          <p:cNvSpPr/>
          <p:nvPr/>
        </p:nvSpPr>
        <p:spPr>
          <a:xfrm>
            <a:off x="4663440" y="164592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63440" y="184708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Literal["positive","negative"]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53712" y="2103120"/>
            <a:ext cx="4270248" cy="420624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21" name="Shape 18"/>
          <p:cNvSpPr/>
          <p:nvPr/>
        </p:nvSpPr>
        <p:spPr>
          <a:xfrm>
            <a:off x="4553712" y="2103120"/>
            <a:ext cx="54864" cy="420624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2" name="Text 19"/>
          <p:cNvSpPr/>
          <p:nvPr/>
        </p:nvSpPr>
        <p:spPr>
          <a:xfrm>
            <a:off x="4663440" y="21396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D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 / cons: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63440" y="234086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Optional[list[str]]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53712" y="2596896"/>
            <a:ext cx="4270248" cy="420624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25" name="Shape 22"/>
          <p:cNvSpPr/>
          <p:nvPr/>
        </p:nvSpPr>
        <p:spPr>
          <a:xfrm>
            <a:off x="4553712" y="2596896"/>
            <a:ext cx="54864" cy="42062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Text 23"/>
          <p:cNvSpPr/>
          <p:nvPr/>
        </p:nvSpPr>
        <p:spPr>
          <a:xfrm>
            <a:off x="4663440" y="26334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reviewer_name: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663440" y="283464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Optional[str]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Literal for Specific Values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8503920" cy="749808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20040" y="1115568"/>
            <a:ext cx="64008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" y="1161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Literal?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5488" y="13898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Literal["value1", "value2"] constrains the LLM to return only one of the specified values — like an enum. Perfect for sentiment, categories, priority levels, etc.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1993392"/>
            <a:ext cx="4937760" cy="221284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206654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literal_example.py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2340864"/>
            <a:ext cx="4663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Literal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ReviewAnalysis(TypedDict):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summary: str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sentiment: Literal["POS", "NEG"]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Only these two values allowed!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structured_llm = llm.with_structured_output(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ReviewAnalysis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 = structured_llm.invoke(review_text)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print("Sentiment:", analysis['sentiment'])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" y="4297680"/>
            <a:ext cx="4937760" cy="59436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43525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C4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453542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Sentiment: NEG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13248" y="1993392"/>
            <a:ext cx="3410712" cy="28986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13248" y="1993392"/>
            <a:ext cx="3410712" cy="43891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5"/>
          <p:cNvSpPr/>
          <p:nvPr/>
        </p:nvSpPr>
        <p:spPr>
          <a:xfrm>
            <a:off x="5550408" y="204825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Literal Use Cases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50408" y="25603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Sentiment: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464808" y="256032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"positive", "negative", "neutral"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550408" y="30175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64808" y="301752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"low", "medium", "high"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550408" y="34747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64808" y="347472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"tech", "sports", "politics"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550408" y="3931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64808" y="393192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"approve", "reject", "review"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550408" y="43891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level: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464808" y="438912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"safe", "caution", "danger"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5" name="Shape 3"/>
          <p:cNvSpPr/>
          <p:nvPr/>
        </p:nvSpPr>
        <p:spPr>
          <a:xfrm>
            <a:off x="4023360" y="2103120"/>
            <a:ext cx="10972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0233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2194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with_structured_output()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023360" y="34564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automatic system prompt generation and JSON parsing pipeline.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 — Automatic System Prompt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8503920" cy="530352"/>
          </a:xfrm>
          <a:prstGeom prst="rect">
            <a:avLst/>
          </a:prstGeom>
          <a:solidFill>
            <a:srgbClr val="3A5A7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7043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call llm.with_structured_output(ReviewAnalysis), LangChain automatically: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1792224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84048" y="1856232"/>
            <a:ext cx="347472" cy="347472"/>
          </a:xfrm>
          <a:prstGeom prst="ellipse">
            <a:avLst/>
          </a:prstGeom>
          <a:solidFill>
            <a:srgbClr val="0096C7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" y="1856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system prompt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2103120"/>
            <a:ext cx="7845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"Extract: summary (brief overview), sentiment (positive/neutral/negative). Return as JSON."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" y="2414016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84048" y="2478024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2"/>
          <p:cNvSpPr/>
          <p:nvPr/>
        </p:nvSpPr>
        <p:spPr>
          <a:xfrm>
            <a:off x="384048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2450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system prompt to LLM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22960" y="2724912"/>
            <a:ext cx="7845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auto-generated prompt defines the exact output format expected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0040" y="3035808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84048" y="3099816"/>
            <a:ext cx="347472" cy="34747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0" name="Text 17"/>
          <p:cNvSpPr/>
          <p:nvPr/>
        </p:nvSpPr>
        <p:spPr>
          <a:xfrm>
            <a:off x="384048" y="3099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2960" y="307238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your review text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2960" y="3346704"/>
            <a:ext cx="7845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actual input is added after the system prompt instructions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0040" y="3657600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84048" y="3721608"/>
            <a:ext cx="347472" cy="34747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25" name="Text 22"/>
          <p:cNvSpPr/>
          <p:nvPr/>
        </p:nvSpPr>
        <p:spPr>
          <a:xfrm>
            <a:off x="384048" y="3721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22960" y="36941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JSON output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22960" y="3968496"/>
            <a:ext cx="7845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follows the system prompt and returns structured JSON response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20040" y="4279392"/>
            <a:ext cx="85039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384048" y="4343400"/>
            <a:ext cx="347472" cy="347472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30" name="Text 27"/>
          <p:cNvSpPr/>
          <p:nvPr/>
        </p:nvSpPr>
        <p:spPr>
          <a:xfrm>
            <a:off x="384048" y="4343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22960" y="43159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parses JSON → Python dict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22960" y="4590288"/>
            <a:ext cx="7845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is automatically parsed into a Python dictionary for you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20040" y="4919472"/>
            <a:ext cx="8503920" cy="182880"/>
          </a:xfrm>
          <a:prstGeom prst="rect">
            <a:avLst/>
          </a:prstGeom>
          <a:solidFill>
            <a:srgbClr val="00B4D8">
              <a:alpha val="12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457200" y="4937760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steps happen automatically — you just call .with_structured_output() and .invoke()!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 — Complete Summary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20040" y="1115568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115568"/>
            <a:ext cx="2743200" cy="45720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TypedDict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0784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" y="168249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dict structure with type hints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40864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8952" y="232257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standard Python dict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80944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8952" y="296265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with_structured_output()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21024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58952" y="360273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values: analysis['key']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3246120" y="1115568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3246120" y="1115568"/>
            <a:ext cx="2743200" cy="457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9" name="Text 12"/>
          <p:cNvSpPr/>
          <p:nvPr/>
        </p:nvSpPr>
        <p:spPr>
          <a:xfrm>
            <a:off x="3383280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Annotations</a:t>
            </a:r>
            <a:endParaRPr lang="en-US" sz="13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1700784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685032" y="168249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Annotated[type, 'description']</a:t>
            </a:r>
            <a:endParaRPr lang="en-US" sz="11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3280" y="2340864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685032" y="232257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LLM on what to extract</a:t>
            </a:r>
            <a:endParaRPr lang="en-US" sz="11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3280" y="2980944"/>
            <a:ext cx="228600" cy="228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685032" y="296265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accuracy and consistency</a:t>
            </a:r>
            <a:endParaRPr lang="en-US" sz="11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83280" y="3621024"/>
            <a:ext cx="228600" cy="2286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3685032" y="360273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for best results</a:t>
            </a:r>
            <a:endParaRPr lang="en-US" sz="1150" dirty="0"/>
          </a:p>
        </p:txBody>
      </p:sp>
      <p:sp>
        <p:nvSpPr>
          <p:cNvPr id="28" name="Shape 17"/>
          <p:cNvSpPr/>
          <p:nvPr/>
        </p:nvSpPr>
        <p:spPr>
          <a:xfrm>
            <a:off x="6172200" y="1115568"/>
            <a:ext cx="2743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9" name="Shape 18"/>
          <p:cNvSpPr/>
          <p:nvPr/>
        </p:nvSpPr>
        <p:spPr>
          <a:xfrm>
            <a:off x="6172200" y="1115568"/>
            <a:ext cx="274320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0" name="Text 19"/>
          <p:cNvSpPr/>
          <p:nvPr/>
        </p:nvSpPr>
        <p:spPr>
          <a:xfrm>
            <a:off x="6309360" y="117043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Typing</a:t>
            </a:r>
            <a:endParaRPr lang="en-US" sz="13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09360" y="1700784"/>
            <a:ext cx="228600" cy="22860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611112" y="168249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Literal["a","b"] — constrain values</a:t>
            </a:r>
            <a:endParaRPr lang="en-US" sz="1150" dirty="0"/>
          </a:p>
        </p:txBody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9360" y="2340864"/>
            <a:ext cx="228600" cy="22860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611112" y="232257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Optional[T] — nullable fields</a:t>
            </a:r>
            <a:endParaRPr lang="en-US" sz="1150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9360" y="2980944"/>
            <a:ext cx="228600" cy="22860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611112" y="296265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list[str] — multiple values</a:t>
            </a:r>
            <a:endParaRPr lang="en-US" sz="1150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09360" y="3621024"/>
            <a:ext cx="228600" cy="22860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611112" y="3602736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E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Combinations of all three</a:t>
            </a:r>
            <a:endParaRPr lang="en-US" sz="1150" dirty="0"/>
          </a:p>
        </p:txBody>
      </p:sp>
      <p:sp>
        <p:nvSpPr>
          <p:cNvPr id="39" name="Shape 24"/>
          <p:cNvSpPr/>
          <p:nvPr/>
        </p:nvSpPr>
        <p:spPr>
          <a:xfrm>
            <a:off x="320040" y="4617720"/>
            <a:ext cx="8503920" cy="438912"/>
          </a:xfrm>
          <a:prstGeom prst="rect">
            <a:avLst/>
          </a:prstGeom>
          <a:solidFill>
            <a:srgbClr val="EF476F">
              <a:alpha val="12000"/>
            </a:srgbClr>
          </a:solidFill>
          <a:ln/>
        </p:spPr>
      </p:sp>
      <p:sp>
        <p:nvSpPr>
          <p:cNvPr id="40" name="Shape 25"/>
          <p:cNvSpPr/>
          <p:nvPr/>
        </p:nvSpPr>
        <p:spPr>
          <a:xfrm>
            <a:off x="320040" y="4617720"/>
            <a:ext cx="64008" cy="438912"/>
          </a:xfrm>
          <a:prstGeom prst="rect">
            <a:avLst/>
          </a:prstGeom>
          <a:solidFill>
            <a:srgbClr val="EF476F"/>
          </a:solidFill>
          <a:ln/>
        </p:spPr>
      </p:sp>
      <p:pic>
        <p:nvPicPr>
          <p:cNvPr id="4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8912" y="4700016"/>
            <a:ext cx="201168" cy="201168"/>
          </a:xfrm>
          <a:prstGeom prst="rect">
            <a:avLst/>
          </a:prstGeom>
        </p:spPr>
      </p:pic>
      <p:sp>
        <p:nvSpPr>
          <p:cNvPr id="42" name="Text 26"/>
          <p:cNvSpPr/>
          <p:nvPr/>
        </p:nvSpPr>
        <p:spPr>
          <a:xfrm>
            <a:off x="713232" y="466344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No runtime validation — wrong types won't raise errors. Use Pydantic for full validation.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286000"/>
            <a:ext cx="4114800" cy="41148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194560"/>
            <a:ext cx="9144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&amp;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54787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 validation, type coercion, default values, and cross-language schema support.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462272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4443984"/>
            <a:ext cx="0" cy="0"/>
          </a:xfrm>
          <a:prstGeom prst="ellipse">
            <a:avLst/>
          </a:prstGeom>
          <a:noFill/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62272"/>
            <a:ext cx="914400" cy="9144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4443984"/>
            <a:ext cx="0" cy="0"/>
          </a:xfrm>
          <a:prstGeom prst="ellipse">
            <a:avLst/>
          </a:prstGeom>
          <a:noFill/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462272"/>
            <a:ext cx="914400" cy="9144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57200" y="4443984"/>
            <a:ext cx="0" cy="0"/>
          </a:xfrm>
          <a:prstGeom prst="ellipse">
            <a:avLst/>
          </a:prstGeom>
          <a:noFill/>
          <a:ln/>
        </p:spPr>
      </p:sp>
      <p:sp>
        <p:nvSpPr>
          <p:cNvPr id="14" name="Shape 9"/>
          <p:cNvSpPr/>
          <p:nvPr/>
        </p:nvSpPr>
        <p:spPr>
          <a:xfrm>
            <a:off x="457200" y="4434840"/>
            <a:ext cx="0" cy="0"/>
          </a:xfrm>
          <a:prstGeom prst="rect">
            <a:avLst/>
          </a:prstGeom>
          <a:noFill/>
          <a:ln/>
        </p:spPr>
      </p:sp>
      <p:sp>
        <p:nvSpPr>
          <p:cNvPr id="15" name="Shape 10"/>
          <p:cNvSpPr/>
          <p:nvPr/>
        </p:nvSpPr>
        <p:spPr>
          <a:xfrm>
            <a:off x="457200" y="4434840"/>
            <a:ext cx="0" cy="0"/>
          </a:xfrm>
          <a:prstGeom prst="rect">
            <a:avLst/>
          </a:prstGeom>
          <a:noFill/>
          <a:ln/>
        </p:spPr>
      </p:sp>
      <p:sp>
        <p:nvSpPr>
          <p:cNvPr id="16" name="Shape 11"/>
          <p:cNvSpPr/>
          <p:nvPr/>
        </p:nvSpPr>
        <p:spPr>
          <a:xfrm>
            <a:off x="457200" y="4434840"/>
            <a:ext cx="0" cy="0"/>
          </a:xfrm>
          <a:prstGeom prst="rect">
            <a:avLst/>
          </a:prstGeom>
          <a:noFill/>
          <a:ln/>
        </p:spPr>
      </p:sp>
      <p:sp>
        <p:nvSpPr>
          <p:cNvPr id="17" name="Text 12"/>
          <p:cNvSpPr/>
          <p:nvPr/>
        </p:nvSpPr>
        <p:spPr>
          <a:xfrm>
            <a:off x="457200" y="440740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BaseModel — validation &amp; coercion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— cross-language support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schema method for your use case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16459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2026-03-19T15:37:53Z</dcterms:created>
  <dcterms:modified xsi:type="dcterms:W3CDTF">2026-03-19T15:37:53Z</dcterms:modified>
</cp:coreProperties>
</file>